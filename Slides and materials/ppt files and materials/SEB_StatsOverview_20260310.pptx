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21"/>
  </p:notesMasterIdLst>
  <p:sldIdLst>
    <p:sldId id="256" r:id="rId5"/>
    <p:sldId id="545" r:id="rId6"/>
    <p:sldId id="557" r:id="rId7"/>
    <p:sldId id="417" r:id="rId8"/>
    <p:sldId id="419" r:id="rId9"/>
    <p:sldId id="418" r:id="rId10"/>
    <p:sldId id="544" r:id="rId11"/>
    <p:sldId id="529" r:id="rId12"/>
    <p:sldId id="533" r:id="rId13"/>
    <p:sldId id="534" r:id="rId14"/>
    <p:sldId id="535" r:id="rId15"/>
    <p:sldId id="536" r:id="rId16"/>
    <p:sldId id="537" r:id="rId17"/>
    <p:sldId id="569" r:id="rId18"/>
    <p:sldId id="570" r:id="rId19"/>
    <p:sldId id="563" r:id="rId20"/>
    <p:sldId id="532" r:id="rId21"/>
    <p:sldId id="530" r:id="rId22"/>
    <p:sldId id="572" r:id="rId23"/>
    <p:sldId id="528" r:id="rId24"/>
    <p:sldId id="523" r:id="rId25"/>
    <p:sldId id="573" r:id="rId26"/>
    <p:sldId id="577" r:id="rId27"/>
    <p:sldId id="309" r:id="rId28"/>
    <p:sldId id="575" r:id="rId29"/>
    <p:sldId id="576" r:id="rId30"/>
    <p:sldId id="578" r:id="rId31"/>
    <p:sldId id="580" r:id="rId32"/>
    <p:sldId id="579" r:id="rId33"/>
    <p:sldId id="582" r:id="rId34"/>
    <p:sldId id="299" r:id="rId35"/>
    <p:sldId id="383" r:id="rId36"/>
    <p:sldId id="346" r:id="rId37"/>
    <p:sldId id="343" r:id="rId38"/>
    <p:sldId id="409" r:id="rId39"/>
    <p:sldId id="410" r:id="rId40"/>
    <p:sldId id="564" r:id="rId41"/>
    <p:sldId id="444" r:id="rId42"/>
    <p:sldId id="290" r:id="rId43"/>
    <p:sldId id="291" r:id="rId44"/>
    <p:sldId id="285" r:id="rId45"/>
    <p:sldId id="443" r:id="rId46"/>
    <p:sldId id="362" r:id="rId47"/>
    <p:sldId id="433" r:id="rId48"/>
    <p:sldId id="428" r:id="rId49"/>
    <p:sldId id="431" r:id="rId50"/>
    <p:sldId id="539" r:id="rId51"/>
    <p:sldId id="538" r:id="rId52"/>
    <p:sldId id="430" r:id="rId53"/>
    <p:sldId id="432" r:id="rId54"/>
    <p:sldId id="543" r:id="rId55"/>
    <p:sldId id="540" r:id="rId56"/>
    <p:sldId id="541" r:id="rId57"/>
    <p:sldId id="542" r:id="rId58"/>
    <p:sldId id="556" r:id="rId59"/>
    <p:sldId id="300" r:id="rId60"/>
    <p:sldId id="559" r:id="rId61"/>
    <p:sldId id="302" r:id="rId62"/>
    <p:sldId id="413" r:id="rId63"/>
    <p:sldId id="414" r:id="rId64"/>
    <p:sldId id="416" r:id="rId65"/>
    <p:sldId id="429" r:id="rId66"/>
    <p:sldId id="415" r:id="rId67"/>
    <p:sldId id="551" r:id="rId68"/>
    <p:sldId id="445" r:id="rId69"/>
    <p:sldId id="565" r:id="rId70"/>
    <p:sldId id="448" r:id="rId71"/>
    <p:sldId id="518" r:id="rId72"/>
    <p:sldId id="262" r:id="rId73"/>
    <p:sldId id="481" r:id="rId74"/>
    <p:sldId id="510" r:id="rId75"/>
    <p:sldId id="507" r:id="rId76"/>
    <p:sldId id="513" r:id="rId77"/>
    <p:sldId id="554" r:id="rId78"/>
    <p:sldId id="547" r:id="rId79"/>
    <p:sldId id="548" r:id="rId80"/>
    <p:sldId id="549" r:id="rId81"/>
    <p:sldId id="571" r:id="rId82"/>
    <p:sldId id="550" r:id="rId83"/>
    <p:sldId id="455" r:id="rId84"/>
    <p:sldId id="561" r:id="rId85"/>
    <p:sldId id="311" r:id="rId86"/>
    <p:sldId id="553" r:id="rId87"/>
    <p:sldId id="566" r:id="rId88"/>
    <p:sldId id="486" r:id="rId89"/>
    <p:sldId id="552" r:id="rId90"/>
    <p:sldId id="500" r:id="rId91"/>
    <p:sldId id="503" r:id="rId92"/>
    <p:sldId id="504" r:id="rId93"/>
    <p:sldId id="487" r:id="rId94"/>
    <p:sldId id="304" r:id="rId95"/>
    <p:sldId id="567" r:id="rId96"/>
    <p:sldId id="305" r:id="rId97"/>
    <p:sldId id="568" r:id="rId98"/>
    <p:sldId id="456" r:id="rId99"/>
    <p:sldId id="460" r:id="rId100"/>
    <p:sldId id="461" r:id="rId101"/>
    <p:sldId id="462" r:id="rId102"/>
    <p:sldId id="464" r:id="rId103"/>
    <p:sldId id="463" r:id="rId104"/>
    <p:sldId id="459" r:id="rId105"/>
    <p:sldId id="466" r:id="rId106"/>
    <p:sldId id="467" r:id="rId107"/>
    <p:sldId id="468" r:id="rId108"/>
    <p:sldId id="555" r:id="rId109"/>
    <p:sldId id="314" r:id="rId110"/>
    <p:sldId id="562" r:id="rId111"/>
    <p:sldId id="306" r:id="rId112"/>
    <p:sldId id="307" r:id="rId113"/>
    <p:sldId id="488" r:id="rId114"/>
    <p:sldId id="308" r:id="rId115"/>
    <p:sldId id="490" r:id="rId116"/>
    <p:sldId id="491" r:id="rId117"/>
    <p:sldId id="492" r:id="rId118"/>
    <p:sldId id="489" r:id="rId119"/>
    <p:sldId id="313" r:id="rId120"/>
  </p:sldIdLst>
  <p:sldSz cx="12192000" cy="6858000"/>
  <p:notesSz cx="9296400" cy="701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7E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F0393E-9817-4258-B89F-B8D5B0632084}" v="6" dt="2026-03-11T01:04:00.0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48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slide" Target="slides/slide113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123" Type="http://schemas.openxmlformats.org/officeDocument/2006/relationships/viewProps" Target="viewProps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slide" Target="slides/slide109.xml"/><Relationship Id="rId118" Type="http://schemas.openxmlformats.org/officeDocument/2006/relationships/slide" Target="slides/slide114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124" Type="http://schemas.openxmlformats.org/officeDocument/2006/relationships/theme" Target="theme/theme1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slide" Target="slides/slide110.xml"/><Relationship Id="rId119" Type="http://schemas.openxmlformats.org/officeDocument/2006/relationships/slide" Target="slides/slide115.xml"/><Relationship Id="rId44" Type="http://schemas.openxmlformats.org/officeDocument/2006/relationships/slide" Target="slides/slide40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120" Type="http://schemas.openxmlformats.org/officeDocument/2006/relationships/slide" Target="slides/slide116.xml"/><Relationship Id="rId125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slide" Target="slides/slide111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126" Type="http://schemas.microsoft.com/office/2015/10/relationships/revisionInfo" Target="revisionInfo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121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slide" Target="slides/slide11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52" Type="http://schemas.openxmlformats.org/officeDocument/2006/relationships/slide" Target="slides/slide48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122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1920" max="1920" units="cm"/>
          <inkml:channel name="Y" type="integer" min="-161" max="1200" units="cm"/>
          <inkml:channel name="T" type="integer" max="2.14748E9" units="dev"/>
        </inkml:traceFormat>
        <inkml:channelProperties>
          <inkml:channelProperty channel="X" name="resolution" value="133.33333" units="1/cm"/>
          <inkml:channelProperty channel="Y" name="resolution" value="75.61111" units="1/cm"/>
          <inkml:channelProperty channel="T" name="resolution" value="1" units="1/dev"/>
        </inkml:channelProperties>
      </inkml:inkSource>
      <inkml:timestamp xml:id="ts0" timeString="2025-03-27T13:50:09.21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7877 16320 0,'0'21'32,"0"0"-17,0 0 1,21 0-1,-21 0 1,0 0 0,0 0-1,0 0 1,0-42 250,0-21-266,0-42 15,0 21 1,0-21 15,0 63-15,0 0-1,21 21 110,-21 21-109,-3025-21-16,6092 21 16,-3046 42-1,0 0 1,0-21 15,0-21-15,-21 0-1,0-63 142,21 0-142,0 0-15,0 0 16,0 42-1,-21-21 17,0 42 30,21 21-46,0 42-1,21 0 1,-42-63 0,0 0 46,21 0-62,-21 0 16</inkml:trace>
  <inkml:trace contextRef="#ctx0" brushRef="#br0" timeOffset="1377.15">8738 16257 0,'0'-21'110,"-21"21"-110,0-21 31,0-21-15,0 21-1,0 0 1,0 21 0,0 0-16,0 0 15,0 0 1,0 0-1,0 0 1,21 21 47,-21 0-63,0 42 15,0 0 1,21-42 15,0 0-31,0 0 31,0 0-15,42 0 0,-21-21-1,21 21 1,-21-21-1,0 0 64,-21 21-64,0 0 1,0 0-1,0 0 1,0 0 0,-21 0-1,0 0 1,-42 0 0,42-21-16,-21 21 15,-21-21 1,42 0-1,0 0 48</inkml:trace>
  <inkml:trace contextRef="#ctx0" brushRef="#br0" timeOffset="4062.67">7856 17328 0,'21'0'110,"0"0"-95,0 0 1,21 0 0,0 0-1,-21-21 1,0 0 62,0 21-62,0 0-1</inkml:trace>
  <inkml:trace contextRef="#ctx0" brushRef="#br0" timeOffset="4976.7">7835 17538 0,'21'0'62,"0"0"-46,0 0 0,21 0-1,-21 0 1,0 0 0,0-21-16,0 21 15,21-42 1</inkml:trace>
  <inkml:trace contextRef="#ctx0" brushRef="#br0" timeOffset="5751.92">7814 17748 0,'0'21'47,"21"-21"-32,-21 21 1,21-21-16,0 21 16,0-21-1,0 21 1,0-21 0,0 0-1</inkml:trace>
  <inkml:trace contextRef="#ctx0" brushRef="#br0" timeOffset="6409.68">7772 18000 0,'21'21'15,"21"-21"1,-21 0-1,0 0 1,0 0 0,42 0-1,-42 0 1,0 0 0</inkml:trace>
  <inkml:trace contextRef="#ctx0" brushRef="#br0" timeOffset="15918.96">8486 17202 0,'-21'0'78,"0"0"-62,0 21-1,21 0 1,-21-21-16,0 42 16,0-21-1,21 0 1,0 21-1,0-21 64,0 0-64,0 0 1,21 0-1,0-21 1,0 21 0,0 0-1,0 0 1,0 0 0,0-21-1,0 21-15,21 0 31,-21-21-15,0 0 0,-21-21 77,0 0-77,0 0 0,-21 21-1,21-21 1,-21 21 46,0-21-46,0 21 62,0 21-31</inkml:trace>
  <inkml:trace contextRef="#ctx0" brushRef="#br0" timeOffset="17946.74">8717 17706 0,'0'-21'125,"21"21"-110,-21-21-15,42-21 16,-21 0-1,42-42 1,-21 42 0,-42 21-1,21-21 1,-21 21 0,21 0-1,0-21 220,-21 21-204,21 0-16,-21 0 1,0 0 0,21 21 62,-21-21 125,21 21-187,-21-21-1</inkml:trace>
  <inkml:trace contextRef="#ctx0" brushRef="#br0" timeOffset="24126.18">9137 17349 0,'0'21'62,"0"42"-46,-21-21-16,21-21 15,0 0 1,0 21 0,0-21-1,-21 21 16,21-21-15,0 0 15,0 0 47</inkml:trace>
  <inkml:trace contextRef="#ctx0" brushRef="#br0" timeOffset="26565.54">9410 17412 0,'21'0'31,"0"0"16,0 0-31,0 0-1,0 0 1,0 0-1,0 0 1,0 0 0,0 0-1,-21 21 63,0 0-62,-21-21-16</inkml:trace>
  <inkml:trace contextRef="#ctx0" brushRef="#br0" timeOffset="27270.65">9431 17622 0,'21'0'31,"0"0"0,0 0-31,0 0 16,0 0 0,0-21-1,0 21 1,0 0 15,0 0-15,0 0-1,0 0 1,0 0 62</inkml:trace>
  <inkml:trace contextRef="#ctx0" brushRef="#br0" timeOffset="28788.5">10208 17244 0,'0'21'63,"-21"-21"-63,0 0 16,0 21-1,0 0 1,0 21-1,0-21 17,-21 0-17,21 0 1,21 0-16,-21 0 16,21 0-1,-21 21 1,0-21-1,21 0 1,0 0 0,0 21-1,0-21 1,21-21 0,0 21-1,0 0 1,0 0 15,0-21-15,0 0-1,21 0 17,0 0-17,-21 0 1,0 0 31,0-42-32,-21 21 1,0 0 0,0 0-1,-21 0 1,-21 0 15,21 0-31,-42 21 16,42 0-1,0 0 1,0 0 15,0 21-31,0 0 31,0-21-31,21 21 16</inkml:trace>
  <inkml:trace contextRef="#ctx0" brushRef="#br0" timeOffset="30678.81">8360 17874 0,'0'21'63,"0"0"-63,0 0 15,-21 0-15,21 0 16,0 0-1,-21 0 1,21 0 0,-21 0-1,0 0 1,21 0 0,0 0-1,21-21 1,0 0-16,0-21 15,0 21 32,0 0-31,-21-21-16,21 21 31,0-21-31</inkml:trace>
  <inkml:trace contextRef="#ctx0" brushRef="#br0" timeOffset="31384.33">8507 17916 0,'0'21'32,"0"0"-17,-21-21-15,21 21 16,0 0 15,0 0-31,0 0 16,0 0-1,0 0 1,-21 21 0,21-21-1,0 0 1,0 0 62,0 0-78,-21-21 16,21 21-1,0 0 1</inkml:trace>
  <inkml:trace contextRef="#ctx0" brushRef="#br0" timeOffset="32280.53">8654 18399 0,'0'-21'125,"21"0"-109,-21 0 0,21 0-16,21-63 15,-21 21 1,0 21-1,-21 0 1,42 21 0,-42-21-1,21 21 1,-21 0 0</inkml:trace>
  <inkml:trace contextRef="#ctx0" brushRef="#br0" timeOffset="33146.56">8990 17958 0,'0'21'16,"0"0"0,0 0-1,0 0 1,0 0 15,0 0-15,0 0-1,21-21 79,0 0-63,0 0-15</inkml:trace>
  <inkml:trace contextRef="#ctx0" brushRef="#br0" timeOffset="33744.68">9137 17979 0,'0'21'31,"0"0"-31,0 21 16,0 21-1,0 0 1,0-42 15,0 0-15,0 21-1,0-21 1,0 0 0</inkml:trace>
  <inkml:trace contextRef="#ctx0" brushRef="#br0" timeOffset="34472.87">9452 18021 0,'21'0'16,"0"0"15,0 0-15,0 0-16,21 0 31,0 0-15,-21 0-1,-21-21 32,21 21-16</inkml:trace>
  <inkml:trace contextRef="#ctx0" brushRef="#br0" timeOffset="35394.48">9410 18189 0,'21'0'31,"0"0"-15,0 0 0,0 0-1,0 0 1,0 0 0,0 0 93,0 0-93,0 0-16</inkml:trace>
  <inkml:trace contextRef="#ctx0" brushRef="#br0" timeOffset="36352.61">10040 17979 0,'0'21'31,"0"0"-15,0 21-1,0 0 1,0 0-1,0-21 1,0 0-16,0 0 16,0 0-1,0 0 1,0 0 0,0 0-1</inkml:trace>
  <inkml:trace contextRef="#ctx0" brushRef="#br0" timeOffset="59970.65">7814 16908 0,'21'0'109,"42"0"-93,84-21 0,-84 21-1,-42 0 1,42 0-1,21-21 1,21 0 0,-63 21-1,0 0 1,-21 0 0,0 0-1,0 0 1,0 0-1,0 0 1,0 0 0,21 0-1,21 0 1,0 0 0,-21 21-1,0-21 1,-21 0-1,21 0 1,-21 21 0,21-21-1,-21 0 1,0 0 0,0 0-1,0 0 63,63 0-62,-42 42 0,0-21-1,-21 0 1,21-21-1,0 0 1,42 42 0,-21-42-16,21 42 15,0-21 1,0-21 0,-42 21-1,0-21 1,-21 0 15,21 0-15,-21 21-1,0-21 1,21 0 0,-21 0-1,21 0 1,42 0-1,21 0 1,-42 0 0,-42 0-1,0 0 17,0 0-17,0 0 1,21 0-1,21 0 1,0 0 0,-42-21-1,21 0 1,-21 21 0,0-21 46,42 21-46,-21-42-1,-21 42 1,0-21 0,0 21-16,0 0 15,0-21 16,63-21-15,-42 42 0,42-42-1,-21 42 1,-21 0 0,-42-21-1,21 21 1,-105 0 156,0 21-157,-21-21-15,-105 42 16,105-21 0,-21 0-1,42-21 1,-21 0-1,42 0 1,0 0 0,-42-21-1,0 21 1,0 0 0,63 0-1,0 0 1,0 0 15,0-21 0,-42 21-15,42-21 0,21 21-1,0-21 1,-105 21-1,42 0 1,-42-42 0,42 21-1,-42-21 1,42 21 0,63 21-1,-21-21 1,-42 0 15,0 21-15,63 0-1,0 0 1,-42 0 0,0 0-1,-84-21 1,42 21-1,0 0 1,21 21 0,63-21-1,0 0 1,-21 21 0,-42 21-1,63-42 16,0 0-15,21 21 31,-42 0-31,-21-21-1,42 0 1,0 0 62,0 0-62,0 0-1,0 0 1,0 0-16,0 0 31,0 21-15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7:57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24575,'0'6'0,"5"1"0,3 5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8:00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24575,'13'-1'0,"0"-1"0,0-1 0,-1 0 0,1 0 0,-1-1 0,22-10 0,2-1 0,-6 4 0,-1 0 0,1 3 0,0 0 0,1 2 0,62-5 0,388 14 0,-454-1 0,0 0 0,41 11 0,-36-7 0,39 3 0,-34-7 0,-17-2 0,0 2 0,0 0 0,31 7 0,47 10 0,-24-6 0,-23-5 0,-1-2 0,1-2 0,85-6 0,60 5 0,-105 12 0,-61-9 0,42 4 0,31-9 0,-67-2 0,-1 2 0,0 1 0,45 9 0,-35-3 0,1-1 0,57 0 0,94-8 0,-74-1 0,295 2 0,-389-2 0,0-1 0,-1-2 0,0-1 0,0-1 0,47-19 0,-46 15 0,0 2 0,1 0 0,1 2 0,51-6 0,-44 12 0,-9 1 0,1-2 0,34-7 0,74-13 0,-19 4 0,-9 6 0,-71 9 0,37-7 0,-26 1 0,93-3 0,53 13 0,-70 1 0,805-2-1365,-903 0-5461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7:57.1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24575,'0'6'0,"5"1"0,3 5 0,4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04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24575,'5'5'0,"8"2"0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07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24575,'16'1'0,"0"1"0,0 1 0,0 0 0,-1 1 0,27 11 0,29 7 0,-20-14 0,1-2 0,-1-2 0,84-5 0,-59 0 0,334-1 0,-385 3 0,1 1 0,-1 1 0,38 10 0,73 28 0,-90-26 0,98 39 0,-64-22 0,11 3 0,102 56 0,-174-82 0,35 12 0,9 3 0,-44-15 0,0-1 0,1-1 0,0-1 0,1-1 0,-1 0 0,1-2 0,0 0 0,42-1 0,-35-1 0,-1 2 0,32 6 0,20 3 0,-45-6 0,1 1 0,-1 2 0,-1 1 0,40 17 0,6 2 0,-66-24 0,36 12 0,1-1 0,1-3 0,77 10 0,-89-17 0,0 1 0,0 2 0,0 1 0,-2 3 0,1 0 0,-2 3 0,63 35 0,-89-45 0,1-1 0,0 0 0,0-1 0,0 0 0,22 3 0,58 2 0,-58-7 0,90 17 0,-84-12 0,28 7 0,-35-7 0,62 7 0,204-13 0,-146-3 0,-135 2 0,1-1 0,-1-1 0,0-1 0,-1 0 0,33-12 0,-17 3 0,-2-2 0,31-19 0,55-23 0,-51 25 0,-13 9 0,-37 17 0,0-1 0,-1-1 0,0 0 0,23-16 0,20-25 0,-41 33 0,1 0 0,1 2 0,0 0 0,0 1 0,23-11 0,-19 11 0,0 0 0,36-28 0,-35 24 0,45-26 0,-14 16 0,89-31 0,13 4 0,-133 45 166,28-14 0,-34 14-590,0 0-1,1 1 1,19-4 0,-11 6-6402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10.0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1 195 24575,'0'-1'0,"0"-1"0,1 0 0,-1 1 0,1-1 0,-1 1 0,1-1 0,0 1 0,0-1 0,-1 1 0,1 0 0,0-1 0,0 1 0,1 0 0,-1 0 0,0 0 0,0 0 0,0 0 0,1 0 0,-1 0 0,2-1 0,33-16 0,-29 15 0,98-54 0,-2 1 0,-89 50 0,1 0 0,-1 1 0,1 1 0,0 0 0,27-2 0,94 4-381,-112 3-603,4-1-5842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4-05T14:29:11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1057 0 24575,'-581'0'0,"555"2"0,1 0 0,-37 9 0,-18 2 0,52-9 0,-34 9 0,38-6 0,-1-2 0,-30 2 0,-6-6-1365,33-1-5461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809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A20113C0-DB06-45B3-9D01-CBF0A2C3A82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46350" y="876300"/>
            <a:ext cx="4203700" cy="2365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9640" y="3373754"/>
            <a:ext cx="7437120" cy="2760346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809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724DA50C-8C7F-4EA0-984B-660B5AC63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054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Introduce ourselves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9416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Allen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778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126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Allen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8317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4357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Jake start?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695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ANOVA - </a:t>
            </a:r>
            <a:r>
              <a:rPr lang="en-US"/>
              <a:t>Analysis of Variance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4329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6350" y="876300"/>
            <a:ext cx="4203700" cy="2365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220A5-F1F3-4256-9664-E22BB9FE5CF1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776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6350" y="876300"/>
            <a:ext cx="4203700" cy="2365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220A5-F1F3-4256-9664-E22BB9FE5CF1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0792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46350" y="876300"/>
            <a:ext cx="4203700" cy="2365375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31220A5-F1F3-4256-9664-E22BB9FE5CF1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3455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0272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RCBD – random complete block design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8362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Jake end?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691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319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Phil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4642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Data might not be “normally” distributed, but the residuals can be (or vice versa). Its only important that the residuals are normally distributed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18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Phil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39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Jake start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6549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2574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09637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09347-0252-7BE2-D1D6-E84254641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1B051-37C1-60F2-0D22-8BFA29AD61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A5ED2E-7F43-1911-4D00-282332C66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03F9D-BFB0-7B3A-3F03-DBF49F2DBB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A629B4-1DA9-45A5-8AEE-619353FFF981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1742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Jake 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6782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Phil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097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79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Allan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5917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Allen start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440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MS come from the Sums of squares divided by the 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4DA50C-8C7F-4EA0-984B-660B5AC63377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767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CD5477-38C5-4726-A7CA-F055B6118951}" type="datetimeFigureOut">
              <a:rPr lang="en-US" smtClean="0"/>
              <a:pPr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60D912-4E79-48E6-B47D-E72098DBAD6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hahnp13.github.io/ALS6502C-LMANR-Manual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rodriguezsanchez.net/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frodriguezsanchez.net/" TargetMode="External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frodriguezsanchez.net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12" Type="http://schemas.openxmlformats.org/officeDocument/2006/relationships/image" Target="../media/image2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svg"/><Relationship Id="rId5" Type="http://schemas.openxmlformats.org/officeDocument/2006/relationships/image" Target="../media/image15.svg"/><Relationship Id="rId15" Type="http://schemas.openxmlformats.org/officeDocument/2006/relationships/image" Target="../media/image25.sv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svg"/><Relationship Id="rId1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jpe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2.pn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3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4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jpe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55.svg"/><Relationship Id="rId7" Type="http://schemas.openxmlformats.org/officeDocument/2006/relationships/image" Target="../media/image59.sv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svg"/><Relationship Id="rId4" Type="http://schemas.openxmlformats.org/officeDocument/2006/relationships/image" Target="../media/image56.png"/><Relationship Id="rId9" Type="http://schemas.openxmlformats.org/officeDocument/2006/relationships/image" Target="../media/image25.sv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1.svg"/><Relationship Id="rId4" Type="http://schemas.openxmlformats.org/officeDocument/2006/relationships/image" Target="../media/image6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emf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jpe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tif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tiff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tiff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tif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tif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8.tiff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tif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tiff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7.sv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0.png"/><Relationship Id="rId4" Type="http://schemas.openxmlformats.org/officeDocument/2006/relationships/image" Target="../media/image790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0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0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0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0.png"/><Relationship Id="rId2" Type="http://schemas.openxmlformats.org/officeDocument/2006/relationships/image" Target="../media/image850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9.emf"/><Relationship Id="rId4" Type="http://schemas.openxmlformats.org/officeDocument/2006/relationships/image" Target="../media/image88.emf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1.emf"/><Relationship Id="rId5" Type="http://schemas.openxmlformats.org/officeDocument/2006/relationships/image" Target="../media/image90.emf"/><Relationship Id="rId4" Type="http://schemas.openxmlformats.org/officeDocument/2006/relationships/image" Target="../media/image90.png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6.png"/><Relationship Id="rId3" Type="http://schemas.openxmlformats.org/officeDocument/2006/relationships/image" Target="../media/image90.png"/><Relationship Id="rId7" Type="http://schemas.openxmlformats.org/officeDocument/2006/relationships/customXml" Target="../ink/ink1.xml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emf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5.png"/><Relationship Id="rId5" Type="http://schemas.openxmlformats.org/officeDocument/2006/relationships/image" Target="../media/image93.png"/><Relationship Id="rId4" Type="http://schemas.openxmlformats.org/officeDocument/2006/relationships/image" Target="../media/image92.emf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customXml" Target="../ink/ink3.xml"/><Relationship Id="rId4" Type="http://schemas.openxmlformats.org/officeDocument/2006/relationships/image" Target="../media/image103.png"/></Relationships>
</file>

<file path=ppt/slides/_rels/slide1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3" Type="http://schemas.openxmlformats.org/officeDocument/2006/relationships/customXml" Target="../ink/ink4.xml"/><Relationship Id="rId7" Type="http://schemas.openxmlformats.org/officeDocument/2006/relationships/customXml" Target="../ink/ink6.xml"/><Relationship Id="rId12" Type="http://schemas.openxmlformats.org/officeDocument/2006/relationships/image" Target="../media/image108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customXml" Target="../ink/ink8.xml"/><Relationship Id="rId5" Type="http://schemas.openxmlformats.org/officeDocument/2006/relationships/customXml" Target="../ink/ink5.xml"/><Relationship Id="rId10" Type="http://schemas.openxmlformats.org/officeDocument/2006/relationships/image" Target="../media/image107.png"/><Relationship Id="rId4" Type="http://schemas.openxmlformats.org/officeDocument/2006/relationships/image" Target="../media/image103.png"/><Relationship Id="rId9" Type="http://schemas.openxmlformats.org/officeDocument/2006/relationships/customXml" Target="../ink/ink7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e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7">
            <a:extLst>
              <a:ext uri="{FF2B5EF4-FFF2-40B4-BE49-F238E27FC236}">
                <a16:creationId xmlns:a16="http://schemas.microsoft.com/office/drawing/2014/main" id="{BEE73255-8084-4DF9-BB0B-15EAC92E2C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934" y="1106806"/>
            <a:ext cx="3124200" cy="3208019"/>
          </a:xfrm>
          <a:prstGeom prst="ellipse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2500" b="1">
                <a:solidFill>
                  <a:srgbClr val="2C2C2C"/>
                </a:solidFill>
              </a:rPr>
              <a:t>SEB Stats Workshop</a:t>
            </a:r>
            <a:br>
              <a:rPr lang="en-US" sz="2500" b="1">
                <a:solidFill>
                  <a:srgbClr val="2C2C2C"/>
                </a:solidFill>
              </a:rPr>
            </a:br>
            <a:br>
              <a:rPr lang="en-US" sz="2500">
                <a:solidFill>
                  <a:srgbClr val="2C2C2C"/>
                </a:solidFill>
              </a:rPr>
            </a:br>
            <a:r>
              <a:rPr lang="en-US" sz="2500">
                <a:solidFill>
                  <a:srgbClr val="2C2C2C"/>
                </a:solidFill>
              </a:rPr>
              <a:t>Overview of Stats process</a:t>
            </a:r>
          </a:p>
        </p:txBody>
      </p:sp>
      <p:sp>
        <p:nvSpPr>
          <p:cNvPr id="48" name="Rounded Rectangle 9">
            <a:extLst>
              <a:ext uri="{FF2B5EF4-FFF2-40B4-BE49-F238E27FC236}">
                <a16:creationId xmlns:a16="http://schemas.microsoft.com/office/drawing/2014/main" id="{67048353-8981-459A-9BC6-9711CE462E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80067" y="484632"/>
            <a:ext cx="8129016" cy="5724144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4" descr="STATS, STATS AND MORE STATS | Eternal Sunshine Of The Digital Mind">
            <a:extLst>
              <a:ext uri="{FF2B5EF4-FFF2-40B4-BE49-F238E27FC236}">
                <a16:creationId xmlns:a16="http://schemas.microsoft.com/office/drawing/2014/main" id="{F51998EF-D486-4EF4-A1FD-C5841DB1C4F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61" b="1"/>
          <a:stretch/>
        </p:blipFill>
        <p:spPr bwMode="auto">
          <a:xfrm>
            <a:off x="5211096" y="942538"/>
            <a:ext cx="6015089" cy="4037645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peech Bubble: Oval 3">
            <a:extLst>
              <a:ext uri="{FF2B5EF4-FFF2-40B4-BE49-F238E27FC236}">
                <a16:creationId xmlns:a16="http://schemas.microsoft.com/office/drawing/2014/main" id="{318F4E49-4795-A3BB-F97C-7B79966AB9AA}"/>
              </a:ext>
            </a:extLst>
          </p:cNvPr>
          <p:cNvSpPr/>
          <p:nvPr/>
        </p:nvSpPr>
        <p:spPr>
          <a:xfrm flipH="1">
            <a:off x="5105399" y="1619865"/>
            <a:ext cx="1981201" cy="914400"/>
          </a:xfrm>
          <a:prstGeom prst="wedgeEllipseCallou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solidFill>
                  <a:schemeClr val="tx1"/>
                </a:solidFill>
              </a:rPr>
              <a:t>Please check in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5EB69FD-262A-42E1-6B95-B128EB16ACEB}"/>
              </a:ext>
            </a:extLst>
          </p:cNvPr>
          <p:cNvGrpSpPr/>
          <p:nvPr/>
        </p:nvGrpSpPr>
        <p:grpSpPr>
          <a:xfrm>
            <a:off x="3651854" y="2862700"/>
            <a:ext cx="2152650" cy="1789047"/>
            <a:chOff x="6455604" y="6711378"/>
            <a:chExt cx="1019062" cy="101566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0BD38BD-6D0C-99F2-9F47-46821AFB4F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977" t="32263" r="23219" b="9478"/>
            <a:stretch>
              <a:fillRect/>
            </a:stretch>
          </p:blipFill>
          <p:spPr>
            <a:xfrm>
              <a:off x="6500593" y="6896044"/>
              <a:ext cx="700268" cy="830998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E3973B2-792B-F765-CA09-F466B928600F}"/>
                </a:ext>
              </a:extLst>
            </p:cNvPr>
            <p:cNvSpPr txBox="1"/>
            <p:nvPr/>
          </p:nvSpPr>
          <p:spPr>
            <a:xfrm>
              <a:off x="6455604" y="6711378"/>
              <a:ext cx="10190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/>
                <a:t>Register:</a:t>
              </a:r>
            </a:p>
          </p:txBody>
        </p:sp>
      </p:grpSp>
      <p:pic>
        <p:nvPicPr>
          <p:cNvPr id="9" name="Picture 8" descr="A qr code with black dots&#10;&#10;AI-generated content may be incorrect.">
            <a:extLst>
              <a:ext uri="{FF2B5EF4-FFF2-40B4-BE49-F238E27FC236}">
                <a16:creationId xmlns:a16="http://schemas.microsoft.com/office/drawing/2014/main" id="{2B6D06D9-D015-DA5D-4C16-53D787462D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785AEFF-FE21-F2FC-FBF3-BFBFC3EEB730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69545-CC44-DB8A-A934-FF9327CB97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8CD24-C24C-F70C-E468-079FBD9C18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371600"/>
            <a:ext cx="10972800" cy="4983161"/>
          </a:xfrm>
        </p:spPr>
        <p:txBody>
          <a:bodyPr>
            <a:noAutofit/>
          </a:bodyPr>
          <a:lstStyle/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b="1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Morning</a:t>
            </a:r>
            <a:endParaRPr lang="en-US" sz="24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Lecture [1.5 hours, including Q&amp;A]</a:t>
            </a:r>
          </a:p>
          <a:p>
            <a:pPr lvl="1" indent="-342900">
              <a:lnSpc>
                <a:spcPct val="107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Stats basics </a:t>
            </a:r>
          </a:p>
          <a:p>
            <a:pPr lvl="1" indent="-342900">
              <a:lnSpc>
                <a:spcPct val="107000"/>
              </a:lnSpc>
              <a:spcBef>
                <a:spcPts val="0"/>
              </a:spcBef>
              <a:buFont typeface="Symbol" panose="05050102010706020507" pitchFamily="18" charset="2"/>
              <a:buChar char=""/>
            </a:pP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Overview of Stats process</a:t>
            </a:r>
          </a:p>
          <a:p>
            <a:pPr mar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Worked example in R</a:t>
            </a: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[</a:t>
            </a:r>
            <a:r>
              <a:rPr lang="en-US" sz="2000" kern="100" dirty="0">
                <a:ea typeface="Aptos" panose="020B0004020202020204" pitchFamily="34" charset="0"/>
                <a:cs typeface="Times New Roman" panose="02020603050405020304" pitchFamily="18" charset="0"/>
              </a:rPr>
              <a:t>1.5</a:t>
            </a:r>
            <a:r>
              <a:rPr lang="en-US" sz="2000" kern="100" dirty="0">
                <a:effectLst/>
                <a:ea typeface="Aptos" panose="020B0004020202020204" pitchFamily="34" charset="0"/>
                <a:cs typeface="Times New Roman" panose="02020603050405020304" pitchFamily="18" charset="0"/>
              </a:rPr>
              <a:t> hours, including Q&amp;A]</a:t>
            </a: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000" kern="100" dirty="0">
                <a:ea typeface="Aptos" panose="020B0004020202020204" pitchFamily="34" charset="0"/>
                <a:cs typeface="Times New Roman" panose="02020603050405020304" pitchFamily="18" charset="0"/>
              </a:rPr>
              <a:t>GET CODE HERE:</a:t>
            </a:r>
          </a:p>
          <a:p>
            <a:pPr lvl="1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2000" kern="100" dirty="0">
                <a:ea typeface="Aptos" panose="020B0004020202020204" pitchFamily="34" charset="0"/>
                <a:cs typeface="Times New Roman" panose="02020603050405020304" pitchFamily="18" charset="0"/>
              </a:rPr>
              <a:t>https://github.com/hahnp13/Workshops.git</a:t>
            </a:r>
            <a:endParaRPr lang="en-US" sz="20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400" kern="100" dirty="0">
              <a:effectLst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Image">
            <a:extLst>
              <a:ext uri="{FF2B5EF4-FFF2-40B4-BE49-F238E27FC236}">
                <a16:creationId xmlns:a16="http://schemas.microsoft.com/office/drawing/2014/main" id="{3C20CA28-1A0C-84C7-C009-0EBBF8DDA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1825852"/>
            <a:ext cx="4010025" cy="4491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qr code with black dots&#10;&#10;AI-generated content may be incorrect.">
            <a:extLst>
              <a:ext uri="{FF2B5EF4-FFF2-40B4-BE49-F238E27FC236}">
                <a16:creationId xmlns:a16="http://schemas.microsoft.com/office/drawing/2014/main" id="{419AF3CD-F4D0-5243-7CCA-5A6B168570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7536" y="4770181"/>
            <a:ext cx="1938799" cy="193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973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313F5-6A11-D5A8-F736-E3CD2C857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ALS6502C Course Manual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EC0BF99-9234-999D-05D8-C2335788FD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7854" y="1600200"/>
            <a:ext cx="8356292" cy="4525963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7E1151-691C-93C0-21E7-7E332FF8FA33}"/>
              </a:ext>
            </a:extLst>
          </p:cNvPr>
          <p:cNvSpPr txBox="1"/>
          <p:nvPr/>
        </p:nvSpPr>
        <p:spPr>
          <a:xfrm>
            <a:off x="3048838" y="6284144"/>
            <a:ext cx="60943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hlinkClick r:id="rId3"/>
              </a:rPr>
              <a:t>https://hahnp13.github.io/ALS6502C-LMANR-Manual/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655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D68820DA-3CF9-45E9-B2BF-78EEC93DAE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000"/>
          <a:stretch/>
        </p:blipFill>
        <p:spPr bwMode="auto">
          <a:xfrm>
            <a:off x="1566068" y="533400"/>
            <a:ext cx="9059863" cy="617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A51284-ACB1-45B3-9B2F-B313EE845654}"/>
              </a:ext>
            </a:extLst>
          </p:cNvPr>
          <p:cNvSpPr txBox="1"/>
          <p:nvPr/>
        </p:nvSpPr>
        <p:spPr>
          <a:xfrm>
            <a:off x="9144000" y="6211669"/>
            <a:ext cx="3047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>
                <a:solidFill>
                  <a:srgbClr val="24292E"/>
                </a:solidFill>
                <a:effectLst/>
                <a:latin typeface="-apple-system"/>
              </a:rPr>
              <a:t>Francisco Rodriguez-Sanchez</a:t>
            </a:r>
            <a:br>
              <a:rPr lang="en-US" b="0" i="0">
                <a:solidFill>
                  <a:srgbClr val="24292E"/>
                </a:solidFill>
                <a:effectLst/>
                <a:latin typeface="-apple-system"/>
              </a:rPr>
            </a:br>
            <a:r>
              <a:rPr lang="en-US" b="0" i="0" u="none" strike="noStrike">
                <a:solidFill>
                  <a:srgbClr val="24292E"/>
                </a:solidFill>
                <a:effectLst/>
                <a:latin typeface="-apple-system"/>
                <a:hlinkClick r:id="rId3"/>
              </a:rPr>
              <a:t>https://frodriguezsanchez.net</a:t>
            </a:r>
            <a:endParaRPr lang="en-US" b="0" i="0">
              <a:solidFill>
                <a:srgbClr val="24292E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41398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D68820DA-3CF9-45E9-B2BF-78EEC93DAE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5275" y="0"/>
            <a:ext cx="90598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A51284-ACB1-45B3-9B2F-B313EE845654}"/>
              </a:ext>
            </a:extLst>
          </p:cNvPr>
          <p:cNvSpPr txBox="1"/>
          <p:nvPr/>
        </p:nvSpPr>
        <p:spPr>
          <a:xfrm>
            <a:off x="9144000" y="6211669"/>
            <a:ext cx="3047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0" i="0">
                <a:solidFill>
                  <a:srgbClr val="24292E"/>
                </a:solidFill>
                <a:effectLst/>
                <a:latin typeface="-apple-system"/>
              </a:rPr>
              <a:t>Francisco Rodriguez-Sanchez</a:t>
            </a:r>
            <a:br>
              <a:rPr lang="en-US" b="0" i="0">
                <a:solidFill>
                  <a:srgbClr val="24292E"/>
                </a:solidFill>
                <a:effectLst/>
                <a:latin typeface="-apple-system"/>
              </a:rPr>
            </a:br>
            <a:r>
              <a:rPr lang="en-US" b="0" i="0" u="none" strike="noStrike">
                <a:solidFill>
                  <a:srgbClr val="24292E"/>
                </a:solidFill>
                <a:effectLst/>
                <a:latin typeface="-apple-system"/>
                <a:hlinkClick r:id="rId3"/>
              </a:rPr>
              <a:t>https://frodriguezsanchez.net</a:t>
            </a:r>
            <a:endParaRPr lang="en-US" b="0" i="0">
              <a:solidFill>
                <a:srgbClr val="24292E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266591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BA24B67-CF98-420F-B72A-D894F2EDEF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6200"/>
            <a:ext cx="12192000" cy="6202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A51284-ACB1-45B3-9B2F-B313EE845654}"/>
              </a:ext>
            </a:extLst>
          </p:cNvPr>
          <p:cNvSpPr txBox="1"/>
          <p:nvPr/>
        </p:nvSpPr>
        <p:spPr>
          <a:xfrm>
            <a:off x="8686800" y="6201242"/>
            <a:ext cx="304719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0" i="0">
                <a:solidFill>
                  <a:srgbClr val="24292E"/>
                </a:solidFill>
                <a:effectLst/>
                <a:latin typeface="-apple-system"/>
              </a:rPr>
              <a:t>Francisco Rodriguez-Sanchez</a:t>
            </a:r>
            <a:br>
              <a:rPr lang="en-US" b="0" i="0">
                <a:solidFill>
                  <a:srgbClr val="24292E"/>
                </a:solidFill>
                <a:effectLst/>
                <a:latin typeface="-apple-system"/>
              </a:rPr>
            </a:br>
            <a:r>
              <a:rPr lang="en-US" b="0" i="0" u="none" strike="noStrike">
                <a:solidFill>
                  <a:srgbClr val="24292E"/>
                </a:solidFill>
                <a:effectLst/>
                <a:latin typeface="-apple-system"/>
                <a:hlinkClick r:id="rId3"/>
              </a:rPr>
              <a:t>https://frodriguezsanchez.net</a:t>
            </a:r>
            <a:endParaRPr lang="en-US" b="0" i="0">
              <a:solidFill>
                <a:srgbClr val="24292E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554283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Quiz Time on Make a GIF">
            <a:extLst>
              <a:ext uri="{FF2B5EF4-FFF2-40B4-BE49-F238E27FC236}">
                <a16:creationId xmlns:a16="http://schemas.microsoft.com/office/drawing/2014/main" id="{4D5C03D2-E47C-ADEC-2592-2393AED8F3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938463"/>
            <a:ext cx="7010400" cy="4981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555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ED97-2AF8-C7F6-D8DC-90DF4307B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4E03C-AC74-7627-68D3-BEDD4834C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649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1E9C-A995-CB4E-11CD-8AB1EF7C4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5D38-78C8-9D30-5B28-1C733728E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43BABA-4C41-EDBC-9A4C-196A81692E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7909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D4272-996E-8965-08FA-174CD0BB8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7F007-A526-B647-F246-F3BA4DE55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BC5E1-BB62-1795-42D4-870DDA694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3521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1071D-E7E0-1773-AC61-BC3D6B950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253D1-95B2-A2CA-F6B4-D56BBC4FF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mean?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E53D0-6A4B-2274-158D-BED5F234CB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28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72C55-AC7B-79E2-E263-36FEA31D6D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8E430-2338-B88E-73E4-FC5427E2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deviation?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8E170-53B8-7A3D-2B87-A30DE6B214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3918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9DBDC-B52C-8E25-9626-831F3842C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A10DB-2347-F099-47BB-E3179F31F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deviation?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E7EFB-609E-535D-3611-B28897270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b="1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9409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460D0-649A-37E4-113F-658854A8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4EC9-890C-B5C1-3B20-F4E8AF227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error?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B9A13-F5D4-DF8F-4DD1-DA5295A4A2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0" i="0">
                <a:effectLst/>
              </a:rPr>
              <a:t>An estimate of the variability, or precision, of a sample mean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967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2FBA8-3CB4-3F1F-4226-D01931483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E9125F-89BF-3A77-13E5-21A62E3A8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standard error?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88B6F-D408-DC12-6E7B-B18AF8564E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A measure of how spread out the data values are from the mean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 mathematical description of a random phenomenon that gives the probability of possible events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i="0">
                <a:effectLst/>
              </a:rPr>
              <a:t>A summary statistic that describes the center of a data set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i="0">
                <a:effectLst/>
              </a:rPr>
              <a:t>An estimate of the variability, or precision, of a sample mean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096239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084C-016E-5826-6504-2E680482B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6C4904-90E1-6862-98D5-17CE3723C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 descr="A qr code with black dots&#10;&#10;AI-generated content may be incorrect.">
            <a:extLst>
              <a:ext uri="{FF2B5EF4-FFF2-40B4-BE49-F238E27FC236}">
                <a16:creationId xmlns:a16="http://schemas.microsoft.com/office/drawing/2014/main" id="{1FAE9E6B-D653-6FF4-725E-2FD370BAAF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4CCD0C-8D11-7706-8AC6-0B4258A45BF7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2573282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0897B-595D-47FC-EF1A-3F50E85ED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5CD44-F8C7-27A3-D935-43E244F83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5919C-4284-7AEF-3629-64ADB7616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486400" cy="4525963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3000" b="1"/>
              <a:t>Normal (Gaussian) distribution</a:t>
            </a:r>
          </a:p>
          <a:p>
            <a:pPr>
              <a:lnSpc>
                <a:spcPct val="90000"/>
              </a:lnSpc>
            </a:pPr>
            <a:r>
              <a:rPr lang="en-US" sz="3000"/>
              <a:t>Continuous numeric variables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600"/>
              <a:t>-</a:t>
            </a:r>
            <a:r>
              <a:rPr lang="en-US" sz="2600">
                <a:effectLst/>
              </a:rPr>
              <a:t>∞</a:t>
            </a:r>
            <a:r>
              <a:rPr lang="en-US" sz="2600"/>
              <a:t> to </a:t>
            </a:r>
            <a:r>
              <a:rPr lang="en-US" sz="2600">
                <a:effectLst/>
              </a:rPr>
              <a:t>∞</a:t>
            </a:r>
            <a:endParaRPr lang="en-US" sz="2600"/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600"/>
              <a:t>Most points near the mean</a:t>
            </a:r>
          </a:p>
          <a:p>
            <a:pPr lvl="1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600"/>
              <a:t>Points symmetrically distributed around mean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ECC4FA-0C91-B356-3098-F820E3DD88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000" y="1833841"/>
            <a:ext cx="5486400" cy="4275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20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AB90E-F809-C737-09B8-A2ACD85D5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2F8BF-AE8A-6236-413E-012B0326A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a probability distribution?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439338-095B-2708-44B9-76A6EFB16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5486400" cy="4525963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/>
              <a:t>Normal (Gaussian) distribution</a:t>
            </a:r>
          </a:p>
          <a:p>
            <a:r>
              <a:rPr lang="en-US"/>
              <a:t>Continuous numeric variables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/>
              <a:t>-</a:t>
            </a:r>
            <a:r>
              <a:rPr lang="en-US">
                <a:effectLst/>
              </a:rPr>
              <a:t>∞</a:t>
            </a:r>
            <a:r>
              <a:rPr lang="en-US"/>
              <a:t> to </a:t>
            </a:r>
            <a:r>
              <a:rPr lang="en-US">
                <a:effectLst/>
              </a:rPr>
              <a:t>∞</a:t>
            </a:r>
            <a:endParaRPr lang="en-US"/>
          </a:p>
          <a:p>
            <a:pPr lvl="1">
              <a:buFont typeface="Arial" panose="020B0604020202020204" pitchFamily="34" charset="0"/>
              <a:buChar char="•"/>
            </a:pPr>
            <a:r>
              <a:rPr lang="en-US"/>
              <a:t>Most points near the mean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/>
              <a:t>Points symmetrically distributed around mean</a:t>
            </a:r>
          </a:p>
          <a:p>
            <a:r>
              <a:rPr lang="en-US"/>
              <a:t>Parameters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l-GR"/>
              <a:t>μ</a:t>
            </a:r>
            <a:r>
              <a:rPr lang="en-US"/>
              <a:t> = Mean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l-GR"/>
              <a:t>σ</a:t>
            </a:r>
            <a:r>
              <a:rPr lang="el-GR" baseline="30000"/>
              <a:t>2</a:t>
            </a:r>
            <a:r>
              <a:rPr lang="en-US" baseline="30000"/>
              <a:t> </a:t>
            </a:r>
            <a:r>
              <a:rPr lang="en-US"/>
              <a:t> = Variance</a:t>
            </a:r>
          </a:p>
          <a:p>
            <a:pPr lvl="2"/>
            <a:r>
              <a:rPr lang="el-GR"/>
              <a:t>σ</a:t>
            </a:r>
            <a:r>
              <a:rPr lang="en-US"/>
              <a:t> = Standard deviation</a:t>
            </a:r>
          </a:p>
        </p:txBody>
      </p:sp>
      <p:pic>
        <p:nvPicPr>
          <p:cNvPr id="17" name="Picture 16" descr="A diagram of normal distribution&#10;&#10;AI-generated content may be incorrect.">
            <a:extLst>
              <a:ext uri="{FF2B5EF4-FFF2-40B4-BE49-F238E27FC236}">
                <a16:creationId xmlns:a16="http://schemas.microsoft.com/office/drawing/2014/main" id="{32F8236A-8032-D1CF-4036-CCEFCE8251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450" t="48670" r="24191" b="6267"/>
          <a:stretch>
            <a:fillRect/>
          </a:stretch>
        </p:blipFill>
        <p:spPr>
          <a:xfrm>
            <a:off x="6553200" y="3900126"/>
            <a:ext cx="5029200" cy="2885607"/>
          </a:xfrm>
          <a:prstGeom prst="rect">
            <a:avLst/>
          </a:prstGeom>
        </p:spPr>
      </p:pic>
      <p:pic>
        <p:nvPicPr>
          <p:cNvPr id="19" name="Picture 18" descr="A red line on a black background&#10;&#10;AI-generated content may be incorrect.">
            <a:extLst>
              <a:ext uri="{FF2B5EF4-FFF2-40B4-BE49-F238E27FC236}">
                <a16:creationId xmlns:a16="http://schemas.microsoft.com/office/drawing/2014/main" id="{1E781F0D-D91C-2917-8A44-321F2E997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06182"/>
            <a:ext cx="4724400" cy="47244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98ABA54-7E21-7590-B161-646FD380D61D}"/>
              </a:ext>
            </a:extLst>
          </p:cNvPr>
          <p:cNvSpPr txBox="1"/>
          <p:nvPr/>
        </p:nvSpPr>
        <p:spPr>
          <a:xfrm>
            <a:off x="9601200" y="4038600"/>
            <a:ext cx="9605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/>
              <a:t>SD = 1</a:t>
            </a:r>
            <a:endParaRPr lang="de-DE" sz="2400" i="1"/>
          </a:p>
        </p:txBody>
      </p:sp>
    </p:spTree>
    <p:extLst>
      <p:ext uri="{BB962C8B-B14F-4D97-AF65-F5344CB8AC3E}">
        <p14:creationId xmlns:p14="http://schemas.microsoft.com/office/powerpoint/2010/main" val="1932608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7BF91-D1E9-99DD-B308-84DD9B604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D4AC1-6C88-2D15-3A26-B6501CFD2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1062"/>
            <a:ext cx="10972800" cy="1143000"/>
          </a:xfrm>
        </p:spPr>
        <p:txBody>
          <a:bodyPr/>
          <a:lstStyle/>
          <a:p>
            <a:r>
              <a:rPr lang="en-US"/>
              <a:t>What processes generate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42871-DC59-1428-01D6-44A9D12A0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6087"/>
            <a:ext cx="10972800" cy="1143000"/>
          </a:xfrm>
        </p:spPr>
        <p:txBody>
          <a:bodyPr>
            <a:normAutofit/>
          </a:bodyPr>
          <a:lstStyle/>
          <a:p>
            <a:r>
              <a:rPr lang="en-US"/>
              <a:t>Data are the result of natural (or biological) phenomena</a:t>
            </a:r>
          </a:p>
        </p:txBody>
      </p:sp>
      <p:grpSp>
        <p:nvGrpSpPr>
          <p:cNvPr id="1049" name="Group 1048">
            <a:extLst>
              <a:ext uri="{FF2B5EF4-FFF2-40B4-BE49-F238E27FC236}">
                <a16:creationId xmlns:a16="http://schemas.microsoft.com/office/drawing/2014/main" id="{32393D07-8775-4277-9414-BA8C24A3213A}"/>
              </a:ext>
            </a:extLst>
          </p:cNvPr>
          <p:cNvGrpSpPr/>
          <p:nvPr/>
        </p:nvGrpSpPr>
        <p:grpSpPr>
          <a:xfrm>
            <a:off x="1009854" y="2709158"/>
            <a:ext cx="2038145" cy="2995313"/>
            <a:chOff x="1009854" y="2709158"/>
            <a:chExt cx="2038145" cy="299531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EEF828-8278-8ADB-EE76-811207C8C2DE}"/>
                </a:ext>
              </a:extLst>
            </p:cNvPr>
            <p:cNvSpPr txBox="1"/>
            <p:nvPr/>
          </p:nvSpPr>
          <p:spPr>
            <a:xfrm>
              <a:off x="1257800" y="2709158"/>
              <a:ext cx="121920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/>
                <a:t>Counts</a:t>
              </a:r>
              <a:endParaRPr lang="de-DE" sz="2800" b="1"/>
            </a:p>
          </p:txBody>
        </p:sp>
        <p:grpSp>
          <p:nvGrpSpPr>
            <p:cNvPr id="1046" name="Group 1045">
              <a:extLst>
                <a:ext uri="{FF2B5EF4-FFF2-40B4-BE49-F238E27FC236}">
                  <a16:creationId xmlns:a16="http://schemas.microsoft.com/office/drawing/2014/main" id="{B2046D26-C749-75C5-EE8D-B817FE537184}"/>
                </a:ext>
              </a:extLst>
            </p:cNvPr>
            <p:cNvGrpSpPr/>
            <p:nvPr/>
          </p:nvGrpSpPr>
          <p:grpSpPr>
            <a:xfrm>
              <a:off x="1009854" y="3488711"/>
              <a:ext cx="2038145" cy="2215760"/>
              <a:chOff x="1155369" y="3578878"/>
              <a:chExt cx="1868750" cy="2031603"/>
            </a:xfrm>
          </p:grpSpPr>
          <p:pic>
            <p:nvPicPr>
              <p:cNvPr id="1032" name="Graphic 1031" descr="Wilting Pot Plant with solid fill">
                <a:extLst>
                  <a:ext uri="{FF2B5EF4-FFF2-40B4-BE49-F238E27FC236}">
                    <a16:creationId xmlns:a16="http://schemas.microsoft.com/office/drawing/2014/main" id="{091DDB06-13A1-E7E9-AB6F-726BFD0ABD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155369" y="3578878"/>
                <a:ext cx="1543127" cy="1543127"/>
              </a:xfrm>
              <a:prstGeom prst="rect">
                <a:avLst/>
              </a:prstGeom>
            </p:spPr>
          </p:pic>
          <p:pic>
            <p:nvPicPr>
              <p:cNvPr id="63" name="Graphic 62" descr="Bug under magnifying glass with solid fill">
                <a:extLst>
                  <a:ext uri="{FF2B5EF4-FFF2-40B4-BE49-F238E27FC236}">
                    <a16:creationId xmlns:a16="http://schemas.microsoft.com/office/drawing/2014/main" id="{73EF2991-C095-F7EF-6CFD-B3924A170C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1846657" y="4433019"/>
                <a:ext cx="1177462" cy="1177462"/>
              </a:xfrm>
              <a:prstGeom prst="rect">
                <a:avLst/>
              </a:prstGeom>
            </p:spPr>
          </p:pic>
        </p:grpSp>
      </p:grpSp>
      <p:grpSp>
        <p:nvGrpSpPr>
          <p:cNvPr id="1050" name="Group 1049">
            <a:extLst>
              <a:ext uri="{FF2B5EF4-FFF2-40B4-BE49-F238E27FC236}">
                <a16:creationId xmlns:a16="http://schemas.microsoft.com/office/drawing/2014/main" id="{07D95460-887C-7D8C-687D-2BFBD1C7F418}"/>
              </a:ext>
            </a:extLst>
          </p:cNvPr>
          <p:cNvGrpSpPr/>
          <p:nvPr/>
        </p:nvGrpSpPr>
        <p:grpSpPr>
          <a:xfrm>
            <a:off x="4443748" y="2709158"/>
            <a:ext cx="2388545" cy="2811156"/>
            <a:chOff x="4443748" y="2709158"/>
            <a:chExt cx="2388545" cy="2811156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FC7F085-AE0E-1D0E-3C06-26F2CC4D4527}"/>
                </a:ext>
              </a:extLst>
            </p:cNvPr>
            <p:cNvSpPr txBox="1"/>
            <p:nvPr/>
          </p:nvSpPr>
          <p:spPr>
            <a:xfrm>
              <a:off x="4443748" y="2709158"/>
              <a:ext cx="199827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de-DE" sz="2800" b="1"/>
                <a:t>Proportion</a:t>
              </a:r>
            </a:p>
          </p:txBody>
        </p:sp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7A10CFF8-9D9C-D58F-4514-36B4C3C9581A}"/>
                </a:ext>
              </a:extLst>
            </p:cNvPr>
            <p:cNvGrpSpPr/>
            <p:nvPr/>
          </p:nvGrpSpPr>
          <p:grpSpPr>
            <a:xfrm>
              <a:off x="4638179" y="3273660"/>
              <a:ext cx="2194114" cy="2246654"/>
              <a:chOff x="4572000" y="3544546"/>
              <a:chExt cx="2194114" cy="2246654"/>
            </a:xfrm>
          </p:grpSpPr>
          <p:sp>
            <p:nvSpPr>
              <p:cNvPr id="1034" name="Partial Circle 1033">
                <a:extLst>
                  <a:ext uri="{FF2B5EF4-FFF2-40B4-BE49-F238E27FC236}">
                    <a16:creationId xmlns:a16="http://schemas.microsoft.com/office/drawing/2014/main" id="{2CCF2F3C-55F0-0CFC-1602-9305D4945864}"/>
                  </a:ext>
                </a:extLst>
              </p:cNvPr>
              <p:cNvSpPr/>
              <p:nvPr/>
            </p:nvSpPr>
            <p:spPr>
              <a:xfrm>
                <a:off x="4706552" y="3999534"/>
                <a:ext cx="1524000" cy="1524000"/>
              </a:xfrm>
              <a:prstGeom prst="pie">
                <a:avLst>
                  <a:gd name="adj1" fmla="val 16211144"/>
                  <a:gd name="adj2" fmla="val 19959421"/>
                </a:avLst>
              </a:prstGeom>
              <a:solidFill>
                <a:srgbClr val="FF0000"/>
              </a:solidFill>
              <a:ln>
                <a:solidFill>
                  <a:srgbClr val="C00000"/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sp>
            <p:nvSpPr>
              <p:cNvPr id="1033" name="Partial Circle 1032">
                <a:extLst>
                  <a:ext uri="{FF2B5EF4-FFF2-40B4-BE49-F238E27FC236}">
                    <a16:creationId xmlns:a16="http://schemas.microsoft.com/office/drawing/2014/main" id="{5F90338C-B8B6-34FA-2BFE-D1524AAE68B5}"/>
                  </a:ext>
                </a:extLst>
              </p:cNvPr>
              <p:cNvSpPr/>
              <p:nvPr/>
            </p:nvSpPr>
            <p:spPr>
              <a:xfrm>
                <a:off x="4572000" y="4267200"/>
                <a:ext cx="1524000" cy="1524000"/>
              </a:xfrm>
              <a:prstGeom prst="pie">
                <a:avLst>
                  <a:gd name="adj1" fmla="val 20063167"/>
                  <a:gd name="adj2" fmla="val 16200000"/>
                </a:avLst>
              </a:prstGeom>
              <a:no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>
                  <a:solidFill>
                    <a:schemeClr val="tx1"/>
                  </a:solidFill>
                </a:endParaRPr>
              </a:p>
            </p:txBody>
          </p:sp>
          <p:pic>
            <p:nvPicPr>
              <p:cNvPr id="1039" name="Graphic 1038" descr="Danger with solid fill">
                <a:extLst>
                  <a:ext uri="{FF2B5EF4-FFF2-40B4-BE49-F238E27FC236}">
                    <a16:creationId xmlns:a16="http://schemas.microsoft.com/office/drawing/2014/main" id="{E1F4E76F-AF25-746B-9ED9-00ABEE97B5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6273867" y="3544546"/>
                <a:ext cx="492247" cy="492247"/>
              </a:xfrm>
              <a:prstGeom prst="rect">
                <a:avLst/>
              </a:prstGeom>
            </p:spPr>
          </p:pic>
          <p:pic>
            <p:nvPicPr>
              <p:cNvPr id="60" name="Graphic 59">
                <a:extLst>
                  <a:ext uri="{FF2B5EF4-FFF2-40B4-BE49-F238E27FC236}">
                    <a16:creationId xmlns:a16="http://schemas.microsoft.com/office/drawing/2014/main" id="{066DA050-7883-B049-31E5-0F6720EAAD9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b="27977"/>
              <a:stretch/>
            </p:blipFill>
            <p:spPr>
              <a:xfrm rot="1636802">
                <a:off x="5514890" y="3680610"/>
                <a:ext cx="917156" cy="825710"/>
              </a:xfrm>
              <a:prstGeom prst="rect">
                <a:avLst/>
              </a:prstGeom>
            </p:spPr>
          </p:pic>
        </p:grpSp>
      </p:grpSp>
      <p:grpSp>
        <p:nvGrpSpPr>
          <p:cNvPr id="1051" name="Group 1050">
            <a:extLst>
              <a:ext uri="{FF2B5EF4-FFF2-40B4-BE49-F238E27FC236}">
                <a16:creationId xmlns:a16="http://schemas.microsoft.com/office/drawing/2014/main" id="{34D5EE46-1E1D-7725-18CD-AF5C2E83DE40}"/>
              </a:ext>
            </a:extLst>
          </p:cNvPr>
          <p:cNvGrpSpPr/>
          <p:nvPr/>
        </p:nvGrpSpPr>
        <p:grpSpPr>
          <a:xfrm>
            <a:off x="8408767" y="2709158"/>
            <a:ext cx="2441660" cy="2863107"/>
            <a:chOff x="8408767" y="2709158"/>
            <a:chExt cx="2441660" cy="2863107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7381B2D-E434-93AD-2AEE-CFA6AC31F10E}"/>
                </a:ext>
              </a:extLst>
            </p:cNvPr>
            <p:cNvSpPr txBox="1"/>
            <p:nvPr/>
          </p:nvSpPr>
          <p:spPr>
            <a:xfrm>
              <a:off x="8408767" y="2709158"/>
              <a:ext cx="24416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de-DE" sz="2800" b="1"/>
                <a:t>Time-</a:t>
              </a:r>
              <a:r>
                <a:rPr lang="de-DE" sz="2800" b="1" err="1"/>
                <a:t>to</a:t>
              </a:r>
              <a:r>
                <a:rPr lang="de-DE" sz="2800" b="1"/>
                <a:t>-Event</a:t>
              </a:r>
            </a:p>
          </p:txBody>
        </p:sp>
        <p:grpSp>
          <p:nvGrpSpPr>
            <p:cNvPr id="1048" name="Group 1047">
              <a:extLst>
                <a:ext uri="{FF2B5EF4-FFF2-40B4-BE49-F238E27FC236}">
                  <a16:creationId xmlns:a16="http://schemas.microsoft.com/office/drawing/2014/main" id="{151D2B82-004F-130C-6D9E-368538D98624}"/>
                </a:ext>
              </a:extLst>
            </p:cNvPr>
            <p:cNvGrpSpPr/>
            <p:nvPr/>
          </p:nvGrpSpPr>
          <p:grpSpPr>
            <a:xfrm>
              <a:off x="8513940" y="3429000"/>
              <a:ext cx="2231313" cy="2143265"/>
              <a:chOff x="8901693" y="3530015"/>
              <a:chExt cx="2231313" cy="2143265"/>
            </a:xfrm>
          </p:grpSpPr>
          <p:pic>
            <p:nvPicPr>
              <p:cNvPr id="59" name="Graphic 58" descr="Stopwatch 33% with solid fill">
                <a:extLst>
                  <a:ext uri="{FF2B5EF4-FFF2-40B4-BE49-F238E27FC236}">
                    <a16:creationId xmlns:a16="http://schemas.microsoft.com/office/drawing/2014/main" id="{99F3C345-AC2D-0A92-5A58-4DD578B21E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9329223" y="3530015"/>
                <a:ext cx="1327899" cy="1327899"/>
              </a:xfrm>
              <a:prstGeom prst="rect">
                <a:avLst/>
              </a:prstGeom>
            </p:spPr>
          </p:pic>
          <p:pic>
            <p:nvPicPr>
              <p:cNvPr id="1041" name="Graphic 1040" descr="Caterpillar with solid fill">
                <a:extLst>
                  <a:ext uri="{FF2B5EF4-FFF2-40B4-BE49-F238E27FC236}">
                    <a16:creationId xmlns:a16="http://schemas.microsoft.com/office/drawing/2014/main" id="{10DC23CF-555F-DBA1-F06D-454DB0FF91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901693" y="4826094"/>
                <a:ext cx="794031" cy="794031"/>
              </a:xfrm>
              <a:prstGeom prst="rect">
                <a:avLst/>
              </a:prstGeom>
            </p:spPr>
          </p:pic>
          <p:pic>
            <p:nvPicPr>
              <p:cNvPr id="1043" name="Graphic 1042" descr="Butterfly with solid fill">
                <a:extLst>
                  <a:ext uri="{FF2B5EF4-FFF2-40B4-BE49-F238E27FC236}">
                    <a16:creationId xmlns:a16="http://schemas.microsoft.com/office/drawing/2014/main" id="{D04C01CC-5B28-B21A-F3B9-B85211F18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10218606" y="4758880"/>
                <a:ext cx="914400" cy="914400"/>
              </a:xfrm>
              <a:prstGeom prst="rect">
                <a:avLst/>
              </a:prstGeom>
            </p:spPr>
          </p:pic>
          <p:cxnSp>
            <p:nvCxnSpPr>
              <p:cNvPr id="1045" name="Straight Arrow Connector 1044">
                <a:extLst>
                  <a:ext uri="{FF2B5EF4-FFF2-40B4-BE49-F238E27FC236}">
                    <a16:creationId xmlns:a16="http://schemas.microsoft.com/office/drawing/2014/main" id="{08CE85E8-9788-3253-0CEA-EFDF91D9EB89}"/>
                  </a:ext>
                </a:extLst>
              </p:cNvPr>
              <p:cNvCxnSpPr/>
              <p:nvPr/>
            </p:nvCxnSpPr>
            <p:spPr>
              <a:xfrm>
                <a:off x="9695724" y="5223109"/>
                <a:ext cx="552046" cy="0"/>
              </a:xfrm>
              <a:prstGeom prst="straightConnector1">
                <a:avLst/>
              </a:prstGeom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6879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0B33DD-99FD-4E97-B6FB-323935CC3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6086"/>
            <a:ext cx="10972800" cy="4525963"/>
          </a:xfrm>
        </p:spPr>
        <p:txBody>
          <a:bodyPr/>
          <a:lstStyle/>
          <a:p>
            <a:r>
              <a:rPr lang="en-US"/>
              <a:t>Data are the result of natural (or biological) phenomena</a:t>
            </a:r>
          </a:p>
          <a:p>
            <a:r>
              <a:rPr lang="en-US"/>
              <a:t>Phenomena is mathematically described by a probability distribution</a:t>
            </a:r>
          </a:p>
          <a:p>
            <a:r>
              <a:rPr lang="en-US"/>
              <a:t>Data we observe are a random subset of events produced by a phenomenon</a:t>
            </a:r>
          </a:p>
          <a:p>
            <a:r>
              <a:rPr lang="en-US"/>
              <a:t>Used to model data in statistical analysis and make inferences</a:t>
            </a:r>
          </a:p>
          <a:p>
            <a:pPr lvl="1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86FD7C7-9A8D-FABF-68BE-C30FE687BACF}"/>
              </a:ext>
            </a:extLst>
          </p:cNvPr>
          <p:cNvSpPr txBox="1"/>
          <p:nvPr/>
        </p:nvSpPr>
        <p:spPr>
          <a:xfrm>
            <a:off x="7351588" y="4466847"/>
            <a:ext cx="155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Observed data</a:t>
            </a:r>
          </a:p>
        </p:txBody>
      </p:sp>
      <p:pic>
        <p:nvPicPr>
          <p:cNvPr id="20" name="Picture 19" descr="A graph with dots and numbers&#10;&#10;Description automatically generated">
            <a:extLst>
              <a:ext uri="{FF2B5EF4-FFF2-40B4-BE49-F238E27FC236}">
                <a16:creationId xmlns:a16="http://schemas.microsoft.com/office/drawing/2014/main" id="{F9D62642-1FAD-17C1-2A6B-FB3636AE9BA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4663"/>
          <a:stretch/>
        </p:blipFill>
        <p:spPr>
          <a:xfrm>
            <a:off x="6666496" y="4845303"/>
            <a:ext cx="2669755" cy="16475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E081152-8455-4515-B9C1-3B6AE27F7E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1062"/>
            <a:ext cx="10972800" cy="1143000"/>
          </a:xfrm>
        </p:spPr>
        <p:txBody>
          <a:bodyPr/>
          <a:lstStyle/>
          <a:p>
            <a:r>
              <a:rPr lang="en-US"/>
              <a:t>What processes generate data?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9DB8CEE-2F7B-8DA3-E195-397EA7582F29}"/>
              </a:ext>
            </a:extLst>
          </p:cNvPr>
          <p:cNvGrpSpPr/>
          <p:nvPr/>
        </p:nvGrpSpPr>
        <p:grpSpPr>
          <a:xfrm>
            <a:off x="3210339" y="4482548"/>
            <a:ext cx="2802834" cy="2375452"/>
            <a:chOff x="838200" y="4380813"/>
            <a:chExt cx="2898913" cy="2477187"/>
          </a:xfrm>
        </p:grpSpPr>
        <p:pic>
          <p:nvPicPr>
            <p:cNvPr id="8" name="Picture 7" descr="A graph with numbers and a line&#10;&#10;Description automatically generated">
              <a:extLst>
                <a:ext uri="{FF2B5EF4-FFF2-40B4-BE49-F238E27FC236}">
                  <a16:creationId xmlns:a16="http://schemas.microsoft.com/office/drawing/2014/main" id="{0563B8C4-FCE4-02D4-43BF-AA3FCA9E7F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200" y="4683815"/>
              <a:ext cx="2898913" cy="2174185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4DC717C-813E-397C-AC7F-7D4EE4F8EFDE}"/>
                </a:ext>
              </a:extLst>
            </p:cNvPr>
            <p:cNvSpPr txBox="1"/>
            <p:nvPr/>
          </p:nvSpPr>
          <p:spPr>
            <a:xfrm>
              <a:off x="1399485" y="4380813"/>
              <a:ext cx="23376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Probability distribution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F8F3F6F-87B7-F472-6038-B712BAD96C5A}"/>
              </a:ext>
            </a:extLst>
          </p:cNvPr>
          <p:cNvSpPr txBox="1"/>
          <p:nvPr/>
        </p:nvSpPr>
        <p:spPr>
          <a:xfrm>
            <a:off x="476112" y="4482548"/>
            <a:ext cx="1850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Natural processes</a:t>
            </a:r>
          </a:p>
        </p:txBody>
      </p:sp>
      <p:pic>
        <p:nvPicPr>
          <p:cNvPr id="1028" name="Picture 4" descr="Maryland Today | Meet the Beetles">
            <a:extLst>
              <a:ext uri="{FF2B5EF4-FFF2-40B4-BE49-F238E27FC236}">
                <a16:creationId xmlns:a16="http://schemas.microsoft.com/office/drawing/2014/main" id="{5DA4BE05-DE30-2522-4FFC-1193931AC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152" y="5106809"/>
            <a:ext cx="2004747" cy="105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rrow: Notched Right 11">
            <a:extLst>
              <a:ext uri="{FF2B5EF4-FFF2-40B4-BE49-F238E27FC236}">
                <a16:creationId xmlns:a16="http://schemas.microsoft.com/office/drawing/2014/main" id="{D6D19B1F-D9C2-C8F0-8C12-CF7C4E5CE3C5}"/>
              </a:ext>
            </a:extLst>
          </p:cNvPr>
          <p:cNvSpPr/>
          <p:nvPr/>
        </p:nvSpPr>
        <p:spPr>
          <a:xfrm>
            <a:off x="2494722" y="5390739"/>
            <a:ext cx="715617" cy="484632"/>
          </a:xfrm>
          <a:prstGeom prst="notched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Notched Right 14">
            <a:extLst>
              <a:ext uri="{FF2B5EF4-FFF2-40B4-BE49-F238E27FC236}">
                <a16:creationId xmlns:a16="http://schemas.microsoft.com/office/drawing/2014/main" id="{101125E0-B4B4-D8B6-781A-896DF196FB9A}"/>
              </a:ext>
            </a:extLst>
          </p:cNvPr>
          <p:cNvSpPr/>
          <p:nvPr/>
        </p:nvSpPr>
        <p:spPr>
          <a:xfrm>
            <a:off x="5972924" y="5390739"/>
            <a:ext cx="715617" cy="484632"/>
          </a:xfrm>
          <a:prstGeom prst="notched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4F738E9-A825-C9BC-3B2B-0ABE03D74225}"/>
              </a:ext>
            </a:extLst>
          </p:cNvPr>
          <p:cNvGrpSpPr/>
          <p:nvPr/>
        </p:nvGrpSpPr>
        <p:grpSpPr>
          <a:xfrm>
            <a:off x="9969858" y="4463118"/>
            <a:ext cx="2059861" cy="2223669"/>
            <a:chOff x="9795968" y="4582388"/>
            <a:chExt cx="2059861" cy="2223669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88BE694-A1E5-657E-801A-4D76194511F3}"/>
                </a:ext>
              </a:extLst>
            </p:cNvPr>
            <p:cNvSpPr/>
            <p:nvPr/>
          </p:nvSpPr>
          <p:spPr>
            <a:xfrm>
              <a:off x="10175697" y="5106466"/>
              <a:ext cx="1515787" cy="1345374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DE5C71D-72BB-3F2D-48EB-C8EA1B208B80}"/>
                </a:ext>
              </a:extLst>
            </p:cNvPr>
            <p:cNvSpPr/>
            <p:nvPr/>
          </p:nvSpPr>
          <p:spPr>
            <a:xfrm>
              <a:off x="10406270" y="5297557"/>
              <a:ext cx="1083365" cy="884582"/>
            </a:xfrm>
            <a:custGeom>
              <a:avLst/>
              <a:gdLst>
                <a:gd name="connsiteX0" fmla="*/ 0 w 1083365"/>
                <a:gd name="connsiteY0" fmla="*/ 884582 h 884582"/>
                <a:gd name="connsiteX1" fmla="*/ 596347 w 1083365"/>
                <a:gd name="connsiteY1" fmla="*/ 695739 h 884582"/>
                <a:gd name="connsiteX2" fmla="*/ 1083365 w 1083365"/>
                <a:gd name="connsiteY2" fmla="*/ 0 h 8845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83365" h="884582">
                  <a:moveTo>
                    <a:pt x="0" y="884582"/>
                  </a:moveTo>
                  <a:cubicBezTo>
                    <a:pt x="207893" y="863875"/>
                    <a:pt x="415786" y="843169"/>
                    <a:pt x="596347" y="695739"/>
                  </a:cubicBezTo>
                  <a:cubicBezTo>
                    <a:pt x="776908" y="548309"/>
                    <a:pt x="930136" y="274154"/>
                    <a:pt x="1083365" y="0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74AEBC7-D3F3-E35D-9F4E-13FB0AECEC07}"/>
                </a:ext>
              </a:extLst>
            </p:cNvPr>
            <p:cNvSpPr txBox="1"/>
            <p:nvPr/>
          </p:nvSpPr>
          <p:spPr>
            <a:xfrm>
              <a:off x="9978606" y="4582388"/>
              <a:ext cx="18705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Model / inference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D4943C-E774-55CE-9300-395E128333A2}"/>
                </a:ext>
              </a:extLst>
            </p:cNvPr>
            <p:cNvSpPr txBox="1"/>
            <p:nvPr/>
          </p:nvSpPr>
          <p:spPr>
            <a:xfrm>
              <a:off x="10012696" y="6436725"/>
              <a:ext cx="1843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Predictor variable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F08389-FF0F-6D3D-1053-3F70ABB702A6}"/>
                </a:ext>
              </a:extLst>
            </p:cNvPr>
            <p:cNvSpPr txBox="1"/>
            <p:nvPr/>
          </p:nvSpPr>
          <p:spPr>
            <a:xfrm rot="16200000">
              <a:off x="9620215" y="5573612"/>
              <a:ext cx="7208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count</a:t>
              </a:r>
            </a:p>
          </p:txBody>
        </p:sp>
      </p:grpSp>
      <p:sp>
        <p:nvSpPr>
          <p:cNvPr id="26" name="Arrow: Notched Right 25">
            <a:extLst>
              <a:ext uri="{FF2B5EF4-FFF2-40B4-BE49-F238E27FC236}">
                <a16:creationId xmlns:a16="http://schemas.microsoft.com/office/drawing/2014/main" id="{30EA1A11-A230-DD34-7F84-05F58ED8B8CC}"/>
              </a:ext>
            </a:extLst>
          </p:cNvPr>
          <p:cNvSpPr/>
          <p:nvPr/>
        </p:nvSpPr>
        <p:spPr>
          <a:xfrm>
            <a:off x="9293343" y="5408511"/>
            <a:ext cx="715617" cy="484632"/>
          </a:xfrm>
          <a:prstGeom prst="notchedRightArrow">
            <a:avLst/>
          </a:prstGeom>
          <a:solidFill>
            <a:schemeClr val="bg1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35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6" grpId="0"/>
      <p:bldP spid="12" grpId="0" animBg="1"/>
      <p:bldP spid="15" grpId="0" animBg="1"/>
      <p:bldP spid="2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80902-2B34-46AC-9E7C-E19777B9D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453" y="173203"/>
            <a:ext cx="10953093" cy="1325563"/>
          </a:xfrm>
        </p:spPr>
        <p:txBody>
          <a:bodyPr>
            <a:normAutofit fontScale="90000"/>
          </a:bodyPr>
          <a:lstStyle/>
          <a:p>
            <a:r>
              <a:rPr lang="en-US"/>
              <a:t>Steps for constructing and interpreting a GLMM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8F7BF-5176-4A84-9D47-48B01D9E4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4814"/>
            <a:ext cx="11125200" cy="5273673"/>
          </a:xfrm>
        </p:spPr>
        <p:txBody>
          <a:bodyPr>
            <a:normAutofit fontScale="77500" lnSpcReduction="20000"/>
          </a:bodyPr>
          <a:lstStyle/>
          <a:p>
            <a:pPr marL="457200" indent="-457200">
              <a:buNone/>
            </a:pPr>
            <a:r>
              <a:rPr lang="en-US" dirty="0"/>
              <a:t>0.  Data Exploration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Construct model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Fixed effects (predictor or explanatory variables)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Random effects (blocking variables)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Error distribution (response variable or dependent variable)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Assess residuals and overdispersion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Check random effects and/or distribution using AIC (not always needed)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Examine significance of terms in model 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Anova 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AIC model selection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Calculate treatment means and/or slopes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Construct contrasts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Calculate R2m and R2c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Make pretty figure</a:t>
            </a:r>
          </a:p>
        </p:txBody>
      </p:sp>
    </p:spTree>
    <p:extLst>
      <p:ext uri="{BB962C8B-B14F-4D97-AF65-F5344CB8AC3E}">
        <p14:creationId xmlns:p14="http://schemas.microsoft.com/office/powerpoint/2010/main" val="3044190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08221-B7C7-1A5E-568C-FDCF5E5CA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3433C-13B7-7B63-347C-93025FCC7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Step 0: Data exploration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65CC-F285-CE7C-4084-C71E138D19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Formulate biological hypothesis</a:t>
            </a:r>
            <a:br>
              <a:rPr lang="en-US" dirty="0"/>
            </a:br>
            <a:r>
              <a:rPr lang="en-US" dirty="0"/>
              <a:t>Carry out experiment</a:t>
            </a:r>
            <a:br>
              <a:rPr lang="en-US" dirty="0"/>
            </a:br>
            <a:r>
              <a:rPr lang="en-US" dirty="0"/>
              <a:t>&amp; collect data</a:t>
            </a:r>
          </a:p>
          <a:p>
            <a:pPr marL="514350" indent="-514350">
              <a:buAutoNum type="arabicPeriod"/>
            </a:pPr>
            <a:r>
              <a:rPr lang="en-US" b="1" dirty="0"/>
              <a:t>Data Exploration</a:t>
            </a:r>
          </a:p>
          <a:p>
            <a:pPr marL="514350" indent="-514350">
              <a:buAutoNum type="arabicPeriod"/>
            </a:pPr>
            <a:r>
              <a:rPr lang="en-US" dirty="0"/>
              <a:t>Apply statistical model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2" descr="35+ Funny data science memes that will make you laugh">
            <a:extLst>
              <a:ext uri="{FF2B5EF4-FFF2-40B4-BE49-F238E27FC236}">
                <a16:creationId xmlns:a16="http://schemas.microsoft.com/office/drawing/2014/main" id="{7C1628A3-D12F-BD04-EC42-C8ECF21BB70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750" y="2077244"/>
            <a:ext cx="4762500" cy="3571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FCD3A7D6-5AA1-121A-9953-B369ADA09E6C}"/>
              </a:ext>
            </a:extLst>
          </p:cNvPr>
          <p:cNvGrpSpPr/>
          <p:nvPr/>
        </p:nvGrpSpPr>
        <p:grpSpPr>
          <a:xfrm>
            <a:off x="220016" y="3334898"/>
            <a:ext cx="4761559" cy="1922901"/>
            <a:chOff x="220016" y="3334898"/>
            <a:chExt cx="4761559" cy="192290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DB54F30-1216-1E00-B7D1-C8DD1F742B36}"/>
                </a:ext>
              </a:extLst>
            </p:cNvPr>
            <p:cNvSpPr txBox="1"/>
            <p:nvPr/>
          </p:nvSpPr>
          <p:spPr>
            <a:xfrm>
              <a:off x="920750" y="4242136"/>
              <a:ext cx="406082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/>
                  </a:solidFill>
                </a:rPr>
                <a:t>Use to choose an appropriate model and avoid assumption violations</a:t>
              </a:r>
            </a:p>
            <a:p>
              <a:endParaRPr lang="en-US" sz="2000" b="1" dirty="0">
                <a:solidFill>
                  <a:schemeClr val="accent6"/>
                </a:solidFill>
              </a:endParaRPr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991DC705-53F9-2FE7-FCD4-84901F7DD9BE}"/>
                </a:ext>
              </a:extLst>
            </p:cNvPr>
            <p:cNvSpPr/>
            <p:nvPr/>
          </p:nvSpPr>
          <p:spPr>
            <a:xfrm rot="11993351">
              <a:off x="220016" y="3334898"/>
              <a:ext cx="1680563" cy="1291216"/>
            </a:xfrm>
            <a:prstGeom prst="arc">
              <a:avLst>
                <a:gd name="adj1" fmla="val 15920994"/>
                <a:gd name="adj2" fmla="val 1844551"/>
              </a:avLst>
            </a:prstGeom>
            <a:ln w="28575" cap="flat" cmpd="sng" algn="ctr">
              <a:solidFill>
                <a:schemeClr val="accent6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407301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AB00F-A069-C52B-3826-B2F72D86A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158C4-DB17-5F64-FD36-1093C16A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0: Data exploration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37F9C9-BC2D-04F5-CCC4-E8B4FBFEE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276343"/>
          </a:xfrm>
          <a:ln w="25400">
            <a:solidFill>
              <a:schemeClr val="accent2"/>
            </a:solidFill>
          </a:ln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Understand design &amp; variables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Explore data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Values &amp; Outliers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Distribution &amp; Variance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Collinearity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Relationships / Interactions</a:t>
            </a:r>
          </a:p>
          <a:p>
            <a:pPr marL="914400" lvl="1" indent="-514350">
              <a:buFont typeface="+mj-lt"/>
              <a:buAutoNum type="alphaLcPeriod"/>
            </a:pPr>
            <a:r>
              <a:rPr lang="en-US" dirty="0"/>
              <a:t>Independence / Clustering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Document decisions</a:t>
            </a:r>
          </a:p>
          <a:p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450F2-0DEC-8A04-4B7D-B39A8D927A9E}"/>
              </a:ext>
            </a:extLst>
          </p:cNvPr>
          <p:cNvSpPr/>
          <p:nvPr/>
        </p:nvSpPr>
        <p:spPr>
          <a:xfrm>
            <a:off x="609600" y="2943224"/>
            <a:ext cx="3181350" cy="60007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94D659B-DB60-7785-B205-716E6C802F2A}"/>
              </a:ext>
            </a:extLst>
          </p:cNvPr>
          <p:cNvCxnSpPr/>
          <p:nvPr/>
        </p:nvCxnSpPr>
        <p:spPr>
          <a:xfrm flipV="1">
            <a:off x="3790950" y="1600201"/>
            <a:ext cx="2406650" cy="1343023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BCE1226-6846-6047-6A0A-89847E6B71F1}"/>
              </a:ext>
            </a:extLst>
          </p:cNvPr>
          <p:cNvCxnSpPr>
            <a:cxnSpLocks/>
          </p:cNvCxnSpPr>
          <p:nvPr/>
        </p:nvCxnSpPr>
        <p:spPr>
          <a:xfrm>
            <a:off x="3790950" y="3543299"/>
            <a:ext cx="2406650" cy="2333245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35D575-FDFB-F274-08EF-0FB6952FAE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Formulate biological hypothesis</a:t>
            </a:r>
            <a:br>
              <a:rPr lang="en-US" dirty="0"/>
            </a:br>
            <a:r>
              <a:rPr lang="en-US" dirty="0"/>
              <a:t>Carry out experiment</a:t>
            </a:r>
            <a:br>
              <a:rPr lang="en-US" dirty="0"/>
            </a:br>
            <a:r>
              <a:rPr lang="en-US" dirty="0"/>
              <a:t>&amp; collect data</a:t>
            </a:r>
          </a:p>
          <a:p>
            <a:pPr marL="514350" indent="-514350">
              <a:buAutoNum type="arabicPeriod"/>
            </a:pPr>
            <a:r>
              <a:rPr lang="en-US" b="1" dirty="0"/>
              <a:t>Data Exploration</a:t>
            </a:r>
          </a:p>
          <a:p>
            <a:pPr marL="514350" indent="-514350">
              <a:buAutoNum type="arabicPeriod"/>
            </a:pPr>
            <a:r>
              <a:rPr lang="en-US" dirty="0"/>
              <a:t>Apply statistical model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2CFD0E3-0845-BF55-B162-906B017B5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620" y="5516221"/>
            <a:ext cx="3444240" cy="909337"/>
          </a:xfrm>
          <a:prstGeom prst="rect">
            <a:avLst/>
          </a:prstGeom>
        </p:spPr>
      </p:pic>
      <p:pic>
        <p:nvPicPr>
          <p:cNvPr id="11" name="Picture 10" descr="A qr code with black squares&#10;&#10;AI-generated content may be incorrect.">
            <a:extLst>
              <a:ext uri="{FF2B5EF4-FFF2-40B4-BE49-F238E27FC236}">
                <a16:creationId xmlns:a16="http://schemas.microsoft.com/office/drawing/2014/main" id="{B5BED0A5-CCEB-7D3C-8EDA-AB553C7D5B1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420" y="5397809"/>
            <a:ext cx="1143000" cy="1143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318438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Know your data and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Get familiar with your dataset!</a:t>
            </a:r>
          </a:p>
          <a:p>
            <a:r>
              <a:rPr lang="en-US" sz="2800" dirty="0"/>
              <a:t>What is the response?</a:t>
            </a:r>
            <a:br>
              <a:rPr lang="en-US" sz="2800" dirty="0"/>
            </a:br>
            <a:r>
              <a:rPr lang="en-US" sz="2800" dirty="0"/>
              <a:t>What are predictors?</a:t>
            </a:r>
          </a:p>
          <a:p>
            <a:r>
              <a:rPr lang="en-US" sz="2800" dirty="0"/>
              <a:t>Units, scales, coding</a:t>
            </a:r>
          </a:p>
          <a:p>
            <a:r>
              <a:rPr lang="en-US" sz="2800" dirty="0"/>
              <a:t>Sampling design, repeated measures, groups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DB30EA2-0864-AD06-E690-914CD311D7BB}"/>
              </a:ext>
            </a:extLst>
          </p:cNvPr>
          <p:cNvGrpSpPr/>
          <p:nvPr/>
        </p:nvGrpSpPr>
        <p:grpSpPr>
          <a:xfrm>
            <a:off x="1085850" y="4749967"/>
            <a:ext cx="4314825" cy="1015663"/>
            <a:chOff x="1171575" y="4366613"/>
            <a:chExt cx="4314825" cy="1015663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F2AAE2DE-4142-660B-0D8C-D693679B31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0EC9ED-9E3D-29CC-F1DB-2858BD8F2633}"/>
                </a:ext>
              </a:extLst>
            </p:cNvPr>
            <p:cNvSpPr txBox="1"/>
            <p:nvPr/>
          </p:nvSpPr>
          <p:spPr>
            <a:xfrm>
              <a:off x="2190751" y="4366613"/>
              <a:ext cx="329564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i="1" dirty="0"/>
                <a:t>Summary statistics; frequency tables; generalized pairs plot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F7CC338-62F2-3C1D-2486-B28716FC2E87}"/>
              </a:ext>
            </a:extLst>
          </p:cNvPr>
          <p:cNvGrpSpPr/>
          <p:nvPr/>
        </p:nvGrpSpPr>
        <p:grpSpPr>
          <a:xfrm>
            <a:off x="8086726" y="2048264"/>
            <a:ext cx="3495674" cy="2761472"/>
            <a:chOff x="8191502" y="1600201"/>
            <a:chExt cx="3495674" cy="2761472"/>
          </a:xfrm>
        </p:grpSpPr>
        <p:pic>
          <p:nvPicPr>
            <p:cNvPr id="2050" name="Picture 2" descr="r/ProgrammerHumor - When people ask me to explain my database design PEPE VI UT E">
              <a:extLst>
                <a:ext uri="{FF2B5EF4-FFF2-40B4-BE49-F238E27FC236}">
                  <a16:creationId xmlns:a16="http://schemas.microsoft.com/office/drawing/2014/main" id="{C7ED083D-F9D8-8415-0AE6-4B2E63A949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253"/>
            <a:stretch>
              <a:fillRect/>
            </a:stretch>
          </p:blipFill>
          <p:spPr bwMode="auto">
            <a:xfrm>
              <a:off x="8286751" y="1600201"/>
              <a:ext cx="3295649" cy="248442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C5C87A2-252B-C361-C8EF-2E292BE272FB}"/>
                </a:ext>
              </a:extLst>
            </p:cNvPr>
            <p:cNvSpPr txBox="1"/>
            <p:nvPr/>
          </p:nvSpPr>
          <p:spPr>
            <a:xfrm>
              <a:off x="8191502" y="4053896"/>
              <a:ext cx="3495674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Arial Nova" panose="020B0504020202020204" pitchFamily="34" charset="0"/>
                  <a:cs typeface="Arial" panose="020B0604020202020204" pitchFamily="34" charset="0"/>
                </a:rPr>
                <a:t>Explaining my datasheet to my colleagues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06656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2987E-99B5-A628-EB4E-2AAF0EF59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Explore Data - Values &amp; 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2DD37-DB56-7461-23A7-0FFC12DCA2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r>
              <a:rPr lang="en-US" dirty="0"/>
              <a:t>Spot “impossible values” &amp; data errors</a:t>
            </a:r>
          </a:p>
          <a:p>
            <a:r>
              <a:rPr lang="en-US" dirty="0"/>
              <a:t>Outliers / </a:t>
            </a:r>
            <a:r>
              <a:rPr lang="en-US" dirty="0" err="1"/>
              <a:t>fringeliers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Investigate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EE1D26F-2784-69FA-C62B-B2D3B6ED1D21}"/>
              </a:ext>
            </a:extLst>
          </p:cNvPr>
          <p:cNvGrpSpPr/>
          <p:nvPr/>
        </p:nvGrpSpPr>
        <p:grpSpPr>
          <a:xfrm>
            <a:off x="1159002" y="5431599"/>
            <a:ext cx="4507992" cy="954107"/>
            <a:chOff x="1171575" y="4366613"/>
            <a:chExt cx="4507992" cy="954107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D7CC6D6-2BDF-34E6-B023-95915C4E9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AC8BD88-9A38-8F1A-8953-D806114DFAF1}"/>
                </a:ext>
              </a:extLst>
            </p:cNvPr>
            <p:cNvSpPr txBox="1"/>
            <p:nvPr/>
          </p:nvSpPr>
          <p:spPr>
            <a:xfrm>
              <a:off x="2190751" y="4366613"/>
              <a:ext cx="3488816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i="1" dirty="0"/>
                <a:t>Histograms; box/violin/bean plots; </a:t>
              </a:r>
              <a:r>
                <a:rPr lang="en-US" i="1" dirty="0" err="1"/>
                <a:t>dotplots</a:t>
              </a:r>
              <a:r>
                <a:rPr lang="en-US" i="1" dirty="0"/>
                <a:t>; scatterplots</a:t>
              </a:r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222A740B-8AD0-6C11-1F5E-E8EF0029FD5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8820"/>
          <a:stretch>
            <a:fillRect/>
          </a:stretch>
        </p:blipFill>
        <p:spPr>
          <a:xfrm>
            <a:off x="1387602" y="2928168"/>
            <a:ext cx="2054915" cy="22558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BAE8BC6-94B9-D398-297C-2DBADE3DB37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060"/>
          <a:stretch>
            <a:fillRect/>
          </a:stretch>
        </p:blipFill>
        <p:spPr>
          <a:xfrm>
            <a:off x="3442517" y="2928168"/>
            <a:ext cx="1884690" cy="225581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495C9474-50FE-8D90-45C0-4F635BA7B6F1}"/>
              </a:ext>
            </a:extLst>
          </p:cNvPr>
          <p:cNvGrpSpPr/>
          <p:nvPr/>
        </p:nvGrpSpPr>
        <p:grpSpPr>
          <a:xfrm>
            <a:off x="6525008" y="5431599"/>
            <a:ext cx="5057391" cy="954107"/>
            <a:chOff x="1278278" y="4366613"/>
            <a:chExt cx="5057391" cy="954107"/>
          </a:xfrm>
        </p:grpSpPr>
        <p:pic>
          <p:nvPicPr>
            <p:cNvPr id="14" name="Graphic 13" descr="Lights On with solid fill">
              <a:extLst>
                <a:ext uri="{FF2B5EF4-FFF2-40B4-BE49-F238E27FC236}">
                  <a16:creationId xmlns:a16="http://schemas.microsoft.com/office/drawing/2014/main" id="{5BBEA961-42AE-684A-47D0-7E682F591CB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278278" y="4366613"/>
              <a:ext cx="912473" cy="912473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5019D2-5A3B-5A0B-018C-BB73A192C639}"/>
                </a:ext>
              </a:extLst>
            </p:cNvPr>
            <p:cNvSpPr txBox="1"/>
            <p:nvPr/>
          </p:nvSpPr>
          <p:spPr>
            <a:xfrm>
              <a:off x="2190750" y="4366613"/>
              <a:ext cx="4144919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Investigate Subgroups</a:t>
              </a:r>
            </a:p>
            <a:p>
              <a:r>
                <a:rPr lang="en-US" dirty="0"/>
                <a:t>(e.g. season or sex) to see whether there are differences among subsets of the data.</a:t>
              </a:r>
              <a:endParaRPr lang="en-US" i="1" dirty="0"/>
            </a:p>
          </p:txBody>
        </p:sp>
      </p:grpSp>
      <p:pic>
        <p:nvPicPr>
          <p:cNvPr id="3076" name="Picture 4">
            <a:extLst>
              <a:ext uri="{FF2B5EF4-FFF2-40B4-BE49-F238E27FC236}">
                <a16:creationId xmlns:a16="http://schemas.microsoft.com/office/drawing/2014/main" id="{E31B151A-0FE6-E493-B2D3-A27E64DA2B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191" t="2100" r="9762" b="47773"/>
          <a:stretch>
            <a:fillRect/>
          </a:stretch>
        </p:blipFill>
        <p:spPr bwMode="auto">
          <a:xfrm>
            <a:off x="7245341" y="2274488"/>
            <a:ext cx="2108856" cy="2974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>
            <a:extLst>
              <a:ext uri="{FF2B5EF4-FFF2-40B4-BE49-F238E27FC236}">
                <a16:creationId xmlns:a16="http://schemas.microsoft.com/office/drawing/2014/main" id="{A7E1A6A9-2472-EDB9-993F-769CDDB3A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78" t="1805" r="35638"/>
          <a:stretch>
            <a:fillRect/>
          </a:stretch>
        </p:blipFill>
        <p:spPr bwMode="auto">
          <a:xfrm>
            <a:off x="9642697" y="3859539"/>
            <a:ext cx="1161701" cy="145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4">
            <a:extLst>
              <a:ext uri="{FF2B5EF4-FFF2-40B4-BE49-F238E27FC236}">
                <a16:creationId xmlns:a16="http://schemas.microsoft.com/office/drawing/2014/main" id="{F2464BEF-6528-FDEC-A943-4362AEB6ABB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150" t="51781" r="9355" b="23312"/>
          <a:stretch>
            <a:fillRect/>
          </a:stretch>
        </p:blipFill>
        <p:spPr bwMode="auto">
          <a:xfrm>
            <a:off x="9342673" y="2244725"/>
            <a:ext cx="1882912" cy="1463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F3436C5-3C63-63F6-9EDE-6E6B4E63F1F2}"/>
              </a:ext>
            </a:extLst>
          </p:cNvPr>
          <p:cNvCxnSpPr>
            <a:cxnSpLocks/>
          </p:cNvCxnSpPr>
          <p:nvPr/>
        </p:nvCxnSpPr>
        <p:spPr>
          <a:xfrm flipH="1">
            <a:off x="5333031" y="3685384"/>
            <a:ext cx="206818" cy="34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6233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CD370-AEF5-A6C2-FE01-C5916493A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Explore Data - Distribution &amp; Variance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B71C0-7144-25A8-016B-3B6F47ECE3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886450" cy="639762"/>
          </a:xfrm>
        </p:spPr>
        <p:txBody>
          <a:bodyPr>
            <a:noAutofit/>
          </a:bodyPr>
          <a:lstStyle/>
          <a:p>
            <a:r>
              <a:rPr lang="en-US" sz="2800" dirty="0"/>
              <a:t>Normality, skew, heteroscedasticity, …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DC9C27-B3FA-D696-3F07-14812E025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753100" cy="3951288"/>
          </a:xfrm>
        </p:spPr>
        <p:txBody>
          <a:bodyPr>
            <a:normAutofit/>
          </a:bodyPr>
          <a:lstStyle/>
          <a:p>
            <a:r>
              <a:rPr lang="en-US" sz="2800" dirty="0"/>
              <a:t>Response: skew, zeros, heavy tails</a:t>
            </a:r>
          </a:p>
          <a:p>
            <a:r>
              <a:rPr lang="en-US" sz="2800" dirty="0"/>
              <a:t>Predictors, floors/ceilings</a:t>
            </a:r>
          </a:p>
          <a:p>
            <a:r>
              <a:rPr lang="en-US" sz="2800" dirty="0"/>
              <a:t>Plot against reference distribution</a:t>
            </a:r>
          </a:p>
          <a:p>
            <a:r>
              <a:rPr lang="en-US" sz="2800" b="1" dirty="0"/>
              <a:t>Use exploration to guide choices</a:t>
            </a:r>
            <a:r>
              <a:rPr lang="en-US" sz="2800" dirty="0"/>
              <a:t>: distribution, transformations</a:t>
            </a:r>
          </a:p>
          <a:p>
            <a:pPr marL="0" indent="0">
              <a:buNone/>
            </a:pPr>
            <a:endParaRPr lang="en-US" sz="28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2C56D15-E7B3-109D-0D04-84BE74E553A1}"/>
              </a:ext>
            </a:extLst>
          </p:cNvPr>
          <p:cNvGrpSpPr/>
          <p:nvPr/>
        </p:nvGrpSpPr>
        <p:grpSpPr>
          <a:xfrm>
            <a:off x="6955495" y="5468354"/>
            <a:ext cx="4608382" cy="954107"/>
            <a:chOff x="1171575" y="4366613"/>
            <a:chExt cx="4608382" cy="954107"/>
          </a:xfrm>
        </p:grpSpPr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CDA170AB-AF53-72EF-2ED2-1E0012D09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85A3630-1E8E-B966-B5FE-4733175BB908}"/>
                </a:ext>
              </a:extLst>
            </p:cNvPr>
            <p:cNvSpPr txBox="1"/>
            <p:nvPr/>
          </p:nvSpPr>
          <p:spPr>
            <a:xfrm>
              <a:off x="2190750" y="4366613"/>
              <a:ext cx="3589207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i="1" dirty="0"/>
                <a:t>Histograms; density; (conditional) line plots box/violin/MD; QQ plots</a:t>
              </a:r>
            </a:p>
          </p:txBody>
        </p:sp>
      </p:grpSp>
      <p:pic>
        <p:nvPicPr>
          <p:cNvPr id="4100" name="Picture 4">
            <a:extLst>
              <a:ext uri="{FF2B5EF4-FFF2-40B4-BE49-F238E27FC236}">
                <a16:creationId xmlns:a16="http://schemas.microsoft.com/office/drawing/2014/main" id="{33BFB91C-2E12-15A4-8639-4A1C8D630B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634"/>
          <a:stretch>
            <a:fillRect/>
          </a:stretch>
        </p:blipFill>
        <p:spPr bwMode="auto">
          <a:xfrm>
            <a:off x="6586010" y="1417638"/>
            <a:ext cx="5071533" cy="37968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>
            <a:extLst>
              <a:ext uri="{FF2B5EF4-FFF2-40B4-BE49-F238E27FC236}">
                <a16:creationId xmlns:a16="http://schemas.microsoft.com/office/drawing/2014/main" id="{360D3134-27A7-3C49-412F-0EC15B8A96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18"/>
          <a:stretch>
            <a:fillRect/>
          </a:stretch>
        </p:blipFill>
        <p:spPr bwMode="auto">
          <a:xfrm>
            <a:off x="1146112" y="4761800"/>
            <a:ext cx="3675324" cy="2004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38910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F3DC0-AF59-E7AF-F6DA-E4C03A16D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DAA0E5-EF9F-A7DA-D639-46892C1B8C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Explore Data - Collinearity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34D950-9F1B-DDE2-DB3B-10E7043D7A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6172202" cy="45259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Collinearity</a:t>
            </a:r>
            <a:r>
              <a:rPr lang="en-US" dirty="0"/>
              <a:t> happens when </a:t>
            </a:r>
            <a:r>
              <a:rPr lang="en-US" b="1" dirty="0"/>
              <a:t>predictors</a:t>
            </a:r>
            <a:r>
              <a:rPr lang="en-US" dirty="0"/>
              <a:t> are strongly correlated with each other</a:t>
            </a:r>
          </a:p>
          <a:p>
            <a:r>
              <a:rPr lang="en-US" dirty="0"/>
              <a:t>Drop redundant variables,</a:t>
            </a:r>
          </a:p>
          <a:p>
            <a:r>
              <a:rPr lang="en-US" dirty="0"/>
              <a:t>Combine them into an </a:t>
            </a:r>
            <a:r>
              <a:rPr lang="en-US" b="1" dirty="0"/>
              <a:t>index</a:t>
            </a:r>
            <a:r>
              <a:rPr lang="en-US" dirty="0"/>
              <a:t> or principal component</a:t>
            </a:r>
          </a:p>
          <a:p>
            <a:r>
              <a:rPr lang="en-US" dirty="0"/>
              <a:t>Re‑specify the model so each predictor has a clearer role (</a:t>
            </a:r>
            <a:r>
              <a:rPr lang="en-US" b="1" dirty="0"/>
              <a:t>record rationale!</a:t>
            </a:r>
            <a:r>
              <a:rPr lang="en-US" dirty="0"/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15D6B1-4085-A172-86DF-FE1CE5A25C2D}"/>
              </a:ext>
            </a:extLst>
          </p:cNvPr>
          <p:cNvGrpSpPr/>
          <p:nvPr/>
        </p:nvGrpSpPr>
        <p:grpSpPr>
          <a:xfrm>
            <a:off x="1085850" y="5293064"/>
            <a:ext cx="4314825" cy="1015663"/>
            <a:chOff x="1171575" y="4366613"/>
            <a:chExt cx="4314825" cy="1015663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85C2EDF-4ECD-165F-C658-842828CFC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B7EA586-7EF2-2EE3-055F-39561C0C44D8}"/>
                </a:ext>
              </a:extLst>
            </p:cNvPr>
            <p:cNvSpPr txBox="1"/>
            <p:nvPr/>
          </p:nvSpPr>
          <p:spPr>
            <a:xfrm>
              <a:off x="2190751" y="4366613"/>
              <a:ext cx="329564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dirty="0"/>
                <a:t>Correlation heatmap; scatterplot matrix; VIF table</a:t>
              </a:r>
            </a:p>
          </p:txBody>
        </p:sp>
      </p:grpSp>
      <p:pic>
        <p:nvPicPr>
          <p:cNvPr id="5122" name="Picture 2">
            <a:extLst>
              <a:ext uri="{FF2B5EF4-FFF2-40B4-BE49-F238E27FC236}">
                <a16:creationId xmlns:a16="http://schemas.microsoft.com/office/drawing/2014/main" id="{60429642-D1C5-6104-C334-02704D389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5625" y="1417638"/>
            <a:ext cx="4918868" cy="4918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45087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B4AEA-46B9-D4FF-A429-1DB07372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1FDDA-8A9D-6C8F-3C69-C28CA6597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Explore Data – </a:t>
            </a:r>
            <a:r>
              <a:rPr lang="en-US" dirty="0"/>
              <a:t>Relationships / Interactions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58A902-8F1E-72BA-76E0-1B44CF9D0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535112"/>
            <a:ext cx="5386917" cy="919336"/>
          </a:xfrm>
        </p:spPr>
        <p:txBody>
          <a:bodyPr anchor="t">
            <a:normAutofit lnSpcReduction="10000"/>
          </a:bodyPr>
          <a:lstStyle/>
          <a:p>
            <a:r>
              <a:rPr lang="en-US" sz="2800" dirty="0"/>
              <a:t>Relationships </a:t>
            </a:r>
            <a:r>
              <a:rPr lang="en-US" sz="2800" b="0" dirty="0">
                <a:ea typeface="Calibri"/>
                <a:cs typeface="Calibri"/>
              </a:rPr>
              <a:t>between</a:t>
            </a:r>
            <a:r>
              <a:rPr lang="en-US" sz="2800" dirty="0">
                <a:ea typeface="Calibri"/>
                <a:cs typeface="Calibri"/>
              </a:rPr>
              <a:t> response </a:t>
            </a:r>
            <a:r>
              <a:rPr lang="en-US" sz="2800" b="0" dirty="0">
                <a:ea typeface="Calibri"/>
                <a:cs typeface="Calibri"/>
              </a:rPr>
              <a:t>and</a:t>
            </a:r>
            <a:r>
              <a:rPr lang="en-US" sz="2800" dirty="0">
                <a:ea typeface="Calibri"/>
                <a:cs typeface="Calibri"/>
              </a:rPr>
              <a:t> each covariate</a:t>
            </a:r>
            <a:endParaRPr lang="en-US" sz="280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591D692-FEC6-47BF-9D0A-595BB4F6C4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t">
            <a:normAutofit lnSpcReduction="10000"/>
          </a:bodyPr>
          <a:lstStyle/>
          <a:p>
            <a:r>
              <a:rPr lang="en-US" sz="2800" dirty="0"/>
              <a:t>Interactions </a:t>
            </a:r>
            <a:r>
              <a:rPr lang="en-US" sz="2800" b="0" dirty="0"/>
              <a:t>between 3+ variables</a:t>
            </a:r>
            <a:endParaRPr lang="en-US" sz="28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F27FA57-2227-AD7C-1815-20E907749ED1}"/>
              </a:ext>
            </a:extLst>
          </p:cNvPr>
          <p:cNvGrpSpPr/>
          <p:nvPr/>
        </p:nvGrpSpPr>
        <p:grpSpPr>
          <a:xfrm>
            <a:off x="1085850" y="5264317"/>
            <a:ext cx="4314825" cy="1015663"/>
            <a:chOff x="1171575" y="4366613"/>
            <a:chExt cx="4314825" cy="1015663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B0213D4-FE26-5FBD-99B9-BA906F82C0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180B848-3F13-0EB8-EE39-7377B2217B07}"/>
                </a:ext>
              </a:extLst>
            </p:cNvPr>
            <p:cNvSpPr txBox="1"/>
            <p:nvPr/>
          </p:nvSpPr>
          <p:spPr>
            <a:xfrm>
              <a:off x="2190751" y="4366613"/>
              <a:ext cx="3295649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i="1" dirty="0"/>
                <a:t>(Multi-panel) scatterplots; conditional boxplots; coplots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EFDD33DD-1C06-F24C-9E57-F6F6B39B76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7797"/>
          <a:stretch>
            <a:fillRect/>
          </a:stretch>
        </p:blipFill>
        <p:spPr>
          <a:xfrm>
            <a:off x="599611" y="2766510"/>
            <a:ext cx="4801064" cy="1933845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D73BAD7-DC19-19EB-FA88-95DC227B2CC2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5"/>
          <a:stretch>
            <a:fillRect/>
          </a:stretch>
        </p:blipFill>
        <p:spPr>
          <a:xfrm>
            <a:off x="6192838" y="2292350"/>
            <a:ext cx="5389562" cy="3860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647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E7FFF-D6DD-B7A6-959B-8A206F83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6515B-3CB3-E27D-740C-4E4119447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914400" lvl="1" indent="-514350" algn="ctr">
              <a:spcBef>
                <a:spcPct val="20000"/>
              </a:spcBef>
            </a:pPr>
            <a:r>
              <a:rPr lang="en-US" sz="4400" dirty="0">
                <a:latin typeface="+mn-lt"/>
              </a:rPr>
              <a:t>Explore Data - Independence / Clustering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C2D714-0BFA-B95A-DE8E-DE86E10E06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242534" cy="452596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Grouping: subjects, sites, time points</a:t>
            </a:r>
          </a:p>
          <a:p>
            <a:r>
              <a:rPr lang="en-US" dirty="0"/>
              <a:t>Plots by group / over time</a:t>
            </a:r>
          </a:p>
          <a:p>
            <a:r>
              <a:rPr lang="en-US" dirty="0"/>
              <a:t>Need for random effects or correlation structures?</a:t>
            </a:r>
          </a:p>
          <a:p>
            <a:pPr marL="0" indent="0">
              <a:buNone/>
            </a:pPr>
            <a:r>
              <a:rPr lang="en-US" dirty="0"/>
              <a:t> </a:t>
            </a:r>
            <a:endParaRPr lang="en-US" dirty="0">
              <a:ea typeface="Calibri"/>
              <a:cs typeface="Calibri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B5A7893-AA77-1DF8-0AFA-FEF180608E56}"/>
              </a:ext>
            </a:extLst>
          </p:cNvPr>
          <p:cNvGrpSpPr/>
          <p:nvPr/>
        </p:nvGrpSpPr>
        <p:grpSpPr>
          <a:xfrm>
            <a:off x="1085850" y="4361492"/>
            <a:ext cx="4610615" cy="1323439"/>
            <a:chOff x="1171575" y="4366613"/>
            <a:chExt cx="4610615" cy="1323439"/>
          </a:xfrm>
        </p:grpSpPr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9614B3C4-30A3-82C7-895E-BCCF3611F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73645E1-C894-7FB0-769B-7F7883817DDF}"/>
                </a:ext>
              </a:extLst>
            </p:cNvPr>
            <p:cNvSpPr txBox="1"/>
            <p:nvPr/>
          </p:nvSpPr>
          <p:spPr>
            <a:xfrm>
              <a:off x="2190751" y="4366613"/>
              <a:ext cx="3591439" cy="1323439"/>
            </a:xfrm>
            <a:prstGeom prst="rect">
              <a:avLst/>
            </a:prstGeom>
            <a:noFill/>
          </p:spPr>
          <p:txBody>
            <a:bodyPr wrap="square" lIns="91440" tIns="45720" rIns="91440" bIns="45720" rtlCol="0" anchor="t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sz="2000" dirty="0"/>
                <a:t>Spaghetti plots; grouped box/</a:t>
              </a:r>
              <a:r>
                <a:rPr lang="en-US" sz="2000" dirty="0" err="1"/>
                <a:t>dotplots</a:t>
              </a:r>
              <a:r>
                <a:rPr lang="en-US" sz="2000" dirty="0"/>
                <a:t>; colored scatter; maps</a:t>
              </a:r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374A832-E600-F387-3AB8-AB82B46AEB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910" y="1594023"/>
            <a:ext cx="5730266" cy="39918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686EAB-9B8F-EA86-0148-9DCF568BBE58}"/>
              </a:ext>
            </a:extLst>
          </p:cNvPr>
          <p:cNvSpPr/>
          <p:nvPr/>
        </p:nvSpPr>
        <p:spPr>
          <a:xfrm>
            <a:off x="5904522" y="1417638"/>
            <a:ext cx="5835042" cy="21534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491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DC783-30E6-7FF7-3AC7-0E267D3DC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23D3F-EE36-1AE4-0354-C5FF8E189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habits &amp;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FEA95-7930-515D-C055-AB5D06FCD60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Document your decisions</a:t>
            </a:r>
          </a:p>
          <a:p>
            <a:r>
              <a:rPr lang="en-US" dirty="0"/>
              <a:t>Keep an “exploration log”</a:t>
            </a:r>
          </a:p>
          <a:p>
            <a:pPr lvl="1"/>
            <a:r>
              <a:rPr lang="en-US" dirty="0"/>
              <a:t>what you plotted, anomalies you saw, what you changed, and why</a:t>
            </a:r>
          </a:p>
          <a:p>
            <a:r>
              <a:rPr lang="en-US" dirty="0"/>
              <a:t>Separate exploration vs confirmatory testing</a:t>
            </a:r>
          </a:p>
          <a:p>
            <a:r>
              <a:rPr lang="en-US" dirty="0"/>
              <a:t>Share code, diagnostics, rationale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A1C22-7788-8AC7-5666-87EF5D7F15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Summary</a:t>
            </a:r>
          </a:p>
          <a:p>
            <a:r>
              <a:rPr lang="en-US" dirty="0"/>
              <a:t>Visualize first, model second</a:t>
            </a:r>
          </a:p>
          <a:p>
            <a:r>
              <a:rPr lang="en-US" dirty="0"/>
              <a:t>Go through the checklist</a:t>
            </a:r>
          </a:p>
          <a:p>
            <a:r>
              <a:rPr lang="en-US" dirty="0"/>
              <a:t>Use exploration to improve,</a:t>
            </a:r>
            <a:br>
              <a:rPr lang="en-US" dirty="0"/>
            </a:br>
            <a:r>
              <a:rPr lang="en-US" dirty="0"/>
              <a:t>not “game” statistics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1019A2A-3A13-21E5-5288-1ECB03DBC902}"/>
              </a:ext>
            </a:extLst>
          </p:cNvPr>
          <p:cNvGrpSpPr/>
          <p:nvPr/>
        </p:nvGrpSpPr>
        <p:grpSpPr>
          <a:xfrm>
            <a:off x="1085850" y="5293064"/>
            <a:ext cx="4572000" cy="954107"/>
            <a:chOff x="1171575" y="4366613"/>
            <a:chExt cx="4572000" cy="954107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24ADBF83-3C14-04A5-1797-5EB48A1D4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71575" y="4366613"/>
              <a:ext cx="914400" cy="91247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1DA7845-DCC0-923D-99B4-9E641AD85503}"/>
                </a:ext>
              </a:extLst>
            </p:cNvPr>
            <p:cNvSpPr txBox="1"/>
            <p:nvPr/>
          </p:nvSpPr>
          <p:spPr>
            <a:xfrm>
              <a:off x="2190751" y="4366613"/>
              <a:ext cx="355282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Toolbox</a:t>
              </a:r>
            </a:p>
            <a:p>
              <a:r>
                <a:rPr lang="en-US" dirty="0" err="1"/>
                <a:t>Rmarkdown</a:t>
              </a:r>
              <a:r>
                <a:rPr lang="en-US" dirty="0"/>
                <a:t>, R/</a:t>
              </a:r>
              <a:r>
                <a:rPr lang="en-US" dirty="0" err="1"/>
                <a:t>Jupyter</a:t>
              </a:r>
              <a:r>
                <a:rPr lang="en-US" dirty="0"/>
                <a:t> notebooks; saved plot grids; narrative logs</a:t>
              </a:r>
            </a:p>
          </p:txBody>
        </p:sp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31919C37-4C57-AD80-DB88-7AB2C98982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3175" y="4308335"/>
            <a:ext cx="4839492" cy="25496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600039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74638"/>
            <a:ext cx="12192000" cy="1143000"/>
          </a:xfrm>
        </p:spPr>
        <p:txBody>
          <a:bodyPr>
            <a:normAutofit/>
          </a:bodyPr>
          <a:lstStyle/>
          <a:p>
            <a:r>
              <a:rPr lang="en-US" sz="3800"/>
              <a:t>Step 1. Construct a statistical model to test your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1. Construct a statistical model to test your hypothesis.</a:t>
            </a:r>
          </a:p>
          <a:p>
            <a:pPr lvl="1"/>
            <a:r>
              <a:rPr lang="en-US"/>
              <a:t>Linear model: y ~ x1 + x2 + x1:x2</a:t>
            </a:r>
          </a:p>
          <a:p>
            <a:pPr lvl="1"/>
            <a:r>
              <a:rPr lang="en-US"/>
              <a:t>Random effects?</a:t>
            </a:r>
          </a:p>
          <a:p>
            <a:pPr lvl="1"/>
            <a:r>
              <a:rPr lang="en-US"/>
              <a:t>Distribution? Gaussian okay or generalized model?</a:t>
            </a:r>
          </a:p>
        </p:txBody>
      </p:sp>
    </p:spTree>
    <p:extLst>
      <p:ext uri="{BB962C8B-B14F-4D97-AF65-F5344CB8AC3E}">
        <p14:creationId xmlns:p14="http://schemas.microsoft.com/office/powerpoint/2010/main" val="8641820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400"/>
              <a:t>Step 1. Construct a statistical model </a:t>
            </a:r>
            <a:br>
              <a:rPr lang="en-US" sz="4400"/>
            </a:br>
            <a:r>
              <a:rPr lang="en-US" sz="4400"/>
              <a:t>to test your hypothesis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Linear model: 		</a:t>
            </a:r>
            <a:r>
              <a:rPr lang="en-US" err="1"/>
              <a:t>y</a:t>
            </a:r>
            <a:r>
              <a:rPr lang="en-US" baseline="-25000" err="1"/>
              <a:t>i</a:t>
            </a:r>
            <a:r>
              <a:rPr lang="en-US"/>
              <a:t>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</a:t>
            </a:r>
            <a:endParaRPr lang="en-US" baseline="-25000"/>
          </a:p>
          <a:p>
            <a:endParaRPr lang="en-US"/>
          </a:p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4419229" y="2443976"/>
            <a:ext cx="78739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/>
              <a:t>mean</a:t>
            </a:r>
          </a:p>
        </p:txBody>
      </p:sp>
      <p:cxnSp>
        <p:nvCxnSpPr>
          <p:cNvPr id="6" name="Straight Arrow Connector 5"/>
          <p:cNvCxnSpPr>
            <a:stCxn id="4" idx="0"/>
          </p:cNvCxnSpPr>
          <p:nvPr/>
        </p:nvCxnSpPr>
        <p:spPr>
          <a:xfrm flipV="1">
            <a:off x="4812927" y="2215376"/>
            <a:ext cx="292103" cy="2286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 flipH="1" flipV="1">
            <a:off x="5916580" y="2286000"/>
            <a:ext cx="366608" cy="51566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667BC96-0DC0-48F8-8461-59E62080CAB8}"/>
              </a:ext>
            </a:extLst>
          </p:cNvPr>
          <p:cNvCxnSpPr>
            <a:cxnSpLocks/>
          </p:cNvCxnSpPr>
          <p:nvPr/>
        </p:nvCxnSpPr>
        <p:spPr>
          <a:xfrm flipH="1" flipV="1">
            <a:off x="6583471" y="2262841"/>
            <a:ext cx="655529" cy="19305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6A9FDA6-7939-4ADE-B483-6D3702B71D83}"/>
              </a:ext>
            </a:extLst>
          </p:cNvPr>
          <p:cNvSpPr txBox="1"/>
          <p:nvPr/>
        </p:nvSpPr>
        <p:spPr>
          <a:xfrm>
            <a:off x="7239000" y="2255836"/>
            <a:ext cx="29752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/>
              <a:t>Residual variation or error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85E8DE-71CB-4243-AF7E-5E9424CCB732}"/>
              </a:ext>
            </a:extLst>
          </p:cNvPr>
          <p:cNvSpPr txBox="1"/>
          <p:nvPr/>
        </p:nvSpPr>
        <p:spPr>
          <a:xfrm>
            <a:off x="2876244" y="2421005"/>
            <a:ext cx="126130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/>
              <a:t>Response </a:t>
            </a:r>
            <a:br>
              <a:rPr lang="en-US" sz="2000" b="1"/>
            </a:br>
            <a:r>
              <a:rPr lang="en-US" sz="2000" b="1"/>
              <a:t>variable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EA2CE8A-E0BF-4A04-B422-41F7673572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3506898" y="2057400"/>
            <a:ext cx="743914" cy="3636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2248446-5570-456A-B528-F50D0CCC88B4}"/>
              </a:ext>
            </a:extLst>
          </p:cNvPr>
          <p:cNvSpPr txBox="1"/>
          <p:nvPr/>
        </p:nvSpPr>
        <p:spPr>
          <a:xfrm>
            <a:off x="4787904" y="2801667"/>
            <a:ext cx="385201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/>
              <a:t>Parameter estimate to change the </a:t>
            </a:r>
            <a:br>
              <a:rPr lang="en-US" sz="2000" b="1"/>
            </a:br>
            <a:r>
              <a:rPr lang="en-US" sz="2000" b="1"/>
              <a:t>mean based on some variable</a:t>
            </a:r>
          </a:p>
          <a:p>
            <a:pPr algn="ctr"/>
            <a:r>
              <a:rPr lang="en-US" sz="2000" b="1"/>
              <a:t>(</a:t>
            </a:r>
            <a:r>
              <a:rPr lang="en-US" sz="2000" b="1" err="1"/>
              <a:t>ie</a:t>
            </a:r>
            <a:r>
              <a:rPr lang="en-US" sz="2000" b="1"/>
              <a:t>. slopes or intercepts)</a:t>
            </a:r>
          </a:p>
        </p:txBody>
      </p:sp>
    </p:spTree>
    <p:extLst>
      <p:ext uri="{BB962C8B-B14F-4D97-AF65-F5344CB8AC3E}">
        <p14:creationId xmlns:p14="http://schemas.microsoft.com/office/powerpoint/2010/main" val="3211771911"/>
      </p:ext>
    </p:extLst>
  </p:cSld>
  <p:clrMapOvr>
    <a:masterClrMapping/>
  </p:clrMapOvr>
  <p:transition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>
            <a:noAutofit/>
          </a:bodyPr>
          <a:lstStyle/>
          <a:p>
            <a:r>
              <a:rPr lang="en-US" sz="4000"/>
              <a:t>Step 1. Construct a statistical model </a:t>
            </a:r>
            <a:br>
              <a:rPr lang="en-US" sz="4000"/>
            </a:br>
            <a:r>
              <a:rPr lang="en-US" sz="4000"/>
              <a:t>to test your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“Linear regression”:	</a:t>
            </a:r>
            <a:r>
              <a:rPr lang="en-US" err="1"/>
              <a:t>y</a:t>
            </a:r>
            <a:r>
              <a:rPr lang="en-US" baseline="-25000" err="1"/>
              <a:t>i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B</a:t>
            </a:r>
            <a:r>
              <a:rPr lang="en-US" baseline="-25000"/>
              <a:t>1</a:t>
            </a:r>
            <a:r>
              <a:rPr lang="en-US"/>
              <a:t>X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</a:t>
            </a:r>
            <a:endParaRPr lang="en-US" baseline="-25000"/>
          </a:p>
          <a:p>
            <a:endParaRPr lang="en-US" baseline="-25000"/>
          </a:p>
          <a:p>
            <a:endParaRPr lang="en-US"/>
          </a:p>
          <a:p>
            <a:endParaRPr lang="en-US"/>
          </a:p>
          <a:p>
            <a:r>
              <a:rPr lang="en-US"/>
              <a:t>“ANOVA” model: 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ij</a:t>
            </a:r>
            <a:endParaRPr lang="en-US" baseline="-25000"/>
          </a:p>
          <a:p>
            <a:endParaRPr lang="en-US"/>
          </a:p>
          <a:p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AC0C945-C192-7A9C-9ADD-7EA69111D349}"/>
              </a:ext>
            </a:extLst>
          </p:cNvPr>
          <p:cNvGrpSpPr/>
          <p:nvPr/>
        </p:nvGrpSpPr>
        <p:grpSpPr>
          <a:xfrm>
            <a:off x="4379253" y="2198649"/>
            <a:ext cx="1147494" cy="2786688"/>
            <a:chOff x="4379253" y="2198649"/>
            <a:chExt cx="1147494" cy="2786688"/>
          </a:xfrm>
        </p:grpSpPr>
        <p:sp>
          <p:nvSpPr>
            <p:cNvPr id="4" name="TextBox 3"/>
            <p:cNvSpPr txBox="1"/>
            <p:nvPr/>
          </p:nvSpPr>
          <p:spPr>
            <a:xfrm>
              <a:off x="4379253" y="2427249"/>
              <a:ext cx="114749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/>
                <a:t>intercept</a:t>
              </a:r>
            </a:p>
          </p:txBody>
        </p:sp>
        <p:cxnSp>
          <p:nvCxnSpPr>
            <p:cNvPr id="6" name="Straight Arrow Connector 5"/>
            <p:cNvCxnSpPr>
              <a:stCxn id="4" idx="0"/>
            </p:cNvCxnSpPr>
            <p:nvPr/>
          </p:nvCxnSpPr>
          <p:spPr>
            <a:xfrm flipV="1">
              <a:off x="4953001" y="2198649"/>
              <a:ext cx="112053" cy="2286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4379253" y="4585227"/>
              <a:ext cx="114749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/>
                <a:t>intercept</a:t>
              </a:r>
            </a:p>
          </p:txBody>
        </p:sp>
        <p:cxnSp>
          <p:nvCxnSpPr>
            <p:cNvPr id="12" name="Straight Arrow Connector 11"/>
            <p:cNvCxnSpPr>
              <a:stCxn id="11" idx="0"/>
            </p:cNvCxnSpPr>
            <p:nvPr/>
          </p:nvCxnSpPr>
          <p:spPr>
            <a:xfrm flipV="1">
              <a:off x="4953001" y="4356627"/>
              <a:ext cx="112053" cy="2286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7BBE738-4DE4-1738-2833-FFEA5EC48E45}"/>
              </a:ext>
            </a:extLst>
          </p:cNvPr>
          <p:cNvGrpSpPr/>
          <p:nvPr/>
        </p:nvGrpSpPr>
        <p:grpSpPr>
          <a:xfrm>
            <a:off x="4267200" y="2091093"/>
            <a:ext cx="2790829" cy="3623907"/>
            <a:chOff x="4267200" y="2091093"/>
            <a:chExt cx="2790829" cy="3623907"/>
          </a:xfrm>
        </p:grpSpPr>
        <p:sp>
          <p:nvSpPr>
            <p:cNvPr id="7" name="TextBox 6"/>
            <p:cNvSpPr txBox="1"/>
            <p:nvPr/>
          </p:nvSpPr>
          <p:spPr>
            <a:xfrm>
              <a:off x="4267200" y="5007114"/>
              <a:ext cx="2790829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000" b="1"/>
                <a:t>Adjustment to intercept </a:t>
              </a:r>
              <a:br>
                <a:rPr lang="en-US" sz="2000" b="1"/>
              </a:br>
              <a:r>
                <a:rPr lang="en-US" sz="2000" b="1"/>
                <a:t>for each group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5662615" y="4397514"/>
              <a:ext cx="101936" cy="60960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5800494" y="2519748"/>
              <a:ext cx="75533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/>
                <a:t>slope</a:t>
              </a:r>
            </a:p>
          </p:txBody>
        </p:sp>
        <p:cxnSp>
          <p:nvCxnSpPr>
            <p:cNvPr id="14" name="Straight Arrow Connector 13"/>
            <p:cNvCxnSpPr>
              <a:cxnSpLocks/>
              <a:stCxn id="13" idx="0"/>
            </p:cNvCxnSpPr>
            <p:nvPr/>
          </p:nvCxnSpPr>
          <p:spPr>
            <a:xfrm flipH="1" flipV="1">
              <a:off x="5800494" y="2091093"/>
              <a:ext cx="377668" cy="42865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5B659277-0821-436D-8D62-3302A59E9A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9559" y="1415298"/>
            <a:ext cx="2928863" cy="25287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4587676-C17F-4671-A1BB-E97F60F09C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9301" y="4046782"/>
            <a:ext cx="3052836" cy="2736649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739A157E-5540-D867-5BA6-4E6FEDFF5618}"/>
              </a:ext>
            </a:extLst>
          </p:cNvPr>
          <p:cNvGrpSpPr/>
          <p:nvPr/>
        </p:nvGrpSpPr>
        <p:grpSpPr>
          <a:xfrm>
            <a:off x="6233535" y="2198649"/>
            <a:ext cx="1151908" cy="2754396"/>
            <a:chOff x="6233535" y="2198649"/>
            <a:chExt cx="1151908" cy="275439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23ADC7A-252A-45DD-AC99-4BE811D0D40B}"/>
                </a:ext>
              </a:extLst>
            </p:cNvPr>
            <p:cNvSpPr txBox="1"/>
            <p:nvPr/>
          </p:nvSpPr>
          <p:spPr>
            <a:xfrm>
              <a:off x="6679481" y="2627304"/>
              <a:ext cx="70596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b="1" err="1"/>
                <a:t>resid</a:t>
              </a:r>
              <a:endParaRPr lang="en-US" sz="2000" b="1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3AB01ED-931E-4656-A7C0-2BE25E73651C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6719945" y="2198649"/>
              <a:ext cx="312517" cy="428655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57C2CB9-16E6-4850-BC93-D55808490D32}"/>
                </a:ext>
              </a:extLst>
            </p:cNvPr>
            <p:cNvSpPr txBox="1"/>
            <p:nvPr/>
          </p:nvSpPr>
          <p:spPr>
            <a:xfrm>
              <a:off x="6233535" y="4552935"/>
              <a:ext cx="70596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err="1"/>
                <a:t>resid</a:t>
              </a:r>
              <a:endParaRPr lang="en-US" sz="2000" b="1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C99EAF7-C5C8-4483-A7F3-BF9D8B9854A9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flipH="1" flipV="1">
              <a:off x="6555829" y="4356627"/>
              <a:ext cx="30687" cy="196308"/>
            </a:xfrm>
            <a:prstGeom prst="straightConnector1">
              <a:avLst/>
            </a:prstGeom>
            <a:ln w="28575"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C05EB28-7873-284C-2129-56DEE7F4FA7B}"/>
              </a:ext>
            </a:extLst>
          </p:cNvPr>
          <p:cNvGrpSpPr/>
          <p:nvPr/>
        </p:nvGrpSpPr>
        <p:grpSpPr>
          <a:xfrm>
            <a:off x="8076054" y="4166605"/>
            <a:ext cx="1998127" cy="1954936"/>
            <a:chOff x="8076054" y="4166605"/>
            <a:chExt cx="1998127" cy="1954936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27692B2-CD8F-DAC5-0A17-767E4E33C6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40252" y="4166605"/>
              <a:ext cx="0" cy="479883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C608C73C-B51F-D927-3821-A89FE45E2A8C}"/>
                </a:ext>
              </a:extLst>
            </p:cNvPr>
            <p:cNvCxnSpPr>
              <a:cxnSpLocks/>
            </p:cNvCxnSpPr>
            <p:nvPr/>
          </p:nvCxnSpPr>
          <p:spPr>
            <a:xfrm>
              <a:off x="10074181" y="4702314"/>
              <a:ext cx="0" cy="6400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D0E8C8C1-A9B9-B929-94D3-CD3ED48E1E1C}"/>
                </a:ext>
              </a:extLst>
            </p:cNvPr>
            <p:cNvCxnSpPr>
              <a:cxnSpLocks/>
            </p:cNvCxnSpPr>
            <p:nvPr/>
          </p:nvCxnSpPr>
          <p:spPr>
            <a:xfrm>
              <a:off x="8397781" y="5938661"/>
              <a:ext cx="0" cy="18288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30F8DFA4-96F1-152D-0B47-50D732C1FC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76054" y="5915801"/>
              <a:ext cx="87278" cy="114300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3441686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ANOVA as a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“ANOVA” model: 	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pPr lvl="1"/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 baseline="-25000"/>
              <a:t> </a:t>
            </a:r>
            <a:r>
              <a:rPr lang="en-US"/>
              <a:t>is the observation for individual </a:t>
            </a:r>
            <a:r>
              <a:rPr lang="en-US" i="1" err="1"/>
              <a:t>i</a:t>
            </a:r>
            <a:r>
              <a:rPr lang="en-US" i="1"/>
              <a:t> </a:t>
            </a:r>
            <a:r>
              <a:rPr lang="en-US"/>
              <a:t>in group </a:t>
            </a:r>
            <a:r>
              <a:rPr lang="en-US" i="1"/>
              <a:t>j</a:t>
            </a:r>
          </a:p>
          <a:p>
            <a:pPr lvl="1"/>
            <a:r>
              <a:rPr lang="en-US"/>
              <a:t>B</a:t>
            </a:r>
            <a:r>
              <a:rPr lang="en-US" baseline="-25000"/>
              <a:t>0 </a:t>
            </a:r>
            <a:r>
              <a:rPr lang="en-US"/>
              <a:t>is the mean for the first (alphabetical) group</a:t>
            </a:r>
          </a:p>
          <a:p>
            <a:pPr lvl="1"/>
            <a:r>
              <a:rPr lang="en-US" err="1"/>
              <a:t>B</a:t>
            </a:r>
            <a:r>
              <a:rPr lang="en-US" baseline="-25000" err="1"/>
              <a:t>j</a:t>
            </a:r>
            <a:r>
              <a:rPr lang="en-US" baseline="-25000"/>
              <a:t> </a:t>
            </a:r>
            <a:r>
              <a:rPr lang="en-US"/>
              <a:t>is the mean for group </a:t>
            </a:r>
            <a:r>
              <a:rPr lang="en-US" i="1"/>
              <a:t>j</a:t>
            </a:r>
          </a:p>
          <a:p>
            <a:pPr lvl="1"/>
            <a:r>
              <a:rPr lang="en-US" err="1"/>
              <a:t>e</a:t>
            </a:r>
            <a:r>
              <a:rPr lang="en-US" baseline="-25000" err="1"/>
              <a:t>ij</a:t>
            </a:r>
            <a:r>
              <a:rPr lang="en-US"/>
              <a:t> is how far each </a:t>
            </a:r>
            <a:r>
              <a:rPr lang="en-US" err="1"/>
              <a:t>obs</a:t>
            </a:r>
            <a:r>
              <a:rPr lang="en-US"/>
              <a:t> is from its group mean </a:t>
            </a:r>
          </a:p>
          <a:p>
            <a:pPr lvl="2"/>
            <a:r>
              <a:rPr lang="en-US" i="1"/>
              <a:t>or </a:t>
            </a:r>
            <a:r>
              <a:rPr lang="en-US"/>
              <a:t>the random variation in the data</a:t>
            </a:r>
          </a:p>
          <a:p>
            <a:pPr lvl="2"/>
            <a:r>
              <a:rPr lang="en-US"/>
              <a:t>Follows a normal distribution</a:t>
            </a:r>
          </a:p>
        </p:txBody>
      </p:sp>
    </p:spTree>
    <p:extLst>
      <p:ext uri="{BB962C8B-B14F-4D97-AF65-F5344CB8AC3E}">
        <p14:creationId xmlns:p14="http://schemas.microsoft.com/office/powerpoint/2010/main" val="34509756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ANOVA as a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“ANOVA” model: 	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pPr lvl="1"/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 baseline="-25000"/>
              <a:t> </a:t>
            </a:r>
            <a:r>
              <a:rPr lang="en-US"/>
              <a:t>is the observation for individual </a:t>
            </a:r>
            <a:r>
              <a:rPr lang="en-US" i="1" err="1"/>
              <a:t>i</a:t>
            </a:r>
            <a:r>
              <a:rPr lang="en-US" i="1"/>
              <a:t> </a:t>
            </a:r>
            <a:r>
              <a:rPr lang="en-US"/>
              <a:t>in group </a:t>
            </a:r>
            <a:r>
              <a:rPr lang="en-US" i="1"/>
              <a:t>j</a:t>
            </a:r>
          </a:p>
          <a:p>
            <a:pPr lvl="1"/>
            <a:r>
              <a:rPr lang="en-US"/>
              <a:t>B</a:t>
            </a:r>
            <a:r>
              <a:rPr lang="en-US" baseline="-25000"/>
              <a:t>0 </a:t>
            </a:r>
            <a:r>
              <a:rPr lang="en-US"/>
              <a:t>is the mean for the first (alphabetical) group</a:t>
            </a:r>
          </a:p>
          <a:p>
            <a:pPr lvl="1"/>
            <a:r>
              <a:rPr lang="en-US" err="1"/>
              <a:t>B</a:t>
            </a:r>
            <a:r>
              <a:rPr lang="en-US" baseline="-25000" err="1"/>
              <a:t>j</a:t>
            </a:r>
            <a:r>
              <a:rPr lang="en-US" baseline="-25000"/>
              <a:t> </a:t>
            </a:r>
            <a:r>
              <a:rPr lang="en-US"/>
              <a:t>is the mean for group </a:t>
            </a:r>
            <a:r>
              <a:rPr lang="en-US" i="1"/>
              <a:t>j</a:t>
            </a:r>
          </a:p>
          <a:p>
            <a:pPr lvl="1"/>
            <a:r>
              <a:rPr lang="en-US" err="1"/>
              <a:t>e</a:t>
            </a:r>
            <a:r>
              <a:rPr lang="en-US" baseline="-25000" err="1"/>
              <a:t>ij</a:t>
            </a:r>
            <a:r>
              <a:rPr lang="en-US"/>
              <a:t> is how far each </a:t>
            </a:r>
            <a:r>
              <a:rPr lang="en-US" err="1"/>
              <a:t>obs</a:t>
            </a:r>
            <a:r>
              <a:rPr lang="en-US"/>
              <a:t> is from its group mean </a:t>
            </a:r>
          </a:p>
          <a:p>
            <a:pPr lvl="2"/>
            <a:r>
              <a:rPr lang="en-US" i="1"/>
              <a:t>or </a:t>
            </a:r>
            <a:r>
              <a:rPr lang="en-US"/>
              <a:t>the random variation in the data</a:t>
            </a:r>
          </a:p>
          <a:p>
            <a:pPr lvl="2"/>
            <a:r>
              <a:rPr lang="en-US"/>
              <a:t>Follows a normal distribution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CE2A-193A-4522-9122-212E076B1531}"/>
              </a:ext>
            </a:extLst>
          </p:cNvPr>
          <p:cNvSpPr/>
          <p:nvPr/>
        </p:nvSpPr>
        <p:spPr>
          <a:xfrm>
            <a:off x="1371600" y="3276600"/>
            <a:ext cx="39624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FC5288-3504-493D-84FC-C634077ACECA}"/>
              </a:ext>
            </a:extLst>
          </p:cNvPr>
          <p:cNvSpPr txBox="1"/>
          <p:nvPr/>
        </p:nvSpPr>
        <p:spPr>
          <a:xfrm>
            <a:off x="5410201" y="3200400"/>
            <a:ext cx="5661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~B</a:t>
            </a:r>
          </a:p>
        </p:txBody>
      </p:sp>
      <p:sp>
        <p:nvSpPr>
          <p:cNvPr id="6" name="Rounded Rectangle 6">
            <a:extLst>
              <a:ext uri="{FF2B5EF4-FFF2-40B4-BE49-F238E27FC236}">
                <a16:creationId xmlns:a16="http://schemas.microsoft.com/office/drawing/2014/main" id="{15A2EB79-45FB-4C92-B2FE-DBD7542FD006}"/>
              </a:ext>
            </a:extLst>
          </p:cNvPr>
          <p:cNvSpPr/>
          <p:nvPr/>
        </p:nvSpPr>
        <p:spPr>
          <a:xfrm>
            <a:off x="1371600" y="3733800"/>
            <a:ext cx="67056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71138-9ADF-4AA9-BBAB-9D303C1DE8BD}"/>
              </a:ext>
            </a:extLst>
          </p:cNvPr>
          <p:cNvSpPr txBox="1"/>
          <p:nvPr/>
        </p:nvSpPr>
        <p:spPr>
          <a:xfrm>
            <a:off x="8170025" y="3690850"/>
            <a:ext cx="6896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~W</a:t>
            </a:r>
          </a:p>
        </p:txBody>
      </p:sp>
    </p:spTree>
    <p:extLst>
      <p:ext uri="{BB962C8B-B14F-4D97-AF65-F5344CB8AC3E}">
        <p14:creationId xmlns:p14="http://schemas.microsoft.com/office/powerpoint/2010/main" val="33519468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ANOVA as a linear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0972800" cy="4525963"/>
          </a:xfrm>
        </p:spPr>
        <p:txBody>
          <a:bodyPr/>
          <a:lstStyle/>
          <a:p>
            <a:r>
              <a:rPr lang="en-US"/>
              <a:t>“ANOVA” model: 		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pPr lvl="1"/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 baseline="-25000"/>
              <a:t> </a:t>
            </a:r>
            <a:r>
              <a:rPr lang="en-US"/>
              <a:t>is the observation for individual </a:t>
            </a:r>
            <a:r>
              <a:rPr lang="en-US" i="1" err="1"/>
              <a:t>i</a:t>
            </a:r>
            <a:r>
              <a:rPr lang="en-US" i="1"/>
              <a:t> </a:t>
            </a:r>
            <a:r>
              <a:rPr lang="en-US"/>
              <a:t>in group </a:t>
            </a:r>
            <a:r>
              <a:rPr lang="en-US" i="1"/>
              <a:t>j</a:t>
            </a:r>
          </a:p>
          <a:p>
            <a:pPr lvl="1"/>
            <a:r>
              <a:rPr lang="en-US"/>
              <a:t>B</a:t>
            </a:r>
            <a:r>
              <a:rPr lang="en-US" baseline="-25000"/>
              <a:t>0 </a:t>
            </a:r>
            <a:r>
              <a:rPr lang="en-US"/>
              <a:t>is the mean for the first (alphabetical) group</a:t>
            </a:r>
          </a:p>
          <a:p>
            <a:pPr lvl="1"/>
            <a:r>
              <a:rPr lang="en-US" err="1"/>
              <a:t>B</a:t>
            </a:r>
            <a:r>
              <a:rPr lang="en-US" baseline="-25000" err="1"/>
              <a:t>j</a:t>
            </a:r>
            <a:r>
              <a:rPr lang="en-US" baseline="-25000"/>
              <a:t> </a:t>
            </a:r>
            <a:r>
              <a:rPr lang="en-US"/>
              <a:t>is the mean for group </a:t>
            </a:r>
            <a:r>
              <a:rPr lang="en-US" i="1"/>
              <a:t>j</a:t>
            </a:r>
          </a:p>
          <a:p>
            <a:pPr lvl="1"/>
            <a:r>
              <a:rPr lang="en-US" err="1"/>
              <a:t>e</a:t>
            </a:r>
            <a:r>
              <a:rPr lang="en-US" baseline="-25000" err="1"/>
              <a:t>ij</a:t>
            </a:r>
            <a:r>
              <a:rPr lang="en-US"/>
              <a:t> is how far each </a:t>
            </a:r>
            <a:r>
              <a:rPr lang="en-US" err="1"/>
              <a:t>obs</a:t>
            </a:r>
            <a:r>
              <a:rPr lang="en-US"/>
              <a:t> is from its group mean </a:t>
            </a:r>
          </a:p>
          <a:p>
            <a:pPr lvl="2"/>
            <a:r>
              <a:rPr lang="en-US" i="1"/>
              <a:t>or </a:t>
            </a:r>
            <a:r>
              <a:rPr lang="en-US"/>
              <a:t>the random variation in the data</a:t>
            </a:r>
          </a:p>
          <a:p>
            <a:pPr lvl="2"/>
            <a:r>
              <a:rPr lang="en-US"/>
              <a:t>Follows a normal distribution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E978CE2A-193A-4522-9122-212E076B1531}"/>
              </a:ext>
            </a:extLst>
          </p:cNvPr>
          <p:cNvSpPr/>
          <p:nvPr/>
        </p:nvSpPr>
        <p:spPr>
          <a:xfrm>
            <a:off x="1371600" y="3276600"/>
            <a:ext cx="39624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FC5288-3504-493D-84FC-C634077ACECA}"/>
              </a:ext>
            </a:extLst>
          </p:cNvPr>
          <p:cNvSpPr txBox="1"/>
          <p:nvPr/>
        </p:nvSpPr>
        <p:spPr>
          <a:xfrm>
            <a:off x="5334000" y="3076349"/>
            <a:ext cx="63782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~B </a:t>
            </a:r>
            <a:r>
              <a:rPr lang="en-US" sz="2800">
                <a:solidFill>
                  <a:srgbClr val="FF0000"/>
                </a:solidFill>
              </a:rPr>
              <a:t>(</a:t>
            </a:r>
            <a:r>
              <a:rPr lang="en-US" sz="2800" err="1">
                <a:solidFill>
                  <a:srgbClr val="FF0000"/>
                </a:solidFill>
              </a:rPr>
              <a:t>ie</a:t>
            </a:r>
            <a:r>
              <a:rPr lang="en-US" sz="2800">
                <a:solidFill>
                  <a:srgbClr val="FF0000"/>
                </a:solidFill>
              </a:rPr>
              <a:t>. how different the group means are)</a:t>
            </a:r>
            <a:endParaRPr lang="en-US" sz="2800" b="1">
              <a:solidFill>
                <a:srgbClr val="FF0000"/>
              </a:solidFill>
            </a:endParaRPr>
          </a:p>
        </p:txBody>
      </p:sp>
      <p:sp>
        <p:nvSpPr>
          <p:cNvPr id="6" name="Rounded Rectangle 6">
            <a:extLst>
              <a:ext uri="{FF2B5EF4-FFF2-40B4-BE49-F238E27FC236}">
                <a16:creationId xmlns:a16="http://schemas.microsoft.com/office/drawing/2014/main" id="{15A2EB79-45FB-4C92-B2FE-DBD7542FD006}"/>
              </a:ext>
            </a:extLst>
          </p:cNvPr>
          <p:cNvSpPr/>
          <p:nvPr/>
        </p:nvSpPr>
        <p:spPr>
          <a:xfrm>
            <a:off x="1371600" y="3733800"/>
            <a:ext cx="6705600" cy="4572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171138-9ADF-4AA9-BBAB-9D303C1DE8BD}"/>
              </a:ext>
            </a:extLst>
          </p:cNvPr>
          <p:cNvSpPr txBox="1"/>
          <p:nvPr/>
        </p:nvSpPr>
        <p:spPr>
          <a:xfrm>
            <a:off x="8170025" y="3690850"/>
            <a:ext cx="346255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>
                <a:solidFill>
                  <a:srgbClr val="FF0000"/>
                </a:solidFill>
              </a:rPr>
              <a:t>~W </a:t>
            </a:r>
            <a:r>
              <a:rPr lang="en-US" sz="2800">
                <a:solidFill>
                  <a:srgbClr val="FF0000"/>
                </a:solidFill>
              </a:rPr>
              <a:t>(</a:t>
            </a:r>
            <a:r>
              <a:rPr lang="en-US" sz="2800" err="1">
                <a:solidFill>
                  <a:srgbClr val="FF0000"/>
                </a:solidFill>
              </a:rPr>
              <a:t>ie</a:t>
            </a:r>
            <a:r>
              <a:rPr lang="en-US" sz="2800">
                <a:solidFill>
                  <a:srgbClr val="FF0000"/>
                </a:solidFill>
              </a:rPr>
              <a:t>. how much var </a:t>
            </a:r>
            <a:br>
              <a:rPr lang="en-US" sz="2800">
                <a:solidFill>
                  <a:srgbClr val="FF0000"/>
                </a:solidFill>
              </a:rPr>
            </a:br>
            <a:r>
              <a:rPr lang="en-US" sz="2800">
                <a:solidFill>
                  <a:srgbClr val="FF0000"/>
                </a:solidFill>
              </a:rPr>
              <a:t>	w/in group)</a:t>
            </a:r>
            <a:endParaRPr lang="en-US" sz="2800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7066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A0FC7-EECF-0BA8-77AF-DB90D2028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pic>
        <p:nvPicPr>
          <p:cNvPr id="7170" name="Picture 2" descr="Scientific Questions and Variables">
            <a:extLst>
              <a:ext uri="{FF2B5EF4-FFF2-40B4-BE49-F238E27FC236}">
                <a16:creationId xmlns:a16="http://schemas.microsoft.com/office/drawing/2014/main" id="{5F015974-D1CF-45DD-BD00-9C43D5081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3389" y="2743200"/>
            <a:ext cx="3625222" cy="2715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A qr code with black dots&#10;&#10;AI-generated content may be incorrect.">
            <a:extLst>
              <a:ext uri="{FF2B5EF4-FFF2-40B4-BE49-F238E27FC236}">
                <a16:creationId xmlns:a16="http://schemas.microsoft.com/office/drawing/2014/main" id="{CFB06854-0AF6-AAF4-F9E5-152F0582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76867B-8BAF-13AE-9706-F06A4518DB6A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42450554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Linear mixed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“ANOVA” model: 	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n-US" err="1"/>
              <a:t>e</a:t>
            </a:r>
            <a:r>
              <a:rPr lang="en-US" baseline="-25000" err="1"/>
              <a:t>ij</a:t>
            </a:r>
            <a:endParaRPr lang="en-US" baseline="-25000"/>
          </a:p>
          <a:p>
            <a:r>
              <a:rPr lang="en-US"/>
              <a:t>“RCBD”:		 	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B</a:t>
            </a:r>
            <a:r>
              <a:rPr lang="en-US" baseline="-25000"/>
              <a:t>0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α</a:t>
            </a:r>
            <a:r>
              <a:rPr lang="en-US" baseline="-25000"/>
              <a:t>j</a:t>
            </a:r>
            <a:r>
              <a:rPr lang="en-US"/>
              <a:t> + </a:t>
            </a:r>
            <a:r>
              <a:rPr lang="en-US" err="1"/>
              <a:t>e</a:t>
            </a:r>
            <a:r>
              <a:rPr lang="en-US" baseline="-25000" err="1"/>
              <a:t>ij</a:t>
            </a:r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CA734F6-6B7E-452C-AC44-4B4DEA07687D}"/>
              </a:ext>
            </a:extLst>
          </p:cNvPr>
          <p:cNvCxnSpPr>
            <a:cxnSpLocks/>
          </p:cNvCxnSpPr>
          <p:nvPr/>
        </p:nvCxnSpPr>
        <p:spPr>
          <a:xfrm flipH="1">
            <a:off x="4419600" y="2819400"/>
            <a:ext cx="152400" cy="883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B83BB7-8CA8-47AB-9081-6E4ECF226D59}"/>
              </a:ext>
            </a:extLst>
          </p:cNvPr>
          <p:cNvSpPr txBox="1"/>
          <p:nvPr/>
        </p:nvSpPr>
        <p:spPr>
          <a:xfrm>
            <a:off x="3910486" y="3702474"/>
            <a:ext cx="1133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response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E722B7B-F76F-4FBE-B5CE-4345F77D6124}"/>
              </a:ext>
            </a:extLst>
          </p:cNvPr>
          <p:cNvCxnSpPr>
            <a:cxnSpLocks/>
            <a:endCxn id="20" idx="0"/>
          </p:cNvCxnSpPr>
          <p:nvPr/>
        </p:nvCxnSpPr>
        <p:spPr>
          <a:xfrm flipH="1">
            <a:off x="5762013" y="2819400"/>
            <a:ext cx="105387" cy="14136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808AC1F-C435-49E2-9250-1E868B70D57B}"/>
              </a:ext>
            </a:extLst>
          </p:cNvPr>
          <p:cNvSpPr txBox="1"/>
          <p:nvPr/>
        </p:nvSpPr>
        <p:spPr>
          <a:xfrm>
            <a:off x="4032195" y="4233044"/>
            <a:ext cx="34596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Predictor variable or fixed effects (</a:t>
            </a:r>
            <a:r>
              <a:rPr lang="en-US" err="1"/>
              <a:t>ie</a:t>
            </a:r>
            <a:r>
              <a:rPr lang="en-US"/>
              <a:t>. different intercepts for treatment means)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AA15589-2242-45D8-AAE4-55E057B7304E}"/>
              </a:ext>
            </a:extLst>
          </p:cNvPr>
          <p:cNvCxnSpPr>
            <a:cxnSpLocks/>
          </p:cNvCxnSpPr>
          <p:nvPr/>
        </p:nvCxnSpPr>
        <p:spPr>
          <a:xfrm>
            <a:off x="6778236" y="2819400"/>
            <a:ext cx="509114" cy="9061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DB796EE-945F-4C35-8C1C-4D33AD840219}"/>
              </a:ext>
            </a:extLst>
          </p:cNvPr>
          <p:cNvSpPr txBox="1"/>
          <p:nvPr/>
        </p:nvSpPr>
        <p:spPr>
          <a:xfrm>
            <a:off x="6778236" y="3725507"/>
            <a:ext cx="47279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Random effect (</a:t>
            </a:r>
            <a:r>
              <a:rPr lang="en-US" err="1"/>
              <a:t>ie</a:t>
            </a:r>
            <a:r>
              <a:rPr lang="en-US"/>
              <a:t>. random intercepts for blocks)</a:t>
            </a:r>
          </a:p>
        </p:txBody>
      </p:sp>
    </p:spTree>
    <p:extLst>
      <p:ext uri="{BB962C8B-B14F-4D97-AF65-F5344CB8AC3E}">
        <p14:creationId xmlns:p14="http://schemas.microsoft.com/office/powerpoint/2010/main" val="24161781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Fixed vs. random effects?</a:t>
            </a:r>
          </a:p>
        </p:txBody>
      </p:sp>
      <p:sp>
        <p:nvSpPr>
          <p:cNvPr id="20483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Fixed effects	</a:t>
            </a:r>
          </a:p>
        </p:txBody>
      </p:sp>
      <p:sp>
        <p:nvSpPr>
          <p:cNvPr id="20484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eaLnBrk="1" hangingPunct="1"/>
            <a:r>
              <a:rPr lang="en-US"/>
              <a:t>Random effects</a:t>
            </a:r>
          </a:p>
        </p:txBody>
      </p:sp>
      <p:sp>
        <p:nvSpPr>
          <p:cNvPr id="20485" name="Content Placeholder 6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486" name="Content Placeholder 7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Fixed vs. random effects?</a:t>
            </a:r>
          </a:p>
        </p:txBody>
      </p:sp>
      <p:sp>
        <p:nvSpPr>
          <p:cNvPr id="21507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Fixed effects	</a:t>
            </a:r>
          </a:p>
        </p:txBody>
      </p:sp>
      <p:sp>
        <p:nvSpPr>
          <p:cNvPr id="21508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eaLnBrk="1" hangingPunct="1"/>
            <a:r>
              <a:rPr lang="en-US"/>
              <a:t>Usually the factor(s) of interest in study (or covariates)</a:t>
            </a:r>
          </a:p>
          <a:p>
            <a:pPr eaLnBrk="1" hangingPunct="1"/>
            <a:r>
              <a:rPr lang="en-US"/>
              <a:t>Same anywhere you do it </a:t>
            </a:r>
          </a:p>
          <a:p>
            <a:pPr lvl="1" eaLnBrk="1" hangingPunct="1"/>
            <a:r>
              <a:rPr lang="en-US"/>
              <a:t>Values are meaningful and not exchangeable</a:t>
            </a:r>
          </a:p>
          <a:p>
            <a:pPr eaLnBrk="1" hangingPunct="1"/>
            <a:r>
              <a:rPr lang="en-US"/>
              <a:t>Represent all possible levels of a factor (of interest)</a:t>
            </a:r>
          </a:p>
          <a:p>
            <a:pPr lvl="1" eaLnBrk="1" hangingPunct="1"/>
            <a:r>
              <a:rPr lang="en-US"/>
              <a:t>Same for continuous variables</a:t>
            </a:r>
          </a:p>
          <a:p>
            <a:pPr eaLnBrk="1" hangingPunct="1"/>
            <a:r>
              <a:rPr lang="en-US" b="1"/>
              <a:t>Conclusions restricted to those levels</a:t>
            </a:r>
            <a:br>
              <a:rPr lang="en-US" b="1"/>
            </a:br>
            <a:r>
              <a:rPr lang="en-US" b="1"/>
              <a:t>(group effects)</a:t>
            </a:r>
          </a:p>
        </p:txBody>
      </p:sp>
      <p:sp>
        <p:nvSpPr>
          <p:cNvPr id="21509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eaLnBrk="1" hangingPunct="1"/>
            <a:r>
              <a:rPr lang="en-US"/>
              <a:t>Random effects</a:t>
            </a:r>
          </a:p>
        </p:txBody>
      </p:sp>
      <p:sp>
        <p:nvSpPr>
          <p:cNvPr id="21510" name="Content Placeholder 6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Fixed vs. random effects?</a:t>
            </a:r>
          </a:p>
        </p:txBody>
      </p:sp>
      <p:sp>
        <p:nvSpPr>
          <p:cNvPr id="22531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/>
              <a:t>Fixed effects	</a:t>
            </a:r>
          </a:p>
        </p:txBody>
      </p:sp>
      <p:sp>
        <p:nvSpPr>
          <p:cNvPr id="22532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eaLnBrk="1" hangingPunct="1"/>
            <a:r>
              <a:rPr lang="en-US"/>
              <a:t>Usually the factor(s) of interest in study (or covariates)</a:t>
            </a:r>
          </a:p>
          <a:p>
            <a:pPr eaLnBrk="1" hangingPunct="1"/>
            <a:r>
              <a:rPr lang="en-US"/>
              <a:t>Same anywhere you do it </a:t>
            </a:r>
          </a:p>
          <a:p>
            <a:pPr lvl="1" eaLnBrk="1" hangingPunct="1"/>
            <a:r>
              <a:rPr lang="en-US"/>
              <a:t>Values are meaningful and not exchangeable</a:t>
            </a:r>
          </a:p>
          <a:p>
            <a:pPr eaLnBrk="1" hangingPunct="1"/>
            <a:r>
              <a:rPr lang="en-US"/>
              <a:t>Represent all possible levels of a factor (of interest)</a:t>
            </a:r>
          </a:p>
          <a:p>
            <a:pPr lvl="1" eaLnBrk="1" hangingPunct="1"/>
            <a:r>
              <a:rPr lang="en-US"/>
              <a:t>Same for continuous variables</a:t>
            </a:r>
          </a:p>
          <a:p>
            <a:pPr eaLnBrk="1" hangingPunct="1"/>
            <a:r>
              <a:rPr lang="en-US" b="1"/>
              <a:t>Conclusions restricted to those levels (group effects)</a:t>
            </a:r>
          </a:p>
        </p:txBody>
      </p:sp>
      <p:sp>
        <p:nvSpPr>
          <p:cNvPr id="22533" name="Text Placeholder 6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eaLnBrk="1" hangingPunct="1"/>
            <a:r>
              <a:rPr lang="en-US"/>
              <a:t>Random effects</a:t>
            </a:r>
          </a:p>
        </p:txBody>
      </p:sp>
      <p:sp>
        <p:nvSpPr>
          <p:cNvPr id="22534" name="Content Placeholder 7"/>
          <p:cNvSpPr>
            <a:spLocks noGrp="1"/>
          </p:cNvSpPr>
          <p:nvPr>
            <p:ph sz="quarter" idx="4"/>
          </p:nvPr>
        </p:nvSpPr>
        <p:spPr>
          <a:xfrm>
            <a:off x="6169026" y="2174876"/>
            <a:ext cx="5386917" cy="4530724"/>
          </a:xfrm>
        </p:spPr>
        <p:txBody>
          <a:bodyPr/>
          <a:lstStyle/>
          <a:p>
            <a:pPr eaLnBrk="1" hangingPunct="1"/>
            <a:r>
              <a:rPr lang="en-US"/>
              <a:t>Usually not the focus of study</a:t>
            </a:r>
            <a:br>
              <a:rPr lang="en-US"/>
            </a:br>
            <a:endParaRPr lang="en-US"/>
          </a:p>
          <a:p>
            <a:pPr eaLnBrk="1" hangingPunct="1"/>
            <a:r>
              <a:rPr lang="en-US"/>
              <a:t>Levels (categories) could be exchanged/substituted (</a:t>
            </a:r>
            <a:r>
              <a:rPr lang="en-US" err="1"/>
              <a:t>eg.</a:t>
            </a:r>
            <a:r>
              <a:rPr lang="en-US"/>
              <a:t> Individuals or blocks) </a:t>
            </a:r>
          </a:p>
          <a:p>
            <a:pPr eaLnBrk="1" hangingPunct="1"/>
            <a:r>
              <a:rPr lang="en-US"/>
              <a:t>Represent a (random) sample of a larger set of levels</a:t>
            </a:r>
          </a:p>
          <a:p>
            <a:pPr eaLnBrk="1" hangingPunct="1"/>
            <a:r>
              <a:rPr lang="en-US" b="1"/>
              <a:t>Can extrapolate conclusions to the larger sample (population level)</a:t>
            </a:r>
          </a:p>
          <a:p>
            <a:pPr eaLnBrk="1" hangingPunct="1"/>
            <a:r>
              <a:rPr lang="en-US"/>
              <a:t>Different statistical properties</a:t>
            </a:r>
          </a:p>
        </p:txBody>
      </p:sp>
    </p:spTree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E688F-1D97-4CB4-8732-2DFEA7FC4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Random effects in experiments vs. observational studies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11992-2ED2-4A3F-8A61-49B99E16E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Much more control in experiments</a:t>
            </a:r>
          </a:p>
          <a:p>
            <a:r>
              <a:rPr lang="en-US"/>
              <a:t>Less control in observation surveys</a:t>
            </a:r>
          </a:p>
          <a:p>
            <a:pPr lvl="1"/>
            <a:r>
              <a:rPr lang="en-US"/>
              <a:t>Depends on data type/structure/</a:t>
            </a:r>
          </a:p>
          <a:p>
            <a:r>
              <a:rPr lang="en-US"/>
              <a:t>Pseudo-replication can be a problem in both </a:t>
            </a:r>
          </a:p>
        </p:txBody>
      </p:sp>
    </p:spTree>
    <p:extLst>
      <p:ext uri="{BB962C8B-B14F-4D97-AF65-F5344CB8AC3E}">
        <p14:creationId xmlns:p14="http://schemas.microsoft.com/office/powerpoint/2010/main" val="18013603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Benefits of blocking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Blocks are formed so that treatments within blocks are as homogenous as possible</a:t>
            </a:r>
          </a:p>
          <a:p>
            <a:r>
              <a:rPr lang="en-US"/>
              <a:t>Treatments randomly assigned within blocks</a:t>
            </a:r>
          </a:p>
          <a:p>
            <a:r>
              <a:rPr lang="en-US"/>
              <a:t>Used to reduce variation among experimental units</a:t>
            </a:r>
          </a:p>
          <a:p>
            <a:pPr lvl="1"/>
            <a:r>
              <a:rPr lang="en-US"/>
              <a:t>Allows to account for variation from block-to-block</a:t>
            </a:r>
          </a:p>
          <a:p>
            <a:r>
              <a:rPr lang="en-US"/>
              <a:t>Ensures interspersion among treatments</a:t>
            </a:r>
          </a:p>
          <a:p>
            <a:r>
              <a:rPr lang="en-US"/>
              <a:t>Can account for pseudo-replication (when present)</a:t>
            </a:r>
          </a:p>
        </p:txBody>
      </p:sp>
    </p:spTree>
    <p:extLst>
      <p:ext uri="{BB962C8B-B14F-4D97-AF65-F5344CB8AC3E}">
        <p14:creationId xmlns:p14="http://schemas.microsoft.com/office/powerpoint/2010/main" val="1308197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6FDE42B-8345-4207-B191-58BF7EF7D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Rules of thumb about random effects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0C5675-7320-40E6-9A61-0B715C788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/>
              <a:t>Sometimes it’s a judgement call of whether something should be fixed or random</a:t>
            </a:r>
          </a:p>
          <a:p>
            <a:r>
              <a:rPr lang="en-US"/>
              <a:t>Random effects should have at least 5 levels (and typically much more)</a:t>
            </a:r>
          </a:p>
          <a:p>
            <a:pPr lvl="1"/>
            <a:r>
              <a:rPr lang="en-US"/>
              <a:t>5+ blocks, 5+ populations, 5+ clutches</a:t>
            </a:r>
          </a:p>
          <a:p>
            <a:r>
              <a:rPr lang="en-US"/>
              <a:t>Each level of a random effect should have &gt;3 observations</a:t>
            </a:r>
          </a:p>
          <a:p>
            <a:pPr lvl="1"/>
            <a:r>
              <a:rPr lang="en-US"/>
              <a:t>For most levels</a:t>
            </a:r>
          </a:p>
          <a:p>
            <a:pPr lvl="1"/>
            <a:r>
              <a:rPr lang="en-US"/>
              <a:t>Ok if a few levels have only a few observations</a:t>
            </a:r>
          </a:p>
          <a:p>
            <a:pPr lvl="1"/>
            <a:r>
              <a:rPr lang="en-US" i="1"/>
              <a:t>Should be relatively balanced among levels</a:t>
            </a:r>
            <a:r>
              <a:rPr lang="en-US"/>
              <a:t> (but not perfectly)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4E0E05-66D1-02F3-D3F1-41458FE06F3C}"/>
              </a:ext>
            </a:extLst>
          </p:cNvPr>
          <p:cNvSpPr txBox="1"/>
          <p:nvPr/>
        </p:nvSpPr>
        <p:spPr>
          <a:xfrm>
            <a:off x="609600" y="6340682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0" i="0" u="none" strike="noStrike" baseline="0"/>
              <a:t>Harrison et al. (2018), A brief introduction to mixed effects modelling and multi-model inference in ecology. </a:t>
            </a:r>
            <a:r>
              <a:rPr lang="en-US" sz="1400" b="0" i="0" u="none" strike="noStrike" baseline="0" err="1"/>
              <a:t>PeerJ</a:t>
            </a:r>
            <a:r>
              <a:rPr lang="en-US" sz="1400" b="0" i="0" u="none" strike="noStrike" baseline="0"/>
              <a:t> 6:e4794; DOI 10.7717/peerj.4794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16449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Chambers or tanks</a:t>
            </a:r>
          </a:p>
        </p:txBody>
      </p:sp>
      <p:pic>
        <p:nvPicPr>
          <p:cNvPr id="1026" name="Picture 2" descr="Image result for climate chambers">
            <a:extLst>
              <a:ext uri="{FF2B5EF4-FFF2-40B4-BE49-F238E27FC236}">
                <a16:creationId xmlns:a16="http://schemas.microsoft.com/office/drawing/2014/main" id="{DE1736B7-CF7F-4375-91BE-947A5B65D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10669"/>
            <a:ext cx="4724400" cy="2105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Image result for climate chamber">
            <a:extLst>
              <a:ext uri="{FF2B5EF4-FFF2-40B4-BE49-F238E27FC236}">
                <a16:creationId xmlns:a16="http://schemas.microsoft.com/office/drawing/2014/main" id="{E8443082-16FB-4614-A2AD-77204320F0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2549" y="2438400"/>
            <a:ext cx="1828165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 result for climate chamber">
            <a:extLst>
              <a:ext uri="{FF2B5EF4-FFF2-40B4-BE49-F238E27FC236}">
                <a16:creationId xmlns:a16="http://schemas.microsoft.com/office/drawing/2014/main" id="{400792E4-E4C6-41DA-BD31-5218F5E73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6663" y="2209800"/>
            <a:ext cx="2102337" cy="3154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0919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Fields</a:t>
            </a:r>
          </a:p>
        </p:txBody>
      </p:sp>
      <p:pic>
        <p:nvPicPr>
          <p:cNvPr id="4" name="Picture 2" descr="Root functional traits drive the overyielding in maize/legume intercropping  systems – Functional Ecology: Plain Language Summaries">
            <a:extLst>
              <a:ext uri="{FF2B5EF4-FFF2-40B4-BE49-F238E27FC236}">
                <a16:creationId xmlns:a16="http://schemas.microsoft.com/office/drawing/2014/main" id="{D4556662-46F7-F325-28A0-F0ED4204F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1254" y="2362200"/>
            <a:ext cx="6749492" cy="4119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50308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0AA1-929C-216D-4F69-25F0F923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2A791-8855-E79C-8523-459190075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1AECB6-4B4E-27EE-7E9D-7182A23EF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Farms</a:t>
            </a:r>
          </a:p>
        </p:txBody>
      </p:sp>
      <p:pic>
        <p:nvPicPr>
          <p:cNvPr id="2050" name="Picture 2" descr="258,800+ Overhead Farm Stock Photos, Pictures &amp; Royalty-Free Images -  iStock | Overhead farm house, Overhead farm field">
            <a:extLst>
              <a:ext uri="{FF2B5EF4-FFF2-40B4-BE49-F238E27FC236}">
                <a16:creationId xmlns:a16="http://schemas.microsoft.com/office/drawing/2014/main" id="{3B4257BD-05DE-9957-EADA-95CAFF40A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1700" y="2205226"/>
            <a:ext cx="7848600" cy="4411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FF143E4-4BFF-E0D2-F4D1-43F9D3B1A7D9}"/>
              </a:ext>
            </a:extLst>
          </p:cNvPr>
          <p:cNvSpPr/>
          <p:nvPr/>
        </p:nvSpPr>
        <p:spPr>
          <a:xfrm rot="19266103">
            <a:off x="6636355" y="5500828"/>
            <a:ext cx="1447800" cy="5334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7DDACE8-C5FD-2E5A-D161-47BA78FBAF2B}"/>
              </a:ext>
            </a:extLst>
          </p:cNvPr>
          <p:cNvSpPr/>
          <p:nvPr/>
        </p:nvSpPr>
        <p:spPr>
          <a:xfrm rot="778584">
            <a:off x="7492462" y="3489242"/>
            <a:ext cx="562817" cy="230942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7D3C1D4-9FB0-3C41-E78A-2B46B8CBEB9C}"/>
              </a:ext>
            </a:extLst>
          </p:cNvPr>
          <p:cNvSpPr/>
          <p:nvPr/>
        </p:nvSpPr>
        <p:spPr>
          <a:xfrm rot="20864672">
            <a:off x="2910273" y="3339469"/>
            <a:ext cx="522382" cy="17906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B8BDDB1-B4E6-301A-A258-ADF15EA08FF6}"/>
              </a:ext>
            </a:extLst>
          </p:cNvPr>
          <p:cNvSpPr/>
          <p:nvPr/>
        </p:nvSpPr>
        <p:spPr>
          <a:xfrm rot="657112">
            <a:off x="5195143" y="2943879"/>
            <a:ext cx="278513" cy="160854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9408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Parent – siblings all similar to each other</a:t>
            </a:r>
          </a:p>
        </p:txBody>
      </p:sp>
      <p:pic>
        <p:nvPicPr>
          <p:cNvPr id="13" name="Graphic 12" descr="Caterpillar">
            <a:extLst>
              <a:ext uri="{FF2B5EF4-FFF2-40B4-BE49-F238E27FC236}">
                <a16:creationId xmlns:a16="http://schemas.microsoft.com/office/drawing/2014/main" id="{4E5F1D2D-C59C-489A-99BF-8CF89DA80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36826" y="5181601"/>
            <a:ext cx="813043" cy="813043"/>
          </a:xfrm>
          <a:prstGeom prst="rect">
            <a:avLst/>
          </a:prstGeom>
        </p:spPr>
      </p:pic>
      <p:pic>
        <p:nvPicPr>
          <p:cNvPr id="19" name="Graphic 18" descr="Caterpillar">
            <a:extLst>
              <a:ext uri="{FF2B5EF4-FFF2-40B4-BE49-F238E27FC236}">
                <a16:creationId xmlns:a16="http://schemas.microsoft.com/office/drawing/2014/main" id="{7627784E-FE7E-42F0-B125-0CFBB768B5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03635" y="4432725"/>
            <a:ext cx="813043" cy="813043"/>
          </a:xfrm>
          <a:prstGeom prst="rect">
            <a:avLst/>
          </a:prstGeom>
        </p:spPr>
      </p:pic>
      <p:pic>
        <p:nvPicPr>
          <p:cNvPr id="24" name="Graphic 23" descr="Caterpillar">
            <a:extLst>
              <a:ext uri="{FF2B5EF4-FFF2-40B4-BE49-F238E27FC236}">
                <a16:creationId xmlns:a16="http://schemas.microsoft.com/office/drawing/2014/main" id="{D3CDCC89-D78D-47FE-AAE0-2DB37622BF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949869" y="5181601"/>
            <a:ext cx="813043" cy="813043"/>
          </a:xfrm>
          <a:prstGeom prst="rect">
            <a:avLst/>
          </a:prstGeom>
        </p:spPr>
      </p:pic>
      <p:pic>
        <p:nvPicPr>
          <p:cNvPr id="32" name="Graphic 31" descr="Butterfly">
            <a:extLst>
              <a:ext uri="{FF2B5EF4-FFF2-40B4-BE49-F238E27FC236}">
                <a16:creationId xmlns:a16="http://schemas.microsoft.com/office/drawing/2014/main" id="{29591819-3768-4EC8-8DB5-3B65C316F3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52955" y="2758198"/>
            <a:ext cx="914400" cy="914400"/>
          </a:xfrm>
          <a:prstGeom prst="rect">
            <a:avLst/>
          </a:prstGeom>
        </p:spPr>
      </p:pic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7F8A8F46-519E-4CAD-9655-991039A54070}"/>
              </a:ext>
            </a:extLst>
          </p:cNvPr>
          <p:cNvCxnSpPr>
            <a:stCxn id="32" idx="2"/>
          </p:cNvCxnSpPr>
          <p:nvPr/>
        </p:nvCxnSpPr>
        <p:spPr>
          <a:xfrm>
            <a:off x="2910155" y="3672598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86FDB89A-C5B6-4A8D-9D0D-F63552C33D65}"/>
              </a:ext>
            </a:extLst>
          </p:cNvPr>
          <p:cNvSpPr/>
          <p:nvPr/>
        </p:nvSpPr>
        <p:spPr>
          <a:xfrm>
            <a:off x="1981201" y="4343400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Caterpillar">
            <a:extLst>
              <a:ext uri="{FF2B5EF4-FFF2-40B4-BE49-F238E27FC236}">
                <a16:creationId xmlns:a16="http://schemas.microsoft.com/office/drawing/2014/main" id="{40D4324A-CBD7-45DF-B74D-AA82CCA73A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17515" y="5166603"/>
            <a:ext cx="813043" cy="813043"/>
          </a:xfrm>
          <a:prstGeom prst="rect">
            <a:avLst/>
          </a:prstGeom>
        </p:spPr>
      </p:pic>
      <p:pic>
        <p:nvPicPr>
          <p:cNvPr id="48" name="Graphic 47" descr="Caterpillar">
            <a:extLst>
              <a:ext uri="{FF2B5EF4-FFF2-40B4-BE49-F238E27FC236}">
                <a16:creationId xmlns:a16="http://schemas.microsoft.com/office/drawing/2014/main" id="{DE8AA98B-B4B5-4173-B50C-3D9AED04E7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84324" y="4417727"/>
            <a:ext cx="813043" cy="813043"/>
          </a:xfrm>
          <a:prstGeom prst="rect">
            <a:avLst/>
          </a:prstGeom>
        </p:spPr>
      </p:pic>
      <p:pic>
        <p:nvPicPr>
          <p:cNvPr id="49" name="Graphic 48" descr="Caterpillar">
            <a:extLst>
              <a:ext uri="{FF2B5EF4-FFF2-40B4-BE49-F238E27FC236}">
                <a16:creationId xmlns:a16="http://schemas.microsoft.com/office/drawing/2014/main" id="{0D676511-2C84-440E-B603-C7F93EF2F5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130558" y="5166603"/>
            <a:ext cx="813043" cy="813043"/>
          </a:xfrm>
          <a:prstGeom prst="rect">
            <a:avLst/>
          </a:prstGeom>
        </p:spPr>
      </p:pic>
      <p:pic>
        <p:nvPicPr>
          <p:cNvPr id="50" name="Graphic 49" descr="Butterfly">
            <a:extLst>
              <a:ext uri="{FF2B5EF4-FFF2-40B4-BE49-F238E27FC236}">
                <a16:creationId xmlns:a16="http://schemas.microsoft.com/office/drawing/2014/main" id="{8DE42E68-F33C-4899-8B66-3961FBB7E2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633644" y="2743200"/>
            <a:ext cx="914400" cy="914400"/>
          </a:xfrm>
          <a:prstGeom prst="rect">
            <a:avLst/>
          </a:prstGeom>
        </p:spPr>
      </p:pic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CA9F27E-713E-4532-97A1-9712F65289C1}"/>
              </a:ext>
            </a:extLst>
          </p:cNvPr>
          <p:cNvCxnSpPr>
            <a:stCxn id="50" idx="2"/>
          </p:cNvCxnSpPr>
          <p:nvPr/>
        </p:nvCxnSpPr>
        <p:spPr>
          <a:xfrm>
            <a:off x="5090844" y="3657600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9E44F52D-DC62-4564-933A-7FAF6848E072}"/>
              </a:ext>
            </a:extLst>
          </p:cNvPr>
          <p:cNvSpPr/>
          <p:nvPr/>
        </p:nvSpPr>
        <p:spPr>
          <a:xfrm>
            <a:off x="4161890" y="4328402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3" name="Graphic 52" descr="Caterpillar">
            <a:extLst>
              <a:ext uri="{FF2B5EF4-FFF2-40B4-BE49-F238E27FC236}">
                <a16:creationId xmlns:a16="http://schemas.microsoft.com/office/drawing/2014/main" id="{6C7B055B-1FA9-4CEE-8474-1231D80EC3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74915" y="5166603"/>
            <a:ext cx="813043" cy="813043"/>
          </a:xfrm>
          <a:prstGeom prst="rect">
            <a:avLst/>
          </a:prstGeom>
        </p:spPr>
      </p:pic>
      <p:pic>
        <p:nvPicPr>
          <p:cNvPr id="54" name="Graphic 53" descr="Caterpillar">
            <a:extLst>
              <a:ext uri="{FF2B5EF4-FFF2-40B4-BE49-F238E27FC236}">
                <a16:creationId xmlns:a16="http://schemas.microsoft.com/office/drawing/2014/main" id="{44BD4D98-899F-4F26-A823-0A47E45231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41724" y="4417727"/>
            <a:ext cx="813043" cy="813043"/>
          </a:xfrm>
          <a:prstGeom prst="rect">
            <a:avLst/>
          </a:prstGeom>
        </p:spPr>
      </p:pic>
      <p:pic>
        <p:nvPicPr>
          <p:cNvPr id="55" name="Graphic 54" descr="Caterpillar">
            <a:extLst>
              <a:ext uri="{FF2B5EF4-FFF2-40B4-BE49-F238E27FC236}">
                <a16:creationId xmlns:a16="http://schemas.microsoft.com/office/drawing/2014/main" id="{A6D50C09-1227-411A-82E9-9B303F43047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187958" y="5166603"/>
            <a:ext cx="813043" cy="813043"/>
          </a:xfrm>
          <a:prstGeom prst="rect">
            <a:avLst/>
          </a:prstGeom>
        </p:spPr>
      </p:pic>
      <p:pic>
        <p:nvPicPr>
          <p:cNvPr id="56" name="Graphic 55" descr="Butterfly">
            <a:extLst>
              <a:ext uri="{FF2B5EF4-FFF2-40B4-BE49-F238E27FC236}">
                <a16:creationId xmlns:a16="http://schemas.microsoft.com/office/drawing/2014/main" id="{32DC27C7-505D-44AB-B524-08B4E44B715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91044" y="2743200"/>
            <a:ext cx="914400" cy="914400"/>
          </a:xfrm>
          <a:prstGeom prst="rect">
            <a:avLst/>
          </a:prstGeom>
        </p:spPr>
      </p:pic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66CC79B-FCFE-4135-BC15-9B479CF4236B}"/>
              </a:ext>
            </a:extLst>
          </p:cNvPr>
          <p:cNvCxnSpPr>
            <a:stCxn id="56" idx="2"/>
          </p:cNvCxnSpPr>
          <p:nvPr/>
        </p:nvCxnSpPr>
        <p:spPr>
          <a:xfrm>
            <a:off x="7148244" y="3657600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D5CD3700-0447-479F-8262-8990952D7794}"/>
              </a:ext>
            </a:extLst>
          </p:cNvPr>
          <p:cNvSpPr/>
          <p:nvPr/>
        </p:nvSpPr>
        <p:spPr>
          <a:xfrm>
            <a:off x="6219290" y="4328402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9" name="Graphic 58" descr="Caterpillar">
            <a:extLst>
              <a:ext uri="{FF2B5EF4-FFF2-40B4-BE49-F238E27FC236}">
                <a16:creationId xmlns:a16="http://schemas.microsoft.com/office/drawing/2014/main" id="{35840BE9-0A50-4FC2-8841-92FE5D7F4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508515" y="5166603"/>
            <a:ext cx="813043" cy="813043"/>
          </a:xfrm>
          <a:prstGeom prst="rect">
            <a:avLst/>
          </a:prstGeom>
        </p:spPr>
      </p:pic>
      <p:pic>
        <p:nvPicPr>
          <p:cNvPr id="60" name="Graphic 59" descr="Caterpillar">
            <a:extLst>
              <a:ext uri="{FF2B5EF4-FFF2-40B4-BE49-F238E27FC236}">
                <a16:creationId xmlns:a16="http://schemas.microsoft.com/office/drawing/2014/main" id="{3A5EA3A0-2F32-4943-B540-31430A81C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75324" y="4417727"/>
            <a:ext cx="813043" cy="813043"/>
          </a:xfrm>
          <a:prstGeom prst="rect">
            <a:avLst/>
          </a:prstGeom>
        </p:spPr>
      </p:pic>
      <p:pic>
        <p:nvPicPr>
          <p:cNvPr id="61" name="Graphic 60" descr="Caterpillar">
            <a:extLst>
              <a:ext uri="{FF2B5EF4-FFF2-40B4-BE49-F238E27FC236}">
                <a16:creationId xmlns:a16="http://schemas.microsoft.com/office/drawing/2014/main" id="{EEA2432B-9EED-4664-9A6C-FC833B33A9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21558" y="5166603"/>
            <a:ext cx="813043" cy="813043"/>
          </a:xfrm>
          <a:prstGeom prst="rect">
            <a:avLst/>
          </a:prstGeom>
        </p:spPr>
      </p:pic>
      <p:pic>
        <p:nvPicPr>
          <p:cNvPr id="62" name="Graphic 61" descr="Butterfly">
            <a:extLst>
              <a:ext uri="{FF2B5EF4-FFF2-40B4-BE49-F238E27FC236}">
                <a16:creationId xmlns:a16="http://schemas.microsoft.com/office/drawing/2014/main" id="{ED60057F-06CB-48E4-96B9-F0504B0D2AC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24644" y="2743200"/>
            <a:ext cx="914400" cy="914400"/>
          </a:xfrm>
          <a:prstGeom prst="rect">
            <a:avLst/>
          </a:prstGeom>
        </p:spPr>
      </p:pic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F98D304-E007-4175-BFCB-049017920931}"/>
              </a:ext>
            </a:extLst>
          </p:cNvPr>
          <p:cNvCxnSpPr>
            <a:stCxn id="62" idx="2"/>
          </p:cNvCxnSpPr>
          <p:nvPr/>
        </p:nvCxnSpPr>
        <p:spPr>
          <a:xfrm>
            <a:off x="9281844" y="3657600"/>
            <a:ext cx="0" cy="6708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Oval 63">
            <a:extLst>
              <a:ext uri="{FF2B5EF4-FFF2-40B4-BE49-F238E27FC236}">
                <a16:creationId xmlns:a16="http://schemas.microsoft.com/office/drawing/2014/main" id="{E91AE8C4-1DB5-49C2-96C4-B24F70D58A29}"/>
              </a:ext>
            </a:extLst>
          </p:cNvPr>
          <p:cNvSpPr/>
          <p:nvPr/>
        </p:nvSpPr>
        <p:spPr>
          <a:xfrm>
            <a:off x="8352890" y="4328402"/>
            <a:ext cx="1857911" cy="1828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6708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Individuals/subjects</a:t>
            </a:r>
          </a:p>
          <a:p>
            <a:r>
              <a:rPr lang="en-US"/>
              <a:t>Repeated measures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107FCE-B07C-4365-90F9-32BFF4A71704}"/>
              </a:ext>
            </a:extLst>
          </p:cNvPr>
          <p:cNvSpPr txBox="1"/>
          <p:nvPr/>
        </p:nvSpPr>
        <p:spPr>
          <a:xfrm>
            <a:off x="3581401" y="2819400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81B0D6-948F-4011-95C4-0953BB5EB6B5}"/>
              </a:ext>
            </a:extLst>
          </p:cNvPr>
          <p:cNvSpPr txBox="1"/>
          <p:nvPr/>
        </p:nvSpPr>
        <p:spPr>
          <a:xfrm>
            <a:off x="7292293" y="2819400"/>
            <a:ext cx="813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POST</a:t>
            </a:r>
          </a:p>
        </p:txBody>
      </p:sp>
      <p:pic>
        <p:nvPicPr>
          <p:cNvPr id="9" name="Graphic 8" descr="Caterpillar">
            <a:extLst>
              <a:ext uri="{FF2B5EF4-FFF2-40B4-BE49-F238E27FC236}">
                <a16:creationId xmlns:a16="http://schemas.microsoft.com/office/drawing/2014/main" id="{198E933F-0699-4724-82C7-EFF777C1C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5201" y="3392699"/>
            <a:ext cx="659155" cy="659155"/>
          </a:xfrm>
          <a:prstGeom prst="rect">
            <a:avLst/>
          </a:prstGeom>
        </p:spPr>
      </p:pic>
      <p:pic>
        <p:nvPicPr>
          <p:cNvPr id="11" name="Graphic 10" descr="Flower">
            <a:extLst>
              <a:ext uri="{FF2B5EF4-FFF2-40B4-BE49-F238E27FC236}">
                <a16:creationId xmlns:a16="http://schemas.microsoft.com/office/drawing/2014/main" id="{BC5FC859-A90D-45F7-ABF8-E7CE0A52BBE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7800" y="3188732"/>
            <a:ext cx="914400" cy="914400"/>
          </a:xfrm>
          <a:prstGeom prst="rect">
            <a:avLst/>
          </a:prstGeom>
        </p:spPr>
      </p:pic>
      <p:pic>
        <p:nvPicPr>
          <p:cNvPr id="13" name="Graphic 12" descr="Caterpillar">
            <a:extLst>
              <a:ext uri="{FF2B5EF4-FFF2-40B4-BE49-F238E27FC236}">
                <a16:creationId xmlns:a16="http://schemas.microsoft.com/office/drawing/2014/main" id="{4E5F1D2D-C59C-489A-99BF-8CF89DA80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2293" y="3330302"/>
            <a:ext cx="813043" cy="81304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0FF4D1-E88C-432B-9345-48C248F1416A}"/>
              </a:ext>
            </a:extLst>
          </p:cNvPr>
          <p:cNvCxnSpPr/>
          <p:nvPr/>
        </p:nvCxnSpPr>
        <p:spPr>
          <a:xfrm>
            <a:off x="4419600" y="3722132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9D1761F-4CB5-481E-A4BE-FCBA575AE185}"/>
              </a:ext>
            </a:extLst>
          </p:cNvPr>
          <p:cNvCxnSpPr/>
          <p:nvPr/>
        </p:nvCxnSpPr>
        <p:spPr>
          <a:xfrm>
            <a:off x="6400800" y="3696447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Graphic 16" descr="Caterpillar">
            <a:extLst>
              <a:ext uri="{FF2B5EF4-FFF2-40B4-BE49-F238E27FC236}">
                <a16:creationId xmlns:a16="http://schemas.microsoft.com/office/drawing/2014/main" id="{44E31C40-9305-4E96-8BBE-732875DA3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5201" y="4190687"/>
            <a:ext cx="659155" cy="659155"/>
          </a:xfrm>
          <a:prstGeom prst="rect">
            <a:avLst/>
          </a:prstGeom>
        </p:spPr>
      </p:pic>
      <p:pic>
        <p:nvPicPr>
          <p:cNvPr id="18" name="Graphic 17" descr="Flower">
            <a:extLst>
              <a:ext uri="{FF2B5EF4-FFF2-40B4-BE49-F238E27FC236}">
                <a16:creationId xmlns:a16="http://schemas.microsoft.com/office/drawing/2014/main" id="{9EC152EB-7954-4253-B67C-7EE962B5B9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57800" y="3986720"/>
            <a:ext cx="914400" cy="914400"/>
          </a:xfrm>
          <a:prstGeom prst="rect">
            <a:avLst/>
          </a:prstGeom>
        </p:spPr>
      </p:pic>
      <p:pic>
        <p:nvPicPr>
          <p:cNvPr id="19" name="Graphic 18" descr="Caterpillar">
            <a:extLst>
              <a:ext uri="{FF2B5EF4-FFF2-40B4-BE49-F238E27FC236}">
                <a16:creationId xmlns:a16="http://schemas.microsoft.com/office/drawing/2014/main" id="{7627784E-FE7E-42F0-B125-0CFBB768B5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2293" y="4128290"/>
            <a:ext cx="813043" cy="81304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259574-9A0A-46FF-9BBA-605B0E7A7E1D}"/>
              </a:ext>
            </a:extLst>
          </p:cNvPr>
          <p:cNvCxnSpPr/>
          <p:nvPr/>
        </p:nvCxnSpPr>
        <p:spPr>
          <a:xfrm>
            <a:off x="4419600" y="4520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08987B-AF1F-4D40-83F8-1287C8924D22}"/>
              </a:ext>
            </a:extLst>
          </p:cNvPr>
          <p:cNvCxnSpPr/>
          <p:nvPr/>
        </p:nvCxnSpPr>
        <p:spPr>
          <a:xfrm>
            <a:off x="6400800" y="4494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Caterpillar">
            <a:extLst>
              <a:ext uri="{FF2B5EF4-FFF2-40B4-BE49-F238E27FC236}">
                <a16:creationId xmlns:a16="http://schemas.microsoft.com/office/drawing/2014/main" id="{8FBFE1DC-2770-4941-81EE-B144287938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77066" y="4952687"/>
            <a:ext cx="659155" cy="659155"/>
          </a:xfrm>
          <a:prstGeom prst="rect">
            <a:avLst/>
          </a:prstGeom>
        </p:spPr>
      </p:pic>
      <p:pic>
        <p:nvPicPr>
          <p:cNvPr id="23" name="Graphic 22" descr="Flower">
            <a:extLst>
              <a:ext uri="{FF2B5EF4-FFF2-40B4-BE49-F238E27FC236}">
                <a16:creationId xmlns:a16="http://schemas.microsoft.com/office/drawing/2014/main" id="{DF0D147A-AE49-4D60-82DF-80CD99F9B4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29665" y="4748720"/>
            <a:ext cx="914400" cy="914400"/>
          </a:xfrm>
          <a:prstGeom prst="rect">
            <a:avLst/>
          </a:prstGeom>
        </p:spPr>
      </p:pic>
      <p:pic>
        <p:nvPicPr>
          <p:cNvPr id="24" name="Graphic 23" descr="Caterpillar">
            <a:extLst>
              <a:ext uri="{FF2B5EF4-FFF2-40B4-BE49-F238E27FC236}">
                <a16:creationId xmlns:a16="http://schemas.microsoft.com/office/drawing/2014/main" id="{D3CDCC89-D78D-47FE-AAE0-2DB37622B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4158" y="4890290"/>
            <a:ext cx="813043" cy="813043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2149FF-403C-49E2-9A7E-33563E3802CB}"/>
              </a:ext>
            </a:extLst>
          </p:cNvPr>
          <p:cNvCxnSpPr/>
          <p:nvPr/>
        </p:nvCxnSpPr>
        <p:spPr>
          <a:xfrm>
            <a:off x="4391465" y="5282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01BFA76-443D-4FED-BB07-2295B6523220}"/>
              </a:ext>
            </a:extLst>
          </p:cNvPr>
          <p:cNvCxnSpPr/>
          <p:nvPr/>
        </p:nvCxnSpPr>
        <p:spPr>
          <a:xfrm>
            <a:off x="6372665" y="5256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7" name="Graphic 26" descr="Caterpillar">
            <a:extLst>
              <a:ext uri="{FF2B5EF4-FFF2-40B4-BE49-F238E27FC236}">
                <a16:creationId xmlns:a16="http://schemas.microsoft.com/office/drawing/2014/main" id="{AE60F62C-B723-4792-AD6F-576F2CCA69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77066" y="5714687"/>
            <a:ext cx="659155" cy="659155"/>
          </a:xfrm>
          <a:prstGeom prst="rect">
            <a:avLst/>
          </a:prstGeom>
        </p:spPr>
      </p:pic>
      <p:pic>
        <p:nvPicPr>
          <p:cNvPr id="28" name="Graphic 27" descr="Flower">
            <a:extLst>
              <a:ext uri="{FF2B5EF4-FFF2-40B4-BE49-F238E27FC236}">
                <a16:creationId xmlns:a16="http://schemas.microsoft.com/office/drawing/2014/main" id="{F0D17648-7DAF-4C99-BB55-131D33C0FA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29665" y="5510720"/>
            <a:ext cx="914400" cy="914400"/>
          </a:xfrm>
          <a:prstGeom prst="rect">
            <a:avLst/>
          </a:prstGeom>
        </p:spPr>
      </p:pic>
      <p:pic>
        <p:nvPicPr>
          <p:cNvPr id="29" name="Graphic 28" descr="Caterpillar">
            <a:extLst>
              <a:ext uri="{FF2B5EF4-FFF2-40B4-BE49-F238E27FC236}">
                <a16:creationId xmlns:a16="http://schemas.microsoft.com/office/drawing/2014/main" id="{3EB17F2A-E854-4864-B048-1B232C4259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4158" y="5652290"/>
            <a:ext cx="813043" cy="813043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96DEEF8-0743-4DF5-9EC3-AEF83B958250}"/>
              </a:ext>
            </a:extLst>
          </p:cNvPr>
          <p:cNvCxnSpPr/>
          <p:nvPr/>
        </p:nvCxnSpPr>
        <p:spPr>
          <a:xfrm>
            <a:off x="4391465" y="6044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EC0F40-AFF5-4EA0-9F5E-B61A01DB42F2}"/>
              </a:ext>
            </a:extLst>
          </p:cNvPr>
          <p:cNvCxnSpPr/>
          <p:nvPr/>
        </p:nvCxnSpPr>
        <p:spPr>
          <a:xfrm>
            <a:off x="6372665" y="6018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78493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88BBA-450D-4854-9B33-899321CF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of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EEFE40-61CF-4ED5-B492-7BEAFFBDF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Individuals/subjects</a:t>
            </a:r>
          </a:p>
          <a:p>
            <a:r>
              <a:rPr lang="en-US"/>
              <a:t>Repeated measures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107FCE-B07C-4365-90F9-32BFF4A71704}"/>
              </a:ext>
            </a:extLst>
          </p:cNvPr>
          <p:cNvSpPr txBox="1"/>
          <p:nvPr/>
        </p:nvSpPr>
        <p:spPr>
          <a:xfrm>
            <a:off x="3477066" y="2844229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Time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81B0D6-948F-4011-95C4-0953BB5EB6B5}"/>
              </a:ext>
            </a:extLst>
          </p:cNvPr>
          <p:cNvSpPr txBox="1"/>
          <p:nvPr/>
        </p:nvSpPr>
        <p:spPr>
          <a:xfrm>
            <a:off x="7292293" y="2819400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Time 3</a:t>
            </a:r>
          </a:p>
        </p:txBody>
      </p:sp>
      <p:pic>
        <p:nvPicPr>
          <p:cNvPr id="9" name="Graphic 8" descr="Caterpillar">
            <a:extLst>
              <a:ext uri="{FF2B5EF4-FFF2-40B4-BE49-F238E27FC236}">
                <a16:creationId xmlns:a16="http://schemas.microsoft.com/office/drawing/2014/main" id="{198E933F-0699-4724-82C7-EFF777C1C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5201" y="3392699"/>
            <a:ext cx="659155" cy="659155"/>
          </a:xfrm>
          <a:prstGeom prst="rect">
            <a:avLst/>
          </a:prstGeom>
        </p:spPr>
      </p:pic>
      <p:pic>
        <p:nvPicPr>
          <p:cNvPr id="13" name="Graphic 12" descr="Caterpillar">
            <a:extLst>
              <a:ext uri="{FF2B5EF4-FFF2-40B4-BE49-F238E27FC236}">
                <a16:creationId xmlns:a16="http://schemas.microsoft.com/office/drawing/2014/main" id="{4E5F1D2D-C59C-489A-99BF-8CF89DA80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2292" y="3206037"/>
            <a:ext cx="937308" cy="937308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80FF4D1-E88C-432B-9345-48C248F1416A}"/>
              </a:ext>
            </a:extLst>
          </p:cNvPr>
          <p:cNvCxnSpPr/>
          <p:nvPr/>
        </p:nvCxnSpPr>
        <p:spPr>
          <a:xfrm>
            <a:off x="4419600" y="3722132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9D1761F-4CB5-481E-A4BE-FCBA575AE185}"/>
              </a:ext>
            </a:extLst>
          </p:cNvPr>
          <p:cNvCxnSpPr/>
          <p:nvPr/>
        </p:nvCxnSpPr>
        <p:spPr>
          <a:xfrm>
            <a:off x="6400800" y="3696447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7" name="Graphic 16" descr="Caterpillar">
            <a:extLst>
              <a:ext uri="{FF2B5EF4-FFF2-40B4-BE49-F238E27FC236}">
                <a16:creationId xmlns:a16="http://schemas.microsoft.com/office/drawing/2014/main" id="{44E31C40-9305-4E96-8BBE-732875DA3C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5201" y="4190687"/>
            <a:ext cx="659155" cy="659155"/>
          </a:xfrm>
          <a:prstGeom prst="rect">
            <a:avLst/>
          </a:prstGeom>
        </p:spPr>
      </p:pic>
      <p:pic>
        <p:nvPicPr>
          <p:cNvPr id="19" name="Graphic 18" descr="Caterpillar">
            <a:extLst>
              <a:ext uri="{FF2B5EF4-FFF2-40B4-BE49-F238E27FC236}">
                <a16:creationId xmlns:a16="http://schemas.microsoft.com/office/drawing/2014/main" id="{7627784E-FE7E-42F0-B125-0CFBB768B5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92292" y="4004025"/>
            <a:ext cx="937308" cy="937308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259574-9A0A-46FF-9BBA-605B0E7A7E1D}"/>
              </a:ext>
            </a:extLst>
          </p:cNvPr>
          <p:cNvCxnSpPr/>
          <p:nvPr/>
        </p:nvCxnSpPr>
        <p:spPr>
          <a:xfrm>
            <a:off x="4419600" y="4520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A08987B-AF1F-4D40-83F8-1287C8924D22}"/>
              </a:ext>
            </a:extLst>
          </p:cNvPr>
          <p:cNvCxnSpPr/>
          <p:nvPr/>
        </p:nvCxnSpPr>
        <p:spPr>
          <a:xfrm>
            <a:off x="6400800" y="4494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Graphic 21" descr="Caterpillar">
            <a:extLst>
              <a:ext uri="{FF2B5EF4-FFF2-40B4-BE49-F238E27FC236}">
                <a16:creationId xmlns:a16="http://schemas.microsoft.com/office/drawing/2014/main" id="{8FBFE1DC-2770-4941-81EE-B144287938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77066" y="4952687"/>
            <a:ext cx="659155" cy="659155"/>
          </a:xfrm>
          <a:prstGeom prst="rect">
            <a:avLst/>
          </a:prstGeom>
        </p:spPr>
      </p:pic>
      <p:pic>
        <p:nvPicPr>
          <p:cNvPr id="24" name="Graphic 23" descr="Caterpillar">
            <a:extLst>
              <a:ext uri="{FF2B5EF4-FFF2-40B4-BE49-F238E27FC236}">
                <a16:creationId xmlns:a16="http://schemas.microsoft.com/office/drawing/2014/main" id="{D3CDCC89-D78D-47FE-AAE0-2DB37622B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4157" y="4766025"/>
            <a:ext cx="937308" cy="937308"/>
          </a:xfrm>
          <a:prstGeom prst="rect">
            <a:avLst/>
          </a:prstGeom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2149FF-403C-49E2-9A7E-33563E3802CB}"/>
              </a:ext>
            </a:extLst>
          </p:cNvPr>
          <p:cNvCxnSpPr/>
          <p:nvPr/>
        </p:nvCxnSpPr>
        <p:spPr>
          <a:xfrm>
            <a:off x="4391465" y="5282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01BFA76-443D-4FED-BB07-2295B6523220}"/>
              </a:ext>
            </a:extLst>
          </p:cNvPr>
          <p:cNvCxnSpPr/>
          <p:nvPr/>
        </p:nvCxnSpPr>
        <p:spPr>
          <a:xfrm>
            <a:off x="6372665" y="5256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7" name="Graphic 26" descr="Caterpillar">
            <a:extLst>
              <a:ext uri="{FF2B5EF4-FFF2-40B4-BE49-F238E27FC236}">
                <a16:creationId xmlns:a16="http://schemas.microsoft.com/office/drawing/2014/main" id="{AE60F62C-B723-4792-AD6F-576F2CCA69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77066" y="5714687"/>
            <a:ext cx="659155" cy="659155"/>
          </a:xfrm>
          <a:prstGeom prst="rect">
            <a:avLst/>
          </a:prstGeom>
        </p:spPr>
      </p:pic>
      <p:pic>
        <p:nvPicPr>
          <p:cNvPr id="29" name="Graphic 28" descr="Caterpillar">
            <a:extLst>
              <a:ext uri="{FF2B5EF4-FFF2-40B4-BE49-F238E27FC236}">
                <a16:creationId xmlns:a16="http://schemas.microsoft.com/office/drawing/2014/main" id="{3EB17F2A-E854-4864-B048-1B232C4259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4157" y="5528025"/>
            <a:ext cx="937308" cy="937308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96DEEF8-0743-4DF5-9EC3-AEF83B958250}"/>
              </a:ext>
            </a:extLst>
          </p:cNvPr>
          <p:cNvCxnSpPr/>
          <p:nvPr/>
        </p:nvCxnSpPr>
        <p:spPr>
          <a:xfrm>
            <a:off x="4391465" y="6044120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EC0F40-AFF5-4EA0-9F5E-B61A01DB42F2}"/>
              </a:ext>
            </a:extLst>
          </p:cNvPr>
          <p:cNvCxnSpPr/>
          <p:nvPr/>
        </p:nvCxnSpPr>
        <p:spPr>
          <a:xfrm>
            <a:off x="6372665" y="6018435"/>
            <a:ext cx="6096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2" name="Graphic 31" descr="Caterpillar">
            <a:extLst>
              <a:ext uri="{FF2B5EF4-FFF2-40B4-BE49-F238E27FC236}">
                <a16:creationId xmlns:a16="http://schemas.microsoft.com/office/drawing/2014/main" id="{DE440869-6800-46EB-BDF7-A4C8898178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36846" y="3406502"/>
            <a:ext cx="748511" cy="748511"/>
          </a:xfrm>
          <a:prstGeom prst="rect">
            <a:avLst/>
          </a:prstGeom>
        </p:spPr>
      </p:pic>
      <p:pic>
        <p:nvPicPr>
          <p:cNvPr id="33" name="Graphic 32" descr="Caterpillar">
            <a:extLst>
              <a:ext uri="{FF2B5EF4-FFF2-40B4-BE49-F238E27FC236}">
                <a16:creationId xmlns:a16="http://schemas.microsoft.com/office/drawing/2014/main" id="{3116962B-1686-40FE-9934-A338E4005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36846" y="4204490"/>
            <a:ext cx="748511" cy="748511"/>
          </a:xfrm>
          <a:prstGeom prst="rect">
            <a:avLst/>
          </a:prstGeom>
        </p:spPr>
      </p:pic>
      <p:pic>
        <p:nvPicPr>
          <p:cNvPr id="34" name="Graphic 33" descr="Caterpillar">
            <a:extLst>
              <a:ext uri="{FF2B5EF4-FFF2-40B4-BE49-F238E27FC236}">
                <a16:creationId xmlns:a16="http://schemas.microsoft.com/office/drawing/2014/main" id="{87F30FBC-F21F-46CA-97B2-6308E2B6AA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08711" y="4966490"/>
            <a:ext cx="748511" cy="748511"/>
          </a:xfrm>
          <a:prstGeom prst="rect">
            <a:avLst/>
          </a:prstGeom>
        </p:spPr>
      </p:pic>
      <p:pic>
        <p:nvPicPr>
          <p:cNvPr id="35" name="Graphic 34" descr="Caterpillar">
            <a:extLst>
              <a:ext uri="{FF2B5EF4-FFF2-40B4-BE49-F238E27FC236}">
                <a16:creationId xmlns:a16="http://schemas.microsoft.com/office/drawing/2014/main" id="{C4D59744-6690-4A8C-A268-9A73087D73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08711" y="5728490"/>
            <a:ext cx="748511" cy="7485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3E7680B4-12EA-4A49-9854-54C8C0342524}"/>
              </a:ext>
            </a:extLst>
          </p:cNvPr>
          <p:cNvSpPr txBox="1"/>
          <p:nvPr/>
        </p:nvSpPr>
        <p:spPr>
          <a:xfrm>
            <a:off x="5373197" y="2836159"/>
            <a:ext cx="881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Time 2</a:t>
            </a:r>
          </a:p>
        </p:txBody>
      </p:sp>
    </p:spTree>
    <p:extLst>
      <p:ext uri="{BB962C8B-B14F-4D97-AF65-F5344CB8AC3E}">
        <p14:creationId xmlns:p14="http://schemas.microsoft.com/office/powerpoint/2010/main" val="14240315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Quiz Time on Make a GIF">
            <a:extLst>
              <a:ext uri="{FF2B5EF4-FFF2-40B4-BE49-F238E27FC236}">
                <a16:creationId xmlns:a16="http://schemas.microsoft.com/office/drawing/2014/main" id="{47A4CC3A-BF66-EBBC-5AA9-D0C1B608E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938463"/>
            <a:ext cx="7010400" cy="49810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70541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74E28-DB87-60BF-0639-A3970D74F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FIXED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AB62719-AC82-E7CB-45BA-228CDA50A4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</a:t>
            </a:r>
            <a:r>
              <a:rPr kumimoji="0" lang="en-US" altLang="en-US" sz="2800" b="0" i="0" u="none" strike="noStrike" cap="none" normalizeH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and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528246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FBDFB-828F-8700-75F9-1097FECD6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6987-03A2-4509-A953-4ABE65B8E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FIXED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F059EC-5809-512E-9ED1-1B5A1C631CB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 and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772997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A5B26B-FABA-9EFC-F341-FE7114865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CE9F1-BAE9-E4D2-E8C2-714962143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RANDOM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5D74F8E-E10F-930A-A6B4-689A27FE1BC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</a:t>
            </a:r>
            <a:r>
              <a:rPr kumimoji="0" lang="en-US" altLang="en-US" sz="2800" i="0" u="none" strike="noStrike" cap="none" normalizeH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and</a:t>
            </a: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2824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C1C657-385A-A945-502F-65612C835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3BAA-B353-4FD1-E96C-375446AB5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tabLst/>
            </a:pP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Which of the following would be characteristics typical of a </a:t>
            </a:r>
            <a:r>
              <a:rPr kumimoji="0" lang="en-US" altLang="en-US" sz="32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RANDOM</a:t>
            </a:r>
            <a:r>
              <a:rPr kumimoji="0" lang="en-US" altLang="en-US" sz="32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 effect in a statistical model? (select all that apply)</a:t>
            </a:r>
            <a:endParaRPr kumimoji="0" lang="en-US" altLang="en-US" sz="3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2E494DF-5821-E15B-E307-654571BBC0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90600" y="1417638"/>
            <a:ext cx="10210800" cy="52205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238050" rIns="91440" bIns="23805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of direct interest hypothesized to affect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A factor not of direct interest to the study which might have an unintended effect on your response variable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are meaningful</a:t>
            </a:r>
            <a:r>
              <a:rPr kumimoji="0" lang="en-US" altLang="en-US" sz="2800" b="0" i="0" u="none" strike="noStrike" cap="none" normalizeH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and</a:t>
            </a: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 the same anywhere you conducted the experiment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could be exchanged or substituted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Values or levels represent a random subset of possible levels of the factor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0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are restricted to the levels imposed</a:t>
            </a:r>
          </a:p>
          <a:p>
            <a:pPr marL="514350" indent="-514350">
              <a:buFont typeface="+mj-lt"/>
              <a:buAutoNum type="arabicPeriod"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273540"/>
                </a:solidFill>
                <a:effectLst/>
                <a:latin typeface="+mn-lt"/>
              </a:rPr>
              <a:t>Conclusions can be extrapolated to the larger population</a:t>
            </a:r>
            <a:endParaRPr kumimoji="0" lang="en-US" altLang="en-US" sz="2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542300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/>
              <a:t>Step 1. Construct a statistical model </a:t>
            </a:r>
            <a:br>
              <a:rPr lang="en-US"/>
            </a:br>
            <a:r>
              <a:rPr lang="en-US"/>
              <a:t>to test your 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Table of R functions for constructing linear models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9191B67-2533-47C5-9197-D45CABFA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40415"/>
              </p:ext>
            </p:extLst>
          </p:nvPr>
        </p:nvGraphicFramePr>
        <p:xfrm>
          <a:off x="876300" y="2133600"/>
          <a:ext cx="10439399" cy="45713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1219742">
                  <a:extLst>
                    <a:ext uri="{9D8B030D-6E8A-4147-A177-3AD203B41FA5}">
                      <a16:colId xmlns:a16="http://schemas.microsoft.com/office/drawing/2014/main" val="3996768631"/>
                    </a:ext>
                  </a:extLst>
                </a:gridCol>
                <a:gridCol w="2599881">
                  <a:extLst>
                    <a:ext uri="{9D8B030D-6E8A-4147-A177-3AD203B41FA5}">
                      <a16:colId xmlns:a16="http://schemas.microsoft.com/office/drawing/2014/main" val="2436342304"/>
                    </a:ext>
                  </a:extLst>
                </a:gridCol>
                <a:gridCol w="3323181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1924995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639447">
                <a:tc>
                  <a:txBody>
                    <a:bodyPr/>
                    <a:lstStyle/>
                    <a:p>
                      <a:r>
                        <a:rPr lang="en-US"/>
                        <a:t>R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SAS proc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Type of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Type of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Distribution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 </a:t>
                      </a:r>
                      <a:r>
                        <a:rPr lang="en-US" err="1"/>
                        <a:t>glm</a:t>
                      </a:r>
                      <a:endParaRPr lang="en-US"/>
                    </a:p>
                    <a:p>
                      <a:r>
                        <a:rPr lang="en-US"/>
                        <a:t>Proc </a:t>
                      </a:r>
                      <a:r>
                        <a:rPr lang="en-US" err="1"/>
                        <a:t>anova</a:t>
                      </a:r>
                      <a:endParaRPr lang="en-US"/>
                    </a:p>
                    <a:p>
                      <a:r>
                        <a:rPr lang="en-US"/>
                        <a:t>Proc 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Linear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Regression, ANOVA, ANCOVA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Gaussian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 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Linear mixed-effects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Blocked or split-plot ANOVAs, nested designs, repeated measures.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Gaussian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Proc </a:t>
                      </a:r>
                      <a:r>
                        <a:rPr lang="en-US" err="1"/>
                        <a:t>glimmix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Generalized linear mixed-effects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Blocked or split-plot ANOVAs, nested designs, repeated measures.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Poisson, Binomial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1833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err="1"/>
                        <a:t>glmmTMB</a:t>
                      </a:r>
                      <a:r>
                        <a:rPr lang="en-US" b="1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Proc </a:t>
                      </a:r>
                      <a:r>
                        <a:rPr lang="en-US" err="1"/>
                        <a:t>glimmix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Any type of linear models, including generalized linear (mixed) models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Blocked or split-plot ANOVAs, nested designs, repeated measures.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Poisson, Binomial, Gamma, and many others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418639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B7C54-0870-E093-4EC0-CAE7AEC2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0720A-9DAD-B2BA-80B7-4C58F7BB3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reak Time!!! - Happy Homer Meme Generator">
            <a:extLst>
              <a:ext uri="{FF2B5EF4-FFF2-40B4-BE49-F238E27FC236}">
                <a16:creationId xmlns:a16="http://schemas.microsoft.com/office/drawing/2014/main" id="{5C0047F7-428F-8B39-6D0D-8D8898DC7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0" y="1819275"/>
            <a:ext cx="5715000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qr code with black dots&#10;&#10;AI-generated content may be incorrect.">
            <a:extLst>
              <a:ext uri="{FF2B5EF4-FFF2-40B4-BE49-F238E27FC236}">
                <a16:creationId xmlns:a16="http://schemas.microsoft.com/office/drawing/2014/main" id="{91B28CB7-611E-FA67-587A-5BB4C4B2F7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0A5461-D96F-37C2-1E75-01B9F9A67B0A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25355639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Step 2. Check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240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/>
              <a:t>Response variable errors (</a:t>
            </a:r>
            <a:r>
              <a:rPr lang="en-US" b="1" err="1"/>
              <a:t>ie</a:t>
            </a:r>
            <a:r>
              <a:rPr lang="en-US" b="1"/>
              <a:t>. residuals) normally distributed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64FED7-4784-4E40-884B-08852215F277}"/>
              </a:ext>
            </a:extLst>
          </p:cNvPr>
          <p:cNvSpPr txBox="1"/>
          <p:nvPr/>
        </p:nvSpPr>
        <p:spPr>
          <a:xfrm>
            <a:off x="4098241" y="5954144"/>
            <a:ext cx="3995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Residuals should be normally distributed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3022408-8981-4A54-9EE7-FF3D146DE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974" y="2446754"/>
            <a:ext cx="4772025" cy="334327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A0B8D1-194D-45AD-94FB-C6CDB799E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999" y="2446753"/>
            <a:ext cx="4772025" cy="33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084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 b="1"/>
              <a:t>Linearity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1A258-8957-4893-9D2E-0B83A236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581" y="2971800"/>
            <a:ext cx="3047619" cy="26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A72ACF-858D-45F2-B75F-B2C5F7BFE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5181" y="2971800"/>
            <a:ext cx="3047619" cy="2628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91AE38-432A-477C-95A4-24026765541A}"/>
              </a:ext>
            </a:extLst>
          </p:cNvPr>
          <p:cNvSpPr txBox="1"/>
          <p:nvPr/>
        </p:nvSpPr>
        <p:spPr>
          <a:xfrm>
            <a:off x="5815241" y="255840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F563D5-2910-4CD1-A125-5FD6B0C72BC7}"/>
              </a:ext>
            </a:extLst>
          </p:cNvPr>
          <p:cNvSpPr txBox="1"/>
          <p:nvPr/>
        </p:nvSpPr>
        <p:spPr>
          <a:xfrm>
            <a:off x="9220581" y="2558404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</p:spTree>
    <p:extLst>
      <p:ext uri="{BB962C8B-B14F-4D97-AF65-F5344CB8AC3E}">
        <p14:creationId xmlns:p14="http://schemas.microsoft.com/office/powerpoint/2010/main" val="22560910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/>
              <a:t>Linearity</a:t>
            </a:r>
          </a:p>
          <a:p>
            <a:r>
              <a:rPr lang="en-US" b="1"/>
              <a:t>Homoscedasticity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231750-61B3-4102-943D-A5B8ADB7E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581" y="2949497"/>
            <a:ext cx="3047619" cy="26285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B6D255-CAB7-41D3-A054-C29BA7D65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981" y="2949496"/>
            <a:ext cx="3047619" cy="262857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29DEFBA-F522-4352-9CD2-62FECED13ED2}"/>
              </a:ext>
            </a:extLst>
          </p:cNvPr>
          <p:cNvSpPr txBox="1"/>
          <p:nvPr/>
        </p:nvSpPr>
        <p:spPr>
          <a:xfrm>
            <a:off x="5815241" y="255840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5587B-BDFA-4F7C-AE7E-47B94FBD0CB4}"/>
              </a:ext>
            </a:extLst>
          </p:cNvPr>
          <p:cNvSpPr txBox="1"/>
          <p:nvPr/>
        </p:nvSpPr>
        <p:spPr>
          <a:xfrm>
            <a:off x="9220581" y="2558404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0387D4-98E3-415E-9979-F2910AD03CFF}"/>
              </a:ext>
            </a:extLst>
          </p:cNvPr>
          <p:cNvSpPr txBox="1"/>
          <p:nvPr/>
        </p:nvSpPr>
        <p:spPr>
          <a:xfrm>
            <a:off x="1700950" y="6030880"/>
            <a:ext cx="879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Residuals should be evenly scattered around zero when plotted against the original predictor</a:t>
            </a:r>
          </a:p>
        </p:txBody>
      </p:sp>
    </p:spTree>
    <p:extLst>
      <p:ext uri="{BB962C8B-B14F-4D97-AF65-F5344CB8AC3E}">
        <p14:creationId xmlns:p14="http://schemas.microsoft.com/office/powerpoint/2010/main" val="41005767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8CD78E4-6415-441E-B165-8A50ED7271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0" y="1905000"/>
            <a:ext cx="3886200" cy="40745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/>
              <a:t>Linearity</a:t>
            </a:r>
          </a:p>
          <a:p>
            <a:r>
              <a:rPr lang="en-US" b="1"/>
              <a:t>Homoscedasticity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231750-61B3-4102-943D-A5B8ADB7E2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581" y="2949497"/>
            <a:ext cx="3047619" cy="262857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29DEFBA-F522-4352-9CD2-62FECED13ED2}"/>
              </a:ext>
            </a:extLst>
          </p:cNvPr>
          <p:cNvSpPr txBox="1"/>
          <p:nvPr/>
        </p:nvSpPr>
        <p:spPr>
          <a:xfrm>
            <a:off x="5815241" y="2558404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B5587B-BDFA-4F7C-AE7E-47B94FBD0CB4}"/>
              </a:ext>
            </a:extLst>
          </p:cNvPr>
          <p:cNvSpPr txBox="1"/>
          <p:nvPr/>
        </p:nvSpPr>
        <p:spPr>
          <a:xfrm>
            <a:off x="9220581" y="2558404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F550CE2-9141-4636-85A9-8E4D70D5B40C}"/>
              </a:ext>
            </a:extLst>
          </p:cNvPr>
          <p:cNvCxnSpPr>
            <a:cxnSpLocks/>
          </p:cNvCxnSpPr>
          <p:nvPr/>
        </p:nvCxnSpPr>
        <p:spPr>
          <a:xfrm flipV="1">
            <a:off x="8712820" y="2816317"/>
            <a:ext cx="2235319" cy="857156"/>
          </a:xfrm>
          <a:prstGeom prst="lin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849D945-A46C-46BC-A4F2-C52A5CA18F36}"/>
              </a:ext>
            </a:extLst>
          </p:cNvPr>
          <p:cNvCxnSpPr>
            <a:cxnSpLocks/>
          </p:cNvCxnSpPr>
          <p:nvPr/>
        </p:nvCxnSpPr>
        <p:spPr>
          <a:xfrm>
            <a:off x="8712820" y="3837080"/>
            <a:ext cx="2385520" cy="1344520"/>
          </a:xfrm>
          <a:prstGeom prst="line">
            <a:avLst/>
          </a:prstGeom>
          <a:ln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9162348-DD37-40BE-84C6-D8747119DDF5}"/>
              </a:ext>
            </a:extLst>
          </p:cNvPr>
          <p:cNvSpPr txBox="1"/>
          <p:nvPr/>
        </p:nvSpPr>
        <p:spPr>
          <a:xfrm>
            <a:off x="1700950" y="6030880"/>
            <a:ext cx="8790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Residuals should be evenly scattered around zero when plotted against the original predictor</a:t>
            </a:r>
          </a:p>
        </p:txBody>
      </p:sp>
    </p:spTree>
    <p:extLst>
      <p:ext uri="{BB962C8B-B14F-4D97-AF65-F5344CB8AC3E}">
        <p14:creationId xmlns:p14="http://schemas.microsoft.com/office/powerpoint/2010/main" val="408874029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F8891-D55F-42DB-8CB0-55DDCCDD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Assumptions of linear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3D5A2-209A-4F57-A479-B060EC2C6E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Response variable errors (</a:t>
            </a:r>
            <a:r>
              <a:rPr lang="en-US" err="1"/>
              <a:t>ie</a:t>
            </a:r>
            <a:r>
              <a:rPr lang="en-US"/>
              <a:t>. residuals) normally distributed</a:t>
            </a:r>
          </a:p>
          <a:p>
            <a:r>
              <a:rPr lang="en-US"/>
              <a:t>Linearity</a:t>
            </a:r>
          </a:p>
          <a:p>
            <a:r>
              <a:rPr lang="en-US" err="1"/>
              <a:t>Homoscedasiticy</a:t>
            </a:r>
            <a:endParaRPr lang="en-US"/>
          </a:p>
          <a:p>
            <a:r>
              <a:rPr lang="en-US" b="1"/>
              <a:t>Outliers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1A258-8957-4893-9D2E-0B83A2360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6502" y="3645743"/>
            <a:ext cx="3047619" cy="26285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B91AE38-432A-477C-95A4-24026765541A}"/>
              </a:ext>
            </a:extLst>
          </p:cNvPr>
          <p:cNvSpPr txBox="1"/>
          <p:nvPr/>
        </p:nvSpPr>
        <p:spPr>
          <a:xfrm>
            <a:off x="3963162" y="3232347"/>
            <a:ext cx="8643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Good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F563D5-2910-4CD1-A125-5FD6B0C72BC7}"/>
              </a:ext>
            </a:extLst>
          </p:cNvPr>
          <p:cNvSpPr txBox="1"/>
          <p:nvPr/>
        </p:nvSpPr>
        <p:spPr>
          <a:xfrm>
            <a:off x="7260908" y="3232346"/>
            <a:ext cx="8036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Okay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88CD3-17D5-4D74-B2CF-DF321D3D8C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161" y="3645743"/>
            <a:ext cx="3047619" cy="26285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6C94D3-0639-4AA9-82B9-3C9CAFB53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381" y="3640167"/>
            <a:ext cx="3047619" cy="262857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4CE5411-C2FE-4AB7-95A9-6C63EF621C42}"/>
              </a:ext>
            </a:extLst>
          </p:cNvPr>
          <p:cNvSpPr txBox="1"/>
          <p:nvPr/>
        </p:nvSpPr>
        <p:spPr>
          <a:xfrm>
            <a:off x="10682414" y="3178502"/>
            <a:ext cx="6607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Bad</a:t>
            </a:r>
          </a:p>
        </p:txBody>
      </p:sp>
    </p:spTree>
    <p:extLst>
      <p:ext uri="{BB962C8B-B14F-4D97-AF65-F5344CB8AC3E}">
        <p14:creationId xmlns:p14="http://schemas.microsoft.com/office/powerpoint/2010/main" val="241545162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B0A84-2C5F-D37F-DF07-95C3F4E0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Often data (and residuals) </a:t>
            </a:r>
            <a:br>
              <a:rPr lang="en-US"/>
            </a:br>
            <a:r>
              <a:rPr lang="en-US"/>
              <a:t>are not normally distributed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D65C78-6DB5-2987-0718-D61958FF7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34940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1F30A-21FE-472E-908C-6D5B4A73A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74638"/>
            <a:ext cx="11353800" cy="1143000"/>
          </a:xfrm>
        </p:spPr>
        <p:txBody>
          <a:bodyPr>
            <a:normAutofit fontScale="90000"/>
          </a:bodyPr>
          <a:lstStyle/>
          <a:p>
            <a:r>
              <a:rPr lang="en-US"/>
              <a:t>Why might we need to use non-normal distributions?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8C4F00-1FA8-49A3-81C6-66D81A8A2A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/>
              <a:t>Linear models are </a:t>
            </a:r>
            <a:r>
              <a:rPr lang="en-US" i="1"/>
              <a:t>reasonably </a:t>
            </a:r>
            <a:r>
              <a:rPr lang="en-US"/>
              <a:t>robust to violations of the assumptions</a:t>
            </a:r>
          </a:p>
          <a:p>
            <a:r>
              <a:rPr lang="en-US"/>
              <a:t>Violations can affect </a:t>
            </a:r>
          </a:p>
          <a:p>
            <a:pPr lvl="1"/>
            <a:r>
              <a:rPr lang="en-US"/>
              <a:t>P-values</a:t>
            </a:r>
          </a:p>
          <a:p>
            <a:pPr lvl="1"/>
            <a:r>
              <a:rPr lang="en-US"/>
              <a:t>Standard errors</a:t>
            </a:r>
          </a:p>
          <a:p>
            <a:pPr lvl="1"/>
            <a:r>
              <a:rPr lang="en-US"/>
              <a:t>Parameter estimates</a:t>
            </a:r>
          </a:p>
          <a:p>
            <a:r>
              <a:rPr lang="en-US"/>
              <a:t>Generalized models provide a better fit to the data</a:t>
            </a:r>
          </a:p>
          <a:p>
            <a:pPr lvl="1"/>
            <a:r>
              <a:rPr lang="en-US"/>
              <a:t>P-values</a:t>
            </a:r>
          </a:p>
          <a:p>
            <a:pPr lvl="1"/>
            <a:r>
              <a:rPr lang="en-US"/>
              <a:t>Standard errors</a:t>
            </a:r>
          </a:p>
          <a:p>
            <a:pPr lvl="1"/>
            <a:r>
              <a:rPr lang="en-US"/>
              <a:t>Parameter estimates</a:t>
            </a:r>
          </a:p>
          <a:p>
            <a:r>
              <a:rPr lang="en-US"/>
              <a:t>Reviewers and editors expect it</a:t>
            </a:r>
          </a:p>
        </p:txBody>
      </p:sp>
      <p:pic>
        <p:nvPicPr>
          <p:cNvPr id="1026" name="Picture 2" descr="Brace Yourselves Peer Review is Coming - Meme Generator">
            <a:extLst>
              <a:ext uri="{FF2B5EF4-FFF2-40B4-BE49-F238E27FC236}">
                <a16:creationId xmlns:a16="http://schemas.microsoft.com/office/drawing/2014/main" id="{65FFCDF7-3B99-4849-968C-2EB041D80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4343400"/>
            <a:ext cx="3802078" cy="213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307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C69B9-EA33-8C08-C342-D2EC89F00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D7E04-E014-D9BC-DC81-D6925227E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 descr="Image">
            <a:extLst>
              <a:ext uri="{FF2B5EF4-FFF2-40B4-BE49-F238E27FC236}">
                <a16:creationId xmlns:a16="http://schemas.microsoft.com/office/drawing/2014/main" id="{44852178-7128-F881-F09F-2ED0C32FC4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30"/>
          <a:stretch/>
        </p:blipFill>
        <p:spPr bwMode="auto">
          <a:xfrm>
            <a:off x="3962400" y="1574801"/>
            <a:ext cx="4829938" cy="497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23849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F7EE9-438A-4908-93CA-D33C3286A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“generalized” models?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2BD45-2C41-4C08-9733-8BE695B56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/>
              <a:t>Linear models that allow for more flexible error distributions</a:t>
            </a:r>
          </a:p>
          <a:p>
            <a:r>
              <a:rPr lang="en-US"/>
              <a:t>Parameters estimated via maximum likelihood (not least squares)</a:t>
            </a:r>
          </a:p>
          <a:p>
            <a:r>
              <a:rPr lang="en-US"/>
              <a:t>Model components</a:t>
            </a:r>
          </a:p>
          <a:p>
            <a:pPr lvl="1"/>
            <a:r>
              <a:rPr lang="en-US"/>
              <a:t>Linear predictor formula ( y ~ x )</a:t>
            </a:r>
          </a:p>
          <a:p>
            <a:pPr lvl="1"/>
            <a:r>
              <a:rPr lang="en-US"/>
              <a:t>Error distribution (usually exponential family)</a:t>
            </a:r>
          </a:p>
          <a:p>
            <a:pPr lvl="1"/>
            <a:r>
              <a:rPr lang="en-US"/>
              <a:t>Link function: links distribution to linear predictor formula</a:t>
            </a:r>
          </a:p>
          <a:p>
            <a:pPr lvl="2"/>
            <a:r>
              <a:rPr lang="en-US" err="1"/>
              <a:t>ie</a:t>
            </a:r>
            <a:r>
              <a:rPr lang="en-US"/>
              <a:t>. Transforms error distribution to linear</a:t>
            </a:r>
          </a:p>
          <a:p>
            <a:r>
              <a:rPr lang="en-US"/>
              <a:t>Generalized linear </a:t>
            </a:r>
            <a:r>
              <a:rPr lang="en-US" b="1"/>
              <a:t>mixed </a:t>
            </a:r>
            <a:r>
              <a:rPr lang="en-US"/>
              <a:t>model</a:t>
            </a:r>
          </a:p>
          <a:p>
            <a:pPr lvl="1"/>
            <a:r>
              <a:rPr lang="en-US"/>
              <a:t>Allows fixed and random effects</a:t>
            </a:r>
          </a:p>
        </p:txBody>
      </p:sp>
    </p:spTree>
    <p:extLst>
      <p:ext uri="{BB962C8B-B14F-4D97-AF65-F5344CB8AC3E}">
        <p14:creationId xmlns:p14="http://schemas.microsoft.com/office/powerpoint/2010/main" val="2863682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9F003-9322-43BD-95BC-3748B0085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Generalized</a:t>
            </a:r>
            <a:r>
              <a:rPr lang="en-US"/>
              <a:t> linear </a:t>
            </a:r>
            <a:r>
              <a:rPr lang="en-US" b="1"/>
              <a:t>mixed</a:t>
            </a:r>
            <a:r>
              <a:rPr lang="en-US"/>
              <a:t>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6D8FB-1513-4806-BDCE-2B90E34DFE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Linear model: 		              	              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 baseline="-25000"/>
          </a:p>
          <a:p>
            <a:r>
              <a:rPr lang="en-US"/>
              <a:t>Linear mixed model:	 	               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α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</a:t>
            </a:r>
            <a:r>
              <a:rPr lang="en-US"/>
              <a:t> 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/>
          </a:p>
          <a:p>
            <a:r>
              <a:rPr lang="en-US"/>
              <a:t>Generalized linear mixed model:      log(</a:t>
            </a:r>
            <a:r>
              <a:rPr lang="en-US" err="1"/>
              <a:t>y</a:t>
            </a:r>
            <a:r>
              <a:rPr lang="en-US" baseline="-25000" err="1"/>
              <a:t>ij</a:t>
            </a:r>
            <a:r>
              <a:rPr lang="en-US"/>
              <a:t>) ~ </a:t>
            </a:r>
            <a:r>
              <a:rPr lang="el-GR"/>
              <a:t>μ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α</a:t>
            </a:r>
            <a:r>
              <a:rPr lang="en-US" baseline="-25000" err="1"/>
              <a:t>i</a:t>
            </a:r>
            <a:r>
              <a:rPr lang="en-US" baseline="-25000"/>
              <a:t> </a:t>
            </a:r>
            <a:r>
              <a:rPr lang="en-US"/>
              <a:t>+ </a:t>
            </a:r>
            <a:r>
              <a:rPr lang="el-GR"/>
              <a:t>β</a:t>
            </a:r>
            <a:r>
              <a:rPr lang="en-US" baseline="-25000"/>
              <a:t>j</a:t>
            </a:r>
            <a:r>
              <a:rPr lang="en-US"/>
              <a:t> + </a:t>
            </a:r>
            <a:r>
              <a:rPr lang="el-GR"/>
              <a:t>ε</a:t>
            </a:r>
            <a:r>
              <a:rPr lang="en-US" baseline="-25000" err="1"/>
              <a:t>ij</a:t>
            </a:r>
            <a:endParaRPr lang="en-US"/>
          </a:p>
          <a:p>
            <a:endParaRPr lang="en-US"/>
          </a:p>
          <a:p>
            <a:endParaRPr lang="en-US" baseline="-25000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194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function&#10;&#10;Description automatically generated">
            <a:extLst>
              <a:ext uri="{FF2B5EF4-FFF2-40B4-BE49-F238E27FC236}">
                <a16:creationId xmlns:a16="http://schemas.microsoft.com/office/drawing/2014/main" id="{6344EF89-FBA0-4C27-4123-26ABAF8030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3883025"/>
            <a:ext cx="7829550" cy="26098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314D65-1EEB-AFC9-52F4-FF30F1524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distribution -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287CC-F772-8E06-C811-BBBDF6CDC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Discrete probability distribution</a:t>
            </a:r>
          </a:p>
          <a:p>
            <a:pPr lvl="1"/>
            <a:r>
              <a:rPr lang="en-US"/>
              <a:t>Integers: number of events (per unit of time or space; </a:t>
            </a:r>
            <a:r>
              <a:rPr lang="en-US" err="1"/>
              <a:t>ie</a:t>
            </a:r>
            <a:r>
              <a:rPr lang="en-US"/>
              <a:t>. rate)</a:t>
            </a:r>
          </a:p>
          <a:p>
            <a:pPr lvl="1"/>
            <a:r>
              <a:rPr lang="en-US"/>
              <a:t>Events occur randomly</a:t>
            </a:r>
          </a:p>
          <a:p>
            <a:pPr lvl="1"/>
            <a:r>
              <a:rPr lang="en-US"/>
              <a:t>Events are independent </a:t>
            </a:r>
          </a:p>
          <a:p>
            <a:r>
              <a:rPr lang="en-US"/>
              <a:t>Parameters</a:t>
            </a:r>
          </a:p>
          <a:p>
            <a:pPr lvl="1"/>
            <a:r>
              <a:rPr lang="el-GR"/>
              <a:t>λ</a:t>
            </a:r>
            <a:r>
              <a:rPr lang="en-US"/>
              <a:t> = mean = variance</a:t>
            </a:r>
          </a:p>
          <a:p>
            <a:pPr lvl="1"/>
            <a:r>
              <a:rPr lang="en-US"/>
              <a:t>Link function = log</a:t>
            </a:r>
          </a:p>
        </p:txBody>
      </p:sp>
    </p:spTree>
    <p:extLst>
      <p:ext uri="{BB962C8B-B14F-4D97-AF65-F5344CB8AC3E}">
        <p14:creationId xmlns:p14="http://schemas.microsoft.com/office/powerpoint/2010/main" val="224195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6AF4D-EA08-137D-5D69-2A02412790A3}"/>
              </a:ext>
            </a:extLst>
          </p:cNvPr>
          <p:cNvSpPr/>
          <p:nvPr/>
        </p:nvSpPr>
        <p:spPr>
          <a:xfrm>
            <a:off x="4465585" y="2782669"/>
            <a:ext cx="326082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/>
              <a:t>log(</a:t>
            </a:r>
            <a:r>
              <a:rPr lang="en-US" sz="3600" err="1"/>
              <a:t>y</a:t>
            </a:r>
            <a:r>
              <a:rPr lang="en-US" sz="3600" baseline="-25000" err="1"/>
              <a:t>i</a:t>
            </a:r>
            <a:r>
              <a:rPr lang="en-US" sz="3600"/>
              <a:t>) ~ </a:t>
            </a:r>
            <a:r>
              <a:rPr lang="el-GR" sz="3600"/>
              <a:t>β</a:t>
            </a:r>
            <a:r>
              <a:rPr lang="en-US" sz="3600" baseline="-25000"/>
              <a:t>0 </a:t>
            </a:r>
            <a:r>
              <a:rPr lang="en-US" sz="3600"/>
              <a:t>+ </a:t>
            </a:r>
            <a:r>
              <a:rPr lang="el-GR" sz="3600"/>
              <a:t>β</a:t>
            </a:r>
            <a:r>
              <a:rPr lang="en-US" sz="3600" baseline="-25000"/>
              <a:t>1</a:t>
            </a:r>
            <a:r>
              <a:rPr lang="en-US" sz="3600"/>
              <a:t>X</a:t>
            </a:r>
            <a:r>
              <a:rPr lang="en-US" sz="3600" baseline="-25000"/>
              <a:t>i</a:t>
            </a:r>
            <a:endParaRPr lang="en-US" sz="36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C9F6ED-CF75-F907-AAC8-DB7DD42D0353}"/>
              </a:ext>
            </a:extLst>
          </p:cNvPr>
          <p:cNvSpPr txBox="1"/>
          <p:nvPr/>
        </p:nvSpPr>
        <p:spPr>
          <a:xfrm>
            <a:off x="5296441" y="2088078"/>
            <a:ext cx="1323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Intercept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8743DA-F746-E9E5-949E-A43E5B61761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958225" y="2549743"/>
            <a:ext cx="292721" cy="3800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F1A5B7C-857E-A153-93CA-9808E2A7BE5E}"/>
              </a:ext>
            </a:extLst>
          </p:cNvPr>
          <p:cNvGrpSpPr/>
          <p:nvPr/>
        </p:nvGrpSpPr>
        <p:grpSpPr>
          <a:xfrm>
            <a:off x="4658225" y="3450435"/>
            <a:ext cx="3510900" cy="2162441"/>
            <a:chOff x="4509367" y="3450435"/>
            <a:chExt cx="3510900" cy="216244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63771CA-F741-1DE3-08DE-6577B9E5458E}"/>
                </a:ext>
              </a:extLst>
            </p:cNvPr>
            <p:cNvSpPr txBox="1"/>
            <p:nvPr/>
          </p:nvSpPr>
          <p:spPr>
            <a:xfrm>
              <a:off x="4509367" y="4085798"/>
              <a:ext cx="1448858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Response </a:t>
              </a:r>
              <a:br>
                <a:rPr lang="en-US" sz="2400"/>
              </a:br>
              <a:r>
                <a:rPr lang="en-US" sz="2400"/>
                <a:t>variable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A6D5CE3-7A2E-A4FC-6C6B-9861831D33D5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5233796" y="3450435"/>
              <a:ext cx="0" cy="63536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FBBA185-2C4C-88E3-8B2E-862712A5AE86}"/>
                </a:ext>
              </a:extLst>
            </p:cNvPr>
            <p:cNvSpPr txBox="1"/>
            <p:nvPr/>
          </p:nvSpPr>
          <p:spPr>
            <a:xfrm>
              <a:off x="6619563" y="4085799"/>
              <a:ext cx="140070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Predictor </a:t>
              </a:r>
              <a:br>
                <a:rPr lang="en-US" sz="2400"/>
              </a:br>
              <a:r>
                <a:rPr lang="en-US" sz="2400"/>
                <a:t>variable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58B5C9-9639-3316-8E63-25F784BEBE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9915" y="3450435"/>
              <a:ext cx="5922" cy="7171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47A2D4AE-61CF-E1B4-25DD-8774127AF776}"/>
                </a:ext>
              </a:extLst>
            </p:cNvPr>
            <p:cNvSpPr/>
            <p:nvPr/>
          </p:nvSpPr>
          <p:spPr>
            <a:xfrm rot="5400000">
              <a:off x="6035014" y="3291824"/>
              <a:ext cx="372488" cy="3378725"/>
            </a:xfrm>
            <a:prstGeom prst="rightBrac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F3B9974-15B0-D4C6-2C5F-D4FF2972D999}"/>
                </a:ext>
              </a:extLst>
            </p:cNvPr>
            <p:cNvSpPr txBox="1"/>
            <p:nvPr/>
          </p:nvSpPr>
          <p:spPr>
            <a:xfrm>
              <a:off x="5854865" y="5151211"/>
              <a:ext cx="7646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Data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99177CE-721B-61CA-DFBE-7E26659138C2}"/>
              </a:ext>
            </a:extLst>
          </p:cNvPr>
          <p:cNvSpPr txBox="1"/>
          <p:nvPr/>
        </p:nvSpPr>
        <p:spPr>
          <a:xfrm>
            <a:off x="6986665" y="2088078"/>
            <a:ext cx="873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Slope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4DB8DC-B6D4-AE8B-A5F6-872590175A9E}"/>
              </a:ext>
            </a:extLst>
          </p:cNvPr>
          <p:cNvCxnSpPr>
            <a:cxnSpLocks/>
          </p:cNvCxnSpPr>
          <p:nvPr/>
        </p:nvCxnSpPr>
        <p:spPr>
          <a:xfrm flipH="1">
            <a:off x="7064729" y="2476177"/>
            <a:ext cx="358915" cy="44397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ight Brace 33">
            <a:extLst>
              <a:ext uri="{FF2B5EF4-FFF2-40B4-BE49-F238E27FC236}">
                <a16:creationId xmlns:a16="http://schemas.microsoft.com/office/drawing/2014/main" id="{C54370FF-39DE-16F9-5E43-8F80C46E2453}"/>
              </a:ext>
            </a:extLst>
          </p:cNvPr>
          <p:cNvSpPr/>
          <p:nvPr/>
        </p:nvSpPr>
        <p:spPr>
          <a:xfrm rot="5400000" flipH="1">
            <a:off x="6354863" y="793580"/>
            <a:ext cx="368608" cy="236739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7C2363-FBE7-8C65-BEA0-1090E6459292}"/>
              </a:ext>
            </a:extLst>
          </p:cNvPr>
          <p:cNvSpPr txBox="1"/>
          <p:nvPr/>
        </p:nvSpPr>
        <p:spPr>
          <a:xfrm>
            <a:off x="5736257" y="1250149"/>
            <a:ext cx="1605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Parameters</a:t>
            </a:r>
          </a:p>
        </p:txBody>
      </p:sp>
    </p:spTree>
    <p:extLst>
      <p:ext uri="{BB962C8B-B14F-4D97-AF65-F5344CB8AC3E}">
        <p14:creationId xmlns:p14="http://schemas.microsoft.com/office/powerpoint/2010/main" val="116058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0" grpId="0"/>
      <p:bldP spid="34" grpId="0" animBg="1"/>
      <p:bldP spid="35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76AF4D-EA08-137D-5D69-2A02412790A3}"/>
              </a:ext>
            </a:extLst>
          </p:cNvPr>
          <p:cNvSpPr/>
          <p:nvPr/>
        </p:nvSpPr>
        <p:spPr>
          <a:xfrm>
            <a:off x="4465585" y="2782669"/>
            <a:ext cx="326082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/>
              <a:t>log(</a:t>
            </a:r>
            <a:r>
              <a:rPr lang="el-GR" sz="3600"/>
              <a:t>λ</a:t>
            </a:r>
            <a:r>
              <a:rPr lang="en-US" sz="3600" baseline="-25000" err="1"/>
              <a:t>i</a:t>
            </a:r>
            <a:r>
              <a:rPr lang="en-US" sz="3600"/>
              <a:t>) ~ </a:t>
            </a:r>
            <a:r>
              <a:rPr lang="el-GR" sz="3600"/>
              <a:t>β</a:t>
            </a:r>
            <a:r>
              <a:rPr lang="en-US" sz="3600" baseline="-25000"/>
              <a:t>0 </a:t>
            </a:r>
            <a:r>
              <a:rPr lang="en-US" sz="3600"/>
              <a:t>+ </a:t>
            </a:r>
            <a:r>
              <a:rPr lang="el-GR" sz="3600"/>
              <a:t>β</a:t>
            </a:r>
            <a:r>
              <a:rPr lang="en-US" sz="3600" baseline="-25000"/>
              <a:t>1</a:t>
            </a:r>
            <a:r>
              <a:rPr lang="en-US" sz="3600"/>
              <a:t>X</a:t>
            </a:r>
            <a:r>
              <a:rPr lang="en-US" sz="3600" baseline="-25000"/>
              <a:t>i</a:t>
            </a:r>
            <a:endParaRPr lang="en-US" sz="36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7479CB-E1EA-8E16-C084-474A8365DCED}"/>
              </a:ext>
            </a:extLst>
          </p:cNvPr>
          <p:cNvSpPr txBox="1"/>
          <p:nvPr/>
        </p:nvSpPr>
        <p:spPr>
          <a:xfrm>
            <a:off x="444230" y="2644135"/>
            <a:ext cx="304525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Link function: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Relates x to log(y) </a:t>
            </a:r>
            <a:br>
              <a:rPr lang="en-US" sz="2400"/>
            </a:br>
            <a:r>
              <a:rPr lang="en-US" sz="2400"/>
              <a:t>on linear scale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Works on predicted </a:t>
            </a:r>
            <a:br>
              <a:rPr lang="en-US" sz="2400"/>
            </a:br>
            <a:r>
              <a:rPr lang="en-US" sz="2400"/>
              <a:t>values (</a:t>
            </a:r>
            <a:r>
              <a:rPr lang="en-US" sz="2400" err="1"/>
              <a:t>λ</a:t>
            </a:r>
            <a:r>
              <a:rPr lang="en-US" sz="2400" baseline="-25000" err="1"/>
              <a:t>i</a:t>
            </a:r>
            <a:r>
              <a:rPr lang="en-US" sz="240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/>
              <a:t>Doesn’t transform </a:t>
            </a:r>
            <a:br>
              <a:rPr lang="en-US" sz="2400"/>
            </a:br>
            <a:r>
              <a:rPr lang="en-US" sz="2400"/>
              <a:t>raw data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C68F2-396B-AE1D-D4FF-5A412F5A36CD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317034" y="2920150"/>
            <a:ext cx="2148551" cy="18568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2C9F6ED-CF75-F907-AAC8-DB7DD42D0353}"/>
              </a:ext>
            </a:extLst>
          </p:cNvPr>
          <p:cNvSpPr txBox="1"/>
          <p:nvPr/>
        </p:nvSpPr>
        <p:spPr>
          <a:xfrm>
            <a:off x="5296441" y="2088078"/>
            <a:ext cx="13235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Intercept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98743DA-F746-E9E5-949E-A43E5B61761B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5958225" y="2549743"/>
            <a:ext cx="292721" cy="38005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F1A5B7C-857E-A153-93CA-9808E2A7BE5E}"/>
              </a:ext>
            </a:extLst>
          </p:cNvPr>
          <p:cNvGrpSpPr/>
          <p:nvPr/>
        </p:nvGrpSpPr>
        <p:grpSpPr>
          <a:xfrm>
            <a:off x="4599106" y="3450435"/>
            <a:ext cx="3570019" cy="2513318"/>
            <a:chOff x="4450248" y="3450435"/>
            <a:chExt cx="3570019" cy="251331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63771CA-F741-1DE3-08DE-6577B9E5458E}"/>
                </a:ext>
              </a:extLst>
            </p:cNvPr>
            <p:cNvSpPr txBox="1"/>
            <p:nvPr/>
          </p:nvSpPr>
          <p:spPr>
            <a:xfrm>
              <a:off x="4450248" y="4085798"/>
              <a:ext cx="156709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Response </a:t>
              </a:r>
              <a:br>
                <a:rPr lang="en-US" sz="2400"/>
              </a:br>
              <a:r>
                <a:rPr lang="en-US" sz="2400"/>
                <a:t>variable</a:t>
              </a:r>
            </a:p>
            <a:p>
              <a:pPr algn="ctr"/>
              <a:r>
                <a:rPr lang="en-US" sz="2400"/>
                <a:t>(predicted)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A6D5CE3-7A2E-A4FC-6C6B-9861831D33D5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H="1" flipV="1">
              <a:off x="5233796" y="3450435"/>
              <a:ext cx="1" cy="63536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FBBA185-2C4C-88E3-8B2E-862712A5AE86}"/>
                </a:ext>
              </a:extLst>
            </p:cNvPr>
            <p:cNvSpPr txBox="1"/>
            <p:nvPr/>
          </p:nvSpPr>
          <p:spPr>
            <a:xfrm>
              <a:off x="6619563" y="4085799"/>
              <a:ext cx="140070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Predictor </a:t>
              </a:r>
              <a:br>
                <a:rPr lang="en-US" sz="2400"/>
              </a:br>
              <a:r>
                <a:rPr lang="en-US" sz="2400"/>
                <a:t>variable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58B5C9-9639-3316-8E63-25F784BEBE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19915" y="3450435"/>
              <a:ext cx="5922" cy="7171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ight Brace 26">
              <a:extLst>
                <a:ext uri="{FF2B5EF4-FFF2-40B4-BE49-F238E27FC236}">
                  <a16:creationId xmlns:a16="http://schemas.microsoft.com/office/drawing/2014/main" id="{47A2D4AE-61CF-E1B4-25DD-8774127AF776}"/>
                </a:ext>
              </a:extLst>
            </p:cNvPr>
            <p:cNvSpPr/>
            <p:nvPr/>
          </p:nvSpPr>
          <p:spPr>
            <a:xfrm rot="5400000">
              <a:off x="6035014" y="3642701"/>
              <a:ext cx="372488" cy="3378725"/>
            </a:xfrm>
            <a:prstGeom prst="rightBrace">
              <a:avLst/>
            </a:prstGeom>
            <a:ln w="285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DF3B9974-15B0-D4C6-2C5F-D4FF2972D999}"/>
                </a:ext>
              </a:extLst>
            </p:cNvPr>
            <p:cNvSpPr txBox="1"/>
            <p:nvPr/>
          </p:nvSpPr>
          <p:spPr>
            <a:xfrm>
              <a:off x="5854865" y="5502088"/>
              <a:ext cx="76469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/>
                <a:t>Data</a:t>
              </a:r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99177CE-721B-61CA-DFBE-7E26659138C2}"/>
              </a:ext>
            </a:extLst>
          </p:cNvPr>
          <p:cNvSpPr txBox="1"/>
          <p:nvPr/>
        </p:nvSpPr>
        <p:spPr>
          <a:xfrm>
            <a:off x="6986665" y="2088078"/>
            <a:ext cx="8739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Slope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BB4DB8DC-B6D4-AE8B-A5F6-872590175A9E}"/>
              </a:ext>
            </a:extLst>
          </p:cNvPr>
          <p:cNvCxnSpPr>
            <a:cxnSpLocks/>
          </p:cNvCxnSpPr>
          <p:nvPr/>
        </p:nvCxnSpPr>
        <p:spPr>
          <a:xfrm flipH="1">
            <a:off x="7064729" y="2476177"/>
            <a:ext cx="358915" cy="44397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ight Brace 33">
            <a:extLst>
              <a:ext uri="{FF2B5EF4-FFF2-40B4-BE49-F238E27FC236}">
                <a16:creationId xmlns:a16="http://schemas.microsoft.com/office/drawing/2014/main" id="{C54370FF-39DE-16F9-5E43-8F80C46E2453}"/>
              </a:ext>
            </a:extLst>
          </p:cNvPr>
          <p:cNvSpPr/>
          <p:nvPr/>
        </p:nvSpPr>
        <p:spPr>
          <a:xfrm rot="5400000" flipH="1">
            <a:off x="6354863" y="793580"/>
            <a:ext cx="368608" cy="236739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7C2363-FBE7-8C65-BEA0-1090E6459292}"/>
              </a:ext>
            </a:extLst>
          </p:cNvPr>
          <p:cNvSpPr txBox="1"/>
          <p:nvPr/>
        </p:nvSpPr>
        <p:spPr>
          <a:xfrm>
            <a:off x="5736257" y="1250149"/>
            <a:ext cx="16058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/>
              <a:t>Parameters</a:t>
            </a:r>
          </a:p>
        </p:txBody>
      </p:sp>
    </p:spTree>
    <p:extLst>
      <p:ext uri="{BB962C8B-B14F-4D97-AF65-F5344CB8AC3E}">
        <p14:creationId xmlns:p14="http://schemas.microsoft.com/office/powerpoint/2010/main" val="265371116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834C5CC-0CCD-D47E-E5DE-CF8219DBDAB4}"/>
              </a:ext>
            </a:extLst>
          </p:cNvPr>
          <p:cNvSpPr/>
          <p:nvPr/>
        </p:nvSpPr>
        <p:spPr>
          <a:xfrm>
            <a:off x="4954500" y="4010609"/>
            <a:ext cx="2287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l-GR" sz="3600"/>
              <a:t>λ</a:t>
            </a:r>
            <a:r>
              <a:rPr lang="en-US" sz="3600" baseline="-25000" err="1"/>
              <a:t>i</a:t>
            </a:r>
            <a:r>
              <a:rPr lang="en-US" sz="3600"/>
              <a:t> ~ </a:t>
            </a:r>
            <a:r>
              <a:rPr lang="en-US" sz="3600" i="1"/>
              <a:t>e</a:t>
            </a:r>
            <a:r>
              <a:rPr lang="el-GR" sz="3600" baseline="30000"/>
              <a:t>β</a:t>
            </a:r>
            <a:r>
              <a:rPr lang="en-US" sz="3600" baseline="15000"/>
              <a:t>0</a:t>
            </a:r>
            <a:r>
              <a:rPr lang="en-US" sz="3600" baseline="30000"/>
              <a:t> + </a:t>
            </a:r>
            <a:r>
              <a:rPr lang="el-GR" sz="3600" baseline="30000"/>
              <a:t>β</a:t>
            </a:r>
            <a:r>
              <a:rPr lang="en-US" sz="3600" baseline="15000"/>
              <a:t>1</a:t>
            </a:r>
            <a:r>
              <a:rPr lang="en-US" sz="3600" baseline="30000"/>
              <a:t>X</a:t>
            </a:r>
            <a:r>
              <a:rPr lang="en-US" sz="3600" baseline="15000"/>
              <a:t>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2BD04-3C93-F394-0DFA-4F59392A09A6}"/>
              </a:ext>
            </a:extLst>
          </p:cNvPr>
          <p:cNvSpPr txBox="1"/>
          <p:nvPr/>
        </p:nvSpPr>
        <p:spPr>
          <a:xfrm>
            <a:off x="5838982" y="3147870"/>
            <a:ext cx="529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/>
              <a:t>=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63A979-DB87-2CF4-5DC1-B4C969E87C67}"/>
              </a:ext>
            </a:extLst>
          </p:cNvPr>
          <p:cNvSpPr/>
          <p:nvPr/>
        </p:nvSpPr>
        <p:spPr>
          <a:xfrm>
            <a:off x="4465585" y="2527483"/>
            <a:ext cx="326082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/>
              <a:t>log(</a:t>
            </a:r>
            <a:r>
              <a:rPr lang="el-GR" sz="3600"/>
              <a:t>λ</a:t>
            </a:r>
            <a:r>
              <a:rPr lang="en-US" sz="3600" baseline="-25000" err="1"/>
              <a:t>i</a:t>
            </a:r>
            <a:r>
              <a:rPr lang="en-US" sz="3600"/>
              <a:t>) ~ </a:t>
            </a:r>
            <a:r>
              <a:rPr lang="el-GR" sz="3600"/>
              <a:t>β</a:t>
            </a:r>
            <a:r>
              <a:rPr lang="en-US" sz="3600" baseline="-25000"/>
              <a:t>0 </a:t>
            </a:r>
            <a:r>
              <a:rPr lang="en-US" sz="3600"/>
              <a:t>+ </a:t>
            </a:r>
            <a:r>
              <a:rPr lang="el-GR" sz="3600"/>
              <a:t>β</a:t>
            </a:r>
            <a:r>
              <a:rPr lang="en-US" sz="3600" baseline="-25000"/>
              <a:t>1</a:t>
            </a:r>
            <a:r>
              <a:rPr lang="en-US" sz="3600"/>
              <a:t>X</a:t>
            </a:r>
            <a:r>
              <a:rPr lang="en-US" sz="3600" baseline="-25000"/>
              <a:t>i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420204050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with a line&#10;&#10;Description automatically generated">
            <a:extLst>
              <a:ext uri="{FF2B5EF4-FFF2-40B4-BE49-F238E27FC236}">
                <a16:creationId xmlns:a16="http://schemas.microsoft.com/office/drawing/2014/main" id="{87C3D263-2383-4970-0BE5-C9BBC1B7E4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27626"/>
            <a:ext cx="12192000" cy="4064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 – example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32FD467-26A9-0E09-0CC4-21822E508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22488" cy="4351338"/>
          </a:xfrm>
        </p:spPr>
        <p:txBody>
          <a:bodyPr/>
          <a:lstStyle/>
          <a:p>
            <a:r>
              <a:rPr lang="en-US"/>
              <a:t>Counts across temp (continuous, 1 to 30):</a:t>
            </a:r>
          </a:p>
          <a:p>
            <a:r>
              <a:rPr lang="en-US" sz="2800"/>
              <a:t>log(</a:t>
            </a:r>
            <a:r>
              <a:rPr lang="el-GR" sz="2800"/>
              <a:t>λ</a:t>
            </a:r>
            <a:r>
              <a:rPr lang="en-US" sz="2800" baseline="-25000" err="1"/>
              <a:t>i</a:t>
            </a:r>
            <a:r>
              <a:rPr lang="en-US" sz="2800"/>
              <a:t>) ~ </a:t>
            </a:r>
            <a:r>
              <a:rPr lang="el-GR" sz="2800"/>
              <a:t>β</a:t>
            </a:r>
            <a:r>
              <a:rPr lang="en-US" sz="2800" baseline="-25000"/>
              <a:t>0 </a:t>
            </a:r>
            <a:r>
              <a:rPr lang="en-US" sz="2800"/>
              <a:t>+ </a:t>
            </a:r>
            <a:r>
              <a:rPr lang="el-GR" sz="2800"/>
              <a:t>β</a:t>
            </a:r>
            <a:r>
              <a:rPr lang="en-US" sz="2800" baseline="-25000"/>
              <a:t>1</a:t>
            </a:r>
            <a:r>
              <a:rPr lang="en-US" sz="2800"/>
              <a:t>X</a:t>
            </a:r>
            <a:r>
              <a:rPr lang="en-US" sz="2800" baseline="-25000"/>
              <a:t>i</a:t>
            </a:r>
            <a:endParaRPr lang="en-US"/>
          </a:p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2B833D-7BA8-A232-048F-D61673770C6E}"/>
              </a:ext>
            </a:extLst>
          </p:cNvPr>
          <p:cNvSpPr txBox="1"/>
          <p:nvPr/>
        </p:nvSpPr>
        <p:spPr>
          <a:xfrm>
            <a:off x="4952794" y="3567054"/>
            <a:ext cx="30138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/>
              <a:t>log(</a:t>
            </a:r>
            <a:r>
              <a:rPr lang="el-GR" sz="2200"/>
              <a:t>λ</a:t>
            </a:r>
            <a:r>
              <a:rPr lang="en-US" sz="2200" baseline="-25000" err="1"/>
              <a:t>i</a:t>
            </a:r>
            <a:r>
              <a:rPr lang="en-US" sz="2200"/>
              <a:t>) ~ -0.94</a:t>
            </a:r>
            <a:r>
              <a:rPr lang="en-US" sz="2200" baseline="-25000"/>
              <a:t> </a:t>
            </a:r>
            <a:r>
              <a:rPr lang="en-US" sz="2200"/>
              <a:t>+ 0.08*X</a:t>
            </a:r>
            <a:r>
              <a:rPr lang="en-US" sz="2200" baseline="-25000"/>
              <a:t>i</a:t>
            </a:r>
            <a:endParaRPr lang="en-US" sz="22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B8B0EDB-A0E4-CF8A-E692-4C0A67D59754}"/>
              </a:ext>
            </a:extLst>
          </p:cNvPr>
          <p:cNvSpPr txBox="1"/>
          <p:nvPr/>
        </p:nvSpPr>
        <p:spPr>
          <a:xfrm>
            <a:off x="983970" y="3567146"/>
            <a:ext cx="301388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err="1"/>
              <a:t>yi</a:t>
            </a:r>
            <a:r>
              <a:rPr lang="en-US" sz="2200"/>
              <a:t> ~ -0.3 + 0.14*X</a:t>
            </a:r>
            <a:r>
              <a:rPr lang="en-US" sz="2200" baseline="-25000"/>
              <a:t>i</a:t>
            </a:r>
            <a:endParaRPr lang="en-US" sz="2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EC98EB-9674-B8B0-35B2-2B81274FF4B4}"/>
              </a:ext>
            </a:extLst>
          </p:cNvPr>
          <p:cNvSpPr txBox="1"/>
          <p:nvPr/>
        </p:nvSpPr>
        <p:spPr>
          <a:xfrm>
            <a:off x="8906902" y="3616690"/>
            <a:ext cx="30138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200"/>
              <a:t>λ</a:t>
            </a:r>
            <a:r>
              <a:rPr lang="en-US" sz="2200" baseline="-25000" err="1"/>
              <a:t>i</a:t>
            </a:r>
            <a:r>
              <a:rPr lang="en-US" sz="2200"/>
              <a:t> ~ </a:t>
            </a:r>
            <a:r>
              <a:rPr lang="en-US" sz="2200" i="1"/>
              <a:t>e</a:t>
            </a:r>
            <a:r>
              <a:rPr lang="en-US" sz="2200"/>
              <a:t>(-0.94</a:t>
            </a:r>
            <a:r>
              <a:rPr lang="en-US" sz="2200" baseline="-25000"/>
              <a:t> </a:t>
            </a:r>
            <a:r>
              <a:rPr lang="en-US" sz="2200"/>
              <a:t>+ 0.08*X</a:t>
            </a:r>
            <a:r>
              <a:rPr lang="en-US" sz="2200" baseline="-25000"/>
              <a:t>i</a:t>
            </a:r>
            <a:r>
              <a:rPr lang="en-US" sz="2200"/>
              <a:t>)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C6C90F5-E0C1-1211-C0F7-A4D49DA137D9}"/>
              </a:ext>
            </a:extLst>
          </p:cNvPr>
          <p:cNvSpPr/>
          <p:nvPr/>
        </p:nvSpPr>
        <p:spPr>
          <a:xfrm>
            <a:off x="812285" y="5496339"/>
            <a:ext cx="343369" cy="357809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878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49CD-6F2D-0370-79A8-08D9F574C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Poisson linear model – example 1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32FD467-26A9-0E09-0CC4-21822E508E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922488" cy="4351338"/>
          </a:xfrm>
        </p:spPr>
        <p:txBody>
          <a:bodyPr/>
          <a:lstStyle/>
          <a:p>
            <a:r>
              <a:rPr lang="en-US"/>
              <a:t>Counts across temp (continuous, 1 to 30):</a:t>
            </a:r>
          </a:p>
          <a:p>
            <a:r>
              <a:rPr lang="en-US" sz="2800"/>
              <a:t>log(</a:t>
            </a:r>
            <a:r>
              <a:rPr lang="el-GR" sz="2800"/>
              <a:t>λ</a:t>
            </a:r>
            <a:r>
              <a:rPr lang="en-US" sz="2800" baseline="-25000" err="1"/>
              <a:t>i</a:t>
            </a:r>
            <a:r>
              <a:rPr lang="en-US" sz="2800"/>
              <a:t>) ~ </a:t>
            </a:r>
            <a:r>
              <a:rPr lang="el-GR" sz="2800"/>
              <a:t>β</a:t>
            </a:r>
            <a:r>
              <a:rPr lang="en-US" sz="2800" baseline="-25000"/>
              <a:t>0 </a:t>
            </a:r>
            <a:r>
              <a:rPr lang="en-US" sz="2800"/>
              <a:t>+ </a:t>
            </a:r>
            <a:r>
              <a:rPr lang="el-GR" sz="2800"/>
              <a:t>β</a:t>
            </a:r>
            <a:r>
              <a:rPr lang="en-US" sz="2800" baseline="-25000"/>
              <a:t>1</a:t>
            </a:r>
            <a:r>
              <a:rPr lang="en-US" sz="2800"/>
              <a:t>X</a:t>
            </a:r>
            <a:r>
              <a:rPr lang="en-US" sz="2800" baseline="-25000"/>
              <a:t>i</a:t>
            </a:r>
            <a:endParaRPr lang="en-US"/>
          </a:p>
          <a:p>
            <a:endParaRPr lang="en-US"/>
          </a:p>
        </p:txBody>
      </p:sp>
      <p:pic>
        <p:nvPicPr>
          <p:cNvPr id="6" name="Picture 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CD2D030E-BFDA-F25B-ADDB-8447F520DE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991" y="3053993"/>
            <a:ext cx="10144018" cy="3804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0753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365C1A-98FC-53A2-D4C1-4561CC8B9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081B4-5633-F5CD-16BC-D4894F8D7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08618420-61DC-C069-0B2F-F4A6E85211E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 r="66161"/>
          <a:stretch/>
        </p:blipFill>
        <p:spPr>
          <a:xfrm>
            <a:off x="-1" y="4060370"/>
            <a:ext cx="4125687" cy="2797629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5CA233E7-7E47-D644-3C32-F92558D33C9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504135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365C1A-98FC-53A2-D4C1-4561CC8B9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081B4-5633-F5CD-16BC-D4894F8D7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F4CE45F-7269-299D-8AD6-DF32D9C7C6B8}"/>
              </a:ext>
            </a:extLst>
          </p:cNvPr>
          <p:cNvSpPr txBox="1">
            <a:spLocks/>
          </p:cNvSpPr>
          <p:nvPr/>
        </p:nvSpPr>
        <p:spPr>
          <a:xfrm>
            <a:off x="4539342" y="1196409"/>
            <a:ext cx="4528458" cy="279762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Negative binomial</a:t>
            </a:r>
          </a:p>
          <a:p>
            <a:r>
              <a:rPr lang="en-US" sz="2400"/>
              <a:t>Counts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mu (mean)</a:t>
            </a:r>
          </a:p>
          <a:p>
            <a:pPr lvl="1"/>
            <a:r>
              <a:rPr lang="en-US" sz="2000"/>
              <a:t>phi (precision)</a:t>
            </a:r>
          </a:p>
          <a:p>
            <a:pPr lvl="2"/>
            <a:r>
              <a:rPr lang="en-US"/>
              <a:t>Inverse of dispersion</a:t>
            </a:r>
          </a:p>
          <a:p>
            <a:r>
              <a:rPr lang="en-US" sz="2400"/>
              <a:t>Link = log</a:t>
            </a:r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08618420-61DC-C069-0B2F-F4A6E85211E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 r="32679"/>
          <a:stretch/>
        </p:blipFill>
        <p:spPr>
          <a:xfrm>
            <a:off x="0" y="4060371"/>
            <a:ext cx="8207829" cy="279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31127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365C1A-98FC-53A2-D4C1-4561CC8B9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E081B4-5633-F5CD-16BC-D4894F8D7C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DCCA35-B32E-6A5E-98E6-FC92AD66B7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25543" y="1196409"/>
            <a:ext cx="3548741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b="1"/>
              <a:t>Binomial</a:t>
            </a:r>
          </a:p>
          <a:p>
            <a:r>
              <a:rPr lang="en-US" sz="2400"/>
              <a:t>Proportions</a:t>
            </a:r>
          </a:p>
          <a:p>
            <a:pPr lvl="1"/>
            <a:r>
              <a:rPr lang="en-US" sz="2000" b="1" u="sng"/>
              <a:t>Binary</a:t>
            </a:r>
            <a:r>
              <a:rPr lang="en-US" sz="2000"/>
              <a:t> or ratio 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Probability</a:t>
            </a:r>
          </a:p>
          <a:p>
            <a:pPr lvl="1"/>
            <a:r>
              <a:rPr lang="en-US" sz="2000"/>
              <a:t># trials</a:t>
            </a:r>
          </a:p>
          <a:p>
            <a:r>
              <a:rPr lang="en-US" sz="2400"/>
              <a:t>Link = logit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F4CE45F-7269-299D-8AD6-DF32D9C7C6B8}"/>
              </a:ext>
            </a:extLst>
          </p:cNvPr>
          <p:cNvSpPr txBox="1">
            <a:spLocks/>
          </p:cNvSpPr>
          <p:nvPr/>
        </p:nvSpPr>
        <p:spPr>
          <a:xfrm>
            <a:off x="4539342" y="1196409"/>
            <a:ext cx="3407229" cy="25395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Negative binomial</a:t>
            </a:r>
          </a:p>
          <a:p>
            <a:r>
              <a:rPr lang="en-US" sz="2400"/>
              <a:t>Counts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mu (mean)</a:t>
            </a:r>
          </a:p>
          <a:p>
            <a:pPr lvl="1"/>
            <a:r>
              <a:rPr lang="en-US" sz="2000"/>
              <a:t>phi (precision)</a:t>
            </a:r>
          </a:p>
          <a:p>
            <a:pPr lvl="2"/>
            <a:r>
              <a:rPr lang="en-US" sz="1600"/>
              <a:t>Inverse of dispersion</a:t>
            </a:r>
          </a:p>
          <a:p>
            <a:r>
              <a:rPr lang="en-US" sz="2400"/>
              <a:t>Link = log</a:t>
            </a:r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08618420-61DC-C069-0B2F-F4A6E85211EF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/>
          <a:stretch/>
        </p:blipFill>
        <p:spPr>
          <a:xfrm>
            <a:off x="-1" y="4060370"/>
            <a:ext cx="12192000" cy="27976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1836897-D33A-D0EC-3D07-065A90AB091C}"/>
              </a:ext>
            </a:extLst>
          </p:cNvPr>
          <p:cNvSpPr/>
          <p:nvPr/>
        </p:nvSpPr>
        <p:spPr>
          <a:xfrm>
            <a:off x="10532808" y="4343400"/>
            <a:ext cx="14478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Prob = 0.20</a:t>
            </a:r>
          </a:p>
        </p:txBody>
      </p:sp>
      <p:pic>
        <p:nvPicPr>
          <p:cNvPr id="11" name="Picture 10" descr="A graph with a bar graph&#10;&#10;AI-generated content may be incorrect.">
            <a:extLst>
              <a:ext uri="{FF2B5EF4-FFF2-40B4-BE49-F238E27FC236}">
                <a16:creationId xmlns:a16="http://schemas.microsoft.com/office/drawing/2014/main" id="{697475C1-9C9A-6897-CB8B-059E96294D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2852" y="4119120"/>
            <a:ext cx="4003007" cy="266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06997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F899B-A4FC-EBCA-14BA-03D64F94A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13646E1-F8B2-6E64-C0E3-B7D52159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en-US"/>
              <a:t>Common distributions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B75D69-FFE9-CBD1-A176-83B018CC7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66056" y="1196409"/>
            <a:ext cx="3407229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400" b="1"/>
              <a:t>Normal (gaussian)</a:t>
            </a:r>
          </a:p>
          <a:p>
            <a:r>
              <a:rPr lang="en-US" sz="2400"/>
              <a:t>Continuous numeric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Mean</a:t>
            </a:r>
          </a:p>
          <a:p>
            <a:pPr lvl="1"/>
            <a:r>
              <a:rPr lang="en-US" sz="2000"/>
              <a:t>Variance (SD)</a:t>
            </a:r>
          </a:p>
          <a:p>
            <a:r>
              <a:rPr lang="en-US" sz="2400"/>
              <a:t>Link = identity (none)</a:t>
            </a:r>
            <a:endParaRPr lang="en-US" sz="200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BAFA52-1C60-6855-5D22-BD8502135A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25543" y="1196409"/>
            <a:ext cx="3548741" cy="253954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600" b="1"/>
              <a:t>Binomial</a:t>
            </a:r>
          </a:p>
          <a:p>
            <a:r>
              <a:rPr lang="en-US" sz="2400"/>
              <a:t>Proportions</a:t>
            </a:r>
          </a:p>
          <a:p>
            <a:pPr lvl="1"/>
            <a:r>
              <a:rPr lang="en-US" sz="2000"/>
              <a:t>Binary or </a:t>
            </a:r>
            <a:r>
              <a:rPr lang="en-US" sz="2000" b="1" u="sng"/>
              <a:t>ratio</a:t>
            </a:r>
            <a:r>
              <a:rPr lang="en-US" sz="2000"/>
              <a:t> 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Probability</a:t>
            </a:r>
          </a:p>
          <a:p>
            <a:pPr lvl="1"/>
            <a:r>
              <a:rPr lang="en-US" sz="2000"/>
              <a:t># trials</a:t>
            </a:r>
          </a:p>
          <a:p>
            <a:r>
              <a:rPr lang="en-US" sz="2400"/>
              <a:t>Link = logit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9214A42A-5CA5-7DF4-B099-507E4E89A19C}"/>
              </a:ext>
            </a:extLst>
          </p:cNvPr>
          <p:cNvSpPr txBox="1">
            <a:spLocks/>
          </p:cNvSpPr>
          <p:nvPr/>
        </p:nvSpPr>
        <p:spPr>
          <a:xfrm>
            <a:off x="4539342" y="1196409"/>
            <a:ext cx="3407229" cy="253954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/>
              <a:t>Negative binomial</a:t>
            </a:r>
          </a:p>
          <a:p>
            <a:r>
              <a:rPr lang="en-US" sz="2400"/>
              <a:t>Counts</a:t>
            </a:r>
          </a:p>
          <a:p>
            <a:r>
              <a:rPr lang="en-US" sz="2400"/>
              <a:t>Parameters</a:t>
            </a:r>
          </a:p>
          <a:p>
            <a:pPr lvl="1"/>
            <a:r>
              <a:rPr lang="en-US" sz="2000"/>
              <a:t>mu (mean)</a:t>
            </a:r>
          </a:p>
          <a:p>
            <a:pPr lvl="1"/>
            <a:r>
              <a:rPr lang="en-US" sz="2000"/>
              <a:t>phi (precision)</a:t>
            </a:r>
          </a:p>
          <a:p>
            <a:pPr lvl="2"/>
            <a:r>
              <a:rPr lang="en-US" sz="1600"/>
              <a:t>Inverse of dispersion</a:t>
            </a:r>
          </a:p>
          <a:p>
            <a:r>
              <a:rPr lang="en-US" sz="2400"/>
              <a:t>Link = log</a:t>
            </a:r>
          </a:p>
        </p:txBody>
      </p:sp>
      <p:pic>
        <p:nvPicPr>
          <p:cNvPr id="10" name="Picture 9" descr="A graph of a negative b&#10;&#10;Description automatically generated">
            <a:extLst>
              <a:ext uri="{FF2B5EF4-FFF2-40B4-BE49-F238E27FC236}">
                <a16:creationId xmlns:a16="http://schemas.microsoft.com/office/drawing/2014/main" id="{A30F474E-020D-671F-1E88-9920B2705DF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51"/>
          <a:stretch/>
        </p:blipFill>
        <p:spPr>
          <a:xfrm>
            <a:off x="-1" y="4060370"/>
            <a:ext cx="12192000" cy="27976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67A2DA7-22AE-EB9D-BB50-5A6BBC9111BB}"/>
              </a:ext>
            </a:extLst>
          </p:cNvPr>
          <p:cNvSpPr/>
          <p:nvPr/>
        </p:nvSpPr>
        <p:spPr>
          <a:xfrm>
            <a:off x="10532808" y="4343400"/>
            <a:ext cx="1447800" cy="4572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Prob = 0.20</a:t>
            </a:r>
          </a:p>
        </p:txBody>
      </p:sp>
    </p:spTree>
    <p:extLst>
      <p:ext uri="{BB962C8B-B14F-4D97-AF65-F5344CB8AC3E}">
        <p14:creationId xmlns:p14="http://schemas.microsoft.com/office/powerpoint/2010/main" val="339485652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14D65-1EEB-AFC9-52F4-FF30F1524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Negative binomial distribution -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287CC-F772-8E06-C811-BBBDF6CDC3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417637"/>
            <a:ext cx="10972800" cy="4525963"/>
          </a:xfrm>
        </p:spPr>
        <p:txBody>
          <a:bodyPr>
            <a:normAutofit fontScale="85000" lnSpcReduction="20000"/>
          </a:bodyPr>
          <a:lstStyle/>
          <a:p>
            <a:r>
              <a:rPr lang="en-US"/>
              <a:t>Discrete probability distribution</a:t>
            </a:r>
          </a:p>
          <a:p>
            <a:pPr lvl="1"/>
            <a:r>
              <a:rPr lang="en-US"/>
              <a:t>Integers: number of events </a:t>
            </a:r>
          </a:p>
          <a:p>
            <a:pPr lvl="1"/>
            <a:r>
              <a:rPr lang="en-US"/>
              <a:t>Events occur randomly (follow Poisson distribution)</a:t>
            </a:r>
          </a:p>
          <a:p>
            <a:pPr lvl="1"/>
            <a:r>
              <a:rPr lang="en-US"/>
              <a:t>Account for “extra” variation </a:t>
            </a:r>
            <a:br>
              <a:rPr lang="en-US"/>
            </a:br>
            <a:r>
              <a:rPr lang="en-US"/>
              <a:t>(beyond </a:t>
            </a:r>
            <a:r>
              <a:rPr lang="en-US" err="1"/>
              <a:t>poisson</a:t>
            </a:r>
            <a:r>
              <a:rPr lang="en-US"/>
              <a:t>)</a:t>
            </a:r>
          </a:p>
          <a:p>
            <a:r>
              <a:rPr lang="en-US"/>
              <a:t>Parameters</a:t>
            </a:r>
          </a:p>
          <a:p>
            <a:pPr lvl="1"/>
            <a:r>
              <a:rPr lang="el-GR"/>
              <a:t>μ</a:t>
            </a:r>
            <a:r>
              <a:rPr lang="en-US"/>
              <a:t> = mean</a:t>
            </a:r>
          </a:p>
          <a:p>
            <a:pPr lvl="1"/>
            <a:r>
              <a:rPr lang="el-GR"/>
              <a:t>φ</a:t>
            </a:r>
            <a:r>
              <a:rPr lang="en-US"/>
              <a:t> = overdispersion parameter </a:t>
            </a:r>
          </a:p>
          <a:p>
            <a:pPr lvl="2"/>
            <a:r>
              <a:rPr lang="en-US"/>
              <a:t>lower values are more overdispersion</a:t>
            </a:r>
          </a:p>
          <a:p>
            <a:pPr lvl="2"/>
            <a:r>
              <a:rPr lang="en-US"/>
              <a:t>higher values converge to Poisson</a:t>
            </a:r>
          </a:p>
          <a:p>
            <a:pPr lvl="1"/>
            <a:r>
              <a:rPr lang="en-US"/>
              <a:t>Var = </a:t>
            </a:r>
            <a:r>
              <a:rPr lang="el-GR"/>
              <a:t>μ</a:t>
            </a:r>
            <a:r>
              <a:rPr lang="en-US"/>
              <a:t> + </a:t>
            </a:r>
            <a:r>
              <a:rPr lang="el-GR"/>
              <a:t>μ</a:t>
            </a:r>
            <a:r>
              <a:rPr lang="en-US" baseline="30000"/>
              <a:t>2</a:t>
            </a:r>
            <a:r>
              <a:rPr lang="en-US"/>
              <a:t> / </a:t>
            </a:r>
            <a:r>
              <a:rPr lang="el-GR"/>
              <a:t>φ</a:t>
            </a:r>
            <a:endParaRPr lang="en-US"/>
          </a:p>
          <a:p>
            <a:pPr lvl="1"/>
            <a:r>
              <a:rPr lang="en-US"/>
              <a:t>Link function = log</a:t>
            </a:r>
          </a:p>
        </p:txBody>
      </p:sp>
      <p:pic>
        <p:nvPicPr>
          <p:cNvPr id="7" name="Picture 6" descr="A graph of a negative binomial distribution&#10;&#10;AI-generated content may be incorrect.">
            <a:extLst>
              <a:ext uri="{FF2B5EF4-FFF2-40B4-BE49-F238E27FC236}">
                <a16:creationId xmlns:a16="http://schemas.microsoft.com/office/drawing/2014/main" id="{D930846B-209E-5E4C-AE49-DC7AAD08EF6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6747" y="2590800"/>
            <a:ext cx="5672853" cy="425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7012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5CA59-B601-4F7C-AE56-B0E6618D1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types of distributions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129D4885-E716-4C0E-BAFF-36456922B8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565074"/>
              </p:ext>
            </p:extLst>
          </p:nvPr>
        </p:nvGraphicFramePr>
        <p:xfrm>
          <a:off x="838202" y="1491517"/>
          <a:ext cx="10515598" cy="4886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23000">
                  <a:extLst>
                    <a:ext uri="{9D8B030D-6E8A-4147-A177-3AD203B41FA5}">
                      <a16:colId xmlns:a16="http://schemas.microsoft.com/office/drawing/2014/main" val="649237723"/>
                    </a:ext>
                  </a:extLst>
                </a:gridCol>
                <a:gridCol w="5527723">
                  <a:extLst>
                    <a:ext uri="{9D8B030D-6E8A-4147-A177-3AD203B41FA5}">
                      <a16:colId xmlns:a16="http://schemas.microsoft.com/office/drawing/2014/main" val="252101083"/>
                    </a:ext>
                  </a:extLst>
                </a:gridCol>
                <a:gridCol w="1667915">
                  <a:extLst>
                    <a:ext uri="{9D8B030D-6E8A-4147-A177-3AD203B41FA5}">
                      <a16:colId xmlns:a16="http://schemas.microsoft.com/office/drawing/2014/main" val="922378452"/>
                    </a:ext>
                  </a:extLst>
                </a:gridCol>
                <a:gridCol w="1596960">
                  <a:extLst>
                    <a:ext uri="{9D8B030D-6E8A-4147-A177-3AD203B41FA5}">
                      <a16:colId xmlns:a16="http://schemas.microsoft.com/office/drawing/2014/main" val="21123946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Type of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Overdisperion</a:t>
                      </a:r>
                      <a:r>
                        <a:rPr lang="en-US"/>
                        <a:t> parameter?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Link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39968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Gaussian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Continuous numeric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21039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Log-normal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Continuous numeric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Identity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42269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Integers,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Natural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2775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Negative binomial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Integers,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Natural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74639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Binomial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Success/failure or presence/absence (binary),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Logit, </a:t>
                      </a:r>
                      <a:r>
                        <a:rPr lang="en-US" err="1"/>
                        <a:t>cloglog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1066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Beta-binomial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Success/failure, presence/absence (binary),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Logit, </a:t>
                      </a:r>
                      <a:r>
                        <a:rPr lang="en-US" err="1"/>
                        <a:t>cloglog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3522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Proportion (when the denominator is not known)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08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ordbeta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Proportion (when the denominator is not known), can have zero’s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921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Gamma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Positive continuous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Inverse,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0301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ziGamma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Positive continuous variable, can haze zero’s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2138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72184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8B2B1-344E-60B1-EBF5-6B05065EC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distribution best matches the data?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86D54A-19DD-0809-1436-151EF6D12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Description of data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5B4164-695B-C37A-4749-9C7B38D644A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/>
              <a:t>Concentrations of chemicals in the soil, most values are low (~0.1 ug/L) but some are high (5-10 ug/L)</a:t>
            </a:r>
          </a:p>
          <a:p>
            <a:pPr marL="457200" indent="-457200">
              <a:buFont typeface="+mj-lt"/>
              <a:buAutoNum type="arabicPeriod"/>
            </a:pPr>
            <a:r>
              <a:rPr lang="en-US"/>
              <a:t>Number of infected and uninfected aphids on plants</a:t>
            </a:r>
          </a:p>
          <a:p>
            <a:pPr marL="457200" indent="-457200">
              <a:buFont typeface="+mj-lt"/>
              <a:buAutoNum type="arabicPeriod"/>
            </a:pPr>
            <a:r>
              <a:rPr lang="en-US"/>
              <a:t>Percent damage on leaves caused by herbivore or pathogens</a:t>
            </a:r>
          </a:p>
          <a:p>
            <a:pPr marL="457200" indent="-457200">
              <a:buFont typeface="+mj-lt"/>
              <a:buAutoNum type="arabicPeriod"/>
            </a:pPr>
            <a:r>
              <a:rPr lang="en-US"/>
              <a:t>Number of thrips on a plants</a:t>
            </a:r>
          </a:p>
          <a:p>
            <a:pPr marL="457200" indent="-457200">
              <a:buFont typeface="+mj-lt"/>
              <a:buAutoNum type="arabicPeriod"/>
            </a:pP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DB7849C-4885-4D0B-CAD0-6F73D69796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010400" y="1535113"/>
            <a:ext cx="4572001" cy="639762"/>
          </a:xfrm>
        </p:spPr>
        <p:txBody>
          <a:bodyPr/>
          <a:lstStyle/>
          <a:p>
            <a:r>
              <a:rPr lang="en-US"/>
              <a:t>Distribution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A5315-9318-0CEF-0C5E-176E1BA160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010400" y="2174875"/>
            <a:ext cx="4572001" cy="3951288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lphaUcPeriod"/>
            </a:pPr>
            <a:r>
              <a:rPr lang="en-US"/>
              <a:t>Normal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Log-normal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Poisson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Negative binomial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Binomial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Beta</a:t>
            </a:r>
          </a:p>
          <a:p>
            <a:pPr marL="457200" indent="-457200">
              <a:buFont typeface="+mj-lt"/>
              <a:buAutoNum type="alphaUcPeriod"/>
            </a:pPr>
            <a:r>
              <a:rPr lang="en-US"/>
              <a:t>Gamma</a:t>
            </a:r>
          </a:p>
        </p:txBody>
      </p:sp>
    </p:spTree>
    <p:extLst>
      <p:ext uri="{BB962C8B-B14F-4D97-AF65-F5344CB8AC3E}">
        <p14:creationId xmlns:p14="http://schemas.microsoft.com/office/powerpoint/2010/main" val="3493454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2. Check GLM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“Conventional” residuals don’t work well for non-normal data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94A7A53-2CFA-743D-7670-CDE90A3B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982" y="2438400"/>
            <a:ext cx="6904036" cy="3452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37E330A-FD1A-3E87-CEDF-A4667AA00FD6}"/>
              </a:ext>
            </a:extLst>
          </p:cNvPr>
          <p:cNvSpPr txBox="1"/>
          <p:nvPr/>
        </p:nvSpPr>
        <p:spPr>
          <a:xfrm>
            <a:off x="2643982" y="5890418"/>
            <a:ext cx="74290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This figure shows residuals fit for count data assuming a Poisson distribution. </a:t>
            </a:r>
            <a:br>
              <a:rPr lang="en-US"/>
            </a:br>
            <a:r>
              <a:rPr lang="en-US"/>
              <a:t>The model (not shown) fits the data well, although the residuals look wonky.</a:t>
            </a:r>
          </a:p>
        </p:txBody>
      </p:sp>
    </p:spTree>
    <p:extLst>
      <p:ext uri="{BB962C8B-B14F-4D97-AF65-F5344CB8AC3E}">
        <p14:creationId xmlns:p14="http://schemas.microsoft.com/office/powerpoint/2010/main" val="318243199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29851-5D0A-B079-1661-0571F9A8D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F39305-27B6-8F1B-0784-E2B1684889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2. Check GLM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4CBD1-4BB4-0477-BDA0-E317E14743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“Regular” residuals often don’t work well for non-normal data</a:t>
            </a:r>
          </a:p>
          <a:p>
            <a:r>
              <a:rPr lang="en-US"/>
              <a:t>Simulated residuals offer a great diagnostic tool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5CA075-1BCA-EBE8-81B8-D80ADE4E2ED6}"/>
              </a:ext>
            </a:extLst>
          </p:cNvPr>
          <p:cNvSpPr txBox="1"/>
          <p:nvPr/>
        </p:nvSpPr>
        <p:spPr>
          <a:xfrm>
            <a:off x="0" y="65209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https://cran.r-project.org/web/packages/DHARMa/vignettes/DHARMa.html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5BA547-95EC-3D68-F2E9-04BBA7040FE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4828" t="7011" r="18879" b="72452"/>
          <a:stretch/>
        </p:blipFill>
        <p:spPr>
          <a:xfrm>
            <a:off x="3589381" y="3123753"/>
            <a:ext cx="5013237" cy="17771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32138F-FCD5-7BA2-64E4-3C85115C6BDD}"/>
              </a:ext>
            </a:extLst>
          </p:cNvPr>
          <p:cNvSpPr txBox="1"/>
          <p:nvPr/>
        </p:nvSpPr>
        <p:spPr>
          <a:xfrm>
            <a:off x="3042744" y="5295921"/>
            <a:ext cx="61065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 err="1">
                <a:solidFill>
                  <a:srgbClr val="404040"/>
                </a:solidFill>
                <a:effectLst/>
                <a:latin typeface="Helvetica Neue"/>
              </a:rPr>
              <a:t>DHARMa</a:t>
            </a:r>
            <a:r>
              <a:rPr lang="en-US" b="0" i="0">
                <a:solidFill>
                  <a:srgbClr val="404040"/>
                </a:solidFill>
                <a:effectLst/>
                <a:latin typeface="Helvetica Neue"/>
              </a:rPr>
              <a:t> stands for “Diagnostics for </a:t>
            </a:r>
            <a:r>
              <a:rPr lang="en-US" b="0" i="0" err="1">
                <a:solidFill>
                  <a:srgbClr val="404040"/>
                </a:solidFill>
                <a:effectLst/>
                <a:latin typeface="Helvetica Neue"/>
              </a:rPr>
              <a:t>HierArchical</a:t>
            </a:r>
            <a:r>
              <a:rPr lang="en-US" b="0" i="0">
                <a:solidFill>
                  <a:srgbClr val="404040"/>
                </a:solidFill>
                <a:effectLst/>
                <a:latin typeface="Helvetica Neue"/>
              </a:rPr>
              <a:t> Regression Models”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8544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4B45C-52C1-1CDF-29C2-6CE85E2D1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638F2-DF35-BD59-6DEA-801A0FE26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Step 2. Check GLM assumptions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4E2D30-53A1-9400-4F00-3DB4F8B46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“Regular” residuals often don’t work well for non-normal data</a:t>
            </a:r>
          </a:p>
          <a:p>
            <a:r>
              <a:rPr lang="en-US"/>
              <a:t>Simulated residuals offer a great diagnostic tool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EFC2FB5-C124-7ED6-2A76-40922A7A0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2719248"/>
            <a:ext cx="6885714" cy="38190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39B19B7-8BD7-93B2-A087-3DE03A1671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696557"/>
            <a:ext cx="5334000" cy="38243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6D58D79-7C26-8268-4D29-C019952F9174}"/>
              </a:ext>
            </a:extLst>
          </p:cNvPr>
          <p:cNvSpPr txBox="1"/>
          <p:nvPr/>
        </p:nvSpPr>
        <p:spPr>
          <a:xfrm>
            <a:off x="0" y="6520934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https://cran.r-project.org/web/packages/DHARMa/vignettes/DHARMa.html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500219-7EB4-5EA8-958C-27BBF48A26A3}"/>
              </a:ext>
            </a:extLst>
          </p:cNvPr>
          <p:cNvCxnSpPr>
            <a:cxnSpLocks/>
          </p:cNvCxnSpPr>
          <p:nvPr/>
        </p:nvCxnSpPr>
        <p:spPr>
          <a:xfrm>
            <a:off x="8001000" y="4419600"/>
            <a:ext cx="3505200" cy="0"/>
          </a:xfrm>
          <a:prstGeom prst="line">
            <a:avLst/>
          </a:prstGeom>
          <a:ln w="381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22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FF79-8219-4223-B6E4-9C42E1C23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Reasons for deviations of residuals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F2AE1-5076-4DCC-9247-D86CBB6706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724399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Mis-specified model</a:t>
            </a:r>
          </a:p>
          <a:p>
            <a:pPr lvl="1"/>
            <a:r>
              <a:rPr lang="en-US"/>
              <a:t>Incorrect distribution (or potentially link function)</a:t>
            </a:r>
          </a:p>
          <a:p>
            <a:pPr lvl="1"/>
            <a:r>
              <a:rPr lang="en-US"/>
              <a:t>Missing fixed effect</a:t>
            </a:r>
          </a:p>
          <a:p>
            <a:pPr lvl="2"/>
            <a:r>
              <a:rPr lang="en-US"/>
              <a:t>Include additional covariates, if available</a:t>
            </a:r>
          </a:p>
          <a:p>
            <a:pPr lvl="2"/>
            <a:r>
              <a:rPr lang="en-US"/>
              <a:t>Check outliners in covariates or influential data points</a:t>
            </a:r>
          </a:p>
          <a:p>
            <a:pPr lvl="2"/>
            <a:r>
              <a:rPr lang="en-US"/>
              <a:t>Include quadratic term</a:t>
            </a:r>
          </a:p>
          <a:p>
            <a:pPr lvl="1"/>
            <a:r>
              <a:rPr lang="en-US"/>
              <a:t>Incorrect random-effect structure</a:t>
            </a:r>
          </a:p>
          <a:p>
            <a:pPr lvl="2"/>
            <a:r>
              <a:rPr lang="en-US"/>
              <a:t>Missing block or </a:t>
            </a:r>
            <a:r>
              <a:rPr lang="en-US" err="1"/>
              <a:t>nestedness</a:t>
            </a:r>
            <a:r>
              <a:rPr lang="en-US"/>
              <a:t>?</a:t>
            </a:r>
          </a:p>
          <a:p>
            <a:pPr lvl="2"/>
            <a:r>
              <a:rPr lang="en-US"/>
              <a:t>Incorrect order of nesting?</a:t>
            </a:r>
          </a:p>
          <a:p>
            <a:r>
              <a:rPr lang="en-US" b="1"/>
              <a:t>Overdispersion </a:t>
            </a:r>
            <a:r>
              <a:rPr lang="en-US"/>
              <a:t>(return to this later)</a:t>
            </a:r>
            <a:endParaRPr lang="en-US" b="1"/>
          </a:p>
          <a:p>
            <a:r>
              <a:rPr lang="en-US"/>
              <a:t>Zero-inflation</a:t>
            </a:r>
          </a:p>
        </p:txBody>
      </p:sp>
    </p:spTree>
    <p:extLst>
      <p:ext uri="{BB962C8B-B14F-4D97-AF65-F5344CB8AC3E}">
        <p14:creationId xmlns:p14="http://schemas.microsoft.com/office/powerpoint/2010/main" val="3881058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2. Check model assumptions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A572-F5FE-6F8C-E7A9-B9CFC8D64FE0}"/>
              </a:ext>
            </a:extLst>
          </p:cNvPr>
          <p:cNvSpPr txBox="1"/>
          <p:nvPr/>
        </p:nvSpPr>
        <p:spPr>
          <a:xfrm>
            <a:off x="1786420" y="2710869"/>
            <a:ext cx="300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 residuals (overdispersion)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861B4-C53B-4B0B-C7A6-A974BC56CA73}"/>
              </a:ext>
            </a:extLst>
          </p:cNvPr>
          <p:cNvSpPr txBox="1"/>
          <p:nvPr/>
        </p:nvSpPr>
        <p:spPr>
          <a:xfrm>
            <a:off x="6747858" y="2617064"/>
            <a:ext cx="420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Bad residuals (wrong dist., overfitting, etc.)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353EE7B-61B2-FF2F-D35A-8AEC6E4F75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00" y="3030472"/>
            <a:ext cx="5046406" cy="3026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0754910-DDC0-C099-B4D2-6A01C4BC1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2413" y="2986396"/>
            <a:ext cx="5418065" cy="3190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309382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61E5-EE3D-4E3A-A67F-DEB2FB16B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overdispersion?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21533-CB43-41D2-874D-8647E30A40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6007" y="1432386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More variation in the data than expected based on the distribution</a:t>
            </a:r>
          </a:p>
          <a:p>
            <a:r>
              <a:rPr lang="en-US" dirty="0"/>
              <a:t>Poisson: </a:t>
            </a:r>
            <a:r>
              <a:rPr lang="el-GR" dirty="0"/>
              <a:t>λ</a:t>
            </a:r>
            <a:r>
              <a:rPr lang="en-US" dirty="0"/>
              <a:t> = mean = variance</a:t>
            </a:r>
          </a:p>
          <a:p>
            <a:r>
              <a:rPr lang="en-US" dirty="0"/>
              <a:t>Most count data: variance &gt; mean</a:t>
            </a:r>
          </a:p>
          <a:p>
            <a:r>
              <a:rPr lang="en-US" dirty="0"/>
              <a:t>Check: </a:t>
            </a:r>
            <a:r>
              <a:rPr lang="el-GR" dirty="0"/>
              <a:t>φ</a:t>
            </a:r>
            <a:r>
              <a:rPr lang="en-US" dirty="0"/>
              <a:t> = </a:t>
            </a:r>
            <a:r>
              <a:rPr lang="el-GR" dirty="0"/>
              <a:t>Σ</a:t>
            </a:r>
            <a:r>
              <a:rPr lang="en-US" dirty="0"/>
              <a:t> Pearson Resid^2/</a:t>
            </a:r>
            <a:r>
              <a:rPr lang="en-US" dirty="0" err="1"/>
              <a:t>df</a:t>
            </a:r>
            <a:endParaRPr lang="en-US" dirty="0"/>
          </a:p>
          <a:p>
            <a:pPr lvl="1"/>
            <a:r>
              <a:rPr lang="en-US" dirty="0"/>
              <a:t>High values = more overdispersion</a:t>
            </a:r>
          </a:p>
          <a:p>
            <a:pPr lvl="1"/>
            <a:r>
              <a:rPr lang="en-US" dirty="0"/>
              <a:t>Alt: </a:t>
            </a:r>
            <a:r>
              <a:rPr lang="el-GR" dirty="0"/>
              <a:t>θ</a:t>
            </a:r>
            <a:r>
              <a:rPr lang="en-US" dirty="0"/>
              <a:t> = overdispersion parameter </a:t>
            </a:r>
          </a:p>
          <a:p>
            <a:pPr lvl="2"/>
            <a:r>
              <a:rPr lang="en-US" dirty="0"/>
              <a:t>lower values are more overdispersion</a:t>
            </a:r>
          </a:p>
          <a:p>
            <a:pPr lvl="2"/>
            <a:r>
              <a:rPr lang="en-US" dirty="0"/>
              <a:t>higher values converge to Poisson</a:t>
            </a:r>
          </a:p>
          <a:p>
            <a:r>
              <a:rPr lang="en-US" dirty="0"/>
              <a:t>Need to correct!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19E165-9B3B-4480-BB80-F58935BEDF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07" y="5645313"/>
            <a:ext cx="9545021" cy="12126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C58A7E3-3E35-9D3E-5588-C8AC220DF64F}"/>
              </a:ext>
            </a:extLst>
          </p:cNvPr>
          <p:cNvSpPr txBox="1"/>
          <p:nvPr/>
        </p:nvSpPr>
        <p:spPr>
          <a:xfrm>
            <a:off x="10600228" y="6488668"/>
            <a:ext cx="15071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Harrison 2014</a:t>
            </a:r>
          </a:p>
        </p:txBody>
      </p:sp>
    </p:spTree>
    <p:extLst>
      <p:ext uri="{BB962C8B-B14F-4D97-AF65-F5344CB8AC3E}">
        <p14:creationId xmlns:p14="http://schemas.microsoft.com/office/powerpoint/2010/main" val="251209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204F0-E44D-4BEE-8405-51EB64796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Processes that generate overdispersion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F1CFD-A4BA-48C6-87B1-BF23F5BA2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Missing co-variates or random effects</a:t>
            </a:r>
          </a:p>
          <a:p>
            <a:r>
              <a:rPr lang="en-US"/>
              <a:t>Sampling (counting) errors</a:t>
            </a:r>
          </a:p>
          <a:p>
            <a:r>
              <a:rPr lang="en-US"/>
              <a:t>Non-independent (</a:t>
            </a:r>
            <a:r>
              <a:rPr lang="en-US" err="1"/>
              <a:t>ie</a:t>
            </a:r>
            <a:r>
              <a:rPr lang="en-US"/>
              <a:t>. </a:t>
            </a:r>
            <a:r>
              <a:rPr lang="en-US" b="1"/>
              <a:t>aggregated</a:t>
            </a:r>
            <a:r>
              <a:rPr lang="en-US"/>
              <a:t>) data</a:t>
            </a:r>
          </a:p>
          <a:p>
            <a:r>
              <a:rPr lang="en-US"/>
              <a:t>Environmental stochasticity</a:t>
            </a:r>
          </a:p>
          <a:p>
            <a:r>
              <a:rPr lang="en-US"/>
              <a:t>Many zeros (mixture of above, others, unknown)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FACD0F-F01B-659F-78FE-A5913340326D}"/>
              </a:ext>
            </a:extLst>
          </p:cNvPr>
          <p:cNvSpPr txBox="1"/>
          <p:nvPr/>
        </p:nvSpPr>
        <p:spPr>
          <a:xfrm>
            <a:off x="7016817" y="6018550"/>
            <a:ext cx="50981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/>
              <a:t>Gelman and Hill 2007</a:t>
            </a:r>
          </a:p>
          <a:p>
            <a:pPr algn="r"/>
            <a:r>
              <a:rPr lang="en-US" sz="2400"/>
              <a:t>Linden and </a:t>
            </a:r>
            <a:r>
              <a:rPr lang="en-US" sz="2400" err="1"/>
              <a:t>Mantyniemi</a:t>
            </a:r>
            <a:r>
              <a:rPr lang="en-US" sz="2400"/>
              <a:t> 2011 Ecology </a:t>
            </a:r>
          </a:p>
        </p:txBody>
      </p:sp>
    </p:spTree>
    <p:extLst>
      <p:ext uri="{BB962C8B-B14F-4D97-AF65-F5344CB8AC3E}">
        <p14:creationId xmlns:p14="http://schemas.microsoft.com/office/powerpoint/2010/main" val="153546012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1BF3B-01B2-4FA0-BE07-242E3AF32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consequences of overdispersion?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C09C9-E5E6-4E85-9068-8BC57C87A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Confidence intervals too small</a:t>
            </a:r>
          </a:p>
          <a:p>
            <a:r>
              <a:rPr lang="en-US"/>
              <a:t>P-values too low, leading to Type I error</a:t>
            </a:r>
          </a:p>
          <a:p>
            <a:r>
              <a:rPr lang="en-US"/>
              <a:t>Biased parameter estimates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53421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Check model parameters using </a:t>
            </a:r>
            <a:r>
              <a:rPr lang="en-US" b="1" dirty="0"/>
              <a:t>summary()</a:t>
            </a:r>
          </a:p>
          <a:p>
            <a:pPr lvl="1"/>
            <a:r>
              <a:rPr lang="en-US" dirty="0"/>
              <a:t>Most useful for random effects and sometimes continuous variables (regression)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9191B67-2533-47C5-9197-D45CABFA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703473"/>
              </p:ext>
            </p:extLst>
          </p:nvPr>
        </p:nvGraphicFramePr>
        <p:xfrm>
          <a:off x="1828800" y="3164786"/>
          <a:ext cx="8534399" cy="3114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081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4620919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Coefficients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Helpful to look at for slopes from regressions. </a:t>
                      </a:r>
                      <a:br>
                        <a:rPr lang="en-US"/>
                      </a:br>
                      <a:r>
                        <a:rPr lang="en-US" b="1"/>
                        <a:t>Not that helpful for categorical variables.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Also helpful is R-square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Helpful to look at for slopes from regressions. </a:t>
                      </a:r>
                      <a:br>
                        <a:rPr lang="en-US"/>
                      </a:br>
                      <a:r>
                        <a:rPr lang="en-US" b="1"/>
                        <a:t>Not that helpful for categorical variables. </a:t>
                      </a:r>
                      <a:br>
                        <a:rPr lang="en-US"/>
                      </a:br>
                      <a:r>
                        <a:rPr lang="en-US"/>
                        <a:t>Random effect variance components.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Singularity (VC=0) can be an issue.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glmmTMB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Helpful to look at for slopes from regressions. Remember slopes predict transformed (via link function) values. </a:t>
                      </a:r>
                    </a:p>
                    <a:p>
                      <a:r>
                        <a:rPr lang="en-US"/>
                        <a:t>Random effect variance components.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Singularity (VC=0) can be an issue.</a:t>
                      </a:r>
                    </a:p>
                    <a:p>
                      <a:r>
                        <a:rPr lang="en-US" dirty="0"/>
                        <a:t>Output doesn’t provide resid deviance.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351700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indent="0">
              <a:buNone/>
            </a:pPr>
            <a:r>
              <a:rPr lang="en-US" dirty="0"/>
              <a:t>Step 3. Check random effects and model components</a:t>
            </a:r>
            <a:endParaRPr lang="en-US" b="1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Investigate model with summary()</a:t>
            </a:r>
          </a:p>
          <a:p>
            <a:r>
              <a:rPr lang="en-US" sz="2600" dirty="0"/>
              <a:t>Random effects</a:t>
            </a:r>
          </a:p>
          <a:p>
            <a:pPr lvl="1"/>
            <a:r>
              <a:rPr lang="en-US" sz="2200" dirty="0"/>
              <a:t>Examine variance components</a:t>
            </a:r>
          </a:p>
          <a:p>
            <a:r>
              <a:rPr lang="en-US" sz="2600" dirty="0"/>
              <a:t>Fixed effects</a:t>
            </a:r>
          </a:p>
          <a:p>
            <a:pPr lvl="1"/>
            <a:r>
              <a:rPr lang="en-US" sz="2200" dirty="0"/>
              <a:t>Check fixed-effect signs, magnitudes, and uncertainty</a:t>
            </a:r>
          </a:p>
          <a:p>
            <a:pPr lvl="1"/>
            <a:r>
              <a:rPr lang="en-US" sz="2200" dirty="0"/>
              <a:t>Consider whether all predictors and interactions remain justified</a:t>
            </a:r>
          </a:p>
          <a:p>
            <a:r>
              <a:rPr lang="en-US" sz="2600" dirty="0"/>
              <a:t>Fit metrics (e.g., AIC)</a:t>
            </a:r>
          </a:p>
          <a:p>
            <a:pPr lvl="1"/>
            <a:r>
              <a:rPr lang="en-US" sz="2200" dirty="0"/>
              <a:t>Compare a set of plausible models</a:t>
            </a:r>
            <a:endParaRPr lang="en-US" sz="2200" i="1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DE3C9C6-6C1B-DF03-BC96-E6E8D9F5BBA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Check random effects </a:t>
            </a:r>
          </a:p>
          <a:p>
            <a:r>
              <a:rPr lang="en-US" sz="2600" dirty="0"/>
              <a:t>Not always necessary</a:t>
            </a:r>
          </a:p>
          <a:p>
            <a:pPr lvl="1"/>
            <a:r>
              <a:rPr lang="en-US" sz="2200" dirty="0"/>
              <a:t>Not all models have/need random effects and non-normal distributions</a:t>
            </a:r>
          </a:p>
          <a:p>
            <a:r>
              <a:rPr lang="en-US" sz="2600" dirty="0"/>
              <a:t>Very small/zero variance components suggest simplification</a:t>
            </a:r>
          </a:p>
          <a:p>
            <a:pPr lvl="1"/>
            <a:r>
              <a:rPr lang="en-US" sz="2200" dirty="0"/>
              <a:t>Singularity can be worth noting (very small VC is </a:t>
            </a:r>
            <a:r>
              <a:rPr lang="en-US" sz="2200" i="1" dirty="0"/>
              <a:t>almost</a:t>
            </a:r>
            <a:r>
              <a:rPr lang="en-US" sz="2200" dirty="0"/>
              <a:t> singular)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8AF487-1D44-0DE2-7E08-8678DDFD6F6E}"/>
              </a:ext>
            </a:extLst>
          </p:cNvPr>
          <p:cNvGrpSpPr/>
          <p:nvPr/>
        </p:nvGrpSpPr>
        <p:grpSpPr>
          <a:xfrm>
            <a:off x="6110932" y="5257799"/>
            <a:ext cx="5558135" cy="912473"/>
            <a:chOff x="1278278" y="4366613"/>
            <a:chExt cx="5558135" cy="912473"/>
          </a:xfrm>
        </p:grpSpPr>
        <p:pic>
          <p:nvPicPr>
            <p:cNvPr id="5" name="Graphic 4" descr="Lights On with solid fill">
              <a:extLst>
                <a:ext uri="{FF2B5EF4-FFF2-40B4-BE49-F238E27FC236}">
                  <a16:creationId xmlns:a16="http://schemas.microsoft.com/office/drawing/2014/main" id="{23D656D9-4248-5E4E-5F4D-C9D4CDCE8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278278" y="4366613"/>
              <a:ext cx="912473" cy="912473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7997B95-3BEF-C35B-0727-D7C5269703A6}"/>
                </a:ext>
              </a:extLst>
            </p:cNvPr>
            <p:cNvSpPr txBox="1"/>
            <p:nvPr/>
          </p:nvSpPr>
          <p:spPr>
            <a:xfrm>
              <a:off x="2190750" y="4366613"/>
              <a:ext cx="4645663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AIC for model comparison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smaller AIC = better fit–complexity trade-off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7352825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7F4EC-75BA-5EAD-F82E-742DA39336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 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CD0CE-00C3-B6DA-897B-0286F18E8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2" descr="Dwight Schrute Teaches Us About Discrete Probability Distributions | by  Andrew Plummer | Towards Data Science">
            <a:extLst>
              <a:ext uri="{FF2B5EF4-FFF2-40B4-BE49-F238E27FC236}">
                <a16:creationId xmlns:a16="http://schemas.microsoft.com/office/drawing/2014/main" id="{1725489A-DB22-02EC-3C90-5AE7AD0CFC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8975" y="2204884"/>
            <a:ext cx="5734050" cy="3952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qr code with black dots&#10;&#10;AI-generated content may be incorrect.">
            <a:extLst>
              <a:ext uri="{FF2B5EF4-FFF2-40B4-BE49-F238E27FC236}">
                <a16:creationId xmlns:a16="http://schemas.microsoft.com/office/drawing/2014/main" id="{E25A6F92-D4B2-1AD2-7867-C9396AE86D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064D0-B1F7-D485-D3E7-A29DDA36D6BD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2579929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Step 4. Check significance of terms in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Where do p-values come from?</a:t>
            </a:r>
          </a:p>
          <a:p>
            <a:r>
              <a:rPr lang="en-US"/>
              <a:t>Estimate parameter values (i.e., slopes or intercepts)</a:t>
            </a:r>
          </a:p>
          <a:p>
            <a:r>
              <a:rPr lang="en-US"/>
              <a:t>Calculate a test-statistic</a:t>
            </a:r>
          </a:p>
          <a:p>
            <a:r>
              <a:rPr lang="en-US"/>
              <a:t>Use a distribution to find your p-value</a:t>
            </a:r>
          </a:p>
          <a:p>
            <a:endParaRPr lang="en-US"/>
          </a:p>
          <a:p>
            <a:pPr marL="0" indent="0">
              <a:buNone/>
            </a:pPr>
            <a:r>
              <a:rPr lang="en-US"/>
              <a:t>Alternative method is AIC model selection</a:t>
            </a:r>
          </a:p>
        </p:txBody>
      </p:sp>
    </p:spTree>
    <p:extLst>
      <p:ext uri="{BB962C8B-B14F-4D97-AF65-F5344CB8AC3E}">
        <p14:creationId xmlns:p14="http://schemas.microsoft.com/office/powerpoint/2010/main" val="317192852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4C0257-623D-DB2E-D76E-E50B185CC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F0EB5-F1BD-4322-E7AB-3ECE2A0F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Step 4. Check significance of terms in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C6F8B-57A8-7726-FB4A-FE792A669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4. Check significance of terms in model</a:t>
            </a:r>
          </a:p>
          <a:p>
            <a:pPr lvl="1"/>
            <a:r>
              <a:rPr lang="en-US"/>
              <a:t>Most useful for categorical variables</a:t>
            </a:r>
          </a:p>
          <a:p>
            <a:pPr lvl="1"/>
            <a:r>
              <a:rPr lang="en-US"/>
              <a:t>Optional (for if using AIC model selection)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6CFF9847-3A16-47E5-4036-F62545513DE3}"/>
              </a:ext>
            </a:extLst>
          </p:cNvPr>
          <p:cNvGraphicFramePr>
            <a:graphicFrameLocks noGrp="1"/>
          </p:cNvGraphicFramePr>
          <p:nvPr/>
        </p:nvGraphicFramePr>
        <p:xfrm>
          <a:off x="1828802" y="3317240"/>
          <a:ext cx="8534399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081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4620919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2438399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ANOVA table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car::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(model, type=2)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Analysis of variance, </a:t>
                      </a:r>
                      <a:br>
                        <a:rPr lang="en-US"/>
                      </a:br>
                      <a:r>
                        <a:rPr lang="en-US"/>
                        <a:t>F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lmerTest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(model) – best option</a:t>
                      </a:r>
                      <a:br>
                        <a:rPr lang="en-US"/>
                      </a:br>
                      <a:r>
                        <a:rPr lang="en-US" i="1"/>
                        <a:t>Or </a:t>
                      </a:r>
                      <a:r>
                        <a:rPr lang="en-US"/>
                        <a:t>car::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(model, type=2)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Analysis of variance, </a:t>
                      </a:r>
                      <a:br>
                        <a:rPr lang="en-US"/>
                      </a:br>
                      <a:r>
                        <a:rPr lang="en-US"/>
                        <a:t>F 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glmmTMB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car::</a:t>
                      </a:r>
                      <a:r>
                        <a:rPr lang="en-US" err="1"/>
                        <a:t>Anova</a:t>
                      </a:r>
                      <a:r>
                        <a:rPr lang="en-US"/>
                        <a:t>(model, type=2)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Analysis of deviance,</a:t>
                      </a:r>
                    </a:p>
                    <a:p>
                      <a:r>
                        <a:rPr lang="en-US"/>
                        <a:t>Wald </a:t>
                      </a:r>
                      <a:r>
                        <a:rPr lang="el-GR"/>
                        <a:t>χ2</a:t>
                      </a:r>
                      <a:r>
                        <a:rPr lang="en-US" baseline="30000"/>
                        <a:t> </a:t>
                      </a:r>
                      <a:r>
                        <a:rPr lang="en-US" baseline="0"/>
                        <a:t>test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165630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376" t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200" y="2174875"/>
                <a:ext cx="5519057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200" y="2174875"/>
                <a:ext cx="5519057" cy="3684588"/>
              </a:xfrm>
              <a:blipFill>
                <a:blip r:embed="rId3"/>
                <a:stretch>
                  <a:fillRect l="-1547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984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uiExpand="1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F522F92-EC04-4CA5-8E90-703FAEC81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Least squares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B2684E1-8F95-499D-9C86-96BC94B50F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slope; Fit represents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endParaRPr lang="en-US"/>
              </a:p>
              <a:p>
                <a:pPr marL="0" indent="0">
                  <a:buNone/>
                </a:pPr>
                <a:endParaRPr lang="en-US"/>
              </a:p>
              <a:p>
                <a:pPr marL="0" indent="0">
                  <a:buNone/>
                </a:pPr>
                <a:endParaRPr lang="en-US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CB2684E1-8F95-499D-9C86-96BC94B50F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  <a:blipFill>
                <a:blip r:embed="rId2"/>
                <a:stretch>
                  <a:fillRect l="-1333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F59FE32E-70C4-424F-88F3-93283D0E868D}"/>
              </a:ext>
            </a:extLst>
          </p:cNvPr>
          <p:cNvSpPr/>
          <p:nvPr/>
        </p:nvSpPr>
        <p:spPr>
          <a:xfrm>
            <a:off x="607767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62CBD7-533E-4056-8D54-688E36B049B1}"/>
              </a:ext>
            </a:extLst>
          </p:cNvPr>
          <p:cNvSpPr txBox="1"/>
          <p:nvPr/>
        </p:nvSpPr>
        <p:spPr>
          <a:xfrm>
            <a:off x="1848227" y="576058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5CF006-1AB0-4564-B73A-627814CF6082}"/>
              </a:ext>
            </a:extLst>
          </p:cNvPr>
          <p:cNvSpPr txBox="1"/>
          <p:nvPr/>
        </p:nvSpPr>
        <p:spPr>
          <a:xfrm>
            <a:off x="240646" y="432480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B5AABE2-796A-41E0-BBBC-EB8F80CE38EB}"/>
              </a:ext>
            </a:extLst>
          </p:cNvPr>
          <p:cNvSpPr/>
          <p:nvPr/>
        </p:nvSpPr>
        <p:spPr>
          <a:xfrm>
            <a:off x="1041147" y="526555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F461597-2AB8-4A96-AACF-C3C7503DEB9D}"/>
              </a:ext>
            </a:extLst>
          </p:cNvPr>
          <p:cNvSpPr/>
          <p:nvPr/>
        </p:nvSpPr>
        <p:spPr>
          <a:xfrm>
            <a:off x="1637167" y="430203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03A60D1-1868-4494-B78B-BA4074E28964}"/>
              </a:ext>
            </a:extLst>
          </p:cNvPr>
          <p:cNvSpPr/>
          <p:nvPr/>
        </p:nvSpPr>
        <p:spPr>
          <a:xfrm>
            <a:off x="2803556" y="408696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520AF87-39DF-4F08-84BF-64E0E90F0EFB}"/>
              </a:ext>
            </a:extLst>
          </p:cNvPr>
          <p:cNvCxnSpPr>
            <a:cxnSpLocks/>
          </p:cNvCxnSpPr>
          <p:nvPr/>
        </p:nvCxnSpPr>
        <p:spPr>
          <a:xfrm>
            <a:off x="1092159" y="4285024"/>
            <a:ext cx="1768866" cy="8318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352DF3-DCCC-4D84-B4A4-A2794963DB7C}"/>
              </a:ext>
            </a:extLst>
          </p:cNvPr>
          <p:cNvCxnSpPr>
            <a:cxnSpLocks/>
            <a:stCxn id="14" idx="4"/>
          </p:cNvCxnSpPr>
          <p:nvPr/>
        </p:nvCxnSpPr>
        <p:spPr>
          <a:xfrm flipH="1">
            <a:off x="2849122" y="4204656"/>
            <a:ext cx="14504" cy="890327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2053191-0375-4E50-B800-08B752D67A70}"/>
              </a:ext>
            </a:extLst>
          </p:cNvPr>
          <p:cNvCxnSpPr>
            <a:cxnSpLocks/>
          </p:cNvCxnSpPr>
          <p:nvPr/>
        </p:nvCxnSpPr>
        <p:spPr>
          <a:xfrm>
            <a:off x="1693537" y="4431060"/>
            <a:ext cx="3699" cy="13834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E9CD0EC-8965-4E81-BE62-9F5404B2DC25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1101217" y="4285024"/>
            <a:ext cx="0" cy="98053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BAA0D6-9757-4430-A3A4-01A5C6AE6C7B}"/>
                  </a:ext>
                </a:extLst>
              </p:cNvPr>
              <p:cNvSpPr txBox="1"/>
              <p:nvPr/>
            </p:nvSpPr>
            <p:spPr>
              <a:xfrm>
                <a:off x="3364229" y="3363948"/>
                <a:ext cx="839527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2BAA0D6-9757-4430-A3A4-01A5C6AE6C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64229" y="3363948"/>
                <a:ext cx="839527" cy="369332"/>
              </a:xfrm>
              <a:prstGeom prst="rect">
                <a:avLst/>
              </a:prstGeom>
              <a:blipFill>
                <a:blip r:embed="rId3"/>
                <a:stretch>
                  <a:fillRect r="-28261" b="-666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8FD6868B-EA00-4148-98BF-7342C42EB28A}"/>
              </a:ext>
            </a:extLst>
          </p:cNvPr>
          <p:cNvSpPr/>
          <p:nvPr/>
        </p:nvSpPr>
        <p:spPr>
          <a:xfrm>
            <a:off x="4635729" y="3446239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15B9E9E-BE71-4EB9-8454-5E482DD4632F}"/>
              </a:ext>
            </a:extLst>
          </p:cNvPr>
          <p:cNvSpPr txBox="1"/>
          <p:nvPr/>
        </p:nvSpPr>
        <p:spPr>
          <a:xfrm>
            <a:off x="5876189" y="5760588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F2632B-CE48-47A2-AA1B-249CABDE5BBB}"/>
              </a:ext>
            </a:extLst>
          </p:cNvPr>
          <p:cNvSpPr txBox="1"/>
          <p:nvPr/>
        </p:nvSpPr>
        <p:spPr>
          <a:xfrm>
            <a:off x="4268608" y="4324799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9BBA6A8-A841-4395-8990-8590F6A86B9F}"/>
              </a:ext>
            </a:extLst>
          </p:cNvPr>
          <p:cNvSpPr/>
          <p:nvPr/>
        </p:nvSpPr>
        <p:spPr>
          <a:xfrm>
            <a:off x="5069109" y="526555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850CC54-7F27-4A2B-8072-0596062D740A}"/>
              </a:ext>
            </a:extLst>
          </p:cNvPr>
          <p:cNvSpPr/>
          <p:nvPr/>
        </p:nvSpPr>
        <p:spPr>
          <a:xfrm>
            <a:off x="5665129" y="43020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2EA829E-05B8-49C6-95AF-EE33688C1490}"/>
              </a:ext>
            </a:extLst>
          </p:cNvPr>
          <p:cNvSpPr/>
          <p:nvPr/>
        </p:nvSpPr>
        <p:spPr>
          <a:xfrm>
            <a:off x="6831518" y="408696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731DCCE-D0A8-42EB-ADAE-D2D25FE2762E}"/>
              </a:ext>
            </a:extLst>
          </p:cNvPr>
          <p:cNvCxnSpPr>
            <a:cxnSpLocks/>
          </p:cNvCxnSpPr>
          <p:nvPr/>
        </p:nvCxnSpPr>
        <p:spPr>
          <a:xfrm flipV="1">
            <a:off x="5069109" y="4586409"/>
            <a:ext cx="1882548" cy="1700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66568F-13B5-4A72-9559-C11A03A5FDC3}"/>
              </a:ext>
            </a:extLst>
          </p:cNvPr>
          <p:cNvCxnSpPr>
            <a:stCxn id="32" idx="4"/>
          </p:cNvCxnSpPr>
          <p:nvPr/>
        </p:nvCxnSpPr>
        <p:spPr>
          <a:xfrm flipH="1">
            <a:off x="6891587" y="4204655"/>
            <a:ext cx="1" cy="39875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412D23-FF5C-4603-9FA8-61C9197488E4}"/>
              </a:ext>
            </a:extLst>
          </p:cNvPr>
          <p:cNvCxnSpPr>
            <a:cxnSpLocks/>
          </p:cNvCxnSpPr>
          <p:nvPr/>
        </p:nvCxnSpPr>
        <p:spPr>
          <a:xfrm flipH="1">
            <a:off x="5721497" y="4431059"/>
            <a:ext cx="2" cy="163852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425E0A2-7A26-447F-BEBA-A83663D35326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5125299" y="4599950"/>
            <a:ext cx="3880" cy="6656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9BA9613-F24D-42F6-9CDA-C155D5842EF7}"/>
              </a:ext>
            </a:extLst>
          </p:cNvPr>
          <p:cNvCxnSpPr>
            <a:cxnSpLocks/>
          </p:cNvCxnSpPr>
          <p:nvPr/>
        </p:nvCxnSpPr>
        <p:spPr>
          <a:xfrm>
            <a:off x="7646043" y="5094983"/>
            <a:ext cx="3880" cy="66560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82E9F40-698A-407D-BFB0-ECE0FA494418}"/>
              </a:ext>
            </a:extLst>
          </p:cNvPr>
          <p:cNvCxnSpPr>
            <a:cxnSpLocks/>
          </p:cNvCxnSpPr>
          <p:nvPr/>
        </p:nvCxnSpPr>
        <p:spPr>
          <a:xfrm flipH="1">
            <a:off x="7646043" y="4931131"/>
            <a:ext cx="2" cy="16385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8F8ECB8-0D42-4A38-9830-6E1D74537105}"/>
              </a:ext>
            </a:extLst>
          </p:cNvPr>
          <p:cNvCxnSpPr/>
          <p:nvPr/>
        </p:nvCxnSpPr>
        <p:spPr>
          <a:xfrm flipH="1">
            <a:off x="7649923" y="4532373"/>
            <a:ext cx="1" cy="39875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2CD112-19BC-48EC-B0A9-22DA33499580}"/>
                  </a:ext>
                </a:extLst>
              </p:cNvPr>
              <p:cNvSpPr txBox="1"/>
              <p:nvPr/>
            </p:nvSpPr>
            <p:spPr>
              <a:xfrm>
                <a:off x="7364742" y="4028104"/>
                <a:ext cx="978744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2CD112-19BC-48EC-B0A9-22DA33499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4742" y="4028104"/>
                <a:ext cx="978744" cy="369332"/>
              </a:xfrm>
              <a:prstGeom prst="rect">
                <a:avLst/>
              </a:prstGeom>
              <a:blipFill>
                <a:blip r:embed="rId4"/>
                <a:stretch>
                  <a:fillRect r="-10559" b="-666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09990D6F-4757-4922-95BE-B4A87846AE90}"/>
              </a:ext>
            </a:extLst>
          </p:cNvPr>
          <p:cNvSpPr/>
          <p:nvPr/>
        </p:nvSpPr>
        <p:spPr>
          <a:xfrm>
            <a:off x="8672201" y="3429234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DD77F4-A9AE-41C3-B949-0336484C4733}"/>
              </a:ext>
            </a:extLst>
          </p:cNvPr>
          <p:cNvSpPr txBox="1"/>
          <p:nvPr/>
        </p:nvSpPr>
        <p:spPr>
          <a:xfrm>
            <a:off x="9912661" y="5743583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7F9BDBD-24D2-4919-93E6-5FDAF54FAA71}"/>
              </a:ext>
            </a:extLst>
          </p:cNvPr>
          <p:cNvSpPr txBox="1"/>
          <p:nvPr/>
        </p:nvSpPr>
        <p:spPr>
          <a:xfrm>
            <a:off x="8305080" y="4307794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83543EE-4D14-40B6-80DC-AD4FDBB728A0}"/>
              </a:ext>
            </a:extLst>
          </p:cNvPr>
          <p:cNvSpPr/>
          <p:nvPr/>
        </p:nvSpPr>
        <p:spPr>
          <a:xfrm>
            <a:off x="9105581" y="524855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52D4A03-0C23-4BD4-96A7-2CC99BA93E54}"/>
              </a:ext>
            </a:extLst>
          </p:cNvPr>
          <p:cNvSpPr/>
          <p:nvPr/>
        </p:nvSpPr>
        <p:spPr>
          <a:xfrm>
            <a:off x="9701601" y="4285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2DA9A37B-F0B4-4FA7-B93B-83657DB9A629}"/>
              </a:ext>
            </a:extLst>
          </p:cNvPr>
          <p:cNvSpPr/>
          <p:nvPr/>
        </p:nvSpPr>
        <p:spPr>
          <a:xfrm>
            <a:off x="10867990" y="406995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CF5C610-CB15-402F-99C9-7CA86EB040A6}"/>
              </a:ext>
            </a:extLst>
          </p:cNvPr>
          <p:cNvCxnSpPr>
            <a:cxnSpLocks/>
          </p:cNvCxnSpPr>
          <p:nvPr/>
        </p:nvCxnSpPr>
        <p:spPr>
          <a:xfrm flipV="1">
            <a:off x="9105581" y="3937019"/>
            <a:ext cx="1818084" cy="12355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683C624-145C-4A27-B1BB-1BA93FC29969}"/>
              </a:ext>
            </a:extLst>
          </p:cNvPr>
          <p:cNvCxnSpPr>
            <a:cxnSpLocks/>
          </p:cNvCxnSpPr>
          <p:nvPr/>
        </p:nvCxnSpPr>
        <p:spPr>
          <a:xfrm>
            <a:off x="10923665" y="3937019"/>
            <a:ext cx="1" cy="132936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64E3BC92-44A4-4416-8C3E-AFD832F92DD5}"/>
              </a:ext>
            </a:extLst>
          </p:cNvPr>
          <p:cNvCxnSpPr>
            <a:cxnSpLocks/>
          </p:cNvCxnSpPr>
          <p:nvPr/>
        </p:nvCxnSpPr>
        <p:spPr>
          <a:xfrm>
            <a:off x="9757971" y="4414054"/>
            <a:ext cx="0" cy="317698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0A0D9E4-4CA8-4725-B578-75791B74849F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9165650" y="5116849"/>
            <a:ext cx="1" cy="13170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DD2E3CA-8DDC-4B7C-8330-5DF312192561}"/>
                  </a:ext>
                </a:extLst>
              </p:cNvPr>
              <p:cNvSpPr txBox="1"/>
              <p:nvPr/>
            </p:nvSpPr>
            <p:spPr>
              <a:xfrm>
                <a:off x="11402651" y="4745357"/>
                <a:ext cx="978744" cy="369332"/>
              </a:xfrm>
              <a:prstGeom prst="rect">
                <a:avLst/>
              </a:prstGeom>
              <a:noFill/>
              <a:ln w="381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− </m:t>
                      </m:r>
                      <m:acc>
                        <m:accPr>
                          <m:chr m:val="̅"/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DD2E3CA-8DDC-4B7C-8330-5DF312192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02651" y="4745357"/>
                <a:ext cx="978744" cy="369332"/>
              </a:xfrm>
              <a:prstGeom prst="rect">
                <a:avLst/>
              </a:prstGeom>
              <a:blipFill>
                <a:blip r:embed="rId5"/>
                <a:stretch>
                  <a:fillRect r="-10625" b="-6557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F3C881B6-B248-4A7B-B157-AD529D464ECF}"/>
              </a:ext>
            </a:extLst>
          </p:cNvPr>
          <p:cNvCxnSpPr>
            <a:cxnSpLocks/>
          </p:cNvCxnSpPr>
          <p:nvPr/>
        </p:nvCxnSpPr>
        <p:spPr>
          <a:xfrm>
            <a:off x="3507930" y="4780056"/>
            <a:ext cx="0" cy="98053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A62EDAD-A0C9-4531-9C8D-19933A247342}"/>
              </a:ext>
            </a:extLst>
          </p:cNvPr>
          <p:cNvCxnSpPr>
            <a:cxnSpLocks/>
          </p:cNvCxnSpPr>
          <p:nvPr/>
        </p:nvCxnSpPr>
        <p:spPr>
          <a:xfrm flipH="1">
            <a:off x="3499363" y="3896601"/>
            <a:ext cx="14504" cy="8903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52DF2D3-ED0E-4262-8E0E-87460B348009}"/>
              </a:ext>
            </a:extLst>
          </p:cNvPr>
          <p:cNvCxnSpPr>
            <a:cxnSpLocks/>
          </p:cNvCxnSpPr>
          <p:nvPr/>
        </p:nvCxnSpPr>
        <p:spPr>
          <a:xfrm>
            <a:off x="3515187" y="3769369"/>
            <a:ext cx="3699" cy="13834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F467D72-624B-4428-8BE5-989543116043}"/>
              </a:ext>
            </a:extLst>
          </p:cNvPr>
          <p:cNvCxnSpPr>
            <a:cxnSpLocks/>
          </p:cNvCxnSpPr>
          <p:nvPr/>
        </p:nvCxnSpPr>
        <p:spPr>
          <a:xfrm>
            <a:off x="11550532" y="5598300"/>
            <a:ext cx="1" cy="13170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F204F496-10C2-4A65-A5A2-7FF79E6E5B83}"/>
              </a:ext>
            </a:extLst>
          </p:cNvPr>
          <p:cNvCxnSpPr>
            <a:cxnSpLocks/>
          </p:cNvCxnSpPr>
          <p:nvPr/>
        </p:nvCxnSpPr>
        <p:spPr>
          <a:xfrm>
            <a:off x="11550532" y="5280602"/>
            <a:ext cx="0" cy="3176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E50B4A8-89E4-468B-8E68-7B054D4DF634}"/>
              </a:ext>
            </a:extLst>
          </p:cNvPr>
          <p:cNvCxnSpPr>
            <a:cxnSpLocks/>
          </p:cNvCxnSpPr>
          <p:nvPr/>
        </p:nvCxnSpPr>
        <p:spPr>
          <a:xfrm>
            <a:off x="11550871" y="5147666"/>
            <a:ext cx="1" cy="132936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AAAEA5D8-1F7A-4FF7-81F8-E20BD2A212BD}"/>
              </a:ext>
            </a:extLst>
          </p:cNvPr>
          <p:cNvSpPr txBox="1"/>
          <p:nvPr/>
        </p:nvSpPr>
        <p:spPr>
          <a:xfrm>
            <a:off x="1620147" y="35789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-1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509C28-806D-4E1D-91C1-D32EEFAF0D32}"/>
              </a:ext>
            </a:extLst>
          </p:cNvPr>
          <p:cNvSpPr txBox="1"/>
          <p:nvPr/>
        </p:nvSpPr>
        <p:spPr>
          <a:xfrm>
            <a:off x="5645738" y="3497004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5FA42B27-E524-4806-92E9-D2B4EC47CFCA}"/>
              </a:ext>
            </a:extLst>
          </p:cNvPr>
          <p:cNvSpPr txBox="1"/>
          <p:nvPr/>
        </p:nvSpPr>
        <p:spPr>
          <a:xfrm>
            <a:off x="9654721" y="3475354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267701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 animBg="1"/>
      <p:bldP spid="14" grpId="0" animBg="1"/>
      <p:bldP spid="26" grpId="0"/>
      <p:bldP spid="27" grpId="0" animBg="1"/>
      <p:bldP spid="28" grpId="0"/>
      <p:bldP spid="29" grpId="0"/>
      <p:bldP spid="30" grpId="0" animBg="1"/>
      <p:bldP spid="31" grpId="0" animBg="1"/>
      <p:bldP spid="32" grpId="0" animBg="1"/>
      <p:bldP spid="40" grpId="0"/>
      <p:bldP spid="41" grpId="0" animBg="1"/>
      <p:bldP spid="42" grpId="0"/>
      <p:bldP spid="43" grpId="0"/>
      <p:bldP spid="44" grpId="0" animBg="1"/>
      <p:bldP spid="45" grpId="0" animBg="1"/>
      <p:bldP spid="46" grpId="0" animBg="1"/>
      <p:bldP spid="54" grpId="0"/>
      <p:bldP spid="82" grpId="0"/>
      <p:bldP spid="83" grpId="0"/>
      <p:bldP spid="84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/>
                  <a:t>: How likely is </a:t>
                </a:r>
                <a:r>
                  <a:rPr lang="el-GR"/>
                  <a:t>β</a:t>
                </a:r>
                <a:r>
                  <a:rPr lang="en-US"/>
                  <a:t> given the observed data (y)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3"/>
                <a:ext cx="10515600" cy="4351338"/>
              </a:xfrm>
              <a:blipFill>
                <a:blip r:embed="rId2"/>
                <a:stretch>
                  <a:fillRect l="-1333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>
            <a:off x="2904362" y="4267784"/>
            <a:ext cx="1768866" cy="8318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00B511-EFB4-435A-9416-D7E4BD6586F1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98F9553-C69C-4A92-A0DC-802C5AA90F0F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-1</a:t>
            </a:r>
          </a:p>
        </p:txBody>
      </p:sp>
    </p:spTree>
    <p:extLst>
      <p:ext uri="{BB962C8B-B14F-4D97-AF65-F5344CB8AC3E}">
        <p14:creationId xmlns:p14="http://schemas.microsoft.com/office/powerpoint/2010/main" val="1000677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 animBg="1"/>
      <p:bldP spid="9" grpId="0" animBg="1"/>
      <p:bldP spid="15" grpId="0" animBg="1"/>
      <p:bldP spid="16" grpId="0"/>
      <p:bldP spid="17" grpId="0"/>
      <p:bldP spid="18" grpId="0"/>
      <p:bldP spid="19" grpId="0"/>
      <p:bldP spid="20" grpId="0"/>
      <p:bldP spid="21" grpId="0" animBg="1"/>
      <p:bldP spid="22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5"/>
                <a:ext cx="108966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m:rPr>
                        <m:nor/>
                      </m:rPr>
                      <a:rPr lang="en-US" dirty="0"/>
                      <m:t>: </m:t>
                    </m:r>
                    <m:r>
                      <m:rPr>
                        <m:nor/>
                      </m:rPr>
                      <a:rPr lang="en-US" dirty="0"/>
                      <m:t>How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likely</m:t>
                    </m:r>
                    <m:r>
                      <m:rPr>
                        <m:nor/>
                      </m:rPr>
                      <a:rPr lang="en-US" b="0" i="0" dirty="0" smtClean="0"/>
                      <m:t> (</m:t>
                    </m:r>
                    <m:r>
                      <m:rPr>
                        <m:nor/>
                      </m:rPr>
                      <a:rPr lang="en-US" b="0" i="0" dirty="0" smtClean="0"/>
                      <m:t>probable</m:t>
                    </m:r>
                    <m:r>
                      <m:rPr>
                        <m:nor/>
                      </m:rPr>
                      <a:rPr lang="en-US" b="0" i="0" dirty="0" smtClean="0"/>
                      <m:t>) </m:t>
                    </m:r>
                    <m:r>
                      <m:rPr>
                        <m:nor/>
                      </m:rPr>
                      <a:rPr lang="en-US" dirty="0"/>
                      <m:t>is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given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the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observed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data</m:t>
                    </m:r>
                    <m:r>
                      <m:rPr>
                        <m:nor/>
                      </m:rPr>
                      <a:rPr lang="en-US" dirty="0"/>
                      <m:t> (</m:t>
                    </m:r>
                    <m:r>
                      <m:rPr>
                        <m:nor/>
                      </m:rPr>
                      <a:rPr lang="en-US" dirty="0"/>
                      <m:t>y</m:t>
                    </m:r>
                    <m:r>
                      <m:rPr>
                        <m:nor/>
                      </m:rPr>
                      <a:rPr lang="en-US" dirty="0"/>
                      <m:t>)</m:t>
                    </m:r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dirty="0"/>
                      <m:t>slope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5"/>
                <a:ext cx="10896600" cy="4351338"/>
              </a:xfrm>
              <a:blipFill>
                <a:blip r:embed="rId2"/>
                <a:stretch>
                  <a:fillRect l="-1287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>
            <a:off x="2853350" y="4721109"/>
            <a:ext cx="188254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B6D5476-9078-424A-9B4B-A5AC0C8B6BAC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3518259-2F67-4977-869F-4E4999A2F041}"/>
              </a:ext>
            </a:extLst>
          </p:cNvPr>
          <p:cNvSpPr/>
          <p:nvPr/>
        </p:nvSpPr>
        <p:spPr>
          <a:xfrm>
            <a:off x="8264306" y="446761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81ED2-BBE7-47E6-9EF0-73DDB30276AD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61187707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7"/>
                <a:ext cx="108204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m:rPr>
                        <m:nor/>
                      </m:rPr>
                      <a:rPr lang="en-US" dirty="0"/>
                      <m:t>: </m:t>
                    </m:r>
                    <m:r>
                      <m:rPr>
                        <m:nor/>
                      </m:rPr>
                      <a:rPr lang="en-US" dirty="0"/>
                      <m:t>How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likely</m:t>
                    </m:r>
                    <m:r>
                      <m:rPr>
                        <m:nor/>
                      </m:rPr>
                      <a:rPr lang="en-US" b="0" i="0" dirty="0" smtClean="0"/>
                      <m:t> (</m:t>
                    </m:r>
                    <m:r>
                      <m:rPr>
                        <m:nor/>
                      </m:rPr>
                      <a:rPr lang="en-US" b="0" i="0" dirty="0" smtClean="0"/>
                      <m:t>probable</m:t>
                    </m:r>
                    <m:r>
                      <m:rPr>
                        <m:nor/>
                      </m:rPr>
                      <a:rPr lang="en-US" b="0" i="0" dirty="0" smtClean="0"/>
                      <m:t>) </m:t>
                    </m:r>
                    <m:r>
                      <m:rPr>
                        <m:nor/>
                      </m:rPr>
                      <a:rPr lang="en-US" dirty="0"/>
                      <m:t>is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given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the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observed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data</m:t>
                    </m:r>
                    <m:r>
                      <m:rPr>
                        <m:nor/>
                      </m:rPr>
                      <a:rPr lang="en-US" dirty="0"/>
                      <m:t> (</m:t>
                    </m:r>
                    <m:r>
                      <m:rPr>
                        <m:nor/>
                      </m:rPr>
                      <a:rPr lang="en-US" dirty="0"/>
                      <m:t>y</m:t>
                    </m:r>
                    <m:r>
                      <m:rPr>
                        <m:nor/>
                      </m:rPr>
                      <a:rPr lang="en-US" dirty="0"/>
                      <m:t>)</m:t>
                    </m:r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= </m:t>
                    </m:r>
                    <m:r>
                      <m:rPr>
                        <m:nor/>
                      </m:rPr>
                      <a:rPr lang="en-US" dirty="0"/>
                      <m:t>slope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7"/>
                <a:ext cx="10820400" cy="4351338"/>
              </a:xfrm>
              <a:blipFill>
                <a:blip r:embed="rId2"/>
                <a:stretch>
                  <a:fillRect l="-1296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 flipV="1">
            <a:off x="2853350" y="3952026"/>
            <a:ext cx="1882548" cy="1208449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B4F76C6-2F58-4A4C-B94D-ED4F4AAC3F2E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4A833DB-6BAA-4EAA-94E2-B244043DF181}"/>
              </a:ext>
            </a:extLst>
          </p:cNvPr>
          <p:cNvSpPr/>
          <p:nvPr/>
        </p:nvSpPr>
        <p:spPr>
          <a:xfrm>
            <a:off x="8264306" y="446761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5DBAD9D-C04E-4221-A4FA-839DE529C553}"/>
              </a:ext>
            </a:extLst>
          </p:cNvPr>
          <p:cNvSpPr/>
          <p:nvPr/>
        </p:nvSpPr>
        <p:spPr>
          <a:xfrm>
            <a:off x="8950729" y="391581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16D277-DF1F-4081-8041-31BED124FE2E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119067437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3853E-4E6A-492D-85C2-008A58B13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Maximum likelihood estimation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08348"/>
                <a:ext cx="10744200" cy="435133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m:rPr>
                        <m:nor/>
                      </m:rPr>
                      <a:rPr lang="en-US" dirty="0"/>
                      <m:t>: </m:t>
                    </m:r>
                    <m:r>
                      <m:rPr>
                        <m:nor/>
                      </m:rPr>
                      <a:rPr lang="en-US" dirty="0"/>
                      <m:t>How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likely</m:t>
                    </m:r>
                    <m:r>
                      <m:rPr>
                        <m:nor/>
                      </m:rPr>
                      <a:rPr lang="en-US" b="0" i="0" dirty="0" smtClean="0"/>
                      <m:t> (</m:t>
                    </m:r>
                    <m:r>
                      <m:rPr>
                        <m:nor/>
                      </m:rPr>
                      <a:rPr lang="en-US" b="0" i="0" dirty="0" smtClean="0"/>
                      <m:t>probable</m:t>
                    </m:r>
                    <m:r>
                      <m:rPr>
                        <m:nor/>
                      </m:rPr>
                      <a:rPr lang="en-US" b="0" i="0" dirty="0" smtClean="0"/>
                      <m:t>) </m:t>
                    </m:r>
                    <m:r>
                      <m:rPr>
                        <m:nor/>
                      </m:rPr>
                      <a:rPr lang="en-US" dirty="0"/>
                      <m:t>is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given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the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observed</m:t>
                    </m:r>
                    <m:r>
                      <m:rPr>
                        <m:nor/>
                      </m:rPr>
                      <a:rPr lang="en-US" dirty="0"/>
                      <m:t> </m:t>
                    </m:r>
                    <m:r>
                      <m:rPr>
                        <m:nor/>
                      </m:rPr>
                      <a:rPr lang="en-US" dirty="0"/>
                      <m:t>data</m:t>
                    </m:r>
                    <m:r>
                      <m:rPr>
                        <m:nor/>
                      </m:rPr>
                      <a:rPr lang="en-US" dirty="0"/>
                      <m:t> (</m:t>
                    </m:r>
                    <m:r>
                      <m:rPr>
                        <m:nor/>
                      </m:rPr>
                      <a:rPr lang="en-US" dirty="0"/>
                      <m:t>y</m:t>
                    </m:r>
                    <m:r>
                      <m:rPr>
                        <m:nor/>
                      </m:rPr>
                      <a:rPr lang="en-US" dirty="0"/>
                      <m:t>)</m:t>
                    </m:r>
                  </m:oMath>
                </a14:m>
                <a:endParaRPr lang="en-US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l-GR" dirty="0"/>
                      <m:t>β</m:t>
                    </m:r>
                    <m:r>
                      <m:rPr>
                        <m:nor/>
                      </m:rPr>
                      <a:rPr lang="en-US" dirty="0"/>
                      <m:t> =</m:t>
                    </m:r>
                    <m:r>
                      <m:rPr>
                        <m:nor/>
                      </m:rPr>
                      <a:rPr lang="en-US" dirty="0" smtClean="0"/>
                      <m:t> </m:t>
                    </m:r>
                    <m:r>
                      <m:rPr>
                        <m:nor/>
                      </m:rPr>
                      <a:rPr lang="en-US" dirty="0" smtClean="0"/>
                      <m:t>slope</m:t>
                    </m:r>
                  </m:oMath>
                </a14:m>
                <a:endParaRPr lang="en-US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4CA56-3E0C-4364-99C0-9E0A8824CF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08348"/>
                <a:ext cx="10744200" cy="4351338"/>
              </a:xfrm>
              <a:blipFill>
                <a:blip r:embed="rId2"/>
                <a:stretch>
                  <a:fillRect l="-13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5385FE6-BFC3-4DA8-8959-72D24FF16A9D}"/>
              </a:ext>
            </a:extLst>
          </p:cNvPr>
          <p:cNvSpPr/>
          <p:nvPr/>
        </p:nvSpPr>
        <p:spPr>
          <a:xfrm>
            <a:off x="2419970" y="342900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F2F156-6932-4134-96B2-CF150D968ED1}"/>
              </a:ext>
            </a:extLst>
          </p:cNvPr>
          <p:cNvSpPr txBox="1"/>
          <p:nvPr/>
        </p:nvSpPr>
        <p:spPr>
          <a:xfrm>
            <a:off x="3660430" y="5743349"/>
            <a:ext cx="3401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2A2811-25BF-4BE7-AD59-5326E98931C2}"/>
              </a:ext>
            </a:extLst>
          </p:cNvPr>
          <p:cNvSpPr txBox="1"/>
          <p:nvPr/>
        </p:nvSpPr>
        <p:spPr>
          <a:xfrm>
            <a:off x="2052849" y="4307560"/>
            <a:ext cx="3465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y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EC6521-BA20-451C-9C94-A02127F11ED1}"/>
              </a:ext>
            </a:extLst>
          </p:cNvPr>
          <p:cNvSpPr/>
          <p:nvPr/>
        </p:nvSpPr>
        <p:spPr>
          <a:xfrm>
            <a:off x="2853350" y="5248316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DE9C1D-4E70-4031-AF3B-7D7D7422980F}"/>
              </a:ext>
            </a:extLst>
          </p:cNvPr>
          <p:cNvSpPr/>
          <p:nvPr/>
        </p:nvSpPr>
        <p:spPr>
          <a:xfrm>
            <a:off x="3449370" y="428479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8444FD8-C389-4368-8CFB-2FF52E8B1313}"/>
              </a:ext>
            </a:extLst>
          </p:cNvPr>
          <p:cNvSpPr/>
          <p:nvPr/>
        </p:nvSpPr>
        <p:spPr>
          <a:xfrm>
            <a:off x="4615759" y="4069721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0ED2C3-E843-45EA-9117-67DA2F98E9D3}"/>
              </a:ext>
            </a:extLst>
          </p:cNvPr>
          <p:cNvCxnSpPr>
            <a:cxnSpLocks/>
          </p:cNvCxnSpPr>
          <p:nvPr/>
        </p:nvCxnSpPr>
        <p:spPr>
          <a:xfrm flipV="1">
            <a:off x="2973489" y="3548958"/>
            <a:ext cx="1730969" cy="205641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233B24EB-BDAF-4557-89C9-A11801171E79}"/>
              </a:ext>
            </a:extLst>
          </p:cNvPr>
          <p:cNvSpPr/>
          <p:nvPr/>
        </p:nvSpPr>
        <p:spPr>
          <a:xfrm>
            <a:off x="7007058" y="344624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CBAB26-8F28-4D2A-93CA-6FD052B503A6}"/>
              </a:ext>
            </a:extLst>
          </p:cNvPr>
          <p:cNvSpPr txBox="1"/>
          <p:nvPr/>
        </p:nvSpPr>
        <p:spPr>
          <a:xfrm rot="16200000">
            <a:off x="5077363" y="409211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F69C2E-0F22-4C43-B154-2A64870E869A}"/>
              </a:ext>
            </a:extLst>
          </p:cNvPr>
          <p:cNvSpPr txBox="1"/>
          <p:nvPr/>
        </p:nvSpPr>
        <p:spPr>
          <a:xfrm>
            <a:off x="7107206" y="609155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D80030-6878-4C31-81AE-72937E788B3C}"/>
              </a:ext>
            </a:extLst>
          </p:cNvPr>
          <p:cNvSpPr txBox="1"/>
          <p:nvPr/>
        </p:nvSpPr>
        <p:spPr>
          <a:xfrm>
            <a:off x="8238701" y="578411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CB7052-A627-4ADE-9F5D-EB530115D5EC}"/>
              </a:ext>
            </a:extLst>
          </p:cNvPr>
          <p:cNvSpPr txBox="1"/>
          <p:nvPr/>
        </p:nvSpPr>
        <p:spPr>
          <a:xfrm>
            <a:off x="7472036" y="578254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213341-8074-4135-8FC4-161A8E74B582}"/>
              </a:ext>
            </a:extLst>
          </p:cNvPr>
          <p:cNvSpPr txBox="1"/>
          <p:nvPr/>
        </p:nvSpPr>
        <p:spPr>
          <a:xfrm>
            <a:off x="8920025" y="578660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00B511-EFB4-435A-9416-D7E4BD6586F1}"/>
              </a:ext>
            </a:extLst>
          </p:cNvPr>
          <p:cNvSpPr/>
          <p:nvPr/>
        </p:nvSpPr>
        <p:spPr>
          <a:xfrm>
            <a:off x="7598075" y="528588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CF923B4-B687-46CA-B5A2-97AA21E82864}"/>
              </a:ext>
            </a:extLst>
          </p:cNvPr>
          <p:cNvSpPr/>
          <p:nvPr/>
        </p:nvSpPr>
        <p:spPr>
          <a:xfrm>
            <a:off x="8264306" y="446761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55F1B1F-15C2-4D66-833C-71B10BAEAFF1}"/>
              </a:ext>
            </a:extLst>
          </p:cNvPr>
          <p:cNvSpPr/>
          <p:nvPr/>
        </p:nvSpPr>
        <p:spPr>
          <a:xfrm>
            <a:off x="8950729" y="391581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7594BF0-BBF7-41A9-AC5E-4C7CA266B598}"/>
              </a:ext>
            </a:extLst>
          </p:cNvPr>
          <p:cNvSpPr/>
          <p:nvPr/>
        </p:nvSpPr>
        <p:spPr>
          <a:xfrm>
            <a:off x="9514582" y="449976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3E82301-3812-409D-A682-6B3D39F0DEB6}"/>
              </a:ext>
            </a:extLst>
          </p:cNvPr>
          <p:cNvSpPr/>
          <p:nvPr/>
        </p:nvSpPr>
        <p:spPr>
          <a:xfrm>
            <a:off x="7369521" y="396262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F56AE7-0FE3-45BA-96FB-A377BDDE6A93}"/>
              </a:ext>
            </a:extLst>
          </p:cNvPr>
          <p:cNvSpPr txBox="1"/>
          <p:nvPr/>
        </p:nvSpPr>
        <p:spPr>
          <a:xfrm>
            <a:off x="3335838" y="3489113"/>
            <a:ext cx="9893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400"/>
              <a:t>β</a:t>
            </a:r>
            <a:r>
              <a:rPr lang="en-US" sz="2400"/>
              <a:t> = 2</a:t>
            </a:r>
          </a:p>
        </p:txBody>
      </p:sp>
    </p:spTree>
    <p:extLst>
      <p:ext uri="{BB962C8B-B14F-4D97-AF65-F5344CB8AC3E}">
        <p14:creationId xmlns:p14="http://schemas.microsoft.com/office/powerpoint/2010/main" val="4000191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2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/>
                  <a:t>Can be generalized to any distribution</a:t>
                </a:r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3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86BB5966-8250-4C0A-9519-0B2C2824AA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6127" y="4264094"/>
            <a:ext cx="3612332" cy="25939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73F8BE-EDF5-4F02-8D70-82E244460FB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b="7491"/>
          <a:stretch/>
        </p:blipFill>
        <p:spPr>
          <a:xfrm>
            <a:off x="6096000" y="3985238"/>
            <a:ext cx="5479497" cy="273936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747655-4E54-489D-930B-5E4911F49621}"/>
              </a:ext>
            </a:extLst>
          </p:cNvPr>
          <p:cNvSpPr txBox="1"/>
          <p:nvPr/>
        </p:nvSpPr>
        <p:spPr>
          <a:xfrm>
            <a:off x="2312796" y="4311075"/>
            <a:ext cx="9893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/>
              <a:t>β</a:t>
            </a:r>
            <a:r>
              <a:rPr lang="en-US" sz="2000"/>
              <a:t> = 1</a:t>
            </a:r>
          </a:p>
        </p:txBody>
      </p:sp>
    </p:spTree>
    <p:extLst>
      <p:ext uri="{BB962C8B-B14F-4D97-AF65-F5344CB8AC3E}">
        <p14:creationId xmlns:p14="http://schemas.microsoft.com/office/powerpoint/2010/main" val="12555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r>
                  <a:rPr lang="en-US"/>
                  <a:t>F-value for significance test</a:t>
                </a:r>
              </a:p>
              <a:p>
                <a:pPr lvl="1"/>
                <a:r>
                  <a:rPr lang="en-US"/>
                  <a:t>F = MS</a:t>
                </a:r>
                <a:r>
                  <a:rPr lang="en-US" baseline="-25000"/>
                  <a:t>B</a:t>
                </a:r>
                <a:r>
                  <a:rPr lang="en-US"/>
                  <a:t> / MS</a:t>
                </a:r>
                <a:r>
                  <a:rPr lang="en-US" baseline="-25000"/>
                  <a:t>W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3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 b="1"/>
                  <a:t>Can be generalized to any distribution</a:t>
                </a:r>
              </a:p>
              <a:p>
                <a:r>
                  <a:rPr lang="el-GR"/>
                  <a:t>χ2</a:t>
                </a:r>
                <a:r>
                  <a:rPr lang="en-US" baseline="30000"/>
                  <a:t> </a:t>
                </a:r>
                <a:r>
                  <a:rPr lang="en-US"/>
                  <a:t>for significance test</a:t>
                </a:r>
              </a:p>
              <a:p>
                <a:pPr lvl="1"/>
                <a:r>
                  <a:rPr lang="el-GR"/>
                  <a:t>χ2 </a:t>
                </a:r>
                <a:r>
                  <a:rPr lang="en-US"/>
                  <a:t>= (effect size / SE)</a:t>
                </a:r>
                <a:r>
                  <a:rPr lang="en-US" baseline="30000"/>
                  <a:t>2</a:t>
                </a:r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4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98ECB445-6EEF-4086-E088-DE3D3A2892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7800" y="4766501"/>
            <a:ext cx="2686872" cy="2016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C88BA5-6C6D-8372-1010-1E64E56B72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3632" y="4766501"/>
            <a:ext cx="2686872" cy="2016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61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r>
                  <a:rPr lang="en-US"/>
                  <a:t>F-value for significance test</a:t>
                </a:r>
              </a:p>
              <a:p>
                <a:pPr lvl="1"/>
                <a:r>
                  <a:rPr lang="en-US"/>
                  <a:t>F = MS</a:t>
                </a:r>
                <a:r>
                  <a:rPr lang="en-US" baseline="-25000"/>
                  <a:t>B</a:t>
                </a:r>
                <a:r>
                  <a:rPr lang="en-US"/>
                  <a:t> / MS</a:t>
                </a:r>
                <a:r>
                  <a:rPr lang="en-US" baseline="-25000"/>
                  <a:t>W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2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 b="1"/>
                  <a:t>Can be generalized to any distribution</a:t>
                </a:r>
              </a:p>
              <a:p>
                <a:r>
                  <a:rPr lang="el-GR"/>
                  <a:t>χ2</a:t>
                </a:r>
                <a:r>
                  <a:rPr lang="en-US" baseline="30000"/>
                  <a:t> </a:t>
                </a:r>
                <a:r>
                  <a:rPr lang="en-US"/>
                  <a:t>for significance test</a:t>
                </a:r>
              </a:p>
              <a:p>
                <a:pPr lvl="1"/>
                <a:r>
                  <a:rPr lang="el-GR"/>
                  <a:t>χ2 </a:t>
                </a:r>
                <a:r>
                  <a:rPr lang="en-US"/>
                  <a:t>= (effect size / SE)</a:t>
                </a:r>
                <a:r>
                  <a:rPr lang="en-US" baseline="30000"/>
                  <a:t>2</a:t>
                </a:r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3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87F95A6-0524-B803-BA2E-F7ED4B4F6E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0093" b="34316"/>
          <a:stretch/>
        </p:blipFill>
        <p:spPr>
          <a:xfrm>
            <a:off x="4573979" y="5100198"/>
            <a:ext cx="2891645" cy="175780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77410F1-9D28-BDDC-7806-E6F34804851D}"/>
              </a:ext>
            </a:extLst>
          </p:cNvPr>
          <p:cNvGrpSpPr/>
          <p:nvPr/>
        </p:nvGrpSpPr>
        <p:grpSpPr>
          <a:xfrm>
            <a:off x="789174" y="5100047"/>
            <a:ext cx="3697493" cy="1454969"/>
            <a:chOff x="789174" y="5100047"/>
            <a:chExt cx="3697493" cy="1454969"/>
          </a:xfrm>
        </p:grpSpPr>
        <p:pic>
          <p:nvPicPr>
            <p:cNvPr id="12" name="Picture 11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2E1F4B8E-7213-D205-9A29-3157421399A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276" r="78132" b="25827"/>
            <a:stretch/>
          </p:blipFill>
          <p:spPr>
            <a:xfrm>
              <a:off x="789174" y="5100047"/>
              <a:ext cx="3697493" cy="1454969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28A87BD-DB6D-385B-788F-8C007CA804A0}"/>
                </a:ext>
              </a:extLst>
            </p:cNvPr>
            <p:cNvSpPr/>
            <p:nvPr/>
          </p:nvSpPr>
          <p:spPr>
            <a:xfrm>
              <a:off x="2762451" y="6169794"/>
              <a:ext cx="1540042" cy="18288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" name="Picture 10" descr="A screenshot of a computer&#10;&#10;Description automatically generated">
            <a:extLst>
              <a:ext uri="{FF2B5EF4-FFF2-40B4-BE49-F238E27FC236}">
                <a16:creationId xmlns:a16="http://schemas.microsoft.com/office/drawing/2014/main" id="{646FDCE6-AC26-5A69-D936-6830F3B9DFA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464" r="66211" b="7451"/>
          <a:stretch/>
        </p:blipFill>
        <p:spPr>
          <a:xfrm>
            <a:off x="8046720" y="4994256"/>
            <a:ext cx="3625829" cy="186374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E185009-E575-A930-F96E-96B8A3CF0AE9}"/>
                  </a:ext>
                </a:extLst>
              </p14:cNvPr>
              <p14:cNvContentPartPr/>
              <p14:nvPr/>
            </p14:nvContentPartPr>
            <p14:xfrm>
              <a:off x="1761840" y="5807160"/>
              <a:ext cx="2261160" cy="81684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E185009-E575-A930-F96E-96B8A3CF0AE9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52480" y="5797800"/>
                <a:ext cx="2279880" cy="83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9053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9FA1E-9382-4D72-A700-631F452A4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 to estimate parameters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9705A-E16D-4911-9578-9C905B3E2E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Least squares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</p:spPr>
            <p:txBody>
              <a:bodyPr/>
              <a:lstStyle/>
              <a:p>
                <a:r>
                  <a:rPr lang="en-US"/>
                  <a:t>Minimizes the sums of squares</a:t>
                </a:r>
              </a:p>
              <a:p>
                <a14:m>
                  <m:oMath xmlns:m="http://schemas.openxmlformats.org/officeDocument/2006/math"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 </m:t>
                        </m:r>
                        <m:acc>
                          <m:accPr>
                            <m:chr m:val="̅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nary>
                  </m:oMath>
                </a14:m>
                <a:r>
                  <a:rPr lang="en-US"/>
                  <a:t>)</a:t>
                </a:r>
                <a:r>
                  <a:rPr lang="en-US" baseline="30000"/>
                  <a:t>2</a:t>
                </a:r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  <a:endParaRPr lang="en-US" b="0"/>
              </a:p>
              <a:p>
                <a:r>
                  <a:rPr lang="en-US"/>
                  <a:t>Only works for normal data</a:t>
                </a:r>
              </a:p>
              <a:p>
                <a:r>
                  <a:rPr lang="en-US"/>
                  <a:t>F-value for significance test</a:t>
                </a:r>
              </a:p>
              <a:p>
                <a:pPr lvl="1"/>
                <a:r>
                  <a:rPr lang="en-US"/>
                  <a:t>F = MS</a:t>
                </a:r>
                <a:r>
                  <a:rPr lang="en-US" baseline="-25000"/>
                  <a:t>B</a:t>
                </a:r>
                <a:r>
                  <a:rPr lang="en-US"/>
                  <a:t> / MS</a:t>
                </a:r>
                <a:r>
                  <a:rPr lang="en-US" baseline="-25000"/>
                  <a:t>W</a:t>
                </a:r>
                <a:endParaRPr lang="en-US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47E71BF-0128-44EB-A814-41F2F44783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39788" y="2142944"/>
                <a:ext cx="5157787" cy="3684588"/>
              </a:xfrm>
              <a:blipFill>
                <a:blip r:embed="rId2"/>
                <a:stretch>
                  <a:fillRect l="-2600" t="-4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6FDBB06-72F4-4571-A3F9-1E80F943F9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408894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</p:spPr>
            <p:txBody>
              <a:bodyPr/>
              <a:lstStyle/>
              <a:p>
                <a:r>
                  <a:rPr lang="en-US"/>
                  <a:t>Maximizes the likelihood function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l-GR" dirty="0" smtClean="0"/>
                          <m:t>β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/>
              </a:p>
              <a:p>
                <a:r>
                  <a:rPr lang="el-GR"/>
                  <a:t>β</a:t>
                </a:r>
                <a:r>
                  <a:rPr lang="en-US"/>
                  <a:t> = slope or intercept adjust</a:t>
                </a:r>
              </a:p>
              <a:p>
                <a:r>
                  <a:rPr lang="en-US" b="1"/>
                  <a:t>Can be generalized to any distribution</a:t>
                </a:r>
              </a:p>
              <a:p>
                <a:r>
                  <a:rPr lang="el-GR"/>
                  <a:t>χ2</a:t>
                </a:r>
                <a:r>
                  <a:rPr lang="en-US" baseline="30000"/>
                  <a:t> </a:t>
                </a:r>
                <a:r>
                  <a:rPr lang="en-US"/>
                  <a:t>for significance test</a:t>
                </a:r>
              </a:p>
              <a:p>
                <a:pPr lvl="1"/>
                <a:r>
                  <a:rPr lang="el-GR"/>
                  <a:t>χ2 </a:t>
                </a:r>
                <a:r>
                  <a:rPr lang="en-US"/>
                  <a:t>= (effect size / SE)</a:t>
                </a:r>
                <a:r>
                  <a:rPr lang="en-US" baseline="30000"/>
                  <a:t>2</a:t>
                </a:r>
                <a:endParaRPr lang="en-US"/>
              </a:p>
              <a:p>
                <a:endParaRPr lang="en-US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2545EA21-03A2-40B4-92E7-F81379932C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4"/>
              </p:nvPr>
            </p:nvSpPr>
            <p:spPr>
              <a:xfrm>
                <a:off x="6172199" y="2142944"/>
                <a:ext cx="6019801" cy="3684588"/>
              </a:xfrm>
              <a:blipFill>
                <a:blip r:embed="rId3"/>
                <a:stretch>
                  <a:fillRect l="-1316" t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187F95A6-0524-B803-BA2E-F7ED4B4F6E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30093" b="34316"/>
          <a:stretch/>
        </p:blipFill>
        <p:spPr>
          <a:xfrm>
            <a:off x="4573979" y="5100198"/>
            <a:ext cx="2891645" cy="1757802"/>
          </a:xfrm>
          <a:prstGeom prst="rect">
            <a:avLst/>
          </a:prstGeom>
        </p:spPr>
      </p:pic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2E1F4B8E-7213-D205-9A29-3157421399A6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276" r="78132" b="25827"/>
          <a:stretch/>
        </p:blipFill>
        <p:spPr>
          <a:xfrm>
            <a:off x="789174" y="5100047"/>
            <a:ext cx="3697493" cy="1454969"/>
          </a:xfrm>
          <a:prstGeom prst="rect">
            <a:avLst/>
          </a:prstGeom>
        </p:spPr>
      </p:pic>
      <p:pic>
        <p:nvPicPr>
          <p:cNvPr id="13" name="Picture 12" descr="A screenshot of a computer&#10;&#10;Description automatically generated">
            <a:extLst>
              <a:ext uri="{FF2B5EF4-FFF2-40B4-BE49-F238E27FC236}">
                <a16:creationId xmlns:a16="http://schemas.microsoft.com/office/drawing/2014/main" id="{64F2F1D6-59FC-EA9D-9017-76DDB33831D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954" r="68342" b="6868"/>
          <a:stretch/>
        </p:blipFill>
        <p:spPr>
          <a:xfrm>
            <a:off x="7465624" y="5176837"/>
            <a:ext cx="4249695" cy="110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63053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3B4E21D-55AA-3F50-B238-11F1E54E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A very simple example of calculating a likelihood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932112-AF63-12EF-4D68-53CD3D7A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/>
              <a:t>Heads vs tails: Probability of getting a heads?</a:t>
            </a:r>
          </a:p>
          <a:p>
            <a:pPr lvl="1"/>
            <a:r>
              <a:rPr lang="en-US" i="1"/>
              <a:t>P </a:t>
            </a:r>
            <a:r>
              <a:rPr lang="en-US"/>
              <a:t>= 0.5</a:t>
            </a:r>
            <a:endParaRPr lang="en-US" i="1"/>
          </a:p>
          <a:p>
            <a:r>
              <a:rPr lang="en-US"/>
              <a:t>Two flips, probability of getting two heads?</a:t>
            </a:r>
          </a:p>
          <a:p>
            <a:pPr lvl="1"/>
            <a:r>
              <a:rPr lang="en-US" i="1"/>
              <a:t>P</a:t>
            </a:r>
            <a:r>
              <a:rPr lang="en-US"/>
              <a:t>(0.5) * </a:t>
            </a:r>
            <a:r>
              <a:rPr lang="en-US" i="1"/>
              <a:t>P</a:t>
            </a:r>
            <a:r>
              <a:rPr lang="en-US"/>
              <a:t>(0.5) = 0.25</a:t>
            </a:r>
            <a:endParaRPr lang="en-US" i="1"/>
          </a:p>
          <a:p>
            <a:r>
              <a:rPr lang="en-US"/>
              <a:t>What if we have an object with two sides (top, bottom) but we don’t know the probability of top vs bottom (probably not 50:50).</a:t>
            </a:r>
          </a:p>
          <a:p>
            <a:pPr lvl="1"/>
            <a:r>
              <a:rPr lang="en-US"/>
              <a:t>Toss object 10 times, we get 7 tops and 3 bottoms (</a:t>
            </a:r>
            <a:r>
              <a:rPr lang="en-US" err="1"/>
              <a:t>ie</a:t>
            </a:r>
            <a:r>
              <a:rPr lang="en-US"/>
              <a:t>. We collected data)</a:t>
            </a:r>
          </a:p>
          <a:p>
            <a:pPr lvl="1"/>
            <a:r>
              <a:rPr lang="en-US"/>
              <a:t>Log-likelihood: 7*log(p) + 3*log(1-p) = -6.1 when p=0.7</a:t>
            </a:r>
          </a:p>
          <a:p>
            <a:pPr lvl="1"/>
            <a:r>
              <a:rPr lang="en-US"/>
              <a:t>Maximum likelihood: iterative process to find the optimum (maximum)</a:t>
            </a:r>
          </a:p>
          <a:p>
            <a:pPr lvl="2"/>
            <a:r>
              <a:rPr lang="en-US"/>
              <a:t>Log-likelihood: 7*log</a:t>
            </a:r>
            <a:r>
              <a:rPr lang="en-US" b="1"/>
              <a:t>(.5)</a:t>
            </a:r>
            <a:r>
              <a:rPr lang="en-US"/>
              <a:t> + 3*log</a:t>
            </a:r>
            <a:r>
              <a:rPr lang="en-US" b="1"/>
              <a:t>(1-.5) </a:t>
            </a:r>
            <a:r>
              <a:rPr lang="en-US"/>
              <a:t>= -6.9</a:t>
            </a:r>
          </a:p>
          <a:p>
            <a:pPr lvl="2"/>
            <a:endParaRPr lang="en-US"/>
          </a:p>
          <a:p>
            <a:pPr lvl="2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109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uiExpand="1" build="p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4a. Model selection with AIC 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9191B67-2533-47C5-9197-D45CABFA35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4564872"/>
              </p:ext>
            </p:extLst>
          </p:nvPr>
        </p:nvGraphicFramePr>
        <p:xfrm>
          <a:off x="1828802" y="3317240"/>
          <a:ext cx="8534399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5081">
                  <a:extLst>
                    <a:ext uri="{9D8B030D-6E8A-4147-A177-3AD203B41FA5}">
                      <a16:colId xmlns:a16="http://schemas.microsoft.com/office/drawing/2014/main" val="3825853869"/>
                    </a:ext>
                  </a:extLst>
                </a:gridCol>
                <a:gridCol w="4620917">
                  <a:extLst>
                    <a:ext uri="{9D8B030D-6E8A-4147-A177-3AD203B41FA5}">
                      <a16:colId xmlns:a16="http://schemas.microsoft.com/office/drawing/2014/main" val="2153203653"/>
                    </a:ext>
                  </a:extLst>
                </a:gridCol>
                <a:gridCol w="2438401">
                  <a:extLst>
                    <a:ext uri="{9D8B030D-6E8A-4147-A177-3AD203B41FA5}">
                      <a16:colId xmlns:a16="http://schemas.microsoft.com/office/drawing/2014/main" val="20245218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AIC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605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bbmle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AICtab</a:t>
                      </a:r>
                      <a:endParaRPr lang="en-US"/>
                    </a:p>
                    <a:p>
                      <a:r>
                        <a:rPr lang="en-US" err="1"/>
                        <a:t>MuMIn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model.sel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37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lmer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bbmle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AICtab</a:t>
                      </a:r>
                      <a:endParaRPr lang="en-US"/>
                    </a:p>
                    <a:p>
                      <a:r>
                        <a:rPr lang="en-US" err="1"/>
                        <a:t>MuMIn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model.sel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7281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/>
                        <a:t>glmmTMB</a:t>
                      </a:r>
                      <a:r>
                        <a:rPr lang="en-US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err="1"/>
                        <a:t>bbmle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AICtab</a:t>
                      </a:r>
                      <a:endParaRPr lang="en-US"/>
                    </a:p>
                    <a:p>
                      <a:r>
                        <a:rPr lang="en-US" err="1"/>
                        <a:t>MuMIn</a:t>
                      </a:r>
                      <a:r>
                        <a:rPr lang="en-US"/>
                        <a:t>::</a:t>
                      </a:r>
                      <a:r>
                        <a:rPr lang="en-US" err="1"/>
                        <a:t>model.sel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comparison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5244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615503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9F7BA-FF7C-B4F8-A727-754F21763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After 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3B7F79-96FC-643C-2673-6A1354A946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Worked example</a:t>
            </a:r>
          </a:p>
          <a:p>
            <a:r>
              <a:rPr lang="en-US"/>
              <a:t>Overview Steps 1-4</a:t>
            </a:r>
          </a:p>
          <a:p>
            <a:r>
              <a:rPr lang="en-US" b="1"/>
              <a:t>Step 5: Calculate group means</a:t>
            </a:r>
          </a:p>
          <a:p>
            <a:r>
              <a:rPr lang="en-US" b="1"/>
              <a:t>Step 6: Conduct contrasts</a:t>
            </a:r>
          </a:p>
          <a:p>
            <a:r>
              <a:rPr lang="en-US" b="1"/>
              <a:t>Step 7: Calculate R2</a:t>
            </a:r>
          </a:p>
          <a:p>
            <a:r>
              <a:rPr lang="en-US"/>
              <a:t>Step 8: Visualize data (if time permits)</a:t>
            </a:r>
          </a:p>
        </p:txBody>
      </p:sp>
      <p:pic>
        <p:nvPicPr>
          <p:cNvPr id="4" name="Picture 3" descr="A qr code with black dots&#10;&#10;AI-generated content may be incorrect.">
            <a:extLst>
              <a:ext uri="{FF2B5EF4-FFF2-40B4-BE49-F238E27FC236}">
                <a16:creationId xmlns:a16="http://schemas.microsoft.com/office/drawing/2014/main" id="{C0DE18C6-2749-BC5B-2FBC-B96E70035A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5647" y="5403491"/>
            <a:ext cx="1179871" cy="1179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1740E-3BFD-FA7D-D87B-B01D6563643C}"/>
              </a:ext>
            </a:extLst>
          </p:cNvPr>
          <p:cNvSpPr txBox="1"/>
          <p:nvPr/>
        </p:nvSpPr>
        <p:spPr>
          <a:xfrm>
            <a:off x="9788842" y="5034159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193735969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591800" cy="4525963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5. Estimate means and/or effect sizes</a:t>
            </a:r>
          </a:p>
          <a:p>
            <a:pPr lvl="1"/>
            <a:r>
              <a:rPr lang="en-US" err="1"/>
              <a:t>emmeans</a:t>
            </a:r>
            <a:r>
              <a:rPr lang="en-US"/>
              <a:t>(model, ~Treatment)</a:t>
            </a:r>
          </a:p>
          <a:p>
            <a:pPr lvl="1"/>
            <a:r>
              <a:rPr lang="en-US"/>
              <a:t>Provides means and confidence intervals</a:t>
            </a:r>
          </a:p>
          <a:p>
            <a:pPr lvl="1"/>
            <a:r>
              <a:rPr lang="en-US"/>
              <a:t>For transformed response variables, either via link function (</a:t>
            </a:r>
            <a:r>
              <a:rPr lang="en-US" err="1"/>
              <a:t>glm</a:t>
            </a:r>
            <a:r>
              <a:rPr lang="en-US"/>
              <a:t>) or in model, you can back transform means</a:t>
            </a:r>
          </a:p>
          <a:p>
            <a:pPr lvl="2"/>
            <a:r>
              <a:rPr lang="en-US" err="1"/>
              <a:t>emmeans</a:t>
            </a:r>
            <a:r>
              <a:rPr lang="en-US"/>
              <a:t>(model, ~Treatment, type=“response”)</a:t>
            </a:r>
          </a:p>
          <a:p>
            <a:pPr lvl="2"/>
            <a:r>
              <a:rPr lang="en-US"/>
              <a:t>When </a:t>
            </a:r>
            <a:r>
              <a:rPr lang="en-US" err="1"/>
              <a:t>backtransforming</a:t>
            </a:r>
            <a:r>
              <a:rPr lang="en-US"/>
              <a:t> with multiple random effects (</a:t>
            </a:r>
            <a:r>
              <a:rPr lang="en-US" err="1"/>
              <a:t>ie</a:t>
            </a:r>
            <a:r>
              <a:rPr lang="en-US"/>
              <a:t>. </a:t>
            </a:r>
            <a:r>
              <a:rPr lang="en-US" err="1"/>
              <a:t>glmer</a:t>
            </a:r>
            <a:r>
              <a:rPr lang="en-US"/>
              <a:t>), </a:t>
            </a:r>
            <a:br>
              <a:rPr lang="en-US"/>
            </a:br>
            <a:r>
              <a:rPr lang="en-US"/>
              <a:t>you may need to use </a:t>
            </a:r>
            <a:r>
              <a:rPr lang="en-US" err="1"/>
              <a:t>bias.adj</a:t>
            </a:r>
            <a:r>
              <a:rPr lang="en-US"/>
              <a:t>=T</a:t>
            </a:r>
          </a:p>
          <a:p>
            <a:pPr lvl="1"/>
            <a:r>
              <a:rPr lang="en-US" err="1"/>
              <a:t>emmtrends</a:t>
            </a:r>
            <a:r>
              <a:rPr lang="en-US"/>
              <a:t> for slopes</a:t>
            </a:r>
          </a:p>
        </p:txBody>
      </p:sp>
    </p:spTree>
    <p:extLst>
      <p:ext uri="{BB962C8B-B14F-4D97-AF65-F5344CB8AC3E}">
        <p14:creationId xmlns:p14="http://schemas.microsoft.com/office/powerpoint/2010/main" val="1411580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6. Compare means using contrasts</a:t>
            </a:r>
          </a:p>
          <a:p>
            <a:pPr lvl="1"/>
            <a:r>
              <a:rPr lang="en-US" err="1"/>
              <a:t>emmeans</a:t>
            </a:r>
            <a:r>
              <a:rPr lang="en-US"/>
              <a:t>(model, </a:t>
            </a:r>
            <a:r>
              <a:rPr lang="en-US" err="1"/>
              <a:t>pairwise~Treatment</a:t>
            </a:r>
            <a:r>
              <a:rPr lang="en-US"/>
              <a:t>)</a:t>
            </a:r>
          </a:p>
          <a:p>
            <a:pPr lvl="1"/>
            <a:r>
              <a:rPr lang="en-US" err="1"/>
              <a:t>emmeans</a:t>
            </a:r>
            <a:r>
              <a:rPr lang="en-US"/>
              <a:t>(model, </a:t>
            </a:r>
            <a:r>
              <a:rPr lang="en-US" err="1"/>
              <a:t>pairwise~Treatment</a:t>
            </a:r>
            <a:r>
              <a:rPr lang="en-US"/>
              <a:t> | Slices)</a:t>
            </a:r>
          </a:p>
          <a:p>
            <a:pPr lvl="1"/>
            <a:endParaRPr lang="en-US"/>
          </a:p>
          <a:p>
            <a:pPr lvl="1"/>
            <a:r>
              <a:rPr lang="en-US" err="1"/>
              <a:t>emtrends</a:t>
            </a:r>
            <a:r>
              <a:rPr lang="en-US"/>
              <a:t>(model, ~Treatment, var=“</a:t>
            </a:r>
            <a:r>
              <a:rPr lang="en-US" err="1"/>
              <a:t>continuousvar</a:t>
            </a:r>
            <a:r>
              <a:rPr lang="en-US"/>
              <a:t>”)</a:t>
            </a:r>
          </a:p>
          <a:p>
            <a:pPr lvl="2"/>
            <a:r>
              <a:rPr lang="en-US"/>
              <a:t>For slopes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370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7. Calculate R2</a:t>
            </a:r>
          </a:p>
          <a:p>
            <a:pPr lvl="1"/>
            <a:r>
              <a:rPr lang="en-US"/>
              <a:t>R2 from performance</a:t>
            </a:r>
          </a:p>
          <a:p>
            <a:pPr lvl="1"/>
            <a:r>
              <a:rPr lang="en-US" err="1"/>
              <a:t>r.squaredGLMM</a:t>
            </a:r>
            <a:r>
              <a:rPr lang="en-US"/>
              <a:t> from </a:t>
            </a:r>
            <a:r>
              <a:rPr lang="en-US" err="1"/>
              <a:t>MuMIn</a:t>
            </a:r>
            <a:endParaRPr lang="en-US"/>
          </a:p>
          <a:p>
            <a:pPr lvl="1"/>
            <a:r>
              <a:rPr lang="en-US"/>
              <a:t>Note these use the same reference, but r2 values differ (not sure why, need to look into…)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926863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Step-by-step guide to analysis</a:t>
            </a:r>
            <a:br>
              <a:rPr lang="en-US"/>
            </a:br>
            <a:r>
              <a:rPr lang="en-US"/>
              <a:t>(post-data collection)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8. Visualize data</a:t>
            </a:r>
          </a:p>
          <a:p>
            <a:pPr marL="0" indent="0">
              <a:buNone/>
            </a:pPr>
            <a:r>
              <a:rPr lang="en-US"/>
              <a:t>	- Helpful for checking that parameters line up with raw 		  plotted data, etc.</a:t>
            </a:r>
          </a:p>
        </p:txBody>
      </p:sp>
      <p:pic>
        <p:nvPicPr>
          <p:cNvPr id="4098" name="Picture 2" descr="Introduction to ggplot2 in R - Towards Data Science">
            <a:extLst>
              <a:ext uri="{FF2B5EF4-FFF2-40B4-BE49-F238E27FC236}">
                <a16:creationId xmlns:a16="http://schemas.microsoft.com/office/drawing/2014/main" id="{C955DF8E-5668-4BE7-8355-11411734E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988" y="3234459"/>
            <a:ext cx="1724025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What is Data Visualization? (Definition, Examples, Best Practices)">
            <a:extLst>
              <a:ext uri="{FF2B5EF4-FFF2-40B4-BE49-F238E27FC236}">
                <a16:creationId xmlns:a16="http://schemas.microsoft.com/office/drawing/2014/main" id="{50A08F72-5109-48B7-B12A-7BD4C0E5A8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9600" y="4367933"/>
            <a:ext cx="2914626" cy="217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069910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Hessian matrix, what is it?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893B73-73E1-4FB1-8F7C-4C1B9CD5AED3}"/>
              </a:ext>
            </a:extLst>
          </p:cNvPr>
          <p:cNvSpPr/>
          <p:nvPr/>
        </p:nvSpPr>
        <p:spPr>
          <a:xfrm>
            <a:off x="1447800" y="294345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F2352-0715-453E-AE12-5797449051C3}"/>
              </a:ext>
            </a:extLst>
          </p:cNvPr>
          <p:cNvSpPr txBox="1"/>
          <p:nvPr/>
        </p:nvSpPr>
        <p:spPr>
          <a:xfrm rot="16200000">
            <a:off x="-481895" y="358932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63C5FA-B974-49F0-AA1E-C02FA5AF69A7}"/>
              </a:ext>
            </a:extLst>
          </p:cNvPr>
          <p:cNvSpPr txBox="1"/>
          <p:nvPr/>
        </p:nvSpPr>
        <p:spPr>
          <a:xfrm>
            <a:off x="1547948" y="558876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8C05-C092-46DD-ACC4-70A57D102800}"/>
              </a:ext>
            </a:extLst>
          </p:cNvPr>
          <p:cNvSpPr txBox="1"/>
          <p:nvPr/>
        </p:nvSpPr>
        <p:spPr>
          <a:xfrm>
            <a:off x="2679443" y="52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D10F-30BF-4722-84B1-F9F1E3A860E9}"/>
              </a:ext>
            </a:extLst>
          </p:cNvPr>
          <p:cNvSpPr txBox="1"/>
          <p:nvPr/>
        </p:nvSpPr>
        <p:spPr>
          <a:xfrm>
            <a:off x="1912778" y="527975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07C743-39B1-45CE-A64B-EC15DB939930}"/>
              </a:ext>
            </a:extLst>
          </p:cNvPr>
          <p:cNvSpPr txBox="1"/>
          <p:nvPr/>
        </p:nvSpPr>
        <p:spPr>
          <a:xfrm>
            <a:off x="3360767" y="52838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9134D29-0B4A-41C7-AD62-5757565E5001}"/>
              </a:ext>
            </a:extLst>
          </p:cNvPr>
          <p:cNvSpPr/>
          <p:nvPr/>
        </p:nvSpPr>
        <p:spPr>
          <a:xfrm>
            <a:off x="2038817" y="478309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12757B2-401B-492C-BE32-46CAADA0271C}"/>
              </a:ext>
            </a:extLst>
          </p:cNvPr>
          <p:cNvSpPr/>
          <p:nvPr/>
        </p:nvSpPr>
        <p:spPr>
          <a:xfrm>
            <a:off x="2705048" y="39648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8B6F57-BEF1-49AC-9A8D-3B0E13BEB67E}"/>
              </a:ext>
            </a:extLst>
          </p:cNvPr>
          <p:cNvSpPr/>
          <p:nvPr/>
        </p:nvSpPr>
        <p:spPr>
          <a:xfrm>
            <a:off x="3391471" y="3413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C536DD-68DA-4C0D-B2DA-59D4A8A15710}"/>
              </a:ext>
            </a:extLst>
          </p:cNvPr>
          <p:cNvSpPr/>
          <p:nvPr/>
        </p:nvSpPr>
        <p:spPr>
          <a:xfrm>
            <a:off x="3955324" y="399697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A3E710-54C8-4EE9-B3A7-0C03733B8924}"/>
              </a:ext>
            </a:extLst>
          </p:cNvPr>
          <p:cNvSpPr/>
          <p:nvPr/>
        </p:nvSpPr>
        <p:spPr>
          <a:xfrm>
            <a:off x="1810263" y="345983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182DFA-A37E-45BB-A362-026F77BE2DD4}"/>
                  </a:ext>
                </a:extLst>
              </p:cNvPr>
              <p:cNvSpPr txBox="1"/>
              <p:nvPr/>
            </p:nvSpPr>
            <p:spPr>
              <a:xfrm>
                <a:off x="2158956" y="2305249"/>
                <a:ext cx="123067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l-GR" sz="2800" dirty="0" smtClean="0"/>
                            <m:t>β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F182DFA-A37E-45BB-A362-026F77BE2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956" y="2305249"/>
                <a:ext cx="1230678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B0314BC-97D4-48AB-A3FE-4D47ABB4B3D9}"/>
              </a:ext>
            </a:extLst>
          </p:cNvPr>
          <p:cNvSpPr/>
          <p:nvPr/>
        </p:nvSpPr>
        <p:spPr>
          <a:xfrm>
            <a:off x="3379808" y="2477505"/>
            <a:ext cx="3044141" cy="1886151"/>
          </a:xfrm>
          <a:custGeom>
            <a:avLst/>
            <a:gdLst>
              <a:gd name="connsiteX0" fmla="*/ 0 w 3044141"/>
              <a:gd name="connsiteY0" fmla="*/ 115224 h 1886151"/>
              <a:gd name="connsiteX1" fmla="*/ 1921397 w 3044141"/>
              <a:gd name="connsiteY1" fmla="*/ 149948 h 1886151"/>
              <a:gd name="connsiteX2" fmla="*/ 1990845 w 3044141"/>
              <a:gd name="connsiteY2" fmla="*/ 1585209 h 1886151"/>
              <a:gd name="connsiteX3" fmla="*/ 3044141 w 3044141"/>
              <a:gd name="connsiteY3" fmla="*/ 1886151 h 18861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44141" h="1886151">
                <a:moveTo>
                  <a:pt x="0" y="115224"/>
                </a:moveTo>
                <a:cubicBezTo>
                  <a:pt x="794795" y="10087"/>
                  <a:pt x="1589590" y="-95049"/>
                  <a:pt x="1921397" y="149948"/>
                </a:cubicBezTo>
                <a:cubicBezTo>
                  <a:pt x="2253204" y="394945"/>
                  <a:pt x="1803721" y="1295842"/>
                  <a:pt x="1990845" y="1585209"/>
                </a:cubicBezTo>
                <a:cubicBezTo>
                  <a:pt x="2177969" y="1874576"/>
                  <a:pt x="2611055" y="1880363"/>
                  <a:pt x="3044141" y="1886151"/>
                </a:cubicBezTo>
              </a:path>
            </a:pathLst>
          </a:custGeom>
          <a:noFill/>
          <a:ln w="44450">
            <a:solidFill>
              <a:schemeClr val="tx1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Hessian matrix - Wikipedia">
            <a:extLst>
              <a:ext uri="{FF2B5EF4-FFF2-40B4-BE49-F238E27FC236}">
                <a16:creationId xmlns:a16="http://schemas.microsoft.com/office/drawing/2014/main" id="{840E5FA4-7927-4907-8C07-9460BD272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874" y="3237380"/>
            <a:ext cx="3225742" cy="222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069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Hessian matrix, what is it? </a:t>
            </a:r>
          </a:p>
          <a:p>
            <a:pPr lvl="1"/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is it non-positive definite?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893B73-73E1-4FB1-8F7C-4C1B9CD5AED3}"/>
              </a:ext>
            </a:extLst>
          </p:cNvPr>
          <p:cNvSpPr/>
          <p:nvPr/>
        </p:nvSpPr>
        <p:spPr>
          <a:xfrm>
            <a:off x="1447800" y="294345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F2352-0715-453E-AE12-5797449051C3}"/>
              </a:ext>
            </a:extLst>
          </p:cNvPr>
          <p:cNvSpPr txBox="1"/>
          <p:nvPr/>
        </p:nvSpPr>
        <p:spPr>
          <a:xfrm rot="16200000">
            <a:off x="-481895" y="358932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63C5FA-B974-49F0-AA1E-C02FA5AF69A7}"/>
              </a:ext>
            </a:extLst>
          </p:cNvPr>
          <p:cNvSpPr txBox="1"/>
          <p:nvPr/>
        </p:nvSpPr>
        <p:spPr>
          <a:xfrm>
            <a:off x="1547948" y="558876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8C05-C092-46DD-ACC4-70A57D102800}"/>
              </a:ext>
            </a:extLst>
          </p:cNvPr>
          <p:cNvSpPr txBox="1"/>
          <p:nvPr/>
        </p:nvSpPr>
        <p:spPr>
          <a:xfrm>
            <a:off x="2679443" y="52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D10F-30BF-4722-84B1-F9F1E3A860E9}"/>
              </a:ext>
            </a:extLst>
          </p:cNvPr>
          <p:cNvSpPr txBox="1"/>
          <p:nvPr/>
        </p:nvSpPr>
        <p:spPr>
          <a:xfrm>
            <a:off x="1912778" y="527975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07C743-39B1-45CE-A64B-EC15DB939930}"/>
              </a:ext>
            </a:extLst>
          </p:cNvPr>
          <p:cNvSpPr txBox="1"/>
          <p:nvPr/>
        </p:nvSpPr>
        <p:spPr>
          <a:xfrm>
            <a:off x="3360767" y="52838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9134D29-0B4A-41C7-AD62-5757565E5001}"/>
              </a:ext>
            </a:extLst>
          </p:cNvPr>
          <p:cNvSpPr/>
          <p:nvPr/>
        </p:nvSpPr>
        <p:spPr>
          <a:xfrm>
            <a:off x="2038817" y="478309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12757B2-401B-492C-BE32-46CAADA0271C}"/>
              </a:ext>
            </a:extLst>
          </p:cNvPr>
          <p:cNvSpPr/>
          <p:nvPr/>
        </p:nvSpPr>
        <p:spPr>
          <a:xfrm>
            <a:off x="2705048" y="39648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8B6F57-BEF1-49AC-9A8D-3B0E13BEB67E}"/>
              </a:ext>
            </a:extLst>
          </p:cNvPr>
          <p:cNvSpPr/>
          <p:nvPr/>
        </p:nvSpPr>
        <p:spPr>
          <a:xfrm>
            <a:off x="3391471" y="3413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C536DD-68DA-4C0D-B2DA-59D4A8A15710}"/>
              </a:ext>
            </a:extLst>
          </p:cNvPr>
          <p:cNvSpPr/>
          <p:nvPr/>
        </p:nvSpPr>
        <p:spPr>
          <a:xfrm>
            <a:off x="3955324" y="399697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A3E710-54C8-4EE9-B3A7-0C03733B8924}"/>
              </a:ext>
            </a:extLst>
          </p:cNvPr>
          <p:cNvSpPr/>
          <p:nvPr/>
        </p:nvSpPr>
        <p:spPr>
          <a:xfrm>
            <a:off x="1810263" y="345983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0556CB-8428-4B95-818A-B9C14BB6B411}"/>
              </a:ext>
            </a:extLst>
          </p:cNvPr>
          <p:cNvSpPr/>
          <p:nvPr/>
        </p:nvSpPr>
        <p:spPr>
          <a:xfrm>
            <a:off x="7215403" y="297981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33E916-0400-468B-90AA-F1E544AC26D4}"/>
              </a:ext>
            </a:extLst>
          </p:cNvPr>
          <p:cNvSpPr txBox="1"/>
          <p:nvPr/>
        </p:nvSpPr>
        <p:spPr>
          <a:xfrm rot="16200000">
            <a:off x="5285708" y="362568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E75DF0-8F2A-47CC-B3D4-741DCA5E1CE4}"/>
              </a:ext>
            </a:extLst>
          </p:cNvPr>
          <p:cNvSpPr txBox="1"/>
          <p:nvPr/>
        </p:nvSpPr>
        <p:spPr>
          <a:xfrm>
            <a:off x="7315551" y="562512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A2F9D7-7FEB-473F-ADCB-EC62A26843A1}"/>
              </a:ext>
            </a:extLst>
          </p:cNvPr>
          <p:cNvSpPr txBox="1"/>
          <p:nvPr/>
        </p:nvSpPr>
        <p:spPr>
          <a:xfrm>
            <a:off x="8447046" y="5317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747D1A-FAE8-49CD-BDED-E4B4E850D129}"/>
              </a:ext>
            </a:extLst>
          </p:cNvPr>
          <p:cNvSpPr txBox="1"/>
          <p:nvPr/>
        </p:nvSpPr>
        <p:spPr>
          <a:xfrm>
            <a:off x="7680381" y="531611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4DDEE3-8F2F-45DD-91C8-6466A3E35F89}"/>
              </a:ext>
            </a:extLst>
          </p:cNvPr>
          <p:cNvSpPr txBox="1"/>
          <p:nvPr/>
        </p:nvSpPr>
        <p:spPr>
          <a:xfrm>
            <a:off x="9128370" y="53201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D54BC7E-61C0-4C60-8608-D6EE1F8BFD85}"/>
              </a:ext>
            </a:extLst>
          </p:cNvPr>
          <p:cNvSpPr/>
          <p:nvPr/>
        </p:nvSpPr>
        <p:spPr>
          <a:xfrm>
            <a:off x="7578613" y="401928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6EB826C-5794-4473-824A-F9B03C70BB71}"/>
              </a:ext>
            </a:extLst>
          </p:cNvPr>
          <p:cNvSpPr/>
          <p:nvPr/>
        </p:nvSpPr>
        <p:spPr>
          <a:xfrm>
            <a:off x="8472651" y="400118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1879249-FE5E-4BEB-BCF8-675175A147CB}"/>
              </a:ext>
            </a:extLst>
          </p:cNvPr>
          <p:cNvSpPr/>
          <p:nvPr/>
        </p:nvSpPr>
        <p:spPr>
          <a:xfrm>
            <a:off x="9144000" y="3962400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8C29C09-7300-4F13-B555-DB824DB7D27F}"/>
              </a:ext>
            </a:extLst>
          </p:cNvPr>
          <p:cNvSpPr/>
          <p:nvPr/>
        </p:nvSpPr>
        <p:spPr>
          <a:xfrm>
            <a:off x="9722927" y="403333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/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l-GR" sz="2800" dirty="0" smtClean="0"/>
                            <m:t>β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14:cNvPr>
              <p14:cNvContentPartPr/>
              <p14:nvPr/>
            </p14:nvContentPartPr>
            <p14:xfrm>
              <a:off x="7580875" y="4039264"/>
              <a:ext cx="9360" cy="14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62875" y="4021264"/>
                <a:ext cx="450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9536B3A5-001C-4C9C-9B2C-7A544326F2A5}"/>
                  </a:ext>
                </a:extLst>
              </p14:cNvPr>
              <p14:cNvContentPartPr/>
              <p14:nvPr/>
            </p14:nvContentPartPr>
            <p14:xfrm>
              <a:off x="7627675" y="4015144"/>
              <a:ext cx="2105640" cy="720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9536B3A5-001C-4C9C-9B2C-7A544326F2A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09675" y="3997144"/>
                <a:ext cx="2141280" cy="107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81185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Hessian matrix, what is it?</a:t>
            </a:r>
          </a:p>
          <a:p>
            <a:pPr lvl="1"/>
            <a:r>
              <a:rPr lang="en-US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is it non-positive definite?</a:t>
            </a:r>
          </a:p>
          <a:p>
            <a:endParaRPr lang="en-US" i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893B73-73E1-4FB1-8F7C-4C1B9CD5AED3}"/>
              </a:ext>
            </a:extLst>
          </p:cNvPr>
          <p:cNvSpPr/>
          <p:nvPr/>
        </p:nvSpPr>
        <p:spPr>
          <a:xfrm>
            <a:off x="1447800" y="294345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8F2352-0715-453E-AE12-5797449051C3}"/>
              </a:ext>
            </a:extLst>
          </p:cNvPr>
          <p:cNvSpPr txBox="1"/>
          <p:nvPr/>
        </p:nvSpPr>
        <p:spPr>
          <a:xfrm rot="16200000">
            <a:off x="-481895" y="358932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63C5FA-B974-49F0-AA1E-C02FA5AF69A7}"/>
              </a:ext>
            </a:extLst>
          </p:cNvPr>
          <p:cNvSpPr txBox="1"/>
          <p:nvPr/>
        </p:nvSpPr>
        <p:spPr>
          <a:xfrm>
            <a:off x="1547948" y="558876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78C05-C092-46DD-ACC4-70A57D102800}"/>
              </a:ext>
            </a:extLst>
          </p:cNvPr>
          <p:cNvSpPr txBox="1"/>
          <p:nvPr/>
        </p:nvSpPr>
        <p:spPr>
          <a:xfrm>
            <a:off x="2679443" y="528132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1FBD10F-30BF-4722-84B1-F9F1E3A860E9}"/>
              </a:ext>
            </a:extLst>
          </p:cNvPr>
          <p:cNvSpPr txBox="1"/>
          <p:nvPr/>
        </p:nvSpPr>
        <p:spPr>
          <a:xfrm>
            <a:off x="1912778" y="527975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07C743-39B1-45CE-A64B-EC15DB939930}"/>
              </a:ext>
            </a:extLst>
          </p:cNvPr>
          <p:cNvSpPr txBox="1"/>
          <p:nvPr/>
        </p:nvSpPr>
        <p:spPr>
          <a:xfrm>
            <a:off x="3360767" y="528381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9134D29-0B4A-41C7-AD62-5757565E5001}"/>
              </a:ext>
            </a:extLst>
          </p:cNvPr>
          <p:cNvSpPr/>
          <p:nvPr/>
        </p:nvSpPr>
        <p:spPr>
          <a:xfrm>
            <a:off x="2038817" y="478309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12757B2-401B-492C-BE32-46CAADA0271C}"/>
              </a:ext>
            </a:extLst>
          </p:cNvPr>
          <p:cNvSpPr/>
          <p:nvPr/>
        </p:nvSpPr>
        <p:spPr>
          <a:xfrm>
            <a:off x="2705048" y="396482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28B6F57-BEF1-49AC-9A8D-3B0E13BEB67E}"/>
              </a:ext>
            </a:extLst>
          </p:cNvPr>
          <p:cNvSpPr/>
          <p:nvPr/>
        </p:nvSpPr>
        <p:spPr>
          <a:xfrm>
            <a:off x="3391471" y="3413024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EC536DD-68DA-4C0D-B2DA-59D4A8A15710}"/>
              </a:ext>
            </a:extLst>
          </p:cNvPr>
          <p:cNvSpPr/>
          <p:nvPr/>
        </p:nvSpPr>
        <p:spPr>
          <a:xfrm>
            <a:off x="3955324" y="399697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FA3E710-54C8-4EE9-B3A7-0C03733B8924}"/>
              </a:ext>
            </a:extLst>
          </p:cNvPr>
          <p:cNvSpPr/>
          <p:nvPr/>
        </p:nvSpPr>
        <p:spPr>
          <a:xfrm>
            <a:off x="1810263" y="3459832"/>
            <a:ext cx="2390115" cy="1777275"/>
          </a:xfrm>
          <a:custGeom>
            <a:avLst/>
            <a:gdLst>
              <a:gd name="connsiteX0" fmla="*/ 0 w 2390115"/>
              <a:gd name="connsiteY0" fmla="*/ 1777275 h 1777275"/>
              <a:gd name="connsiteX1" fmla="*/ 1602463 w 2390115"/>
              <a:gd name="connsiteY1" fmla="*/ 11850 h 1777275"/>
              <a:gd name="connsiteX2" fmla="*/ 2390115 w 2390115"/>
              <a:gd name="connsiteY2" fmla="*/ 1143533 h 177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90115" h="1777275">
                <a:moveTo>
                  <a:pt x="0" y="1777275"/>
                </a:moveTo>
                <a:cubicBezTo>
                  <a:pt x="602055" y="947374"/>
                  <a:pt x="1204111" y="117474"/>
                  <a:pt x="1602463" y="11850"/>
                </a:cubicBezTo>
                <a:cubicBezTo>
                  <a:pt x="2000815" y="-93774"/>
                  <a:pt x="2195465" y="524879"/>
                  <a:pt x="2390115" y="1143533"/>
                </a:cubicBezTo>
              </a:path>
            </a:pathLst>
          </a:cu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B0556CB-8428-4B95-818A-B9C14BB6B411}"/>
              </a:ext>
            </a:extLst>
          </p:cNvPr>
          <p:cNvSpPr/>
          <p:nvPr/>
        </p:nvSpPr>
        <p:spPr>
          <a:xfrm>
            <a:off x="7215403" y="2979810"/>
            <a:ext cx="2764972" cy="231434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33E916-0400-468B-90AA-F1E544AC26D4}"/>
              </a:ext>
            </a:extLst>
          </p:cNvPr>
          <p:cNvSpPr txBox="1"/>
          <p:nvPr/>
        </p:nvSpPr>
        <p:spPr>
          <a:xfrm rot="16200000">
            <a:off x="5285708" y="3625686"/>
            <a:ext cx="29052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/>
              <a:t>Likelihood of </a:t>
            </a:r>
            <a:br>
              <a:rPr lang="en-US" sz="2800"/>
            </a:br>
            <a:r>
              <a:rPr lang="en-US" sz="2800"/>
              <a:t>observing the data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EE75DF0-8F2A-47CC-B3D4-741DCA5E1CE4}"/>
              </a:ext>
            </a:extLst>
          </p:cNvPr>
          <p:cNvSpPr txBox="1"/>
          <p:nvPr/>
        </p:nvSpPr>
        <p:spPr>
          <a:xfrm>
            <a:off x="7315551" y="5625129"/>
            <a:ext cx="25646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Parameter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A2F9D7-7FEB-473F-ADCB-EC62A26843A1}"/>
              </a:ext>
            </a:extLst>
          </p:cNvPr>
          <p:cNvSpPr txBox="1"/>
          <p:nvPr/>
        </p:nvSpPr>
        <p:spPr>
          <a:xfrm>
            <a:off x="8447046" y="53176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747D1A-FAE8-49CD-BDED-E4B4E850D129}"/>
              </a:ext>
            </a:extLst>
          </p:cNvPr>
          <p:cNvSpPr txBox="1"/>
          <p:nvPr/>
        </p:nvSpPr>
        <p:spPr>
          <a:xfrm>
            <a:off x="7680381" y="531611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4DDEE3-8F2F-45DD-91C8-6466A3E35F89}"/>
              </a:ext>
            </a:extLst>
          </p:cNvPr>
          <p:cNvSpPr txBox="1"/>
          <p:nvPr/>
        </p:nvSpPr>
        <p:spPr>
          <a:xfrm>
            <a:off x="9128370" y="532017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6D54BC7E-61C0-4C60-8608-D6EE1F8BFD85}"/>
              </a:ext>
            </a:extLst>
          </p:cNvPr>
          <p:cNvSpPr/>
          <p:nvPr/>
        </p:nvSpPr>
        <p:spPr>
          <a:xfrm>
            <a:off x="7578613" y="401928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6EB826C-5794-4473-824A-F9B03C70BB71}"/>
              </a:ext>
            </a:extLst>
          </p:cNvPr>
          <p:cNvSpPr/>
          <p:nvPr/>
        </p:nvSpPr>
        <p:spPr>
          <a:xfrm>
            <a:off x="8417680" y="4120327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1879249-FE5E-4BEB-BCF8-675175A147CB}"/>
              </a:ext>
            </a:extLst>
          </p:cNvPr>
          <p:cNvSpPr/>
          <p:nvPr/>
        </p:nvSpPr>
        <p:spPr>
          <a:xfrm>
            <a:off x="9116795" y="4348469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8C29C09-7300-4F13-B555-DB824DB7D27F}"/>
              </a:ext>
            </a:extLst>
          </p:cNvPr>
          <p:cNvSpPr/>
          <p:nvPr/>
        </p:nvSpPr>
        <p:spPr>
          <a:xfrm>
            <a:off x="9722927" y="4033335"/>
            <a:ext cx="120139" cy="11769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/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l-GR" sz="2800" dirty="0" smtClean="0"/>
                            <m:t>β</m:t>
                          </m:r>
                        </m: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sz="280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0870836-0088-4B67-8220-66B31A6D8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84415" y="2388487"/>
                <a:ext cx="1230678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14:cNvPr>
              <p14:cNvContentPartPr/>
              <p14:nvPr/>
            </p14:nvContentPartPr>
            <p14:xfrm>
              <a:off x="7580875" y="4039264"/>
              <a:ext cx="9360" cy="140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DB90C5-3743-45BF-AD38-649BB2C53F7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62875" y="4021264"/>
                <a:ext cx="45000" cy="4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A642E41B-6EAF-4AE5-AD6D-0F856CDEE11E}"/>
                  </a:ext>
                </a:extLst>
              </p14:cNvPr>
              <p14:cNvContentPartPr/>
              <p14:nvPr/>
            </p14:nvContentPartPr>
            <p14:xfrm>
              <a:off x="7673395" y="4050784"/>
              <a:ext cx="7200" cy="46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A642E41B-6EAF-4AE5-AD6D-0F856CDEE11E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654448" y="4032784"/>
                <a:ext cx="44716" cy="4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5667CC6B-BA77-470D-A2D9-007EE2872B6A}"/>
              </a:ext>
            </a:extLst>
          </p:cNvPr>
          <p:cNvGrpSpPr/>
          <p:nvPr/>
        </p:nvGrpSpPr>
        <p:grpSpPr>
          <a:xfrm>
            <a:off x="7650355" y="4038544"/>
            <a:ext cx="2268000" cy="325440"/>
            <a:chOff x="7650355" y="4038544"/>
            <a:chExt cx="2268000" cy="325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B54A9BB-4BD7-46D6-AA84-84DD5BC306C4}"/>
                    </a:ext>
                  </a:extLst>
                </p14:cNvPr>
                <p14:cNvContentPartPr/>
                <p14:nvPr/>
              </p14:nvContentPartPr>
              <p14:xfrm>
                <a:off x="7650355" y="4050784"/>
                <a:ext cx="2093760" cy="3132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B54A9BB-4BD7-46D6-AA84-84DD5BC306C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632355" y="4032784"/>
                  <a:ext cx="212940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70206BC-CC33-4DBD-8B7E-43B1E12DAE4A}"/>
                    </a:ext>
                  </a:extLst>
                </p14:cNvPr>
                <p14:cNvContentPartPr/>
                <p14:nvPr/>
              </p14:nvContentPartPr>
              <p14:xfrm>
                <a:off x="9710995" y="4038544"/>
                <a:ext cx="207360" cy="705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70206BC-CC33-4DBD-8B7E-43B1E12DAE4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692964" y="4020544"/>
                  <a:ext cx="243062" cy="10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AA7CD715-827C-45E3-BC9B-DB7F3FA62793}"/>
                  </a:ext>
                </a:extLst>
              </p14:cNvPr>
              <p14:cNvContentPartPr/>
              <p14:nvPr/>
            </p14:nvContentPartPr>
            <p14:xfrm>
              <a:off x="7212595" y="4016224"/>
              <a:ext cx="380520" cy="2376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AA7CD715-827C-45E3-BC9B-DB7F3FA6279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94612" y="3998224"/>
                <a:ext cx="416126" cy="59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344951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98CD-9E27-4216-B9EA-0D13BE62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Troubleshooting with </a:t>
            </a:r>
            <a:r>
              <a:rPr lang="en-US" b="1" i="0" err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glmmTMB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E92BB8-3025-4958-B594-7D6050C32F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b="1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Model convergence problem; non-positive-definite Hessian matrix; NA values for likelihood/AIC/etc.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a model is overparameterized (i.e. the data does not contain enough information to estimate the parameters reliably)</a:t>
            </a:r>
          </a:p>
          <a:p>
            <a:pPr lvl="2"/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Or </a:t>
            </a:r>
            <a:r>
              <a:rPr lang="en-US">
                <a:solidFill>
                  <a:srgbClr val="000000"/>
                </a:solidFill>
                <a:latin typeface="Open Sans" panose="020B0606030504020204" pitchFamily="34" charset="0"/>
              </a:rPr>
              <a:t>problematic covariate (skewed, outliers, etc.)</a:t>
            </a:r>
            <a:endParaRPr lang="en-US" b="0" i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a random-effect variance is estimated to be zero, or random-effect terms are estimated to be perfectly correlated ("singular fit": often caused by having too few levels of the random-effect grouping variable)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zero-inflation is estimated to be near zero (a strongly negative zero-inflation parameter)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 dispersion is estimated to be near zero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when </a:t>
            </a:r>
            <a:r>
              <a:rPr lang="en-US" b="0" i="1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complete separation</a:t>
            </a:r>
            <a:r>
              <a:rPr lang="en-US" b="0" i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 occurs in a binomial model: some categories in the model contain proportions that are either all 0 or all 1</a:t>
            </a:r>
          </a:p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6C3532-2FB4-4F09-BC0F-23643F6D403C}"/>
              </a:ext>
            </a:extLst>
          </p:cNvPr>
          <p:cNvSpPr txBox="1"/>
          <p:nvPr/>
        </p:nvSpPr>
        <p:spPr>
          <a:xfrm>
            <a:off x="1676400" y="6398696"/>
            <a:ext cx="8075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https://cran.r-project.org/web/packages/glmmTMB/vignettes/troubleshooting.html</a:t>
            </a:r>
          </a:p>
        </p:txBody>
      </p:sp>
    </p:spTree>
    <p:extLst>
      <p:ext uri="{BB962C8B-B14F-4D97-AF65-F5344CB8AC3E}">
        <p14:creationId xmlns:p14="http://schemas.microsoft.com/office/powerpoint/2010/main" val="405190411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8" name="Rectangle 70">
            <a:extLst>
              <a:ext uri="{FF2B5EF4-FFF2-40B4-BE49-F238E27FC236}">
                <a16:creationId xmlns:a16="http://schemas.microsoft.com/office/drawing/2014/main" id="{57845966-6EFC-468A-9CC7-BAB4B95854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54372" y="0"/>
            <a:ext cx="9483256" cy="6858000"/>
          </a:xfrm>
          <a:prstGeom prst="rect">
            <a:avLst/>
          </a:prstGeom>
          <a:solidFill>
            <a:srgbClr val="752C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149" name="Picture 72">
            <a:extLst>
              <a:ext uri="{FF2B5EF4-FFF2-40B4-BE49-F238E27FC236}">
                <a16:creationId xmlns:a16="http://schemas.microsoft.com/office/drawing/2014/main" id="{75554383-98AF-4A47-BB65-705FAAA4BE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150" name="Freeform: Shape 74">
            <a:extLst>
              <a:ext uri="{FF2B5EF4-FFF2-40B4-BE49-F238E27FC236}">
                <a16:creationId xmlns:a16="http://schemas.microsoft.com/office/drawing/2014/main" id="{ADAD1991-FFD1-4E94-ABAB-7560D3300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44484" y="0"/>
            <a:ext cx="7837716" cy="6858000"/>
          </a:xfrm>
          <a:custGeom>
            <a:avLst/>
            <a:gdLst>
              <a:gd name="connsiteX0" fmla="*/ 2232159 w 7837716"/>
              <a:gd name="connsiteY0" fmla="*/ 0 h 6858000"/>
              <a:gd name="connsiteX1" fmla="*/ 5605557 w 7837716"/>
              <a:gd name="connsiteY1" fmla="*/ 0 h 6858000"/>
              <a:gd name="connsiteX2" fmla="*/ 5617845 w 7837716"/>
              <a:gd name="connsiteY2" fmla="*/ 5384 h 6858000"/>
              <a:gd name="connsiteX3" fmla="*/ 7837716 w 7837716"/>
              <a:gd name="connsiteY3" fmla="*/ 3429000 h 6858000"/>
              <a:gd name="connsiteX4" fmla="*/ 5617845 w 7837716"/>
              <a:gd name="connsiteY4" fmla="*/ 6852616 h 6858000"/>
              <a:gd name="connsiteX5" fmla="*/ 5605557 w 7837716"/>
              <a:gd name="connsiteY5" fmla="*/ 6858000 h 6858000"/>
              <a:gd name="connsiteX6" fmla="*/ 2232159 w 7837716"/>
              <a:gd name="connsiteY6" fmla="*/ 6858000 h 6858000"/>
              <a:gd name="connsiteX7" fmla="*/ 2219871 w 7837716"/>
              <a:gd name="connsiteY7" fmla="*/ 6852616 h 6858000"/>
              <a:gd name="connsiteX8" fmla="*/ 0 w 7837716"/>
              <a:gd name="connsiteY8" fmla="*/ 3429000 h 6858000"/>
              <a:gd name="connsiteX9" fmla="*/ 2219871 w 7837716"/>
              <a:gd name="connsiteY9" fmla="*/ 53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837716" h="6858000">
                <a:moveTo>
                  <a:pt x="2232159" y="0"/>
                </a:moveTo>
                <a:lnTo>
                  <a:pt x="5605557" y="0"/>
                </a:lnTo>
                <a:lnTo>
                  <a:pt x="5617845" y="5384"/>
                </a:lnTo>
                <a:cubicBezTo>
                  <a:pt x="6931322" y="618789"/>
                  <a:pt x="7837716" y="1921305"/>
                  <a:pt x="7837716" y="3429000"/>
                </a:cubicBezTo>
                <a:cubicBezTo>
                  <a:pt x="7837716" y="4936696"/>
                  <a:pt x="6931322" y="6239212"/>
                  <a:pt x="5617845" y="6852616"/>
                </a:cubicBezTo>
                <a:lnTo>
                  <a:pt x="5605557" y="6858000"/>
                </a:lnTo>
                <a:lnTo>
                  <a:pt x="2232159" y="6858000"/>
                </a:lnTo>
                <a:lnTo>
                  <a:pt x="2219871" y="6852616"/>
                </a:lnTo>
                <a:cubicBezTo>
                  <a:pt x="906394" y="6239212"/>
                  <a:pt x="0" y="4936696"/>
                  <a:pt x="0" y="3429000"/>
                </a:cubicBezTo>
                <a:cubicBezTo>
                  <a:pt x="0" y="1921305"/>
                  <a:pt x="906394" y="618789"/>
                  <a:pt x="2219871" y="5384"/>
                </a:cubicBezTo>
                <a:close/>
              </a:path>
            </a:pathLst>
          </a:custGeom>
          <a:solidFill>
            <a:schemeClr val="bg1"/>
          </a:solidFill>
          <a:ln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23000">
                  <a:schemeClr val="accent1">
                    <a:lumMod val="45000"/>
                    <a:lumOff val="55000"/>
                  </a:schemeClr>
                </a:gs>
                <a:gs pos="83000">
                  <a:schemeClr val="bg2">
                    <a:lumMod val="82000"/>
                  </a:schemeClr>
                </a:gs>
                <a:gs pos="100000">
                  <a:schemeClr val="bg2">
                    <a:lumMod val="87000"/>
                  </a:scheme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6146" name="Picture 2" descr="One Does Not Simply Meme - Imgflip">
            <a:extLst>
              <a:ext uri="{FF2B5EF4-FFF2-40B4-BE49-F238E27FC236}">
                <a16:creationId xmlns:a16="http://schemas.microsoft.com/office/drawing/2014/main" id="{E94BBA6D-E923-46EA-9682-D2CFC7FA54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236181" y="1842034"/>
            <a:ext cx="5462546" cy="3217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A qr code with black dots&#10;&#10;AI-generated content may be incorrect.">
            <a:extLst>
              <a:ext uri="{FF2B5EF4-FFF2-40B4-BE49-F238E27FC236}">
                <a16:creationId xmlns:a16="http://schemas.microsoft.com/office/drawing/2014/main" id="{835528BB-0306-AF29-C861-66A1539058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272" y="5244322"/>
            <a:ext cx="1179871" cy="117987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D5B67E-51AE-00AB-BD84-6839A0BE8A63}"/>
              </a:ext>
            </a:extLst>
          </p:cNvPr>
          <p:cNvSpPr txBox="1"/>
          <p:nvPr/>
        </p:nvSpPr>
        <p:spPr>
          <a:xfrm>
            <a:off x="311467" y="4874990"/>
            <a:ext cx="207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Materials and code:</a:t>
            </a:r>
          </a:p>
        </p:txBody>
      </p:sp>
    </p:spTree>
    <p:extLst>
      <p:ext uri="{BB962C8B-B14F-4D97-AF65-F5344CB8AC3E}">
        <p14:creationId xmlns:p14="http://schemas.microsoft.com/office/powerpoint/2010/main" val="1061289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A7C9211-140C-48D2-BD81-369CDD5D6660}">
  <we:reference id="4b785c87-866c-4bad-85d8-5d1ae467ac9a" version="3.18.2.0" store="EXCatalog" storeType="EXCatalog"/>
  <we:alternateReferences>
    <we:reference id="WA104381909" version="3.18.2.0" store="en-US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662F4572198A44A6FA87AF94512E6B" ma:contentTypeVersion="10" ma:contentTypeDescription="Create a new document." ma:contentTypeScope="" ma:versionID="cbb8550a02cf10044d4b7b73effccd08">
  <xsd:schema xmlns:xsd="http://www.w3.org/2001/XMLSchema" xmlns:xs="http://www.w3.org/2001/XMLSchema" xmlns:p="http://schemas.microsoft.com/office/2006/metadata/properties" xmlns:ns3="ecba6461-6edb-4dfc-a4a9-c55c7abafea5" targetNamespace="http://schemas.microsoft.com/office/2006/metadata/properties" ma:root="true" ma:fieldsID="fac8f7e799f88ffcf1e4cd30b9eb0f15" ns3:_="">
    <xsd:import namespace="ecba6461-6edb-4dfc-a4a9-c55c7abafea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AutoKeyPoints" minOccurs="0"/>
                <xsd:element ref="ns3:MediaServiceKeyPoints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ba6461-6edb-4dfc-a4a9-c55c7abafe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5A5B9CC-CA94-426F-BF36-7E7E0F645D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AA91A5-EF58-4994-85DF-A45D597CB6F3}">
  <ds:schemaRefs>
    <ds:schemaRef ds:uri="ecba6461-6edb-4dfc-a4a9-c55c7abafe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3DAC4000-8AED-4D45-82A0-29BFA1C623C8}">
  <ds:schemaRefs>
    <ds:schemaRef ds:uri="ecba6461-6edb-4dfc-a4a9-c55c7abafea5"/>
    <ds:schemaRef ds:uri="http://schemas.microsoft.com/office/2006/documentManagement/types"/>
    <ds:schemaRef ds:uri="http://www.w3.org/XML/1998/namespace"/>
    <ds:schemaRef ds:uri="http://schemas.microsoft.com/office/2006/metadata/properties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5691</Words>
  <Application>Microsoft Office PowerPoint</Application>
  <PresentationFormat>Widescreen</PresentationFormat>
  <Paragraphs>998</Paragraphs>
  <Slides>116</Slides>
  <Notes>27</Notes>
  <HiddenSlides>24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27" baseType="lpstr">
      <vt:lpstr>-apple-system</vt:lpstr>
      <vt:lpstr>Aptos</vt:lpstr>
      <vt:lpstr>Arial</vt:lpstr>
      <vt:lpstr>Arial Nova</vt:lpstr>
      <vt:lpstr>Calibri</vt:lpstr>
      <vt:lpstr>Cambria Math</vt:lpstr>
      <vt:lpstr>Helvetica Neue</vt:lpstr>
      <vt:lpstr>Open Sans</vt:lpstr>
      <vt:lpstr>Symbol</vt:lpstr>
      <vt:lpstr>Wingdings</vt:lpstr>
      <vt:lpstr>Office Theme</vt:lpstr>
      <vt:lpstr>SEB Stats Workshop  Overview of Stats process</vt:lpstr>
      <vt:lpstr>Outline for today</vt:lpstr>
      <vt:lpstr>ALS6502C Course Manual</vt:lpstr>
      <vt:lpstr>PowerPoint Presentation</vt:lpstr>
      <vt:lpstr>PowerPoint Presentation</vt:lpstr>
      <vt:lpstr>PowerPoint Presentation</vt:lpstr>
      <vt:lpstr>PowerPoint Presentation</vt:lpstr>
      <vt:lpstr>What is a probability distribution?</vt:lpstr>
      <vt:lpstr>What is a probability distribution?</vt:lpstr>
      <vt:lpstr>What is a mean?</vt:lpstr>
      <vt:lpstr>What is a mean?</vt:lpstr>
      <vt:lpstr>What is a standard deviation?</vt:lpstr>
      <vt:lpstr>What is a standard deviation?</vt:lpstr>
      <vt:lpstr>What is a standard error?</vt:lpstr>
      <vt:lpstr>What is a standard error?</vt:lpstr>
      <vt:lpstr>Questions ???</vt:lpstr>
      <vt:lpstr>What is a probability distribution?</vt:lpstr>
      <vt:lpstr>What is a probability distribution?</vt:lpstr>
      <vt:lpstr>What processes generate data?</vt:lpstr>
      <vt:lpstr>What processes generate data?</vt:lpstr>
      <vt:lpstr>Steps for constructing and interpreting a GLMM</vt:lpstr>
      <vt:lpstr>Step 0: Data exploration </vt:lpstr>
      <vt:lpstr>Step 0: Data exploration </vt:lpstr>
      <vt:lpstr>Know your data and design</vt:lpstr>
      <vt:lpstr>Explore Data - Values &amp; Outliers</vt:lpstr>
      <vt:lpstr>Explore Data - Distribution &amp; Variance</vt:lpstr>
      <vt:lpstr>Explore Data - Collinearity</vt:lpstr>
      <vt:lpstr>Explore Data – Relationships / Interactions</vt:lpstr>
      <vt:lpstr>Explore Data - Independence / Clustering</vt:lpstr>
      <vt:lpstr>Good habits &amp; Summary</vt:lpstr>
      <vt:lpstr>Step 1. Construct a statistical model to test your hypothesis</vt:lpstr>
      <vt:lpstr>Step 1. Construct a statistical model  to test your hypothesis</vt:lpstr>
      <vt:lpstr>Step 1. Construct a statistical model  to test your hypothesis</vt:lpstr>
      <vt:lpstr>ANOVA as a linear model</vt:lpstr>
      <vt:lpstr>ANOVA as a linear model</vt:lpstr>
      <vt:lpstr>ANOVA as a linear model</vt:lpstr>
      <vt:lpstr>Questions ???</vt:lpstr>
      <vt:lpstr>Linear mixed models</vt:lpstr>
      <vt:lpstr>Fixed vs. random effects?</vt:lpstr>
      <vt:lpstr>Fixed vs. random effects?</vt:lpstr>
      <vt:lpstr>Fixed vs. random effects?</vt:lpstr>
      <vt:lpstr>Random effects in experiments vs. observational studies</vt:lpstr>
      <vt:lpstr>Benefits of blocking</vt:lpstr>
      <vt:lpstr>Rules of thumb about random effects</vt:lpstr>
      <vt:lpstr>Examples of blocks</vt:lpstr>
      <vt:lpstr>Examples of blocks</vt:lpstr>
      <vt:lpstr>Examples of blocks</vt:lpstr>
      <vt:lpstr>Examples of blocks</vt:lpstr>
      <vt:lpstr>Examples of blocks</vt:lpstr>
      <vt:lpstr>Examples of blocks</vt:lpstr>
      <vt:lpstr>PowerPoint Presentation</vt:lpstr>
      <vt:lpstr>Which of the following would be characteristics typical of a FIXED effect in a statistical model? (select all that apply)</vt:lpstr>
      <vt:lpstr>Which of the following would be characteristics typical of a FIXED effect in a statistical model? (select all that apply)</vt:lpstr>
      <vt:lpstr>Which of the following would be characteristics typical of a RANDOM effect in a statistical model? (select all that apply)</vt:lpstr>
      <vt:lpstr>Which of the following would be characteristics typical of a RANDOM effect in a statistical model? (select all that apply)</vt:lpstr>
      <vt:lpstr>Step 1. Construct a statistical model  to test your hypothesis</vt:lpstr>
      <vt:lpstr>Break</vt:lpstr>
      <vt:lpstr>Step 2. Check model assumptions</vt:lpstr>
      <vt:lpstr>Assumptions of linear models</vt:lpstr>
      <vt:lpstr>Assumptions of linear models</vt:lpstr>
      <vt:lpstr>Assumptions of linear models</vt:lpstr>
      <vt:lpstr>Assumptions of linear models</vt:lpstr>
      <vt:lpstr>Assumptions of linear models</vt:lpstr>
      <vt:lpstr>Often data (and residuals)  are not normally distributed</vt:lpstr>
      <vt:lpstr>Why might we need to use non-normal distributions?</vt:lpstr>
      <vt:lpstr>Questions ???</vt:lpstr>
      <vt:lpstr>What are “generalized” models?</vt:lpstr>
      <vt:lpstr>Generalized linear mixed models</vt:lpstr>
      <vt:lpstr>Poisson distribution - assumptions</vt:lpstr>
      <vt:lpstr>Poisson linear model</vt:lpstr>
      <vt:lpstr>Poisson linear model</vt:lpstr>
      <vt:lpstr>Poisson linear model</vt:lpstr>
      <vt:lpstr>Poisson linear model – example 1</vt:lpstr>
      <vt:lpstr>Poisson linear model – example 1</vt:lpstr>
      <vt:lpstr>Common distributions</vt:lpstr>
      <vt:lpstr>Common distributions</vt:lpstr>
      <vt:lpstr>Common distributions</vt:lpstr>
      <vt:lpstr>Common distributions</vt:lpstr>
      <vt:lpstr>Negative binomial distribution - assumptions</vt:lpstr>
      <vt:lpstr>Common types of distributions</vt:lpstr>
      <vt:lpstr>What distribution best matches the data?</vt:lpstr>
      <vt:lpstr>Step 2. Check GLM assumptions</vt:lpstr>
      <vt:lpstr>Step 2. Check GLM assumptions</vt:lpstr>
      <vt:lpstr>Step 2. Check GLM assumptions</vt:lpstr>
      <vt:lpstr>Reasons for deviations of residuals</vt:lpstr>
      <vt:lpstr>Step-by-step guide to analysis (post-data collection)</vt:lpstr>
      <vt:lpstr>What is overdispersion?</vt:lpstr>
      <vt:lpstr>Processes that generate overdispersion</vt:lpstr>
      <vt:lpstr>What are consequences of overdispersion?</vt:lpstr>
      <vt:lpstr>Step-by-step guide to analysis (post-data collection)</vt:lpstr>
      <vt:lpstr>Step 3. Check random effects and model components</vt:lpstr>
      <vt:lpstr>Questions ???</vt:lpstr>
      <vt:lpstr>Step 4. Check significance of terms in model</vt:lpstr>
      <vt:lpstr>Step 4. Check significance of terms in model</vt:lpstr>
      <vt:lpstr>Methods to estimate parameters</vt:lpstr>
      <vt:lpstr>Least squares estimation</vt:lpstr>
      <vt:lpstr>Maximum likelihood estimation</vt:lpstr>
      <vt:lpstr>Maximum likelihood estimation</vt:lpstr>
      <vt:lpstr>Maximum likelihood estimation</vt:lpstr>
      <vt:lpstr>Maximum likelihood estimation</vt:lpstr>
      <vt:lpstr>Methods to estimate parameters</vt:lpstr>
      <vt:lpstr>Methods to estimate parameters</vt:lpstr>
      <vt:lpstr>Methods to estimate parameters</vt:lpstr>
      <vt:lpstr>Methods to estimate parameters</vt:lpstr>
      <vt:lpstr>A very simple example of calculating a likelihood</vt:lpstr>
      <vt:lpstr>Step-by-step guide to analysis (post-data collection)</vt:lpstr>
      <vt:lpstr>After break</vt:lpstr>
      <vt:lpstr>Step-by-step guide to analysis (post-data collection)</vt:lpstr>
      <vt:lpstr>Step-by-step guide to analysis (post-data collection)</vt:lpstr>
      <vt:lpstr>Step-by-step guide to analysis (post-data collection)</vt:lpstr>
      <vt:lpstr>Step-by-step guide to analysis (post-data collection)</vt:lpstr>
      <vt:lpstr>Troubleshooting with glmmTMB</vt:lpstr>
      <vt:lpstr>Troubleshooting with glmmTMB</vt:lpstr>
      <vt:lpstr>Troubleshooting with glmmTMB</vt:lpstr>
      <vt:lpstr>Troubleshooting with glmmTMB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Experiments in Ecology and Agriculture Spring 2021  in Review</dc:title>
  <dc:creator>Phil Hahn</dc:creator>
  <cp:lastModifiedBy>Hahn, Phil</cp:lastModifiedBy>
  <cp:revision>5</cp:revision>
  <cp:lastPrinted>2025-07-10T19:48:47Z</cp:lastPrinted>
  <dcterms:created xsi:type="dcterms:W3CDTF">2021-04-20T16:29:23Z</dcterms:created>
  <dcterms:modified xsi:type="dcterms:W3CDTF">2026-03-11T01:04:33Z</dcterms:modified>
</cp:coreProperties>
</file>