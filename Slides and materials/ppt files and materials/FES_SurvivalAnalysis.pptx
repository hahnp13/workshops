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9" r:id="rId3"/>
    <p:sldId id="260" r:id="rId4"/>
    <p:sldId id="263" r:id="rId5"/>
    <p:sldId id="261" r:id="rId6"/>
    <p:sldId id="265" r:id="rId7"/>
    <p:sldId id="262" r:id="rId8"/>
    <p:sldId id="266" r:id="rId9"/>
    <p:sldId id="270" r:id="rId10"/>
    <p:sldId id="264" r:id="rId11"/>
    <p:sldId id="287" r:id="rId12"/>
    <p:sldId id="272" r:id="rId13"/>
    <p:sldId id="271" r:id="rId14"/>
    <p:sldId id="273" r:id="rId15"/>
    <p:sldId id="277" r:id="rId16"/>
    <p:sldId id="320" r:id="rId17"/>
    <p:sldId id="283" r:id="rId18"/>
    <p:sldId id="294" r:id="rId19"/>
    <p:sldId id="291" r:id="rId20"/>
    <p:sldId id="292" r:id="rId21"/>
    <p:sldId id="282" r:id="rId22"/>
    <p:sldId id="281" r:id="rId23"/>
    <p:sldId id="284" r:id="rId24"/>
    <p:sldId id="321" r:id="rId25"/>
    <p:sldId id="285" r:id="rId26"/>
    <p:sldId id="310" r:id="rId27"/>
    <p:sldId id="286" r:id="rId28"/>
    <p:sldId id="295" r:id="rId29"/>
    <p:sldId id="313" r:id="rId30"/>
    <p:sldId id="297" r:id="rId31"/>
    <p:sldId id="298" r:id="rId32"/>
    <p:sldId id="314" r:id="rId33"/>
    <p:sldId id="299" r:id="rId34"/>
    <p:sldId id="315" r:id="rId35"/>
    <p:sldId id="300" r:id="rId36"/>
    <p:sldId id="301" r:id="rId37"/>
    <p:sldId id="316" r:id="rId38"/>
    <p:sldId id="302" r:id="rId39"/>
    <p:sldId id="303" r:id="rId40"/>
    <p:sldId id="304" r:id="rId41"/>
    <p:sldId id="306" r:id="rId42"/>
    <p:sldId id="308" r:id="rId43"/>
    <p:sldId id="305" r:id="rId44"/>
    <p:sldId id="319" r:id="rId45"/>
    <p:sldId id="318" r:id="rId46"/>
    <p:sldId id="30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74E1A54-DA55-4936-AC81-D20B2E3B3962}">
          <p14:sldIdLst>
            <p14:sldId id="256"/>
            <p14:sldId id="259"/>
          </p14:sldIdLst>
        </p14:section>
        <p14:section name="Basic concepts" id="{55861F72-DC08-4838-91DF-62B1B6149CCD}">
          <p14:sldIdLst>
            <p14:sldId id="260"/>
            <p14:sldId id="263"/>
            <p14:sldId id="261"/>
            <p14:sldId id="265"/>
            <p14:sldId id="262"/>
            <p14:sldId id="266"/>
            <p14:sldId id="270"/>
          </p14:sldIdLst>
        </p14:section>
        <p14:section name="Kaplan-Meier &amp; LogRank" id="{6CA9EFCB-3CB9-4910-A069-99531C9F16F5}">
          <p14:sldIdLst>
            <p14:sldId id="264"/>
            <p14:sldId id="287"/>
            <p14:sldId id="272"/>
            <p14:sldId id="271"/>
            <p14:sldId id="273"/>
          </p14:sldIdLst>
        </p14:section>
        <p14:section name="Cox PH" id="{3DFF60FA-350C-4A09-AC55-2914CEB13A64}">
          <p14:sldIdLst>
            <p14:sldId id="277"/>
            <p14:sldId id="320"/>
            <p14:sldId id="283"/>
            <p14:sldId id="294"/>
            <p14:sldId id="291"/>
            <p14:sldId id="292"/>
            <p14:sldId id="282"/>
            <p14:sldId id="281"/>
            <p14:sldId id="284"/>
          </p14:sldIdLst>
        </p14:section>
        <p14:section name="R Demo" id="{20078604-DC1F-4665-A3E5-22AC2C2FE675}">
          <p14:sldIdLst>
            <p14:sldId id="321"/>
            <p14:sldId id="285"/>
            <p14:sldId id="310"/>
            <p14:sldId id="286"/>
            <p14:sldId id="295"/>
            <p14:sldId id="313"/>
            <p14:sldId id="297"/>
            <p14:sldId id="298"/>
            <p14:sldId id="314"/>
            <p14:sldId id="299"/>
            <p14:sldId id="315"/>
            <p14:sldId id="300"/>
            <p14:sldId id="301"/>
            <p14:sldId id="316"/>
            <p14:sldId id="302"/>
            <p14:sldId id="303"/>
            <p14:sldId id="304"/>
            <p14:sldId id="306"/>
            <p14:sldId id="308"/>
            <p14:sldId id="305"/>
            <p14:sldId id="319"/>
            <p14:sldId id="318"/>
            <p14:sldId id="3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17E"/>
    <a:srgbClr val="E97132"/>
    <a:srgbClr val="A02B93"/>
    <a:srgbClr val="FFFFFF"/>
    <a:srgbClr val="4EA72E"/>
    <a:srgbClr val="EFF5FB"/>
    <a:srgbClr val="D81A70"/>
    <a:srgbClr val="F6D40A"/>
    <a:srgbClr val="0E2841"/>
    <a:srgbClr val="938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34ADC6-3B28-45A8-B433-AC28A081F1B7}" v="2" dt="2026-07-13T22:30:12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47" autoAdjust="0"/>
    <p:restoredTop sz="86077" autoAdjust="0"/>
  </p:normalViewPr>
  <p:slideViewPr>
    <p:cSldViewPr snapToGrid="0">
      <p:cViewPr varScale="1">
        <p:scale>
          <a:sx n="119" d="100"/>
          <a:sy n="119" d="100"/>
        </p:scale>
        <p:origin x="389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uer, Alexandra" userId="e3a7df38-7a7b-409e-906e-47ba7020fc8d" providerId="ADAL" clId="{B49B3BAB-62C7-448C-AF5D-99E695AAAB25}"/>
    <pc:docChg chg="undo custSel addSld modSld">
      <pc:chgData name="Bauer, Alexandra" userId="e3a7df38-7a7b-409e-906e-47ba7020fc8d" providerId="ADAL" clId="{B49B3BAB-62C7-448C-AF5D-99E695AAAB25}" dt="2026-07-13T22:31:24.011" v="156" actId="478"/>
      <pc:docMkLst>
        <pc:docMk/>
      </pc:docMkLst>
      <pc:sldChg chg="addSp delSp modSp mod">
        <pc:chgData name="Bauer, Alexandra" userId="e3a7df38-7a7b-409e-906e-47ba7020fc8d" providerId="ADAL" clId="{B49B3BAB-62C7-448C-AF5D-99E695AAAB25}" dt="2026-07-13T22:31:24.011" v="156" actId="478"/>
        <pc:sldMkLst>
          <pc:docMk/>
          <pc:sldMk cId="1643628317" sldId="256"/>
        </pc:sldMkLst>
        <pc:spChg chg="mod">
          <ac:chgData name="Bauer, Alexandra" userId="e3a7df38-7a7b-409e-906e-47ba7020fc8d" providerId="ADAL" clId="{B49B3BAB-62C7-448C-AF5D-99E695AAAB25}" dt="2026-07-13T22:29:31.568" v="119" actId="1076"/>
          <ac:spMkLst>
            <pc:docMk/>
            <pc:sldMk cId="1643628317" sldId="256"/>
            <ac:spMk id="3" creationId="{A59D408E-B039-6F35-01B4-3979832D6DAE}"/>
          </ac:spMkLst>
        </pc:spChg>
        <pc:spChg chg="mod">
          <ac:chgData name="Bauer, Alexandra" userId="e3a7df38-7a7b-409e-906e-47ba7020fc8d" providerId="ADAL" clId="{B49B3BAB-62C7-448C-AF5D-99E695AAAB25}" dt="2026-07-13T22:29:19.464" v="116" actId="1076"/>
          <ac:spMkLst>
            <pc:docMk/>
            <pc:sldMk cId="1643628317" sldId="256"/>
            <ac:spMk id="4" creationId="{2EA98BEB-BCF3-99C3-948B-FA864A130234}"/>
          </ac:spMkLst>
        </pc:spChg>
        <pc:spChg chg="add del mod">
          <ac:chgData name="Bauer, Alexandra" userId="e3a7df38-7a7b-409e-906e-47ba7020fc8d" providerId="ADAL" clId="{B49B3BAB-62C7-448C-AF5D-99E695AAAB25}" dt="2026-07-13T22:31:24.011" v="156" actId="478"/>
          <ac:spMkLst>
            <pc:docMk/>
            <pc:sldMk cId="1643628317" sldId="256"/>
            <ac:spMk id="7" creationId="{E1E4371F-C00A-8E66-8421-2302BE206EFC}"/>
          </ac:spMkLst>
        </pc:spChg>
        <pc:spChg chg="mod">
          <ac:chgData name="Bauer, Alexandra" userId="e3a7df38-7a7b-409e-906e-47ba7020fc8d" providerId="ADAL" clId="{B49B3BAB-62C7-448C-AF5D-99E695AAAB25}" dt="2026-07-13T22:29:05.282" v="113" actId="14100"/>
          <ac:spMkLst>
            <pc:docMk/>
            <pc:sldMk cId="1643628317" sldId="256"/>
            <ac:spMk id="11" creationId="{D3611A2F-87D4-A191-71E4-19C843CB12B1}"/>
          </ac:spMkLst>
        </pc:spChg>
        <pc:spChg chg="mod">
          <ac:chgData name="Bauer, Alexandra" userId="e3a7df38-7a7b-409e-906e-47ba7020fc8d" providerId="ADAL" clId="{B49B3BAB-62C7-448C-AF5D-99E695AAAB25}" dt="2026-07-13T22:29:13.840" v="115" actId="14100"/>
          <ac:spMkLst>
            <pc:docMk/>
            <pc:sldMk cId="1643628317" sldId="256"/>
            <ac:spMk id="12" creationId="{C261EB5D-0E8D-A53E-6CAF-AF4180B4F355}"/>
          </ac:spMkLst>
        </pc:spChg>
        <pc:picChg chg="add mod">
          <ac:chgData name="Bauer, Alexandra" userId="e3a7df38-7a7b-409e-906e-47ba7020fc8d" providerId="ADAL" clId="{B49B3BAB-62C7-448C-AF5D-99E695AAAB25}" dt="2026-07-13T22:31:20.146" v="150" actId="1076"/>
          <ac:picMkLst>
            <pc:docMk/>
            <pc:sldMk cId="1643628317" sldId="256"/>
            <ac:picMk id="5" creationId="{2C719E19-C15D-87D7-91D3-96DFB84C7F77}"/>
          </ac:picMkLst>
        </pc:picChg>
        <pc:picChg chg="mod">
          <ac:chgData name="Bauer, Alexandra" userId="e3a7df38-7a7b-409e-906e-47ba7020fc8d" providerId="ADAL" clId="{B49B3BAB-62C7-448C-AF5D-99E695AAAB25}" dt="2026-07-13T22:27:12.689" v="65" actId="1076"/>
          <ac:picMkLst>
            <pc:docMk/>
            <pc:sldMk cId="1643628317" sldId="256"/>
            <ac:picMk id="10" creationId="{88BF1364-F3B7-2770-B275-A792E3278D07}"/>
          </ac:picMkLst>
        </pc:picChg>
      </pc:sldChg>
      <pc:sldChg chg="addSp delSp modSp add mod">
        <pc:chgData name="Bauer, Alexandra" userId="e3a7df38-7a7b-409e-906e-47ba7020fc8d" providerId="ADAL" clId="{B49B3BAB-62C7-448C-AF5D-99E695AAAB25}" dt="2026-07-13T22:24:46.889" v="47" actId="1076"/>
        <pc:sldMkLst>
          <pc:docMk/>
          <pc:sldMk cId="503051289" sldId="321"/>
        </pc:sldMkLst>
        <pc:spChg chg="del">
          <ac:chgData name="Bauer, Alexandra" userId="e3a7df38-7a7b-409e-906e-47ba7020fc8d" providerId="ADAL" clId="{B49B3BAB-62C7-448C-AF5D-99E695AAAB25}" dt="2026-07-13T22:22:04.603" v="23" actId="478"/>
          <ac:spMkLst>
            <pc:docMk/>
            <pc:sldMk cId="503051289" sldId="321"/>
            <ac:spMk id="3" creationId="{4AB56D02-65EE-6088-51A0-528C3B228550}"/>
          </ac:spMkLst>
        </pc:spChg>
        <pc:spChg chg="mod">
          <ac:chgData name="Bauer, Alexandra" userId="e3a7df38-7a7b-409e-906e-47ba7020fc8d" providerId="ADAL" clId="{B49B3BAB-62C7-448C-AF5D-99E695AAAB25}" dt="2026-07-13T22:23:40.345" v="32" actId="1076"/>
          <ac:spMkLst>
            <pc:docMk/>
            <pc:sldMk cId="503051289" sldId="321"/>
            <ac:spMk id="4" creationId="{C66079EA-CABC-8CF9-0C91-FDCC7C6CA092}"/>
          </ac:spMkLst>
        </pc:spChg>
        <pc:spChg chg="add del mod">
          <ac:chgData name="Bauer, Alexandra" userId="e3a7df38-7a7b-409e-906e-47ba7020fc8d" providerId="ADAL" clId="{B49B3BAB-62C7-448C-AF5D-99E695AAAB25}" dt="2026-07-13T22:22:06.744" v="24" actId="478"/>
          <ac:spMkLst>
            <pc:docMk/>
            <pc:sldMk cId="503051289" sldId="321"/>
            <ac:spMk id="5" creationId="{9E45077C-C10C-EA5A-5B04-5A1A4AA93039}"/>
          </ac:spMkLst>
        </pc:spChg>
        <pc:spChg chg="mod ord">
          <ac:chgData name="Bauer, Alexandra" userId="e3a7df38-7a7b-409e-906e-47ba7020fc8d" providerId="ADAL" clId="{B49B3BAB-62C7-448C-AF5D-99E695AAAB25}" dt="2026-07-13T22:24:28.184" v="44" actId="14100"/>
          <ac:spMkLst>
            <pc:docMk/>
            <pc:sldMk cId="503051289" sldId="321"/>
            <ac:spMk id="11" creationId="{DA919300-2E47-F0FB-C2BE-CB4043283A90}"/>
          </ac:spMkLst>
        </pc:spChg>
        <pc:spChg chg="mod">
          <ac:chgData name="Bauer, Alexandra" userId="e3a7df38-7a7b-409e-906e-47ba7020fc8d" providerId="ADAL" clId="{B49B3BAB-62C7-448C-AF5D-99E695AAAB25}" dt="2026-07-13T22:24:39.816" v="46" actId="14100"/>
          <ac:spMkLst>
            <pc:docMk/>
            <pc:sldMk cId="503051289" sldId="321"/>
            <ac:spMk id="12" creationId="{50966B0F-5ED8-E668-00C2-238695832D95}"/>
          </ac:spMkLst>
        </pc:spChg>
        <pc:picChg chg="add mod">
          <ac:chgData name="Bauer, Alexandra" userId="e3a7df38-7a7b-409e-906e-47ba7020fc8d" providerId="ADAL" clId="{B49B3BAB-62C7-448C-AF5D-99E695AAAB25}" dt="2026-07-13T22:24:46.889" v="47" actId="1076"/>
          <ac:picMkLst>
            <pc:docMk/>
            <pc:sldMk cId="503051289" sldId="321"/>
            <ac:picMk id="6" creationId="{CB64F22F-777B-082C-5A01-D00468CE4157}"/>
          </ac:picMkLst>
        </pc:picChg>
        <pc:picChg chg="mod">
          <ac:chgData name="Bauer, Alexandra" userId="e3a7df38-7a7b-409e-906e-47ba7020fc8d" providerId="ADAL" clId="{B49B3BAB-62C7-448C-AF5D-99E695AAAB25}" dt="2026-07-13T22:24:17.769" v="39" actId="1076"/>
          <ac:picMkLst>
            <pc:docMk/>
            <pc:sldMk cId="503051289" sldId="321"/>
            <ac:picMk id="8" creationId="{9AFEBE62-10E6-0595-4225-253801B6E9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B94F4FDC-7BFF-45DE-909E-E45B256293AE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03320165-2353-4E68-A397-73D93AF96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2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[Optional POLL</a:t>
            </a:r>
            <a:r>
              <a:rPr lang="en-US" sz="1400" b="1" dirty="0"/>
              <a:t>]</a:t>
            </a:r>
          </a:p>
          <a:p>
            <a:r>
              <a:rPr lang="en-US" sz="1400" b="1" dirty="0"/>
              <a:t>Question 1: </a:t>
            </a:r>
            <a:r>
              <a:rPr lang="en-US" sz="1400" dirty="0"/>
              <a:t>Have you performed a survival analysis before</a:t>
            </a:r>
          </a:p>
          <a:p>
            <a:pPr defTabSz="914318">
              <a:defRPr/>
            </a:pPr>
            <a:r>
              <a:rPr lang="en-US" sz="1400" b="1" dirty="0"/>
              <a:t>Question 2: </a:t>
            </a:r>
            <a:r>
              <a:rPr lang="en-US" sz="1400" dirty="0"/>
              <a:t>Does your own research include a time-to-event component?</a:t>
            </a:r>
          </a:p>
          <a:p>
            <a:pPr defTabSz="914318">
              <a:defRPr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55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 focused on </a:t>
            </a:r>
            <a:r>
              <a:rPr lang="en-US" sz="18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when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something happens (e.g., the specific date) but on </a:t>
            </a:r>
            <a:r>
              <a:rPr lang="en-US" sz="1800" i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long it takes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a defined starting point to the event.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0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35A03-1166-BE7E-A28A-5EA247E7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1FD003-C91C-E57C-8E5D-C1067171B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0934A-9FCD-1098-4D69-D653BE492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survival function gives probability of surviving to time t.</a:t>
            </a:r>
          </a:p>
          <a:p>
            <a:pPr>
              <a:buNone/>
            </a:pPr>
            <a:r>
              <a:rPr lang="en-US" dirty="0"/>
              <a:t>– i.e. the proportion of the population still without the event by time 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F3CDE-490F-9571-8717-06E89F56A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03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70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A2D9-FFD9-7CF5-A757-7EC03FE7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9F503-8B91-15DF-2F25-60D1D3EE4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9618D-8E71-AD31-EB76-FC5D77B05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8D31C-B141-E42F-71D4-B32D1453C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9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642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non-informative: the reason we stopped observing the subject is unrelated to their likelihood of experiencing the event.</a:t>
            </a:r>
          </a:p>
          <a:p>
            <a:r>
              <a:rPr lang="en-US" dirty="0"/>
              <a:t>If this assumption is violated (as was the case for the data underlying the green survival curve), the survival estimates can be biased.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13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60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320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6CDE3-3718-8B14-84F7-F272B68A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758C9-2B80-5838-A874-7FC416C4F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5E217-120E-71EB-AD73-A9229B185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18">
              <a:lnSpc>
                <a:spcPct val="115000"/>
              </a:lnSpc>
              <a:spcAft>
                <a:spcPts val="800"/>
              </a:spcAft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2FF2D-A39B-2025-626C-1CA116DE8A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364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012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4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FA76-E1EE-BBB0-B8D5-B5C5719E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E35E8-AD48-346E-CD1F-A28498FD4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6ED38-ED79-7EE2-B85C-391D227DC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quantify the differences between two survival curves,</a:t>
            </a:r>
            <a:r>
              <a:rPr lang="en-US" sz="18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 need statistical tests.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14E07-EB8E-C55A-BA68-6B2BED843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34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96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695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E13D-25B7-8ECC-D2DB-0EE7326D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5E17C-50CF-F995-1CEE-EBD997CA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9A0E6-A642-67BB-A734-21C09F1C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Multivariate models help control for confounding factors - keep both the experimental design and the biology of the system in mind.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example: It is likely that both age and strain influence survival of mosquitoes. So, to understand the true effect of the insecticide dose, you want to include both in your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5094D-AFBD-C188-2214-CBD8FF9EA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41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4313-08E9-F86F-1DB2-AA97637FE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D821A-75E0-C32A-F8D7-2373ADAAC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4BDA3-C559-BFF0-C073-B71E95E0E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182BE-6F98-1FF9-6AEA-283EFCEA4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88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870" indent="-34287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159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HR for 1% permethrin vs. 0.5% = 1.8 → 80% higher death risk</a:t>
            </a:r>
          </a:p>
          <a:p>
            <a:pPr marL="342870" indent="-34287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159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HR for older mosquitoes = 1.5 → older mosquitoes die sooner</a:t>
            </a:r>
          </a:p>
          <a:p>
            <a:pPr marL="342870" indent="-34287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159" algn="l"/>
              </a:tabLs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HR for resistant strain = 0.4 → resistance confers a survival advantage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Significant variables will have confidence intervals that don’t cross 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02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593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2364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0DBE3-2986-6527-C390-AE20C2C73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FD45E-900A-9D19-06E2-96CD147C11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6849A-6C26-5EEE-8F52-ED1C1FCE9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[Optional POLL</a:t>
            </a:r>
            <a:r>
              <a:rPr lang="en-US" sz="1400" b="1" dirty="0"/>
              <a:t>]</a:t>
            </a:r>
          </a:p>
          <a:p>
            <a:r>
              <a:rPr lang="en-US" sz="1400" b="1" dirty="0"/>
              <a:t>Question 1: </a:t>
            </a:r>
            <a:r>
              <a:rPr lang="en-US" sz="1400" dirty="0"/>
              <a:t>Have you performed a survival analysis before</a:t>
            </a:r>
          </a:p>
          <a:p>
            <a:pPr defTabSz="914318">
              <a:defRPr/>
            </a:pPr>
            <a:r>
              <a:rPr lang="en-US" sz="1400" b="1" dirty="0"/>
              <a:t>Question 2: </a:t>
            </a:r>
            <a:r>
              <a:rPr lang="en-US" sz="1400" dirty="0"/>
              <a:t>Does your own research include a time-to-event component?</a:t>
            </a:r>
          </a:p>
          <a:p>
            <a:pPr defTabSz="914318">
              <a:defRPr/>
            </a:pPr>
            <a:endParaRPr lang="en-US" sz="1400" dirty="0"/>
          </a:p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960B1-EC87-A4F0-4DCC-7B074A0AB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29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980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5FE21-EFDE-9C1F-F405-3B1D35FE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5823C-65B6-0F2C-7492-596CE6621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DF24A-006D-C6D3-C75C-4A24E90B4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Helicoverpa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i="0" dirty="0"/>
              <a:t>= corn earworm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844FE-1566-13B1-2D6C-3F248EEA1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689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328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29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546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620D-0152-16F5-AB4D-4E141F9FB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C5C7D-7E3E-F55C-FFE0-58388AF75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10893A-5ADC-607D-2240-B54DB4196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83EE1-F10B-F02F-9331-3922E87A9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810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642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64EE-AD7B-28F3-53B1-87A174C3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D62520-2AA6-5BBC-C0E6-672908871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E569D-B26F-3C20-85AD-51C24359E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392F3-3BA7-13C2-FCA9-23111EE33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887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103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4FD6-0201-6B36-D92B-EF3A69F1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8576E-A8F9-DAA9-94E4-2D73E4CF7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C580F-29C2-86E3-8F27-BE23F5C3C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77E9C-6FE7-E70F-B67F-5B08AE791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725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C48C-3F09-EE1A-3F2B-7E967C8D7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02240-4055-477C-6B23-6D769A00B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61296-87ED-F483-9DB5-B3CFF3065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600B0-BD8A-9683-3C92-00491A893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382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3322-492E-B87A-5BA6-558629426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1E9873-2F2E-8339-49D0-91FCB10EF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EF25B-B693-FDEC-2ED2-B06BF5DFC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F0A69D-9D99-0381-085F-25B1CBDD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37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3051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7DAAA-E323-A13B-6AFA-ABBA8B5C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FD4BA-14DE-346F-75D3-F3DCD7943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FC4E09-345A-255A-887E-925184F11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E73B1-124B-E9FA-CF45-DB30944A2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935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FEA5-3066-3F28-36B0-508307D4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AA611-D7E5-F0E5-E16A-AFBBC1F17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D0CAC-B10B-797F-625E-A9798B76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6ED51-0306-A30E-1220-FBDCE077D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46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20165-2353-4E68-A397-73D93AF969B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2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051A9-4656-E0FD-2DC4-8DE942E3A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0F126-0F8B-00A9-389F-D9CD269A2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3C4C3-2943-3336-A1A3-63BD635F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08E17-4478-AE30-117D-CAC7C9D4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8FD67-8017-E2C2-C462-2228150F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5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EB2E-BDD0-5208-234C-657F9B70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4B50-043D-1E19-498F-666F2CF3C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FD439-2FF6-E2F8-2803-D7F6905A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99B92-CFF6-EB21-F2E0-BB40EAB8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4F21E-B5F2-7717-A5F1-B1F70B67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97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D537-0A8C-CEEC-AE3E-F0ADE881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BA672E-DABF-E325-E572-C65FBCB74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C4502-9E92-61B1-476D-33ABF573E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49454-FDE3-FF0C-07D0-D808CC4A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1AA1E-652F-0200-3C9F-49C8EAD5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00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B6B0-1D4C-523A-807D-2FFFAF24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CACF-3184-D2A9-3AC8-7226E2F59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21653-03FD-B832-5F9E-AFF8D7BAC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9D187-4B62-EBCF-30A5-A4A848282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8FF2E-FCB3-C5CA-F340-078180465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4EB77-CFA8-BE55-AE4B-60263DD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69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E6ED-43C7-0E14-D1D0-97C02BF6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1FE49-8924-FBC8-D294-6EA612B88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2422F-AAC2-A466-8D00-BD2069849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AF307D-136E-1AEE-279E-C320326898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AB4BB-802F-6D79-0F05-51F43EF30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E7E3F-5816-E04B-D621-387C56A4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F44EB-8B4F-0C18-AB24-FABC1E3F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10185-E3D1-7AAA-D3AE-A31CE4705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8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BCD8-0365-66DB-0E58-9B0074DD7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7E645D-3125-74A3-1D17-A41F8A239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ABDF88-61C5-42A2-7BED-CC1EE7D96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FDC04-1C53-F202-EACD-E5837829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88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2224C-81AF-2EAC-86B3-99C99A50A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2A379-CD21-4806-BAA5-96DE0031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E9F41-C534-D46C-0414-67AC8F6A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8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86E3-EC94-21E3-5FF2-E7E67916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576F1-CA26-A03F-66E3-4F82D6A9D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025253-1A58-8F2C-048A-790D2C681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25D40-118E-9E46-BEEE-FB5612AC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A7FFE-695C-8A84-A61F-ED780499E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37004-114E-A449-13A5-C181430F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CA1E-FCD9-30B4-D82A-254E6F1F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F0F61-95AD-BEEA-A475-6D10D5DEF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980EC-82F4-9548-395B-FCB111918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BFB6C-E440-920C-9A7D-238C916A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86187-2C05-E1B6-502A-C5B69E9E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30BB9-52BA-D000-C23C-0B1686A9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5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46E2-9725-6166-6C97-3F627D94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F2C9B-E481-9DB8-128D-C01700B45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397E6-64E7-AE35-90E7-98189FB6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853F8-BCD6-3D19-9647-1397E116D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DA89C-963F-6DBC-96D9-69EC2B8B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9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90556-3A9F-CC31-4846-B9DBF90E9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F344C-9C56-FD50-4B54-86996C696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89650-BDB3-121A-BB96-CB657EFD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11168-B003-9C38-7D22-D3BF177D5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E83D4-C0B2-8D15-478B-F75CB18F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371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F0DC12-BA6B-433C-39DB-0A9CDFC6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92644-8A63-97B3-BCA0-9FE598393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DBDB8-2A6C-96CB-2C8B-905D710B4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A89A2-6B20-4297-915A-FC069ED4BDA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A6387-CA63-C6B1-237C-CE9F4B21A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368ED-5539-B25E-D10B-89673B072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4E445-0084-4F75-9FB3-9AA9106004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7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0.png"/><Relationship Id="rId3" Type="http://schemas.openxmlformats.org/officeDocument/2006/relationships/image" Target="../media/image5.sv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9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5" Type="http://schemas.openxmlformats.org/officeDocument/2006/relationships/image" Target="../media/image10.svg"/><Relationship Id="rId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4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svg"/><Relationship Id="rId5" Type="http://schemas.openxmlformats.org/officeDocument/2006/relationships/image" Target="../media/image22.svg"/><Relationship Id="rId4" Type="http://schemas.openxmlformats.org/officeDocument/2006/relationships/image" Target="../media/image25.png"/><Relationship Id="rId9" Type="http://schemas.openxmlformats.org/officeDocument/2006/relationships/image" Target="../media/image12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svg"/><Relationship Id="rId3" Type="http://schemas.openxmlformats.org/officeDocument/2006/relationships/image" Target="../media/image26.sv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31.svg"/><Relationship Id="rId5" Type="http://schemas.openxmlformats.org/officeDocument/2006/relationships/image" Target="../media/image9.svg"/><Relationship Id="rId15" Type="http://schemas.openxmlformats.org/officeDocument/2006/relationships/image" Target="../media/image35.svg"/><Relationship Id="rId10" Type="http://schemas.openxmlformats.org/officeDocument/2006/relationships/image" Target="../media/image30.svg"/><Relationship Id="rId4" Type="http://schemas.openxmlformats.org/officeDocument/2006/relationships/image" Target="../media/image10.svg"/><Relationship Id="rId9" Type="http://schemas.openxmlformats.org/officeDocument/2006/relationships/image" Target="../media/image29.svg"/><Relationship Id="rId14" Type="http://schemas.openxmlformats.org/officeDocument/2006/relationships/image" Target="../media/image3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43.sv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9.svg"/><Relationship Id="rId4" Type="http://schemas.openxmlformats.org/officeDocument/2006/relationships/image" Target="../media/image10.svg"/><Relationship Id="rId9" Type="http://schemas.openxmlformats.org/officeDocument/2006/relationships/image" Target="../media/image3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inincerti.com/2019/06/18/parametric_survival.html#exponential-distribution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4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80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4.png"/><Relationship Id="rId4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4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91.png"/><Relationship Id="rId7" Type="http://schemas.microsoft.com/office/2007/relationships/hdphoto" Target="../media/hdphoto1.wdp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4.png"/><Relationship Id="rId5" Type="http://schemas.openxmlformats.org/officeDocument/2006/relationships/image" Target="../media/image49.png"/><Relationship Id="rId4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A98BEB-BCF3-99C3-948B-FA864A130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707" y="2324930"/>
            <a:ext cx="9844585" cy="1323144"/>
          </a:xfrm>
        </p:spPr>
        <p:txBody>
          <a:bodyPr/>
          <a:lstStyle/>
          <a:p>
            <a:pPr algn="ctr"/>
            <a:r>
              <a:rPr lang="en-US" sz="5400" dirty="0"/>
              <a:t>Introduction to Survival Analysis</a:t>
            </a:r>
            <a:br>
              <a:rPr lang="en-US" dirty="0"/>
            </a:br>
            <a:r>
              <a:rPr lang="en-US" sz="3200" dirty="0"/>
              <a:t>Kaplan-Meier Survival Curves &amp; Cox PH Models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D408E-B039-6F35-01B4-3979832D6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44945"/>
            <a:ext cx="9144000" cy="1010199"/>
          </a:xfrm>
        </p:spPr>
        <p:txBody>
          <a:bodyPr>
            <a:normAutofit/>
          </a:bodyPr>
          <a:lstStyle/>
          <a:p>
            <a:r>
              <a:rPr lang="en-US" sz="1600" dirty="0"/>
              <a:t>Florida Entomological Society Annual Meeting 2026</a:t>
            </a:r>
          </a:p>
          <a:p>
            <a:r>
              <a:rPr lang="en-US" sz="1600" dirty="0"/>
              <a:t>St. Augustine</a:t>
            </a:r>
          </a:p>
          <a:p>
            <a:r>
              <a:rPr lang="en-US" sz="1600" dirty="0"/>
              <a:t>July 15</a:t>
            </a:r>
            <a:r>
              <a:rPr lang="en-US" sz="1600" baseline="30000" dirty="0"/>
              <a:t>th</a:t>
            </a:r>
            <a:r>
              <a:rPr lang="en-US" sz="1600" dirty="0"/>
              <a:t>, 2026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28AE7C-0D2D-CE66-7F18-D84292923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2" b="38100"/>
          <a:stretch>
            <a:fillRect/>
          </a:stretch>
        </p:blipFill>
        <p:spPr>
          <a:xfrm>
            <a:off x="9398001" y="3205162"/>
            <a:ext cx="2806698" cy="3652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BF1364-F3B7-2770-B275-A792E3278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39" b="31867"/>
          <a:stretch>
            <a:fillRect/>
          </a:stretch>
        </p:blipFill>
        <p:spPr>
          <a:xfrm rot="10800000">
            <a:off x="47085" y="0"/>
            <a:ext cx="3213100" cy="2582772"/>
          </a:xfrm>
          <a:prstGeom prst="rect">
            <a:avLst/>
          </a:prstGeom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3611A2F-87D4-A191-71E4-19C843CB12B1}"/>
              </a:ext>
            </a:extLst>
          </p:cNvPr>
          <p:cNvSpPr/>
          <p:nvPr/>
        </p:nvSpPr>
        <p:spPr>
          <a:xfrm>
            <a:off x="5675231" y="3990301"/>
            <a:ext cx="3549648" cy="1179512"/>
          </a:xfrm>
          <a:prstGeom prst="wedgeEllipseCallout">
            <a:avLst>
              <a:gd name="adj1" fmla="val 58517"/>
              <a:gd name="adj2" fmla="val 5079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to download the data and code, Skipper!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C261EB5D-0E8D-A53E-6CAF-AF4180B4F355}"/>
              </a:ext>
            </a:extLst>
          </p:cNvPr>
          <p:cNvSpPr/>
          <p:nvPr/>
        </p:nvSpPr>
        <p:spPr>
          <a:xfrm>
            <a:off x="2827920" y="648479"/>
            <a:ext cx="1854200" cy="933448"/>
          </a:xfrm>
          <a:prstGeom prst="wedgeEllipseCallout">
            <a:avLst>
              <a:gd name="adj1" fmla="val -71692"/>
              <a:gd name="adj2" fmla="val 4600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Kowalski, analysis!</a:t>
            </a:r>
          </a:p>
        </p:txBody>
      </p:sp>
      <p:pic>
        <p:nvPicPr>
          <p:cNvPr id="5" name="Picture 4" descr="QR Code Image">
            <a:extLst>
              <a:ext uri="{FF2B5EF4-FFF2-40B4-BE49-F238E27FC236}">
                <a16:creationId xmlns:a16="http://schemas.microsoft.com/office/drawing/2014/main" id="{2C719E19-C15D-87D7-91D3-96DFB84C7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22" y="4138469"/>
            <a:ext cx="1786224" cy="178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2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22CE-9E70-219E-4210-81BCD87C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2EA9-3A78-DF2E-CB91-A1B819844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8049" cy="4351338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US" dirty="0"/>
              <a:t>Theory</a:t>
            </a:r>
          </a:p>
          <a:p>
            <a:pPr lvl="1">
              <a:lnSpc>
                <a:spcPct val="114000"/>
              </a:lnSpc>
            </a:pPr>
            <a:r>
              <a:rPr lang="en-US" dirty="0"/>
              <a:t>Basic concepts of</a:t>
            </a:r>
            <a:br>
              <a:rPr lang="en-US" dirty="0"/>
            </a:br>
            <a:r>
              <a:rPr lang="en-US" dirty="0"/>
              <a:t>Survival Analysis</a:t>
            </a:r>
          </a:p>
          <a:p>
            <a:pPr lvl="1">
              <a:lnSpc>
                <a:spcPct val="114000"/>
              </a:lnSpc>
            </a:pPr>
            <a:r>
              <a:rPr lang="en-US" dirty="0"/>
              <a:t>Kaplan-Meier (KM) Curves</a:t>
            </a:r>
          </a:p>
          <a:p>
            <a:pPr lvl="1">
              <a:lnSpc>
                <a:spcPct val="114000"/>
              </a:lnSpc>
            </a:pPr>
            <a:r>
              <a:rPr lang="en-US" dirty="0"/>
              <a:t>Cox Proportional Hazards (PH) Model</a:t>
            </a:r>
          </a:p>
          <a:p>
            <a:pPr>
              <a:lnSpc>
                <a:spcPct val="114000"/>
              </a:lnSpc>
            </a:pPr>
            <a:r>
              <a:rPr lang="en-US" dirty="0"/>
              <a:t>R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2F66F-A584-D100-48CD-F3B1BC19A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4"/>
          <a:stretch/>
        </p:blipFill>
        <p:spPr>
          <a:xfrm>
            <a:off x="5782102" y="0"/>
            <a:ext cx="6409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58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742D5-04EA-8DEC-4E3C-BB1AF70AA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survival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9034B-6907-479E-6C6E-49E71255C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599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Time-to-event analysis: investigating how long it takes for an event to occur</a:t>
            </a:r>
          </a:p>
          <a:p>
            <a:r>
              <a:rPr lang="en-US" dirty="0"/>
              <a:t>Outcome often referred to as either </a:t>
            </a:r>
            <a:r>
              <a:rPr lang="en-US" b="1" dirty="0"/>
              <a:t>survival time</a:t>
            </a:r>
            <a:r>
              <a:rPr lang="en-US" dirty="0"/>
              <a:t>, </a:t>
            </a:r>
            <a:r>
              <a:rPr lang="en-US" b="1" dirty="0"/>
              <a:t>failure time</a:t>
            </a:r>
            <a:r>
              <a:rPr lang="en-US" dirty="0"/>
              <a:t>, or </a:t>
            </a:r>
            <a:r>
              <a:rPr lang="en-US" b="1" dirty="0"/>
              <a:t>time to event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Examples in entomology: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Insecticide Susceptibility &amp; Toxicology</a:t>
            </a:r>
            <a:br>
              <a:rPr lang="en-US" b="1" dirty="0"/>
            </a:br>
            <a:r>
              <a:rPr lang="en-US" sz="2000" dirty="0"/>
              <a:t>e.g., time until insect death after insecticide exposure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Insect Development &amp; Life Cycle Analysis</a:t>
            </a:r>
            <a:br>
              <a:rPr lang="en-US" dirty="0"/>
            </a:br>
            <a:r>
              <a:rPr lang="en-US" sz="2000" dirty="0"/>
              <a:t>e.g., time to emergence or pupation</a:t>
            </a:r>
          </a:p>
          <a:p>
            <a:pPr lvl="1">
              <a:spcAft>
                <a:spcPts val="600"/>
              </a:spcAft>
            </a:pPr>
            <a:r>
              <a:rPr lang="en-US" b="1" dirty="0"/>
              <a:t>Impact of Biotic and Abiotic Factors</a:t>
            </a:r>
            <a:br>
              <a:rPr lang="en-US" dirty="0"/>
            </a:br>
            <a:r>
              <a:rPr lang="en-US" sz="2000" dirty="0"/>
              <a:t>e.g., time until death under different temperature regimes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126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2C43F-8F0F-7A75-62CE-C9CAD006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5FE5C-87BA-942B-7598-503AB010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function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1EB07D-74D5-F031-01C8-542C9D697542}"/>
              </a:ext>
            </a:extLst>
          </p:cNvPr>
          <p:cNvGrpSpPr/>
          <p:nvPr/>
        </p:nvGrpSpPr>
        <p:grpSpPr>
          <a:xfrm>
            <a:off x="8858057" y="1023549"/>
            <a:ext cx="2845938" cy="4562375"/>
            <a:chOff x="9104376" y="1027906"/>
            <a:chExt cx="2249424" cy="4562375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16EB083-D701-05BC-0CA9-F66EE444BB35}"/>
                </a:ext>
              </a:extLst>
            </p:cNvPr>
            <p:cNvSpPr/>
            <p:nvPr/>
          </p:nvSpPr>
          <p:spPr>
            <a:xfrm>
              <a:off x="9420380" y="3220442"/>
              <a:ext cx="1248944" cy="2053637"/>
            </a:xfrm>
            <a:custGeom>
              <a:avLst/>
              <a:gdLst>
                <a:gd name="connsiteX0" fmla="*/ 133544 w 1248944"/>
                <a:gd name="connsiteY0" fmla="*/ 0 h 2053637"/>
                <a:gd name="connsiteX1" fmla="*/ 1248944 w 1248944"/>
                <a:gd name="connsiteY1" fmla="*/ 1984184 h 2053637"/>
                <a:gd name="connsiteX2" fmla="*/ 44522 w 1248944"/>
                <a:gd name="connsiteY2" fmla="*/ 2052988 h 2053637"/>
                <a:gd name="connsiteX3" fmla="*/ 33168 w 1248944"/>
                <a:gd name="connsiteY3" fmla="*/ 2053637 h 2053637"/>
                <a:gd name="connsiteX4" fmla="*/ 9521 w 1248944"/>
                <a:gd name="connsiteY4" fmla="*/ 2043842 h 2053637"/>
                <a:gd name="connsiteX5" fmla="*/ 0 w 1248944"/>
                <a:gd name="connsiteY5" fmla="*/ 2020855 h 2053637"/>
                <a:gd name="connsiteX6" fmla="*/ 873 w 1248944"/>
                <a:gd name="connsiteY6" fmla="*/ 2007640 h 205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8944" h="2053637">
                  <a:moveTo>
                    <a:pt x="133544" y="0"/>
                  </a:moveTo>
                  <a:lnTo>
                    <a:pt x="1248944" y="1984184"/>
                  </a:lnTo>
                  <a:lnTo>
                    <a:pt x="44522" y="2052988"/>
                  </a:lnTo>
                  <a:lnTo>
                    <a:pt x="33168" y="2053637"/>
                  </a:lnTo>
                  <a:lnTo>
                    <a:pt x="9521" y="2043842"/>
                  </a:lnTo>
                  <a:lnTo>
                    <a:pt x="0" y="2020855"/>
                  </a:lnTo>
                  <a:lnTo>
                    <a:pt x="873" y="20076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dist="520700" dir="8100000" algn="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7AD7663-4053-116C-78B0-4CD1EB8F9877}"/>
                </a:ext>
              </a:extLst>
            </p:cNvPr>
            <p:cNvSpPr/>
            <p:nvPr/>
          </p:nvSpPr>
          <p:spPr>
            <a:xfrm>
              <a:off x="9153201" y="4641144"/>
              <a:ext cx="1333189" cy="911654"/>
            </a:xfrm>
            <a:custGeom>
              <a:avLst/>
              <a:gdLst>
                <a:gd name="connsiteX0" fmla="*/ 0 w 1333189"/>
                <a:gd name="connsiteY0" fmla="*/ 0 h 911654"/>
                <a:gd name="connsiteX1" fmla="*/ 1333189 w 1333189"/>
                <a:gd name="connsiteY1" fmla="*/ 0 h 911654"/>
                <a:gd name="connsiteX2" fmla="*/ 1333189 w 1333189"/>
                <a:gd name="connsiteY2" fmla="*/ 911654 h 911654"/>
                <a:gd name="connsiteX3" fmla="*/ 1086117 w 1333189"/>
                <a:gd name="connsiteY3" fmla="*/ 911402 h 911654"/>
                <a:gd name="connsiteX4" fmla="*/ 131110 w 1333189"/>
                <a:gd name="connsiteY4" fmla="*/ 755417 h 911654"/>
                <a:gd name="connsiteX5" fmla="*/ 1940 w 1333189"/>
                <a:gd name="connsiteY5" fmla="*/ 57392 h 91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189" h="911654">
                  <a:moveTo>
                    <a:pt x="0" y="0"/>
                  </a:moveTo>
                  <a:lnTo>
                    <a:pt x="1333189" y="0"/>
                  </a:lnTo>
                  <a:lnTo>
                    <a:pt x="1333189" y="911654"/>
                  </a:lnTo>
                  <a:lnTo>
                    <a:pt x="1086117" y="911402"/>
                  </a:lnTo>
                  <a:cubicBezTo>
                    <a:pt x="746349" y="890363"/>
                    <a:pt x="637565" y="893137"/>
                    <a:pt x="131110" y="755417"/>
                  </a:cubicBezTo>
                  <a:cubicBezTo>
                    <a:pt x="90864" y="573107"/>
                    <a:pt x="19625" y="332455"/>
                    <a:pt x="1940" y="573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3A317775-8F07-973E-71C9-CB68951255C9}"/>
                </a:ext>
              </a:extLst>
            </p:cNvPr>
            <p:cNvSpPr/>
            <p:nvPr/>
          </p:nvSpPr>
          <p:spPr>
            <a:xfrm>
              <a:off x="9108858" y="1027906"/>
              <a:ext cx="2244942" cy="4562375"/>
            </a:xfrm>
            <a:custGeom>
              <a:avLst/>
              <a:gdLst>
                <a:gd name="connsiteX0" fmla="*/ 0 w 2242687"/>
                <a:gd name="connsiteY0" fmla="*/ 0 h 4562375"/>
                <a:gd name="connsiteX1" fmla="*/ 2242687 w 2242687"/>
                <a:gd name="connsiteY1" fmla="*/ 0 h 4562375"/>
                <a:gd name="connsiteX2" fmla="*/ 2242687 w 2242687"/>
                <a:gd name="connsiteY2" fmla="*/ 4562375 h 4562375"/>
                <a:gd name="connsiteX3" fmla="*/ 0 w 2242687"/>
                <a:gd name="connsiteY3" fmla="*/ 4562375 h 4562375"/>
                <a:gd name="connsiteX4" fmla="*/ 0 w 2242687"/>
                <a:gd name="connsiteY4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2255 w 2244942"/>
                <a:gd name="connsiteY3" fmla="*/ 4562375 h 4562375"/>
                <a:gd name="connsiteX4" fmla="*/ 0 w 2244942"/>
                <a:gd name="connsiteY4" fmla="*/ 3587266 h 4562375"/>
                <a:gd name="connsiteX5" fmla="*/ 2255 w 2244942"/>
                <a:gd name="connsiteY5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2255 w 2244942"/>
                <a:gd name="connsiteY4" fmla="*/ 4562375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4942" h="4562375">
                  <a:moveTo>
                    <a:pt x="2255" y="0"/>
                  </a:moveTo>
                  <a:lnTo>
                    <a:pt x="2244942" y="0"/>
                  </a:lnTo>
                  <a:lnTo>
                    <a:pt x="2244942" y="4562375"/>
                  </a:lnTo>
                  <a:lnTo>
                    <a:pt x="1088231" y="4561197"/>
                  </a:lnTo>
                  <a:cubicBezTo>
                    <a:pt x="748463" y="4540158"/>
                    <a:pt x="639679" y="4542932"/>
                    <a:pt x="133224" y="4405212"/>
                  </a:cubicBezTo>
                  <a:cubicBezTo>
                    <a:pt x="87228" y="4196857"/>
                    <a:pt x="752" y="3912302"/>
                    <a:pt x="0" y="3587266"/>
                  </a:cubicBezTo>
                  <a:cubicBezTo>
                    <a:pt x="752" y="2391511"/>
                    <a:pt x="1503" y="1195755"/>
                    <a:pt x="22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965E4D-E111-4341-E36E-69A306601A9C}"/>
                </a:ext>
              </a:extLst>
            </p:cNvPr>
            <p:cNvSpPr/>
            <p:nvPr/>
          </p:nvSpPr>
          <p:spPr>
            <a:xfrm>
              <a:off x="9104376" y="1027906"/>
              <a:ext cx="2249424" cy="963601"/>
            </a:xfrm>
            <a:custGeom>
              <a:avLst/>
              <a:gdLst>
                <a:gd name="connsiteX0" fmla="*/ 546 w 2243233"/>
                <a:gd name="connsiteY0" fmla="*/ 0 h 868495"/>
                <a:gd name="connsiteX1" fmla="*/ 2243233 w 2243233"/>
                <a:gd name="connsiteY1" fmla="*/ 0 h 868495"/>
                <a:gd name="connsiteX2" fmla="*/ 2243233 w 2243233"/>
                <a:gd name="connsiteY2" fmla="*/ 868495 h 868495"/>
                <a:gd name="connsiteX3" fmla="*/ 0 w 2243233"/>
                <a:gd name="connsiteY3" fmla="*/ 868495 h 868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3233" h="868495">
                  <a:moveTo>
                    <a:pt x="546" y="0"/>
                  </a:moveTo>
                  <a:lnTo>
                    <a:pt x="2243233" y="0"/>
                  </a:lnTo>
                  <a:lnTo>
                    <a:pt x="2243233" y="868495"/>
                  </a:lnTo>
                  <a:lnTo>
                    <a:pt x="0" y="8684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63FB7D9-58BA-90E0-FD5F-826DE2EA4742}"/>
                </a:ext>
              </a:extLst>
            </p:cNvPr>
            <p:cNvGrpSpPr/>
            <p:nvPr/>
          </p:nvGrpSpPr>
          <p:grpSpPr>
            <a:xfrm>
              <a:off x="9363710" y="2150811"/>
              <a:ext cx="1727673" cy="3136812"/>
              <a:chOff x="1091727" y="2549261"/>
              <a:chExt cx="1727673" cy="3136812"/>
            </a:xfrm>
          </p:grpSpPr>
          <p:sp>
            <p:nvSpPr>
              <p:cNvPr id="17" name="TextBox 47">
                <a:extLst>
                  <a:ext uri="{FF2B5EF4-FFF2-40B4-BE49-F238E27FC236}">
                    <a16:creationId xmlns:a16="http://schemas.microsoft.com/office/drawing/2014/main" id="{920C2944-6C7C-BCDC-8D73-8045795E835E}"/>
                  </a:ext>
                </a:extLst>
              </p:cNvPr>
              <p:cNvSpPr txBox="1"/>
              <p:nvPr/>
            </p:nvSpPr>
            <p:spPr>
              <a:xfrm>
                <a:off x="1091727" y="2549261"/>
                <a:ext cx="1727673" cy="830997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Survival function </a:t>
                </a:r>
                <a:r>
                  <a:rPr lang="en-US" sz="2400" b="1" i="1" dirty="0"/>
                  <a:t>S(t)</a:t>
                </a:r>
              </a:p>
            </p:txBody>
          </p:sp>
          <p:sp>
            <p:nvSpPr>
              <p:cNvPr id="18" name="TextBox 48">
                <a:extLst>
                  <a:ext uri="{FF2B5EF4-FFF2-40B4-BE49-F238E27FC236}">
                    <a16:creationId xmlns:a16="http://schemas.microsoft.com/office/drawing/2014/main" id="{D461DAFB-7A81-34E2-323F-42675059CA01}"/>
                  </a:ext>
                </a:extLst>
              </p:cNvPr>
              <p:cNvSpPr txBox="1"/>
              <p:nvPr/>
            </p:nvSpPr>
            <p:spPr>
              <a:xfrm>
                <a:off x="1096312" y="3377749"/>
                <a:ext cx="1723088" cy="2308324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Expresses the probability that a subject’s true survival</a:t>
                </a:r>
                <a:r>
                  <a:rPr lang="en-US" b="1" dirty="0"/>
                  <a:t>*</a:t>
                </a:r>
                <a:r>
                  <a:rPr lang="en-US" dirty="0"/>
                  <a:t> time will exceed time , i.e., that the subject will survive</a:t>
                </a:r>
                <a:r>
                  <a:rPr lang="en-US" b="1" dirty="0"/>
                  <a:t>*</a:t>
                </a:r>
                <a:r>
                  <a:rPr lang="en-US" dirty="0"/>
                  <a:t> beyond time </a:t>
                </a:r>
                <a:r>
                  <a:rPr lang="en-US" i="1" dirty="0"/>
                  <a:t>t</a:t>
                </a:r>
                <a:r>
                  <a:rPr lang="en-US" dirty="0"/>
                  <a:t>.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pic>
          <p:nvPicPr>
            <p:cNvPr id="16" name="Graphic 15" descr="Lights On with solid fill">
              <a:extLst>
                <a:ext uri="{FF2B5EF4-FFF2-40B4-BE49-F238E27FC236}">
                  <a16:creationId xmlns:a16="http://schemas.microsoft.com/office/drawing/2014/main" id="{F073BF33-67FB-2E73-C14A-2A6FEA73348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38451" y="1143946"/>
              <a:ext cx="578192" cy="73152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C271AEB9-C5CB-5C25-6B05-F3F022F0A29F}"/>
              </a:ext>
            </a:extLst>
          </p:cNvPr>
          <p:cNvSpPr txBox="1"/>
          <p:nvPr/>
        </p:nvSpPr>
        <p:spPr>
          <a:xfrm>
            <a:off x="8919831" y="5767937"/>
            <a:ext cx="2694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</a:t>
            </a:r>
            <a:r>
              <a:rPr lang="en-US" sz="1400" dirty="0"/>
              <a:t> i.e., probability that the subject will not have experienced the event by time </a:t>
            </a:r>
            <a:r>
              <a:rPr lang="en-US" sz="1400" i="1" dirty="0"/>
              <a:t>t</a:t>
            </a:r>
            <a:r>
              <a:rPr lang="en-US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06321C-942D-EC05-E534-CE7494E14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68052" y="1488123"/>
                <a:ext cx="6724056" cy="4351338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06321C-942D-EC05-E534-CE7494E14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68052" y="1488123"/>
                <a:ext cx="6724056" cy="4351338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023730E-C267-0F29-1307-18EE5D441D0A}"/>
              </a:ext>
            </a:extLst>
          </p:cNvPr>
          <p:cNvGrpSpPr/>
          <p:nvPr/>
        </p:nvGrpSpPr>
        <p:grpSpPr>
          <a:xfrm>
            <a:off x="244289" y="2186320"/>
            <a:ext cx="8027293" cy="4306555"/>
            <a:chOff x="244289" y="2186320"/>
            <a:chExt cx="8027293" cy="4306555"/>
          </a:xfrm>
        </p:grpSpPr>
        <p:pic>
          <p:nvPicPr>
            <p:cNvPr id="34" name="Picture 33" descr="A graph with a green curve&#10;&#10;AI-generated content may be incorrect.">
              <a:extLst>
                <a:ext uri="{FF2B5EF4-FFF2-40B4-BE49-F238E27FC236}">
                  <a16:creationId xmlns:a16="http://schemas.microsoft.com/office/drawing/2014/main" id="{763171AF-09EB-CA6A-9539-4281FB929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289" y="2186320"/>
              <a:ext cx="8027293" cy="4306555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02CC01-CBF6-014C-27B3-B5706F090EC1}"/>
                </a:ext>
              </a:extLst>
            </p:cNvPr>
            <p:cNvCxnSpPr/>
            <p:nvPr/>
          </p:nvCxnSpPr>
          <p:spPr>
            <a:xfrm flipV="1">
              <a:off x="3126259" y="3025914"/>
              <a:ext cx="0" cy="3004183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A66914A-7A58-CC09-5223-D65C507A06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232" y="5041557"/>
              <a:ext cx="0" cy="988539"/>
            </a:xfrm>
            <a:prstGeom prst="line">
              <a:avLst/>
            </a:prstGeom>
            <a:ln w="19050">
              <a:solidFill>
                <a:schemeClr val="accent5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18C8DBA-9F1F-246C-45B6-A21CAC31E5B8}"/>
                </a:ext>
              </a:extLst>
            </p:cNvPr>
            <p:cNvCxnSpPr>
              <a:cxnSpLocks/>
            </p:cNvCxnSpPr>
            <p:nvPr/>
          </p:nvCxnSpPr>
          <p:spPr>
            <a:xfrm>
              <a:off x="926757" y="2964129"/>
              <a:ext cx="2199502" cy="0"/>
            </a:xfrm>
            <a:prstGeom prst="line">
              <a:avLst/>
            </a:prstGeom>
            <a:ln w="19050"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A499F14-B8A8-3F63-6B58-AC2BC4AF35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757" y="5016843"/>
              <a:ext cx="4600832" cy="24714"/>
            </a:xfrm>
            <a:prstGeom prst="line">
              <a:avLst/>
            </a:prstGeom>
            <a:ln w="19050">
              <a:solidFill>
                <a:schemeClr val="accent5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B239B61-0263-1BAB-C9C8-118B73DF8CA0}"/>
                  </a:ext>
                </a:extLst>
              </p:cNvPr>
              <p:cNvSpPr txBox="1"/>
              <p:nvPr/>
            </p:nvSpPr>
            <p:spPr>
              <a:xfrm>
                <a:off x="3169106" y="2665895"/>
                <a:ext cx="20913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&gt;5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0.81</m:t>
                      </m:r>
                      <m:r>
                        <a:rPr lang="en-US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B239B61-0263-1BAB-C9C8-118B73DF8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106" y="2665895"/>
                <a:ext cx="20913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F7234D-1927-574A-844E-DCA5EFB7A2BB}"/>
                  </a:ext>
                </a:extLst>
              </p:cNvPr>
              <p:cNvSpPr txBox="1"/>
              <p:nvPr/>
            </p:nvSpPr>
            <p:spPr>
              <a:xfrm>
                <a:off x="5586692" y="4625801"/>
                <a:ext cx="269515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&gt;10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=0.233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EF7234D-1927-574A-844E-DCA5EFB7A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692" y="4625801"/>
                <a:ext cx="269515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851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496A-38EC-6E59-1BD1-9DC9CEFE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Survival after insecticide exposure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25276-4D55-AFD7-E545-9D23534ECF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of interest: </a:t>
            </a:r>
            <a:r>
              <a:rPr lang="en-US" b="1" dirty="0">
                <a:solidFill>
                  <a:schemeClr val="accent6"/>
                </a:solidFill>
              </a:rPr>
              <a:t>duration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Start point</a:t>
            </a:r>
            <a:r>
              <a:rPr lang="en-US" dirty="0"/>
              <a:t>: first exposure to insecticide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End point</a:t>
            </a:r>
            <a:r>
              <a:rPr lang="en-US" dirty="0"/>
              <a:t>: death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032A7D-8AD0-7E5D-B0BD-3EA56FB3000C}"/>
              </a:ext>
            </a:extLst>
          </p:cNvPr>
          <p:cNvGrpSpPr/>
          <p:nvPr/>
        </p:nvGrpSpPr>
        <p:grpSpPr>
          <a:xfrm>
            <a:off x="5251621" y="2677139"/>
            <a:ext cx="6759337" cy="3499824"/>
            <a:chOff x="5105375" y="2253485"/>
            <a:chExt cx="7449281" cy="3857061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1EBCD148-302D-C9A0-73B0-2462D573A2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0024"/>
            <a:stretch/>
          </p:blipFill>
          <p:spPr>
            <a:xfrm>
              <a:off x="5305845" y="4250528"/>
              <a:ext cx="1461247" cy="1463441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E8DB2BD-288D-DB7F-F6DE-CA51106AE6D1}"/>
                </a:ext>
              </a:extLst>
            </p:cNvPr>
            <p:cNvGrpSpPr/>
            <p:nvPr/>
          </p:nvGrpSpPr>
          <p:grpSpPr>
            <a:xfrm>
              <a:off x="5105375" y="2253485"/>
              <a:ext cx="7449281" cy="3857061"/>
              <a:chOff x="5105375" y="2253485"/>
              <a:chExt cx="7449281" cy="3857061"/>
            </a:xfrm>
          </p:grpSpPr>
          <p:pic>
            <p:nvPicPr>
              <p:cNvPr id="4" name="Graphic 3" descr="Stopwatch 33% with solid fill">
                <a:extLst>
                  <a:ext uri="{FF2B5EF4-FFF2-40B4-BE49-F238E27FC236}">
                    <a16:creationId xmlns:a16="http://schemas.microsoft.com/office/drawing/2014/main" id="{22AD0783-F477-42E8-6B0E-E944CDF6A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79756" y="297180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D7703DA4-CA2F-D2B2-3596-5D0378958A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0113" y="3967923"/>
                <a:ext cx="4233687" cy="0"/>
              </a:xfrm>
              <a:prstGeom prst="line">
                <a:avLst/>
              </a:prstGeom>
              <a:ln w="50800" cap="flat">
                <a:miter lim="800000"/>
                <a:headEnd type="diamond"/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EB63E2C4-35E0-E900-F879-CD27FB6320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>
                <a:off x="6568943" y="3967923"/>
                <a:ext cx="1297650" cy="1168267"/>
              </a:xfrm>
              <a:prstGeom prst="rect">
                <a:avLst/>
              </a:prstGeom>
            </p:spPr>
          </p:pic>
          <p:pic>
            <p:nvPicPr>
              <p:cNvPr id="12" name="Graphic 11" descr="Danger with solid fill">
                <a:extLst>
                  <a:ext uri="{FF2B5EF4-FFF2-40B4-BE49-F238E27FC236}">
                    <a16:creationId xmlns:a16="http://schemas.microsoft.com/office/drawing/2014/main" id="{A1FA2B25-6B10-25B3-541B-48FA78D834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05375" y="5317392"/>
                <a:ext cx="793154" cy="793154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10F889F-C317-F398-63C6-B9F7FACD67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 rot="10800000">
                <a:off x="10704975" y="3967922"/>
                <a:ext cx="1297650" cy="1168267"/>
              </a:xfrm>
              <a:prstGeom prst="rect">
                <a:avLst/>
              </a:prstGeom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B2253F2-0307-090D-6DF8-2C14CC73B6D0}"/>
                  </a:ext>
                </a:extLst>
              </p:cNvPr>
              <p:cNvCxnSpPr/>
              <p:nvPr/>
            </p:nvCxnSpPr>
            <p:spPr>
              <a:xfrm>
                <a:off x="7120113" y="3200400"/>
                <a:ext cx="0" cy="4572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5302AEA1-8DA3-5520-1A0A-CCC98C149B3E}"/>
                  </a:ext>
                </a:extLst>
              </p:cNvPr>
              <p:cNvCxnSpPr/>
              <p:nvPr/>
            </p:nvCxnSpPr>
            <p:spPr>
              <a:xfrm>
                <a:off x="11353800" y="3200400"/>
                <a:ext cx="0" cy="4572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177672-CD38-C66E-047D-329BF308D50C}"/>
                  </a:ext>
                </a:extLst>
              </p:cNvPr>
              <p:cNvSpPr txBox="1"/>
              <p:nvPr/>
            </p:nvSpPr>
            <p:spPr>
              <a:xfrm>
                <a:off x="6389492" y="2438150"/>
                <a:ext cx="14612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Start time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B806549-C2FD-16C3-6A1F-18D6391A5EA9}"/>
                  </a:ext>
                </a:extLst>
              </p:cNvPr>
              <p:cNvSpPr txBox="1"/>
              <p:nvPr/>
            </p:nvSpPr>
            <p:spPr>
              <a:xfrm>
                <a:off x="10152940" y="2253485"/>
                <a:ext cx="24017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End time</a:t>
                </a:r>
              </a:p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(Event occurs)</a:t>
                </a:r>
              </a:p>
            </p:txBody>
          </p:sp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24D9ABBB-F81D-AF38-9E7D-77792C4C7C86}"/>
                  </a:ext>
                </a:extLst>
              </p:cNvPr>
              <p:cNvSpPr/>
              <p:nvPr/>
            </p:nvSpPr>
            <p:spPr>
              <a:xfrm rot="5400000">
                <a:off x="9037120" y="3231508"/>
                <a:ext cx="399670" cy="4233687"/>
              </a:xfrm>
              <a:prstGeom prst="rightBrace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44143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0970-16D9-4324-4798-669E58EB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2316-1028-7987-0A22-894EBB07D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Survival after insecticide exposure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9E707-A17D-94A8-BAE9-24A617A1F5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Information of interest: </a:t>
            </a:r>
            <a:r>
              <a:rPr lang="en-US" b="1" dirty="0">
                <a:solidFill>
                  <a:schemeClr val="accent6"/>
                </a:solidFill>
              </a:rPr>
              <a:t>duration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Start point</a:t>
            </a:r>
            <a:r>
              <a:rPr lang="en-US" dirty="0"/>
              <a:t>: first exposure to insecticide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End point (realistically):</a:t>
            </a:r>
          </a:p>
          <a:p>
            <a:pPr lvl="1"/>
            <a:r>
              <a:rPr lang="en-US" dirty="0"/>
              <a:t>death OR</a:t>
            </a:r>
          </a:p>
          <a:p>
            <a:pPr lvl="1"/>
            <a:r>
              <a:rPr lang="en-US" dirty="0"/>
              <a:t>study ends OR</a:t>
            </a:r>
          </a:p>
          <a:p>
            <a:pPr lvl="1"/>
            <a:r>
              <a:rPr lang="en-US" dirty="0"/>
              <a:t>subject is censored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2D27D59-7840-67C5-5D76-E24F993B5024}"/>
              </a:ext>
            </a:extLst>
          </p:cNvPr>
          <p:cNvGrpSpPr/>
          <p:nvPr/>
        </p:nvGrpSpPr>
        <p:grpSpPr>
          <a:xfrm>
            <a:off x="5251621" y="2677139"/>
            <a:ext cx="6759337" cy="3499824"/>
            <a:chOff x="5105375" y="2253485"/>
            <a:chExt cx="7449281" cy="3857061"/>
          </a:xfrm>
        </p:grpSpPr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4C82BA5-76A6-84A6-A19A-A2A7FFE445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0024"/>
            <a:stretch/>
          </p:blipFill>
          <p:spPr>
            <a:xfrm>
              <a:off x="5305845" y="4250528"/>
              <a:ext cx="1461247" cy="1463441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7BBB87-B71B-6797-0A0D-BB0B6F509CCC}"/>
                </a:ext>
              </a:extLst>
            </p:cNvPr>
            <p:cNvGrpSpPr/>
            <p:nvPr/>
          </p:nvGrpSpPr>
          <p:grpSpPr>
            <a:xfrm>
              <a:off x="5105375" y="2253485"/>
              <a:ext cx="7449281" cy="3857061"/>
              <a:chOff x="5105375" y="2253485"/>
              <a:chExt cx="7449281" cy="3857061"/>
            </a:xfrm>
          </p:grpSpPr>
          <p:pic>
            <p:nvPicPr>
              <p:cNvPr id="10" name="Graphic 9" descr="Stopwatch 33% with solid fill">
                <a:extLst>
                  <a:ext uri="{FF2B5EF4-FFF2-40B4-BE49-F238E27FC236}">
                    <a16:creationId xmlns:a16="http://schemas.microsoft.com/office/drawing/2014/main" id="{80D7E2AD-9274-B95C-34EA-BD9EB12B7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779756" y="2971800"/>
                <a:ext cx="914400" cy="914400"/>
              </a:xfrm>
              <a:prstGeom prst="rect">
                <a:avLst/>
              </a:prstGeom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1408ABEA-13B7-266E-65B7-51FE1F831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0113" y="3967923"/>
                <a:ext cx="4233687" cy="0"/>
              </a:xfrm>
              <a:prstGeom prst="line">
                <a:avLst/>
              </a:prstGeom>
              <a:ln w="50800" cap="flat">
                <a:miter lim="800000"/>
                <a:headEnd type="diamond"/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Graphic 11">
                <a:extLst>
                  <a:ext uri="{FF2B5EF4-FFF2-40B4-BE49-F238E27FC236}">
                    <a16:creationId xmlns:a16="http://schemas.microsoft.com/office/drawing/2014/main" id="{DF42F1EE-7D0F-5596-4DD3-570BF8E367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>
                <a:off x="6568943" y="3967923"/>
                <a:ext cx="1297650" cy="1168267"/>
              </a:xfrm>
              <a:prstGeom prst="rect">
                <a:avLst/>
              </a:prstGeom>
            </p:spPr>
          </p:pic>
          <p:pic>
            <p:nvPicPr>
              <p:cNvPr id="13" name="Graphic 12" descr="Danger with solid fill">
                <a:extLst>
                  <a:ext uri="{FF2B5EF4-FFF2-40B4-BE49-F238E27FC236}">
                    <a16:creationId xmlns:a16="http://schemas.microsoft.com/office/drawing/2014/main" id="{0F964A61-74A4-0AB1-20ED-58EA150FFC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105375" y="5317392"/>
                <a:ext cx="793154" cy="793154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2894AC20-F18F-414B-0D06-82DFA209EB5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 rot="10800000">
                <a:off x="10409167" y="4085515"/>
                <a:ext cx="1297650" cy="1168267"/>
              </a:xfrm>
              <a:prstGeom prst="rect">
                <a:avLst/>
              </a:prstGeom>
            </p:spPr>
          </p:pic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3EB8E4B-82C5-690D-9AB1-1087626ABA74}"/>
                  </a:ext>
                </a:extLst>
              </p:cNvPr>
              <p:cNvCxnSpPr/>
              <p:nvPr/>
            </p:nvCxnSpPr>
            <p:spPr>
              <a:xfrm>
                <a:off x="7120113" y="3200400"/>
                <a:ext cx="0" cy="4572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C30F24A-37D7-D558-0859-D797C213AF54}"/>
                  </a:ext>
                </a:extLst>
              </p:cNvPr>
              <p:cNvCxnSpPr/>
              <p:nvPr/>
            </p:nvCxnSpPr>
            <p:spPr>
              <a:xfrm>
                <a:off x="11353800" y="3200400"/>
                <a:ext cx="0" cy="457200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C501F7-BBE4-CB92-998D-D25AEC4CD941}"/>
                  </a:ext>
                </a:extLst>
              </p:cNvPr>
              <p:cNvSpPr txBox="1"/>
              <p:nvPr/>
            </p:nvSpPr>
            <p:spPr>
              <a:xfrm>
                <a:off x="6389492" y="2438150"/>
                <a:ext cx="146124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Start time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A8868F-3C6C-C15E-EB61-307B3A6C7DB7}"/>
                  </a:ext>
                </a:extLst>
              </p:cNvPr>
              <p:cNvSpPr txBox="1"/>
              <p:nvPr/>
            </p:nvSpPr>
            <p:spPr>
              <a:xfrm>
                <a:off x="10152940" y="2253485"/>
                <a:ext cx="240171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End time</a:t>
                </a:r>
              </a:p>
              <a:p>
                <a:pPr algn="ctr"/>
                <a:r>
                  <a:rPr lang="en-US" sz="2400" cap="all" dirty="0">
                    <a:latin typeface="Bahnschrift SemiBold Condensed" panose="020B0502040204020203" pitchFamily="34" charset="0"/>
                  </a:rPr>
                  <a:t>(Event occurs)</a:t>
                </a:r>
              </a:p>
            </p:txBody>
          </p:sp>
          <p:sp>
            <p:nvSpPr>
              <p:cNvPr id="19" name="Right Brace 18">
                <a:extLst>
                  <a:ext uri="{FF2B5EF4-FFF2-40B4-BE49-F238E27FC236}">
                    <a16:creationId xmlns:a16="http://schemas.microsoft.com/office/drawing/2014/main" id="{7247A02D-85FC-A6A2-F2E9-ADB30CBDD3F5}"/>
                  </a:ext>
                </a:extLst>
              </p:cNvPr>
              <p:cNvSpPr/>
              <p:nvPr/>
            </p:nvSpPr>
            <p:spPr>
              <a:xfrm rot="5400000">
                <a:off x="9037120" y="3231508"/>
                <a:ext cx="399670" cy="4233687"/>
              </a:xfrm>
              <a:prstGeom prst="rightBrace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1" name="Graphic 20" descr="Question Mark with solid fill">
            <a:extLst>
              <a:ext uri="{FF2B5EF4-FFF2-40B4-BE49-F238E27FC236}">
                <a16:creationId xmlns:a16="http://schemas.microsoft.com/office/drawing/2014/main" id="{0EBB2B8E-6A90-2884-DD8F-3C913C649E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4649" y="4321033"/>
            <a:ext cx="638346" cy="63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396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27AA8-0EA1-6186-3A09-9E1A87D25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censoring?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E0B85-78DB-B57B-8B56-B69F57DAC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697042" cy="4351338"/>
          </a:xfrm>
        </p:spPr>
        <p:txBody>
          <a:bodyPr>
            <a:normAutofit/>
          </a:bodyPr>
          <a:lstStyle/>
          <a:p>
            <a:r>
              <a:rPr lang="en-US" b="1" dirty="0"/>
              <a:t>Censoring</a:t>
            </a:r>
            <a:r>
              <a:rPr lang="en-US" dirty="0"/>
              <a:t> is a type of missing data problem unique to survival analysis.</a:t>
            </a:r>
          </a:p>
          <a:p>
            <a:r>
              <a:rPr lang="en-US" dirty="0"/>
              <a:t>To estimate </a:t>
            </a:r>
            <a:r>
              <a:rPr lang="en-US" b="1" dirty="0"/>
              <a:t>survival probability</a:t>
            </a:r>
            <a:r>
              <a:rPr lang="en-US" dirty="0"/>
              <a:t>: Important to </a:t>
            </a:r>
            <a:r>
              <a:rPr lang="en-US" b="1" dirty="0"/>
              <a:t>include censored data </a:t>
            </a:r>
            <a:r>
              <a:rPr lang="en-US" dirty="0"/>
              <a:t>in analysis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E38C49-F79D-996E-31BC-09CEE0FEB2EB}"/>
              </a:ext>
            </a:extLst>
          </p:cNvPr>
          <p:cNvGrpSpPr/>
          <p:nvPr/>
        </p:nvGrpSpPr>
        <p:grpSpPr>
          <a:xfrm rot="19239717">
            <a:off x="8194185" y="3612310"/>
            <a:ext cx="2086714" cy="2146447"/>
            <a:chOff x="8864113" y="3586633"/>
            <a:chExt cx="1410939" cy="1451327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91CDD62-2DB4-DB3B-9FEC-120796E09E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1573"/>
            <a:stretch/>
          </p:blipFill>
          <p:spPr>
            <a:xfrm rot="20173039">
              <a:off x="8864113" y="3654766"/>
              <a:ext cx="1410939" cy="1383194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05965F9-1DC4-78C4-7E40-2EE09CEA99A2}"/>
                </a:ext>
              </a:extLst>
            </p:cNvPr>
            <p:cNvSpPr/>
            <p:nvPr/>
          </p:nvSpPr>
          <p:spPr>
            <a:xfrm rot="20439869">
              <a:off x="9297573" y="3798814"/>
              <a:ext cx="237518" cy="38711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3396743-28F3-C9C4-DB1B-3E204B18B4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17994"/>
            <a:stretch/>
          </p:blipFill>
          <p:spPr>
            <a:xfrm rot="9293631">
              <a:off x="9054577" y="3586633"/>
              <a:ext cx="609600" cy="624889"/>
            </a:xfrm>
            <a:prstGeom prst="rect">
              <a:avLst/>
            </a:prstGeom>
          </p:spPr>
        </p:pic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DD89CE36-6C25-E4AB-DC0A-7829F10851E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7977"/>
          <a:stretch/>
        </p:blipFill>
        <p:spPr>
          <a:xfrm rot="16200000" flipH="1" flipV="1">
            <a:off x="-258153" y="5134766"/>
            <a:ext cx="993481" cy="8944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76B07BC-C426-9870-3F50-9A0986C948E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7977"/>
          <a:stretch/>
        </p:blipFill>
        <p:spPr>
          <a:xfrm rot="16200000" flipH="1">
            <a:off x="11056084" y="446268"/>
            <a:ext cx="1627639" cy="146535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35E36B2-562C-91CB-7B6C-803DBA1AB22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0024"/>
          <a:stretch/>
        </p:blipFill>
        <p:spPr>
          <a:xfrm>
            <a:off x="6081668" y="4203621"/>
            <a:ext cx="1760559" cy="1763203"/>
          </a:xfrm>
          <a:prstGeom prst="rect">
            <a:avLst/>
          </a:prstGeom>
        </p:spPr>
      </p:pic>
      <p:pic>
        <p:nvPicPr>
          <p:cNvPr id="12" name="Graphic 11" descr="Danger with solid fill">
            <a:extLst>
              <a:ext uri="{FF2B5EF4-FFF2-40B4-BE49-F238E27FC236}">
                <a16:creationId xmlns:a16="http://schemas.microsoft.com/office/drawing/2014/main" id="{3776455D-A24F-1018-22A4-3DFBC2E6C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29790" y="5311185"/>
            <a:ext cx="914400" cy="914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A40468B-A7A8-EDDE-5DFD-96C238A71B5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7977"/>
          <a:stretch/>
        </p:blipFill>
        <p:spPr>
          <a:xfrm rot="6372464">
            <a:off x="10233659" y="5139343"/>
            <a:ext cx="1627639" cy="146535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1285750-B48D-66EF-CF9F-AE8ADE001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8511"/>
          <a:stretch/>
        </p:blipFill>
        <p:spPr>
          <a:xfrm>
            <a:off x="10263574" y="4463261"/>
            <a:ext cx="1692738" cy="172424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B3FFF8E-D114-43FD-6C4F-A2601DF99EA2}"/>
              </a:ext>
            </a:extLst>
          </p:cNvPr>
          <p:cNvSpPr/>
          <p:nvPr/>
        </p:nvSpPr>
        <p:spPr>
          <a:xfrm rot="17985219" flipV="1">
            <a:off x="9829692" y="2161153"/>
            <a:ext cx="2503892" cy="1624317"/>
          </a:xfrm>
          <a:custGeom>
            <a:avLst/>
            <a:gdLst>
              <a:gd name="connsiteX0" fmla="*/ 0 w 4744995"/>
              <a:gd name="connsiteY0" fmla="*/ 1063498 h 1624317"/>
              <a:gd name="connsiteX1" fmla="*/ 1235676 w 4744995"/>
              <a:gd name="connsiteY1" fmla="*/ 1137639 h 1624317"/>
              <a:gd name="connsiteX2" fmla="*/ 1729946 w 4744995"/>
              <a:gd name="connsiteY2" fmla="*/ 618655 h 1624317"/>
              <a:gd name="connsiteX3" fmla="*/ 1371600 w 4744995"/>
              <a:gd name="connsiteY3" fmla="*/ 817 h 1624317"/>
              <a:gd name="connsiteX4" fmla="*/ 766119 w 4744995"/>
              <a:gd name="connsiteY4" fmla="*/ 507444 h 1624317"/>
              <a:gd name="connsiteX5" fmla="*/ 1062681 w 4744995"/>
              <a:gd name="connsiteY5" fmla="*/ 1347703 h 1624317"/>
              <a:gd name="connsiteX6" fmla="*/ 2038865 w 4744995"/>
              <a:gd name="connsiteY6" fmla="*/ 1607195 h 1624317"/>
              <a:gd name="connsiteX7" fmla="*/ 3027406 w 4744995"/>
              <a:gd name="connsiteY7" fmla="*/ 939930 h 1624317"/>
              <a:gd name="connsiteX8" fmla="*/ 2397211 w 4744995"/>
              <a:gd name="connsiteY8" fmla="*/ 223239 h 1624317"/>
              <a:gd name="connsiteX9" fmla="*/ 1915298 w 4744995"/>
              <a:gd name="connsiteY9" fmla="*/ 1063498 h 1624317"/>
              <a:gd name="connsiteX10" fmla="*/ 3163330 w 4744995"/>
              <a:gd name="connsiteY10" fmla="*/ 1495985 h 1624317"/>
              <a:gd name="connsiteX11" fmla="*/ 4114800 w 4744995"/>
              <a:gd name="connsiteY11" fmla="*/ 593941 h 1624317"/>
              <a:gd name="connsiteX12" fmla="*/ 4744995 w 4744995"/>
              <a:gd name="connsiteY12" fmla="*/ 532158 h 1624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44995" h="1624317">
                <a:moveTo>
                  <a:pt x="0" y="1063498"/>
                </a:moveTo>
                <a:cubicBezTo>
                  <a:pt x="473676" y="1137638"/>
                  <a:pt x="947352" y="1211779"/>
                  <a:pt x="1235676" y="1137639"/>
                </a:cubicBezTo>
                <a:cubicBezTo>
                  <a:pt x="1524000" y="1063499"/>
                  <a:pt x="1707292" y="808125"/>
                  <a:pt x="1729946" y="618655"/>
                </a:cubicBezTo>
                <a:cubicBezTo>
                  <a:pt x="1752600" y="429185"/>
                  <a:pt x="1532238" y="19352"/>
                  <a:pt x="1371600" y="817"/>
                </a:cubicBezTo>
                <a:cubicBezTo>
                  <a:pt x="1210962" y="-17718"/>
                  <a:pt x="817606" y="282963"/>
                  <a:pt x="766119" y="507444"/>
                </a:cubicBezTo>
                <a:cubicBezTo>
                  <a:pt x="714633" y="731925"/>
                  <a:pt x="850557" y="1164411"/>
                  <a:pt x="1062681" y="1347703"/>
                </a:cubicBezTo>
                <a:cubicBezTo>
                  <a:pt x="1274805" y="1530995"/>
                  <a:pt x="1711411" y="1675157"/>
                  <a:pt x="2038865" y="1607195"/>
                </a:cubicBezTo>
                <a:cubicBezTo>
                  <a:pt x="2366319" y="1539233"/>
                  <a:pt x="2967682" y="1170589"/>
                  <a:pt x="3027406" y="939930"/>
                </a:cubicBezTo>
                <a:cubicBezTo>
                  <a:pt x="3087130" y="709271"/>
                  <a:pt x="2582562" y="202644"/>
                  <a:pt x="2397211" y="223239"/>
                </a:cubicBezTo>
                <a:cubicBezTo>
                  <a:pt x="2211860" y="243834"/>
                  <a:pt x="1787612" y="851374"/>
                  <a:pt x="1915298" y="1063498"/>
                </a:cubicBezTo>
                <a:cubicBezTo>
                  <a:pt x="2042984" y="1275622"/>
                  <a:pt x="2796746" y="1574244"/>
                  <a:pt x="3163330" y="1495985"/>
                </a:cubicBezTo>
                <a:cubicBezTo>
                  <a:pt x="3529914" y="1417726"/>
                  <a:pt x="3851189" y="754579"/>
                  <a:pt x="4114800" y="593941"/>
                </a:cubicBezTo>
                <a:cubicBezTo>
                  <a:pt x="4378411" y="433303"/>
                  <a:pt x="4722341" y="530099"/>
                  <a:pt x="4744995" y="532158"/>
                </a:cubicBezTo>
              </a:path>
            </a:pathLst>
          </a:custGeom>
          <a:noFill/>
          <a:ln w="19050">
            <a:solidFill>
              <a:schemeClr val="accent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30C4E2-EBD8-0282-4891-6E52CBE756AD}"/>
              </a:ext>
            </a:extLst>
          </p:cNvPr>
          <p:cNvSpPr/>
          <p:nvPr/>
        </p:nvSpPr>
        <p:spPr>
          <a:xfrm>
            <a:off x="6644190" y="2261286"/>
            <a:ext cx="4493036" cy="123261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6A32B-9FB9-633C-E104-ACB7AAB13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17075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4EA72E"/>
                </a:solidFill>
              </a:rPr>
              <a:t>Insecticide</a:t>
            </a:r>
            <a:r>
              <a:rPr lang="en-US" b="1" dirty="0">
                <a:solidFill>
                  <a:schemeClr val="accent6"/>
                </a:solidFill>
              </a:rPr>
              <a:t> </a:t>
            </a:r>
            <a:r>
              <a:rPr lang="en-US" b="1" dirty="0">
                <a:solidFill>
                  <a:srgbClr val="4EA72E"/>
                </a:solidFill>
              </a:rPr>
              <a:t>example</a:t>
            </a:r>
            <a:endParaRPr lang="en-US" dirty="0">
              <a:solidFill>
                <a:srgbClr val="4EA72E"/>
              </a:solidFill>
            </a:endParaRPr>
          </a:p>
          <a:p>
            <a:pPr lvl="1"/>
            <a:r>
              <a:rPr lang="en-US" dirty="0"/>
              <a:t>Mosquito still alive at study end</a:t>
            </a:r>
          </a:p>
          <a:p>
            <a:pPr lvl="1"/>
            <a:r>
              <a:rPr lang="en-US" dirty="0"/>
              <a:t>Escaped or lost during handling</a:t>
            </a:r>
          </a:p>
          <a:p>
            <a:pPr lvl="1"/>
            <a:r>
              <a:rPr lang="en-US" dirty="0"/>
              <a:t>Death due to unrelated reasons</a:t>
            </a:r>
          </a:p>
        </p:txBody>
      </p:sp>
    </p:spTree>
    <p:extLst>
      <p:ext uri="{BB962C8B-B14F-4D97-AF65-F5344CB8AC3E}">
        <p14:creationId xmlns:p14="http://schemas.microsoft.com/office/powerpoint/2010/main" val="337247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839E-204D-53EA-5EA8-808D17DA8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n a screen&#10;&#10;AI-generated content may be incorrect.">
            <a:extLst>
              <a:ext uri="{FF2B5EF4-FFF2-40B4-BE49-F238E27FC236}">
                <a16:creationId xmlns:a16="http://schemas.microsoft.com/office/drawing/2014/main" id="{FE60A44E-5279-BBC6-5EDB-54314ED57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7" y="1686070"/>
            <a:ext cx="8157155" cy="4974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70686-9BC2-CF61-EBB3-BF66D315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 of noninformative censoring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9B0A6-7BD7-179C-0121-D77E3CC96F2E}"/>
              </a:ext>
            </a:extLst>
          </p:cNvPr>
          <p:cNvSpPr/>
          <p:nvPr/>
        </p:nvSpPr>
        <p:spPr>
          <a:xfrm>
            <a:off x="6326909" y="2281382"/>
            <a:ext cx="1376218" cy="10658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allout: Line with Border and Accent Bar 21">
            <a:extLst>
              <a:ext uri="{FF2B5EF4-FFF2-40B4-BE49-F238E27FC236}">
                <a16:creationId xmlns:a16="http://schemas.microsoft.com/office/drawing/2014/main" id="{EF533E20-DD06-A50C-5C9E-A25422F02C13}"/>
              </a:ext>
            </a:extLst>
          </p:cNvPr>
          <p:cNvSpPr/>
          <p:nvPr/>
        </p:nvSpPr>
        <p:spPr>
          <a:xfrm>
            <a:off x="6858572" y="2010394"/>
            <a:ext cx="2050650" cy="1325562"/>
          </a:xfrm>
          <a:prstGeom prst="accentBorderCallout1">
            <a:avLst>
              <a:gd name="adj1" fmla="val 18750"/>
              <a:gd name="adj2" fmla="val -8333"/>
              <a:gd name="adj3" fmla="val 35334"/>
              <a:gd name="adj4" fmla="val -28141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Survival function estimated from data with </a:t>
            </a:r>
            <a:r>
              <a:rPr lang="en-US" sz="1600" b="1" dirty="0">
                <a:solidFill>
                  <a:schemeClr val="tx1"/>
                </a:solidFill>
              </a:rPr>
              <a:t>informative censoring</a:t>
            </a:r>
          </a:p>
        </p:txBody>
      </p:sp>
      <p:sp>
        <p:nvSpPr>
          <p:cNvPr id="23" name="Callout: Line with Border and Accent Bar 22">
            <a:extLst>
              <a:ext uri="{FF2B5EF4-FFF2-40B4-BE49-F238E27FC236}">
                <a16:creationId xmlns:a16="http://schemas.microsoft.com/office/drawing/2014/main" id="{CEA2B230-41AB-F7B2-0DEB-5B7470A5F5E7}"/>
              </a:ext>
            </a:extLst>
          </p:cNvPr>
          <p:cNvSpPr/>
          <p:nvPr/>
        </p:nvSpPr>
        <p:spPr>
          <a:xfrm>
            <a:off x="2114824" y="4315814"/>
            <a:ext cx="3257679" cy="1179219"/>
          </a:xfrm>
          <a:prstGeom prst="accentBorderCallout1">
            <a:avLst>
              <a:gd name="adj1" fmla="val 17791"/>
              <a:gd name="adj2" fmla="val 106046"/>
              <a:gd name="adj3" fmla="val -3965"/>
              <a:gd name="adj4" fmla="val 128038"/>
            </a:avLst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Survival function estimated from data with </a:t>
            </a:r>
            <a:r>
              <a:rPr lang="en-US" sz="1600" b="1" dirty="0">
                <a:solidFill>
                  <a:schemeClr val="tx1"/>
                </a:solidFill>
              </a:rPr>
              <a:t>no censoring </a:t>
            </a:r>
            <a:r>
              <a:rPr lang="en-US" sz="1600" dirty="0">
                <a:solidFill>
                  <a:schemeClr val="tx1"/>
                </a:solidFill>
              </a:rPr>
              <a:t>and data with </a:t>
            </a:r>
            <a:r>
              <a:rPr lang="en-US" sz="1600" b="1" dirty="0">
                <a:solidFill>
                  <a:schemeClr val="tx1"/>
                </a:solidFill>
              </a:rPr>
              <a:t>non-informative censoring </a:t>
            </a:r>
            <a:r>
              <a:rPr lang="en-US" sz="1600" dirty="0">
                <a:solidFill>
                  <a:schemeClr val="tx1"/>
                </a:solidFill>
              </a:rPr>
              <a:t>are the same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563C9D-7FCD-7742-4F83-963B9A828F52}"/>
              </a:ext>
            </a:extLst>
          </p:cNvPr>
          <p:cNvGrpSpPr/>
          <p:nvPr/>
        </p:nvGrpSpPr>
        <p:grpSpPr>
          <a:xfrm>
            <a:off x="9178571" y="1686070"/>
            <a:ext cx="2845938" cy="4562375"/>
            <a:chOff x="9104376" y="1027906"/>
            <a:chExt cx="2249424" cy="456237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D275FE9-123A-E45F-C604-C92F29235CC4}"/>
                </a:ext>
              </a:extLst>
            </p:cNvPr>
            <p:cNvSpPr/>
            <p:nvPr/>
          </p:nvSpPr>
          <p:spPr>
            <a:xfrm>
              <a:off x="9420380" y="3220442"/>
              <a:ext cx="1248944" cy="2053637"/>
            </a:xfrm>
            <a:custGeom>
              <a:avLst/>
              <a:gdLst>
                <a:gd name="connsiteX0" fmla="*/ 133544 w 1248944"/>
                <a:gd name="connsiteY0" fmla="*/ 0 h 2053637"/>
                <a:gd name="connsiteX1" fmla="*/ 1248944 w 1248944"/>
                <a:gd name="connsiteY1" fmla="*/ 1984184 h 2053637"/>
                <a:gd name="connsiteX2" fmla="*/ 44522 w 1248944"/>
                <a:gd name="connsiteY2" fmla="*/ 2052988 h 2053637"/>
                <a:gd name="connsiteX3" fmla="*/ 33168 w 1248944"/>
                <a:gd name="connsiteY3" fmla="*/ 2053637 h 2053637"/>
                <a:gd name="connsiteX4" fmla="*/ 9521 w 1248944"/>
                <a:gd name="connsiteY4" fmla="*/ 2043842 h 2053637"/>
                <a:gd name="connsiteX5" fmla="*/ 0 w 1248944"/>
                <a:gd name="connsiteY5" fmla="*/ 2020855 h 2053637"/>
                <a:gd name="connsiteX6" fmla="*/ 873 w 1248944"/>
                <a:gd name="connsiteY6" fmla="*/ 2007640 h 205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8944" h="2053637">
                  <a:moveTo>
                    <a:pt x="133544" y="0"/>
                  </a:moveTo>
                  <a:lnTo>
                    <a:pt x="1248944" y="1984184"/>
                  </a:lnTo>
                  <a:lnTo>
                    <a:pt x="44522" y="2052988"/>
                  </a:lnTo>
                  <a:lnTo>
                    <a:pt x="33168" y="2053637"/>
                  </a:lnTo>
                  <a:lnTo>
                    <a:pt x="9521" y="2043842"/>
                  </a:lnTo>
                  <a:lnTo>
                    <a:pt x="0" y="2020855"/>
                  </a:lnTo>
                  <a:lnTo>
                    <a:pt x="873" y="20076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dist="520700" dir="8100000" algn="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0D6819F-5483-4918-BA9D-60E529F1FB6E}"/>
                </a:ext>
              </a:extLst>
            </p:cNvPr>
            <p:cNvSpPr/>
            <p:nvPr/>
          </p:nvSpPr>
          <p:spPr>
            <a:xfrm>
              <a:off x="9153201" y="4641144"/>
              <a:ext cx="1333189" cy="911654"/>
            </a:xfrm>
            <a:custGeom>
              <a:avLst/>
              <a:gdLst>
                <a:gd name="connsiteX0" fmla="*/ 0 w 1333189"/>
                <a:gd name="connsiteY0" fmla="*/ 0 h 911654"/>
                <a:gd name="connsiteX1" fmla="*/ 1333189 w 1333189"/>
                <a:gd name="connsiteY1" fmla="*/ 0 h 911654"/>
                <a:gd name="connsiteX2" fmla="*/ 1333189 w 1333189"/>
                <a:gd name="connsiteY2" fmla="*/ 911654 h 911654"/>
                <a:gd name="connsiteX3" fmla="*/ 1086117 w 1333189"/>
                <a:gd name="connsiteY3" fmla="*/ 911402 h 911654"/>
                <a:gd name="connsiteX4" fmla="*/ 131110 w 1333189"/>
                <a:gd name="connsiteY4" fmla="*/ 755417 h 911654"/>
                <a:gd name="connsiteX5" fmla="*/ 1940 w 1333189"/>
                <a:gd name="connsiteY5" fmla="*/ 57392 h 91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189" h="911654">
                  <a:moveTo>
                    <a:pt x="0" y="0"/>
                  </a:moveTo>
                  <a:lnTo>
                    <a:pt x="1333189" y="0"/>
                  </a:lnTo>
                  <a:lnTo>
                    <a:pt x="1333189" y="911654"/>
                  </a:lnTo>
                  <a:lnTo>
                    <a:pt x="1086117" y="911402"/>
                  </a:lnTo>
                  <a:cubicBezTo>
                    <a:pt x="746349" y="890363"/>
                    <a:pt x="637565" y="893137"/>
                    <a:pt x="131110" y="755417"/>
                  </a:cubicBezTo>
                  <a:cubicBezTo>
                    <a:pt x="90864" y="573107"/>
                    <a:pt x="19625" y="332455"/>
                    <a:pt x="1940" y="573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14938331-228F-A5A6-7C91-5D96AD7958AB}"/>
                </a:ext>
              </a:extLst>
            </p:cNvPr>
            <p:cNvSpPr/>
            <p:nvPr/>
          </p:nvSpPr>
          <p:spPr>
            <a:xfrm>
              <a:off x="9108858" y="1027906"/>
              <a:ext cx="2244942" cy="4562375"/>
            </a:xfrm>
            <a:custGeom>
              <a:avLst/>
              <a:gdLst>
                <a:gd name="connsiteX0" fmla="*/ 0 w 2242687"/>
                <a:gd name="connsiteY0" fmla="*/ 0 h 4562375"/>
                <a:gd name="connsiteX1" fmla="*/ 2242687 w 2242687"/>
                <a:gd name="connsiteY1" fmla="*/ 0 h 4562375"/>
                <a:gd name="connsiteX2" fmla="*/ 2242687 w 2242687"/>
                <a:gd name="connsiteY2" fmla="*/ 4562375 h 4562375"/>
                <a:gd name="connsiteX3" fmla="*/ 0 w 2242687"/>
                <a:gd name="connsiteY3" fmla="*/ 4562375 h 4562375"/>
                <a:gd name="connsiteX4" fmla="*/ 0 w 2242687"/>
                <a:gd name="connsiteY4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2255 w 2244942"/>
                <a:gd name="connsiteY3" fmla="*/ 4562375 h 4562375"/>
                <a:gd name="connsiteX4" fmla="*/ 0 w 2244942"/>
                <a:gd name="connsiteY4" fmla="*/ 3587266 h 4562375"/>
                <a:gd name="connsiteX5" fmla="*/ 2255 w 2244942"/>
                <a:gd name="connsiteY5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2255 w 2244942"/>
                <a:gd name="connsiteY4" fmla="*/ 4562375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4942" h="4562375">
                  <a:moveTo>
                    <a:pt x="2255" y="0"/>
                  </a:moveTo>
                  <a:lnTo>
                    <a:pt x="2244942" y="0"/>
                  </a:lnTo>
                  <a:lnTo>
                    <a:pt x="2244942" y="4562375"/>
                  </a:lnTo>
                  <a:lnTo>
                    <a:pt x="1088231" y="4561197"/>
                  </a:lnTo>
                  <a:cubicBezTo>
                    <a:pt x="748463" y="4540158"/>
                    <a:pt x="639679" y="4542932"/>
                    <a:pt x="133224" y="4405212"/>
                  </a:cubicBezTo>
                  <a:cubicBezTo>
                    <a:pt x="87228" y="4196857"/>
                    <a:pt x="752" y="3912302"/>
                    <a:pt x="0" y="3587266"/>
                  </a:cubicBezTo>
                  <a:cubicBezTo>
                    <a:pt x="752" y="2391511"/>
                    <a:pt x="1503" y="1195755"/>
                    <a:pt x="22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8A4F00E-0712-4593-E26B-9D1F18BF6E72}"/>
                </a:ext>
              </a:extLst>
            </p:cNvPr>
            <p:cNvSpPr/>
            <p:nvPr/>
          </p:nvSpPr>
          <p:spPr>
            <a:xfrm>
              <a:off x="9104376" y="1027906"/>
              <a:ext cx="2249424" cy="963601"/>
            </a:xfrm>
            <a:custGeom>
              <a:avLst/>
              <a:gdLst>
                <a:gd name="connsiteX0" fmla="*/ 546 w 2243233"/>
                <a:gd name="connsiteY0" fmla="*/ 0 h 868495"/>
                <a:gd name="connsiteX1" fmla="*/ 2243233 w 2243233"/>
                <a:gd name="connsiteY1" fmla="*/ 0 h 868495"/>
                <a:gd name="connsiteX2" fmla="*/ 2243233 w 2243233"/>
                <a:gd name="connsiteY2" fmla="*/ 868495 h 868495"/>
                <a:gd name="connsiteX3" fmla="*/ 0 w 2243233"/>
                <a:gd name="connsiteY3" fmla="*/ 868495 h 868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3233" h="868495">
                  <a:moveTo>
                    <a:pt x="546" y="0"/>
                  </a:moveTo>
                  <a:lnTo>
                    <a:pt x="2243233" y="0"/>
                  </a:lnTo>
                  <a:lnTo>
                    <a:pt x="2243233" y="868495"/>
                  </a:lnTo>
                  <a:lnTo>
                    <a:pt x="0" y="8684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9CDFB0A-1C71-9C16-EE66-E66DC801970E}"/>
                </a:ext>
              </a:extLst>
            </p:cNvPr>
            <p:cNvGrpSpPr/>
            <p:nvPr/>
          </p:nvGrpSpPr>
          <p:grpSpPr>
            <a:xfrm>
              <a:off x="9363710" y="2225290"/>
              <a:ext cx="1727673" cy="3044479"/>
              <a:chOff x="1091727" y="2623740"/>
              <a:chExt cx="1727673" cy="3044479"/>
            </a:xfrm>
          </p:grpSpPr>
          <p:sp>
            <p:nvSpPr>
              <p:cNvPr id="31" name="TextBox 47">
                <a:extLst>
                  <a:ext uri="{FF2B5EF4-FFF2-40B4-BE49-F238E27FC236}">
                    <a16:creationId xmlns:a16="http://schemas.microsoft.com/office/drawing/2014/main" id="{9A2B8AF6-74D3-DCDC-F614-9812E7D94035}"/>
                  </a:ext>
                </a:extLst>
              </p:cNvPr>
              <p:cNvSpPr txBox="1"/>
              <p:nvPr/>
            </p:nvSpPr>
            <p:spPr>
              <a:xfrm>
                <a:off x="1091727" y="2623740"/>
                <a:ext cx="1727673" cy="461665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Assumptions</a:t>
                </a:r>
              </a:p>
            </p:txBody>
          </p:sp>
          <p:sp>
            <p:nvSpPr>
              <p:cNvPr id="32" name="TextBox 48">
                <a:extLst>
                  <a:ext uri="{FF2B5EF4-FFF2-40B4-BE49-F238E27FC236}">
                    <a16:creationId xmlns:a16="http://schemas.microsoft.com/office/drawing/2014/main" id="{3FB7DBCE-9B0F-1336-3169-D64014D30FC3}"/>
                  </a:ext>
                </a:extLst>
              </p:cNvPr>
              <p:cNvSpPr txBox="1"/>
              <p:nvPr/>
            </p:nvSpPr>
            <p:spPr>
              <a:xfrm>
                <a:off x="1096312" y="3082896"/>
                <a:ext cx="1723088" cy="2585323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subject’s censoring time not related to the unobserved survival time,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distribution of censoring times and survival times are unrelated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pic>
          <p:nvPicPr>
            <p:cNvPr id="30" name="Graphic 29" descr="Lights On with solid fill">
              <a:extLst>
                <a:ext uri="{FF2B5EF4-FFF2-40B4-BE49-F238E27FC236}">
                  <a16:creationId xmlns:a16="http://schemas.microsoft.com/office/drawing/2014/main" id="{DAA453E8-A011-DD57-20EE-B60110D8CE4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38451" y="1143946"/>
              <a:ext cx="578192" cy="7315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06481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2700-0F24-3AEF-5503-341E5B62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methods for survival analysis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C3ADD0-3E6A-2BA7-461A-5F27C807BC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52169"/>
              </p:ext>
            </p:extLst>
          </p:nvPr>
        </p:nvGraphicFramePr>
        <p:xfrm>
          <a:off x="1162013" y="1915332"/>
          <a:ext cx="9867974" cy="4577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426">
                  <a:extLst>
                    <a:ext uri="{9D8B030D-6E8A-4147-A177-3AD203B41FA5}">
                      <a16:colId xmlns:a16="http://schemas.microsoft.com/office/drawing/2014/main" val="1916854558"/>
                    </a:ext>
                  </a:extLst>
                </a:gridCol>
                <a:gridCol w="4275774">
                  <a:extLst>
                    <a:ext uri="{9D8B030D-6E8A-4147-A177-3AD203B41FA5}">
                      <a16:colId xmlns:a16="http://schemas.microsoft.com/office/drawing/2014/main" val="1181995131"/>
                    </a:ext>
                  </a:extLst>
                </a:gridCol>
                <a:gridCol w="4275774">
                  <a:extLst>
                    <a:ext uri="{9D8B030D-6E8A-4147-A177-3AD203B41FA5}">
                      <a16:colId xmlns:a16="http://schemas.microsoft.com/office/drawing/2014/main" val="174305675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en-US" sz="2300" dirty="0"/>
                    </a:p>
                  </a:txBody>
                  <a:tcPr marL="119057" marR="119057" marT="59528" marB="5952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800" baseline="0" dirty="0">
                          <a:latin typeface="Bahnschrift SemiBold Condensed" panose="020B0502040204020203" pitchFamily="34" charset="0"/>
                        </a:rPr>
                        <a:t>Kaplan-Meier (KM)</a:t>
                      </a:r>
                    </a:p>
                  </a:txBody>
                  <a:tcPr marL="119057" marR="119057" marT="59528" marB="5952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2800" baseline="0" dirty="0">
                          <a:latin typeface="Bahnschrift SemiBold Condensed" panose="020B0502040204020203" pitchFamily="34" charset="0"/>
                        </a:rPr>
                        <a:t>Cox Proportional Hazard (PH)</a:t>
                      </a:r>
                    </a:p>
                  </a:txBody>
                  <a:tcPr marL="119057" marR="119057" marT="59528" marB="5952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955665"/>
                  </a:ext>
                </a:extLst>
              </a:tr>
              <a:tr h="48284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ahnschrift SemiBold" panose="020B0502040204020203" pitchFamily="34" charset="0"/>
                        </a:rPr>
                        <a:t>Test</a:t>
                      </a:r>
                    </a:p>
                  </a:txBody>
                  <a:tcPr marL="119057" marR="119057" marT="59528" marB="59528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parametric</a:t>
                      </a:r>
                    </a:p>
                  </a:txBody>
                  <a:tcPr marL="119057" marR="119057" marT="59528" marB="59528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semi-parametric</a:t>
                      </a:r>
                    </a:p>
                  </a:txBody>
                  <a:tcPr marL="119057" marR="119057" marT="59528" marB="59528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20362"/>
                  </a:ext>
                </a:extLst>
              </a:tr>
              <a:tr h="154773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ahnschrift SemiBold" panose="020B0502040204020203" pitchFamily="34" charset="0"/>
                        </a:rPr>
                        <a:t>Pros</a:t>
                      </a:r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b="0" dirty="0"/>
                        <a:t>simple to interpret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b="0" dirty="0"/>
                        <a:t>can </a:t>
                      </a:r>
                      <a:r>
                        <a:rPr lang="en-US" sz="2300" b="1" dirty="0"/>
                        <a:t>estimate</a:t>
                      </a:r>
                      <a:r>
                        <a:rPr lang="en-US" sz="2300" b="1" baseline="0" dirty="0"/>
                        <a:t> S(t)</a:t>
                      </a:r>
                      <a:r>
                        <a:rPr lang="en-US" sz="2300" b="0" baseline="0" dirty="0"/>
                        <a:t> </a:t>
                      </a:r>
                      <a:endParaRPr lang="en-US" sz="2300" b="0" dirty="0"/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2300" dirty="0"/>
                        <a:t>can </a:t>
                      </a:r>
                      <a:r>
                        <a:rPr lang="en-US" sz="2300" b="1" dirty="0"/>
                        <a:t>estimate</a:t>
                      </a:r>
                      <a:r>
                        <a:rPr lang="en-US" sz="2300" dirty="0"/>
                        <a:t> hazard ratio </a:t>
                      </a:r>
                      <a:r>
                        <a:rPr lang="en-US" sz="2300" b="1" dirty="0"/>
                        <a:t>HR</a:t>
                      </a:r>
                      <a:endParaRPr lang="en-US" sz="23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b="1" dirty="0"/>
                        <a:t>hazard</a:t>
                      </a:r>
                      <a:r>
                        <a:rPr lang="en-US" sz="2300" dirty="0"/>
                        <a:t> can </a:t>
                      </a:r>
                      <a:r>
                        <a:rPr lang="en-US" sz="2300" b="1" dirty="0"/>
                        <a:t>fluctuate with time</a:t>
                      </a:r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8252787"/>
                  </a:ext>
                </a:extLst>
              </a:tr>
              <a:tr h="1904909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ahnschrift SemiBold" panose="020B0502040204020203" pitchFamily="34" charset="0"/>
                        </a:rPr>
                        <a:t>Cons</a:t>
                      </a:r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b="0" dirty="0"/>
                        <a:t>no functional mathematical form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b="0" dirty="0"/>
                        <a:t>can </a:t>
                      </a:r>
                      <a:r>
                        <a:rPr lang="en-US" sz="2300" b="1" dirty="0"/>
                        <a:t>not</a:t>
                      </a:r>
                      <a:r>
                        <a:rPr lang="en-US" sz="2300" b="0" dirty="0"/>
                        <a:t> </a:t>
                      </a:r>
                      <a:r>
                        <a:rPr lang="en-US" sz="2300" b="1" dirty="0"/>
                        <a:t>estimate</a:t>
                      </a:r>
                      <a:r>
                        <a:rPr lang="en-US" sz="2300" b="0" dirty="0"/>
                        <a:t> a </a:t>
                      </a:r>
                      <a:r>
                        <a:rPr lang="en-US" sz="2300" b="1" dirty="0"/>
                        <a:t>HR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300" dirty="0"/>
                        <a:t>only</a:t>
                      </a:r>
                      <a:r>
                        <a:rPr lang="en-US" sz="2300" baseline="0" dirty="0"/>
                        <a:t> </a:t>
                      </a:r>
                      <a:r>
                        <a:rPr lang="en-US" sz="2300" b="1" dirty="0"/>
                        <a:t>few</a:t>
                      </a:r>
                      <a:r>
                        <a:rPr lang="en-US" sz="2300" dirty="0"/>
                        <a:t> and </a:t>
                      </a:r>
                      <a:r>
                        <a:rPr lang="en-US" sz="2300" b="1" dirty="0"/>
                        <a:t>categorical</a:t>
                      </a:r>
                      <a:r>
                        <a:rPr lang="en-US" sz="2300" dirty="0"/>
                        <a:t> independent variables</a:t>
                      </a:r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B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2300" b="0" dirty="0"/>
                        <a:t>can </a:t>
                      </a:r>
                      <a:r>
                        <a:rPr lang="en-US" sz="2300" b="1" dirty="0"/>
                        <a:t>not</a:t>
                      </a:r>
                      <a:r>
                        <a:rPr lang="en-US" sz="2300" b="0" dirty="0"/>
                        <a:t> </a:t>
                      </a:r>
                      <a:r>
                        <a:rPr lang="en-US" sz="2300" b="1" dirty="0"/>
                        <a:t>estimate</a:t>
                      </a:r>
                      <a:r>
                        <a:rPr lang="en-US" sz="2300" b="1" baseline="0" dirty="0"/>
                        <a:t> S(t)</a:t>
                      </a:r>
                      <a:endParaRPr lang="en-US" sz="2300" b="0" dirty="0"/>
                    </a:p>
                    <a:p>
                      <a:endParaRPr lang="en-US" sz="2300" dirty="0"/>
                    </a:p>
                  </a:txBody>
                  <a:tcPr marL="119057" marR="119057" marT="59528" marB="59528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650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371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DAC7-D947-7EE6-4551-B5F14F02A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0E789-7260-78C2-C043-158C60E4DD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Kaplan-Meier (KM) </a:t>
            </a:r>
            <a:r>
              <a:rPr lang="en-US" dirty="0"/>
              <a:t>curves estimate </a:t>
            </a:r>
            <a:r>
              <a:rPr lang="en-US" b="1" dirty="0"/>
              <a:t>survival probability</a:t>
            </a:r>
            <a:r>
              <a:rPr lang="en-US" dirty="0"/>
              <a:t> over time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Visual tool </a:t>
            </a:r>
            <a:r>
              <a:rPr lang="en-US" dirty="0"/>
              <a:t>to compare groups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X-axis: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Y-axis: Probability of survival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Each step = death event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Tick marks = censored data</a:t>
            </a:r>
          </a:p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97DAA5A-36E1-905E-180A-5D2EDF7C43DF}"/>
              </a:ext>
            </a:extLst>
          </p:cNvPr>
          <p:cNvGrpSpPr/>
          <p:nvPr/>
        </p:nvGrpSpPr>
        <p:grpSpPr>
          <a:xfrm>
            <a:off x="6753520" y="768173"/>
            <a:ext cx="3228975" cy="2828925"/>
            <a:chOff x="7120873" y="900520"/>
            <a:chExt cx="3228975" cy="282892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DFF06B1-79FB-76E1-1C41-5C4CE90D8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0873" y="900520"/>
              <a:ext cx="3228975" cy="2828925"/>
            </a:xfrm>
            <a:prstGeom prst="rect">
              <a:avLst/>
            </a:prstGeom>
          </p:spPr>
        </p:pic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0D82E6A-E872-79A8-6589-E131873E690A}"/>
                </a:ext>
              </a:extLst>
            </p:cNvPr>
            <p:cNvGrpSpPr/>
            <p:nvPr/>
          </p:nvGrpSpPr>
          <p:grpSpPr>
            <a:xfrm>
              <a:off x="8310323" y="1027906"/>
              <a:ext cx="791317" cy="1123240"/>
              <a:chOff x="8310323" y="1027906"/>
              <a:chExt cx="791317" cy="1123240"/>
            </a:xfrm>
          </p:grpSpPr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1E995716-4601-DCCB-6B05-EE8429ADCED9}"/>
                  </a:ext>
                </a:extLst>
              </p:cNvPr>
              <p:cNvCxnSpPr/>
              <p:nvPr/>
            </p:nvCxnSpPr>
            <p:spPr>
              <a:xfrm flipH="1">
                <a:off x="8310323" y="1027906"/>
                <a:ext cx="284205" cy="3104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38D95A14-7BC1-CCF0-7780-A0924D62D78F}"/>
                  </a:ext>
                </a:extLst>
              </p:cNvPr>
              <p:cNvCxnSpPr/>
              <p:nvPr/>
            </p:nvCxnSpPr>
            <p:spPr>
              <a:xfrm flipH="1">
                <a:off x="8422976" y="1183127"/>
                <a:ext cx="284205" cy="3104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D0794D2-C772-C90E-19C6-C7D4B7DF5EF1}"/>
                  </a:ext>
                </a:extLst>
              </p:cNvPr>
              <p:cNvCxnSpPr/>
              <p:nvPr/>
            </p:nvCxnSpPr>
            <p:spPr>
              <a:xfrm flipH="1">
                <a:off x="8536899" y="1385449"/>
                <a:ext cx="284205" cy="3104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A33CD79-744F-5CD8-AA27-B9C4ABE912DD}"/>
                  </a:ext>
                </a:extLst>
              </p:cNvPr>
              <p:cNvCxnSpPr/>
              <p:nvPr/>
            </p:nvCxnSpPr>
            <p:spPr>
              <a:xfrm flipH="1">
                <a:off x="8679001" y="1535466"/>
                <a:ext cx="284205" cy="3104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DEFDFED-94C4-0B36-C0AB-3D4DF241028A}"/>
                  </a:ext>
                </a:extLst>
              </p:cNvPr>
              <p:cNvCxnSpPr/>
              <p:nvPr/>
            </p:nvCxnSpPr>
            <p:spPr>
              <a:xfrm flipH="1">
                <a:off x="8817435" y="1840704"/>
                <a:ext cx="284205" cy="31044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71D446-B3A5-B01F-A8A1-0206B5AE56F9}"/>
              </a:ext>
            </a:extLst>
          </p:cNvPr>
          <p:cNvGrpSpPr/>
          <p:nvPr/>
        </p:nvGrpSpPr>
        <p:grpSpPr>
          <a:xfrm>
            <a:off x="6753520" y="3724484"/>
            <a:ext cx="3228975" cy="2917683"/>
            <a:chOff x="7134438" y="3874258"/>
            <a:chExt cx="3228975" cy="291768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F38A684-CC57-26D3-213D-0216A83E9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4438" y="3963016"/>
              <a:ext cx="3228975" cy="2828925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A2A08D0-4456-BC0F-2BAB-B2B6B730111E}"/>
                </a:ext>
              </a:extLst>
            </p:cNvPr>
            <p:cNvCxnSpPr/>
            <p:nvPr/>
          </p:nvCxnSpPr>
          <p:spPr>
            <a:xfrm flipH="1">
              <a:off x="8558343" y="3874258"/>
              <a:ext cx="284205" cy="3104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B1DF6E9-2373-5576-79AC-5553156F7566}"/>
                </a:ext>
              </a:extLst>
            </p:cNvPr>
            <p:cNvCxnSpPr/>
            <p:nvPr/>
          </p:nvCxnSpPr>
          <p:spPr>
            <a:xfrm flipH="1">
              <a:off x="8830333" y="3924423"/>
              <a:ext cx="284205" cy="3104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C824239-185D-1A49-0B89-53BEC68D9B52}"/>
                </a:ext>
              </a:extLst>
            </p:cNvPr>
            <p:cNvCxnSpPr/>
            <p:nvPr/>
          </p:nvCxnSpPr>
          <p:spPr>
            <a:xfrm flipH="1">
              <a:off x="9165586" y="3975571"/>
              <a:ext cx="284205" cy="3104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7AFFC50-1289-F2B2-82A2-38C5D508F2EC}"/>
                </a:ext>
              </a:extLst>
            </p:cNvPr>
            <p:cNvCxnSpPr/>
            <p:nvPr/>
          </p:nvCxnSpPr>
          <p:spPr>
            <a:xfrm flipH="1">
              <a:off x="9324216" y="4040165"/>
              <a:ext cx="284205" cy="31044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EE89E1C-BACE-A174-E97A-3F68050C4BF8}"/>
              </a:ext>
            </a:extLst>
          </p:cNvPr>
          <p:cNvGrpSpPr/>
          <p:nvPr/>
        </p:nvGrpSpPr>
        <p:grpSpPr>
          <a:xfrm>
            <a:off x="9979089" y="1212533"/>
            <a:ext cx="2034824" cy="1525400"/>
            <a:chOff x="10086402" y="934394"/>
            <a:chExt cx="2034824" cy="1525400"/>
          </a:xfrm>
        </p:grpSpPr>
        <p:sp>
          <p:nvSpPr>
            <p:cNvPr id="36" name="Arrow: Up 35">
              <a:extLst>
                <a:ext uri="{FF2B5EF4-FFF2-40B4-BE49-F238E27FC236}">
                  <a16:creationId xmlns:a16="http://schemas.microsoft.com/office/drawing/2014/main" id="{C381280D-F7F4-9B54-3DFB-B1592D03CE28}"/>
                </a:ext>
              </a:extLst>
            </p:cNvPr>
            <p:cNvSpPr/>
            <p:nvPr/>
          </p:nvSpPr>
          <p:spPr>
            <a:xfrm>
              <a:off x="10086402" y="934394"/>
              <a:ext cx="406880" cy="6614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E392433-F274-193A-72A3-801BCB0FF74E}"/>
                </a:ext>
              </a:extLst>
            </p:cNvPr>
            <p:cNvSpPr txBox="1"/>
            <p:nvPr/>
          </p:nvSpPr>
          <p:spPr>
            <a:xfrm>
              <a:off x="10597189" y="1034299"/>
              <a:ext cx="1524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all" dirty="0">
                  <a:latin typeface="Bahnschrift SemiBold Condensed" panose="020B0502040204020203" pitchFamily="34" charset="0"/>
                </a:rPr>
                <a:t>Event Rate</a:t>
              </a:r>
            </a:p>
          </p:txBody>
        </p:sp>
        <p:sp>
          <p:nvSpPr>
            <p:cNvPr id="38" name="Arrow: Up 37">
              <a:extLst>
                <a:ext uri="{FF2B5EF4-FFF2-40B4-BE49-F238E27FC236}">
                  <a16:creationId xmlns:a16="http://schemas.microsoft.com/office/drawing/2014/main" id="{E4A10318-B3D2-2B00-F735-850E0EF6CEF0}"/>
                </a:ext>
              </a:extLst>
            </p:cNvPr>
            <p:cNvSpPr/>
            <p:nvPr/>
          </p:nvSpPr>
          <p:spPr>
            <a:xfrm flipV="1">
              <a:off x="10098347" y="1798319"/>
              <a:ext cx="406880" cy="6614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C6245F5-1170-723A-7C5A-CB94BDF955F8}"/>
                </a:ext>
              </a:extLst>
            </p:cNvPr>
            <p:cNvSpPr txBox="1"/>
            <p:nvPr/>
          </p:nvSpPr>
          <p:spPr>
            <a:xfrm>
              <a:off x="10582668" y="1898224"/>
              <a:ext cx="1524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all" dirty="0">
                  <a:latin typeface="Bahnschrift SemiBold Condensed" panose="020B0502040204020203" pitchFamily="34" charset="0"/>
                </a:rPr>
                <a:t>Survival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FD53CCA-C129-42C6-C6CA-25EF0CBF8E1B}"/>
              </a:ext>
            </a:extLst>
          </p:cNvPr>
          <p:cNvGrpSpPr/>
          <p:nvPr/>
        </p:nvGrpSpPr>
        <p:grpSpPr>
          <a:xfrm>
            <a:off x="9979089" y="4321198"/>
            <a:ext cx="2034824" cy="1525400"/>
            <a:chOff x="10171697" y="4164596"/>
            <a:chExt cx="2034824" cy="1525400"/>
          </a:xfrm>
        </p:grpSpPr>
        <p:sp>
          <p:nvSpPr>
            <p:cNvPr id="40" name="Arrow: Up 39">
              <a:extLst>
                <a:ext uri="{FF2B5EF4-FFF2-40B4-BE49-F238E27FC236}">
                  <a16:creationId xmlns:a16="http://schemas.microsoft.com/office/drawing/2014/main" id="{5AD31582-B9B7-2EEC-5087-9A08F4C1698A}"/>
                </a:ext>
              </a:extLst>
            </p:cNvPr>
            <p:cNvSpPr/>
            <p:nvPr/>
          </p:nvSpPr>
          <p:spPr>
            <a:xfrm flipV="1">
              <a:off x="10171697" y="4164596"/>
              <a:ext cx="406880" cy="6614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F1A4B3-1C16-BE22-C362-59EC1CACA5C9}"/>
                </a:ext>
              </a:extLst>
            </p:cNvPr>
            <p:cNvSpPr txBox="1"/>
            <p:nvPr/>
          </p:nvSpPr>
          <p:spPr>
            <a:xfrm>
              <a:off x="10682484" y="4264501"/>
              <a:ext cx="1524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all" dirty="0">
                  <a:latin typeface="Bahnschrift SemiBold Condensed" panose="020B0502040204020203" pitchFamily="34" charset="0"/>
                </a:rPr>
                <a:t>Event Rate</a:t>
              </a:r>
            </a:p>
          </p:txBody>
        </p:sp>
        <p:sp>
          <p:nvSpPr>
            <p:cNvPr id="42" name="Arrow: Up 41">
              <a:extLst>
                <a:ext uri="{FF2B5EF4-FFF2-40B4-BE49-F238E27FC236}">
                  <a16:creationId xmlns:a16="http://schemas.microsoft.com/office/drawing/2014/main" id="{A97BD999-D1E7-5551-61E0-1AEBA9AD8712}"/>
                </a:ext>
              </a:extLst>
            </p:cNvPr>
            <p:cNvSpPr/>
            <p:nvPr/>
          </p:nvSpPr>
          <p:spPr>
            <a:xfrm>
              <a:off x="10183642" y="5028521"/>
              <a:ext cx="406880" cy="661475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68E522-7E32-32D9-DC9A-F145B0E5486A}"/>
                </a:ext>
              </a:extLst>
            </p:cNvPr>
            <p:cNvSpPr txBox="1"/>
            <p:nvPr/>
          </p:nvSpPr>
          <p:spPr>
            <a:xfrm>
              <a:off x="10667963" y="5128426"/>
              <a:ext cx="1524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all" dirty="0">
                  <a:latin typeface="Bahnschrift SemiBold Condensed" panose="020B0502040204020203" pitchFamily="34" charset="0"/>
                </a:rPr>
                <a:t>Survival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2942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EEB76-D929-8A03-6151-43362A4D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4AE3-7B47-74BA-60B8-9F04DC03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5756D-CCE1-D262-79F4-930762E6E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8466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Kaplan-Meier (KM) </a:t>
            </a:r>
            <a:r>
              <a:rPr lang="en-US" dirty="0"/>
              <a:t>curves can also plot </a:t>
            </a:r>
            <a:r>
              <a:rPr lang="en-US" b="1" dirty="0"/>
              <a:t>cumulative event probability</a:t>
            </a:r>
            <a:r>
              <a:rPr lang="en-US" dirty="0"/>
              <a:t> (or cumulative incidence)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Cumulative events (f(y) = 1-y) </a:t>
            </a:r>
            <a:r>
              <a:rPr lang="en-US" b="1" dirty="0"/>
              <a:t>if</a:t>
            </a:r>
            <a:r>
              <a:rPr lang="en-US" dirty="0"/>
              <a:t> event can only be experienced once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05BE2D8-0320-0E9A-703E-86027DCF3E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77997" y="1392488"/>
            <a:ext cx="3818132" cy="435133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BAFF319-88D0-8C78-3964-3CEDA89870DB}"/>
              </a:ext>
            </a:extLst>
          </p:cNvPr>
          <p:cNvGrpSpPr>
            <a:grpSpLocks noChangeAspect="1"/>
          </p:cNvGrpSpPr>
          <p:nvPr/>
        </p:nvGrpSpPr>
        <p:grpSpPr>
          <a:xfrm rot="2133060">
            <a:off x="10490378" y="5640422"/>
            <a:ext cx="619039" cy="615916"/>
            <a:chOff x="2932043" y="278296"/>
            <a:chExt cx="5903844" cy="5874026"/>
          </a:xfrm>
          <a:solidFill>
            <a:srgbClr val="3A1D00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1B7C2E6D-5852-15A5-3C11-5FD6B27D703C}"/>
                </a:ext>
              </a:extLst>
            </p:cNvPr>
            <p:cNvSpPr/>
            <p:nvPr/>
          </p:nvSpPr>
          <p:spPr>
            <a:xfrm>
              <a:off x="2932043" y="1152939"/>
              <a:ext cx="4313583" cy="2902226"/>
            </a:xfrm>
            <a:custGeom>
              <a:avLst/>
              <a:gdLst>
                <a:gd name="connsiteX0" fmla="*/ 258418 w 4313583"/>
                <a:gd name="connsiteY0" fmla="*/ 606287 h 2902226"/>
                <a:gd name="connsiteX1" fmla="*/ 119270 w 4313583"/>
                <a:gd name="connsiteY1" fmla="*/ 775252 h 2902226"/>
                <a:gd name="connsiteX2" fmla="*/ 29818 w 4313583"/>
                <a:gd name="connsiteY2" fmla="*/ 1013791 h 2902226"/>
                <a:gd name="connsiteX3" fmla="*/ 0 w 4313583"/>
                <a:gd name="connsiteY3" fmla="*/ 1192696 h 2902226"/>
                <a:gd name="connsiteX4" fmla="*/ 9940 w 4313583"/>
                <a:gd name="connsiteY4" fmla="*/ 1391478 h 2902226"/>
                <a:gd name="connsiteX5" fmla="*/ 59635 w 4313583"/>
                <a:gd name="connsiteY5" fmla="*/ 1560444 h 2902226"/>
                <a:gd name="connsiteX6" fmla="*/ 89453 w 4313583"/>
                <a:gd name="connsiteY6" fmla="*/ 1590261 h 2902226"/>
                <a:gd name="connsiteX7" fmla="*/ 745435 w 4313583"/>
                <a:gd name="connsiteY7" fmla="*/ 1898374 h 2902226"/>
                <a:gd name="connsiteX8" fmla="*/ 3309731 w 4313583"/>
                <a:gd name="connsiteY8" fmla="*/ 2882348 h 2902226"/>
                <a:gd name="connsiteX9" fmla="*/ 3866322 w 4313583"/>
                <a:gd name="connsiteY9" fmla="*/ 2902226 h 2902226"/>
                <a:gd name="connsiteX10" fmla="*/ 4075044 w 4313583"/>
                <a:gd name="connsiteY10" fmla="*/ 2723322 h 2902226"/>
                <a:gd name="connsiteX11" fmla="*/ 4244009 w 4313583"/>
                <a:gd name="connsiteY11" fmla="*/ 2474844 h 2902226"/>
                <a:gd name="connsiteX12" fmla="*/ 4303644 w 4313583"/>
                <a:gd name="connsiteY12" fmla="*/ 2196548 h 2902226"/>
                <a:gd name="connsiteX13" fmla="*/ 4313583 w 4313583"/>
                <a:gd name="connsiteY13" fmla="*/ 1987826 h 2902226"/>
                <a:gd name="connsiteX14" fmla="*/ 4273827 w 4313583"/>
                <a:gd name="connsiteY14" fmla="*/ 1749287 h 2902226"/>
                <a:gd name="connsiteX15" fmla="*/ 2971800 w 4313583"/>
                <a:gd name="connsiteY15" fmla="*/ 387626 h 2902226"/>
                <a:gd name="connsiteX16" fmla="*/ 1888435 w 4313583"/>
                <a:gd name="connsiteY16" fmla="*/ 0 h 2902226"/>
                <a:gd name="connsiteX17" fmla="*/ 576470 w 4313583"/>
                <a:gd name="connsiteY17" fmla="*/ 387626 h 2902226"/>
                <a:gd name="connsiteX18" fmla="*/ 258418 w 4313583"/>
                <a:gd name="connsiteY18" fmla="*/ 606287 h 290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3583" h="2902226">
                  <a:moveTo>
                    <a:pt x="258418" y="606287"/>
                  </a:moveTo>
                  <a:lnTo>
                    <a:pt x="119270" y="775252"/>
                  </a:lnTo>
                  <a:lnTo>
                    <a:pt x="29818" y="1013791"/>
                  </a:lnTo>
                  <a:lnTo>
                    <a:pt x="0" y="1192696"/>
                  </a:lnTo>
                  <a:lnTo>
                    <a:pt x="9940" y="1391478"/>
                  </a:lnTo>
                  <a:lnTo>
                    <a:pt x="59635" y="1560444"/>
                  </a:lnTo>
                  <a:lnTo>
                    <a:pt x="89453" y="1590261"/>
                  </a:lnTo>
                  <a:lnTo>
                    <a:pt x="745435" y="1898374"/>
                  </a:lnTo>
                  <a:lnTo>
                    <a:pt x="3309731" y="2882348"/>
                  </a:lnTo>
                  <a:lnTo>
                    <a:pt x="3866322" y="2902226"/>
                  </a:lnTo>
                  <a:lnTo>
                    <a:pt x="4075044" y="2723322"/>
                  </a:lnTo>
                  <a:lnTo>
                    <a:pt x="4244009" y="2474844"/>
                  </a:lnTo>
                  <a:lnTo>
                    <a:pt x="4303644" y="2196548"/>
                  </a:lnTo>
                  <a:lnTo>
                    <a:pt x="4313583" y="1987826"/>
                  </a:lnTo>
                  <a:lnTo>
                    <a:pt x="4273827" y="1749287"/>
                  </a:lnTo>
                  <a:lnTo>
                    <a:pt x="2971800" y="387626"/>
                  </a:lnTo>
                  <a:lnTo>
                    <a:pt x="1888435" y="0"/>
                  </a:lnTo>
                  <a:lnTo>
                    <a:pt x="576470" y="387626"/>
                  </a:lnTo>
                  <a:lnTo>
                    <a:pt x="258418" y="60628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412862A-25B3-5AF4-D300-2B605DF168AA}"/>
                </a:ext>
              </a:extLst>
            </p:cNvPr>
            <p:cNvSpPr/>
            <p:nvPr/>
          </p:nvSpPr>
          <p:spPr>
            <a:xfrm>
              <a:off x="3468757" y="387626"/>
              <a:ext cx="993913" cy="347870"/>
            </a:xfrm>
            <a:custGeom>
              <a:avLst/>
              <a:gdLst>
                <a:gd name="connsiteX0" fmla="*/ 0 w 993913"/>
                <a:gd name="connsiteY0" fmla="*/ 327991 h 347870"/>
                <a:gd name="connsiteX1" fmla="*/ 357808 w 993913"/>
                <a:gd name="connsiteY1" fmla="*/ 337931 h 347870"/>
                <a:gd name="connsiteX2" fmla="*/ 954156 w 993913"/>
                <a:gd name="connsiteY2" fmla="*/ 347870 h 347870"/>
                <a:gd name="connsiteX3" fmla="*/ 993913 w 993913"/>
                <a:gd name="connsiteY3" fmla="*/ 218661 h 347870"/>
                <a:gd name="connsiteX4" fmla="*/ 755373 w 993913"/>
                <a:gd name="connsiteY4" fmla="*/ 49696 h 347870"/>
                <a:gd name="connsiteX5" fmla="*/ 556591 w 993913"/>
                <a:gd name="connsiteY5" fmla="*/ 29817 h 347870"/>
                <a:gd name="connsiteX6" fmla="*/ 387626 w 993913"/>
                <a:gd name="connsiteY6" fmla="*/ 0 h 347870"/>
                <a:gd name="connsiteX7" fmla="*/ 248478 w 993913"/>
                <a:gd name="connsiteY7" fmla="*/ 29817 h 347870"/>
                <a:gd name="connsiteX8" fmla="*/ 69573 w 993913"/>
                <a:gd name="connsiteY8" fmla="*/ 129209 h 347870"/>
                <a:gd name="connsiteX9" fmla="*/ 0 w 993913"/>
                <a:gd name="connsiteY9" fmla="*/ 327991 h 347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93913" h="347870">
                  <a:moveTo>
                    <a:pt x="0" y="327991"/>
                  </a:moveTo>
                  <a:lnTo>
                    <a:pt x="357808" y="337931"/>
                  </a:lnTo>
                  <a:lnTo>
                    <a:pt x="954156" y="347870"/>
                  </a:lnTo>
                  <a:lnTo>
                    <a:pt x="993913" y="218661"/>
                  </a:lnTo>
                  <a:lnTo>
                    <a:pt x="755373" y="49696"/>
                  </a:lnTo>
                  <a:lnTo>
                    <a:pt x="556591" y="29817"/>
                  </a:lnTo>
                  <a:lnTo>
                    <a:pt x="387626" y="0"/>
                  </a:lnTo>
                  <a:lnTo>
                    <a:pt x="248478" y="29817"/>
                  </a:lnTo>
                  <a:lnTo>
                    <a:pt x="69573" y="129209"/>
                  </a:lnTo>
                  <a:lnTo>
                    <a:pt x="0" y="32799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90F45AFE-46F4-6D47-5E7F-FA8235879CAE}"/>
                </a:ext>
              </a:extLst>
            </p:cNvPr>
            <p:cNvSpPr/>
            <p:nvPr/>
          </p:nvSpPr>
          <p:spPr>
            <a:xfrm>
              <a:off x="3160643" y="278296"/>
              <a:ext cx="2395331" cy="1759226"/>
            </a:xfrm>
            <a:custGeom>
              <a:avLst/>
              <a:gdLst>
                <a:gd name="connsiteX0" fmla="*/ 59635 w 2395331"/>
                <a:gd name="connsiteY0" fmla="*/ 1590261 h 1759226"/>
                <a:gd name="connsiteX1" fmla="*/ 0 w 2395331"/>
                <a:gd name="connsiteY1" fmla="*/ 1411356 h 1759226"/>
                <a:gd name="connsiteX2" fmla="*/ 79514 w 2395331"/>
                <a:gd name="connsiteY2" fmla="*/ 1063487 h 1759226"/>
                <a:gd name="connsiteX3" fmla="*/ 168966 w 2395331"/>
                <a:gd name="connsiteY3" fmla="*/ 874643 h 1759226"/>
                <a:gd name="connsiteX4" fmla="*/ 278296 w 2395331"/>
                <a:gd name="connsiteY4" fmla="*/ 636104 h 1759226"/>
                <a:gd name="connsiteX5" fmla="*/ 407505 w 2395331"/>
                <a:gd name="connsiteY5" fmla="*/ 506895 h 1759226"/>
                <a:gd name="connsiteX6" fmla="*/ 506896 w 2395331"/>
                <a:gd name="connsiteY6" fmla="*/ 417443 h 1759226"/>
                <a:gd name="connsiteX7" fmla="*/ 1063487 w 2395331"/>
                <a:gd name="connsiteY7" fmla="*/ 99391 h 1759226"/>
                <a:gd name="connsiteX8" fmla="*/ 1292087 w 2395331"/>
                <a:gd name="connsiteY8" fmla="*/ 29817 h 1759226"/>
                <a:gd name="connsiteX9" fmla="*/ 1510748 w 2395331"/>
                <a:gd name="connsiteY9" fmla="*/ 0 h 1759226"/>
                <a:gd name="connsiteX10" fmla="*/ 1689653 w 2395331"/>
                <a:gd name="connsiteY10" fmla="*/ 0 h 1759226"/>
                <a:gd name="connsiteX11" fmla="*/ 1868557 w 2395331"/>
                <a:gd name="connsiteY11" fmla="*/ 59634 h 1759226"/>
                <a:gd name="connsiteX12" fmla="*/ 1977887 w 2395331"/>
                <a:gd name="connsiteY12" fmla="*/ 139147 h 1759226"/>
                <a:gd name="connsiteX13" fmla="*/ 2027583 w 2395331"/>
                <a:gd name="connsiteY13" fmla="*/ 566530 h 1759226"/>
                <a:gd name="connsiteX14" fmla="*/ 2395331 w 2395331"/>
                <a:gd name="connsiteY14" fmla="*/ 1600200 h 1759226"/>
                <a:gd name="connsiteX15" fmla="*/ 1391479 w 2395331"/>
                <a:gd name="connsiteY15" fmla="*/ 1759226 h 1759226"/>
                <a:gd name="connsiteX16" fmla="*/ 59635 w 2395331"/>
                <a:gd name="connsiteY16" fmla="*/ 1590261 h 17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95331" h="1759226">
                  <a:moveTo>
                    <a:pt x="59635" y="1590261"/>
                  </a:moveTo>
                  <a:lnTo>
                    <a:pt x="0" y="1411356"/>
                  </a:lnTo>
                  <a:lnTo>
                    <a:pt x="79514" y="1063487"/>
                  </a:lnTo>
                  <a:lnTo>
                    <a:pt x="168966" y="874643"/>
                  </a:lnTo>
                  <a:lnTo>
                    <a:pt x="278296" y="636104"/>
                  </a:lnTo>
                  <a:lnTo>
                    <a:pt x="407505" y="506895"/>
                  </a:lnTo>
                  <a:lnTo>
                    <a:pt x="506896" y="417443"/>
                  </a:lnTo>
                  <a:lnTo>
                    <a:pt x="1063487" y="99391"/>
                  </a:lnTo>
                  <a:lnTo>
                    <a:pt x="1292087" y="29817"/>
                  </a:lnTo>
                  <a:lnTo>
                    <a:pt x="1510748" y="0"/>
                  </a:lnTo>
                  <a:lnTo>
                    <a:pt x="1689653" y="0"/>
                  </a:lnTo>
                  <a:lnTo>
                    <a:pt x="1868557" y="59634"/>
                  </a:lnTo>
                  <a:lnTo>
                    <a:pt x="1977887" y="139147"/>
                  </a:lnTo>
                  <a:lnTo>
                    <a:pt x="2027583" y="566530"/>
                  </a:lnTo>
                  <a:lnTo>
                    <a:pt x="2395331" y="1600200"/>
                  </a:lnTo>
                  <a:lnTo>
                    <a:pt x="1391479" y="1759226"/>
                  </a:lnTo>
                  <a:lnTo>
                    <a:pt x="59635" y="159026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8F71A8DC-3323-9B5C-9BCA-FF8554371ADB}"/>
                </a:ext>
              </a:extLst>
            </p:cNvPr>
            <p:cNvSpPr/>
            <p:nvPr/>
          </p:nvSpPr>
          <p:spPr>
            <a:xfrm>
              <a:off x="4979504" y="427383"/>
              <a:ext cx="2166731" cy="2534478"/>
            </a:xfrm>
            <a:custGeom>
              <a:avLst/>
              <a:gdLst>
                <a:gd name="connsiteX0" fmla="*/ 89453 w 2166731"/>
                <a:gd name="connsiteY0" fmla="*/ 19878 h 2534478"/>
                <a:gd name="connsiteX1" fmla="*/ 268357 w 2166731"/>
                <a:gd name="connsiteY1" fmla="*/ 0 h 2534478"/>
                <a:gd name="connsiteX2" fmla="*/ 467139 w 2166731"/>
                <a:gd name="connsiteY2" fmla="*/ 49695 h 2534478"/>
                <a:gd name="connsiteX3" fmla="*/ 646044 w 2166731"/>
                <a:gd name="connsiteY3" fmla="*/ 178904 h 2534478"/>
                <a:gd name="connsiteX4" fmla="*/ 834887 w 2166731"/>
                <a:gd name="connsiteY4" fmla="*/ 337930 h 2534478"/>
                <a:gd name="connsiteX5" fmla="*/ 1003853 w 2166731"/>
                <a:gd name="connsiteY5" fmla="*/ 496956 h 2534478"/>
                <a:gd name="connsiteX6" fmla="*/ 1013792 w 2166731"/>
                <a:gd name="connsiteY6" fmla="*/ 516834 h 2534478"/>
                <a:gd name="connsiteX7" fmla="*/ 1053548 w 2166731"/>
                <a:gd name="connsiteY7" fmla="*/ 496956 h 2534478"/>
                <a:gd name="connsiteX8" fmla="*/ 1053548 w 2166731"/>
                <a:gd name="connsiteY8" fmla="*/ 496956 h 2534478"/>
                <a:gd name="connsiteX9" fmla="*/ 1113183 w 2166731"/>
                <a:gd name="connsiteY9" fmla="*/ 626165 h 2534478"/>
                <a:gd name="connsiteX10" fmla="*/ 1113183 w 2166731"/>
                <a:gd name="connsiteY10" fmla="*/ 626165 h 2534478"/>
                <a:gd name="connsiteX11" fmla="*/ 1172818 w 2166731"/>
                <a:gd name="connsiteY11" fmla="*/ 705678 h 2534478"/>
                <a:gd name="connsiteX12" fmla="*/ 1341783 w 2166731"/>
                <a:gd name="connsiteY12" fmla="*/ 735495 h 2534478"/>
                <a:gd name="connsiteX13" fmla="*/ 1480931 w 2166731"/>
                <a:gd name="connsiteY13" fmla="*/ 805069 h 2534478"/>
                <a:gd name="connsiteX14" fmla="*/ 1620079 w 2166731"/>
                <a:gd name="connsiteY14" fmla="*/ 904460 h 2534478"/>
                <a:gd name="connsiteX15" fmla="*/ 1749287 w 2166731"/>
                <a:gd name="connsiteY15" fmla="*/ 983974 h 2534478"/>
                <a:gd name="connsiteX16" fmla="*/ 2007705 w 2166731"/>
                <a:gd name="connsiteY16" fmla="*/ 2156791 h 2534478"/>
                <a:gd name="connsiteX17" fmla="*/ 2117035 w 2166731"/>
                <a:gd name="connsiteY17" fmla="*/ 2345634 h 2534478"/>
                <a:gd name="connsiteX18" fmla="*/ 2166731 w 2166731"/>
                <a:gd name="connsiteY18" fmla="*/ 2534478 h 2534478"/>
                <a:gd name="connsiteX19" fmla="*/ 0 w 2166731"/>
                <a:gd name="connsiteY19" fmla="*/ 1958008 h 2534478"/>
                <a:gd name="connsiteX20" fmla="*/ 89453 w 2166731"/>
                <a:gd name="connsiteY20" fmla="*/ 19878 h 253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166731" h="2534478">
                  <a:moveTo>
                    <a:pt x="89453" y="19878"/>
                  </a:moveTo>
                  <a:lnTo>
                    <a:pt x="268357" y="0"/>
                  </a:lnTo>
                  <a:lnTo>
                    <a:pt x="467139" y="49695"/>
                  </a:lnTo>
                  <a:lnTo>
                    <a:pt x="646044" y="178904"/>
                  </a:lnTo>
                  <a:lnTo>
                    <a:pt x="834887" y="337930"/>
                  </a:lnTo>
                  <a:lnTo>
                    <a:pt x="1003853" y="496956"/>
                  </a:lnTo>
                  <a:lnTo>
                    <a:pt x="1013792" y="516834"/>
                  </a:lnTo>
                  <a:lnTo>
                    <a:pt x="1053548" y="496956"/>
                  </a:lnTo>
                  <a:lnTo>
                    <a:pt x="1053548" y="496956"/>
                  </a:lnTo>
                  <a:lnTo>
                    <a:pt x="1113183" y="626165"/>
                  </a:lnTo>
                  <a:lnTo>
                    <a:pt x="1113183" y="626165"/>
                  </a:lnTo>
                  <a:lnTo>
                    <a:pt x="1172818" y="705678"/>
                  </a:lnTo>
                  <a:lnTo>
                    <a:pt x="1341783" y="735495"/>
                  </a:lnTo>
                  <a:lnTo>
                    <a:pt x="1480931" y="805069"/>
                  </a:lnTo>
                  <a:lnTo>
                    <a:pt x="1620079" y="904460"/>
                  </a:lnTo>
                  <a:lnTo>
                    <a:pt x="1749287" y="983974"/>
                  </a:lnTo>
                  <a:lnTo>
                    <a:pt x="2007705" y="2156791"/>
                  </a:lnTo>
                  <a:lnTo>
                    <a:pt x="2117035" y="2345634"/>
                  </a:lnTo>
                  <a:lnTo>
                    <a:pt x="2166731" y="2534478"/>
                  </a:lnTo>
                  <a:lnTo>
                    <a:pt x="0" y="1958008"/>
                  </a:lnTo>
                  <a:lnTo>
                    <a:pt x="89453" y="19878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B991446-538E-AC41-8F02-24046B003066}"/>
                </a:ext>
              </a:extLst>
            </p:cNvPr>
            <p:cNvSpPr/>
            <p:nvPr/>
          </p:nvSpPr>
          <p:spPr>
            <a:xfrm>
              <a:off x="6599583" y="1351722"/>
              <a:ext cx="1063487" cy="1361661"/>
            </a:xfrm>
            <a:custGeom>
              <a:avLst/>
              <a:gdLst>
                <a:gd name="connsiteX0" fmla="*/ 69574 w 1063487"/>
                <a:gd name="connsiteY0" fmla="*/ 69574 h 1361661"/>
                <a:gd name="connsiteX1" fmla="*/ 288234 w 1063487"/>
                <a:gd name="connsiteY1" fmla="*/ 49695 h 1361661"/>
                <a:gd name="connsiteX2" fmla="*/ 447260 w 1063487"/>
                <a:gd name="connsiteY2" fmla="*/ 19878 h 1361661"/>
                <a:gd name="connsiteX3" fmla="*/ 626165 w 1063487"/>
                <a:gd name="connsiteY3" fmla="*/ 29817 h 1361661"/>
                <a:gd name="connsiteX4" fmla="*/ 755374 w 1063487"/>
                <a:gd name="connsiteY4" fmla="*/ 49695 h 1361661"/>
                <a:gd name="connsiteX5" fmla="*/ 815008 w 1063487"/>
                <a:gd name="connsiteY5" fmla="*/ 0 h 1361661"/>
                <a:gd name="connsiteX6" fmla="*/ 924339 w 1063487"/>
                <a:gd name="connsiteY6" fmla="*/ 159026 h 1361661"/>
                <a:gd name="connsiteX7" fmla="*/ 1063487 w 1063487"/>
                <a:gd name="connsiteY7" fmla="*/ 288235 h 1361661"/>
                <a:gd name="connsiteX8" fmla="*/ 1063487 w 1063487"/>
                <a:gd name="connsiteY8" fmla="*/ 447261 h 1361661"/>
                <a:gd name="connsiteX9" fmla="*/ 974034 w 1063487"/>
                <a:gd name="connsiteY9" fmla="*/ 576469 h 1361661"/>
                <a:gd name="connsiteX10" fmla="*/ 665921 w 1063487"/>
                <a:gd name="connsiteY10" fmla="*/ 884582 h 1361661"/>
                <a:gd name="connsiteX11" fmla="*/ 516834 w 1063487"/>
                <a:gd name="connsiteY11" fmla="*/ 1212574 h 1361661"/>
                <a:gd name="connsiteX12" fmla="*/ 397565 w 1063487"/>
                <a:gd name="connsiteY12" fmla="*/ 1361661 h 1361661"/>
                <a:gd name="connsiteX13" fmla="*/ 89452 w 1063487"/>
                <a:gd name="connsiteY13" fmla="*/ 1341782 h 1361661"/>
                <a:gd name="connsiteX14" fmla="*/ 0 w 1063487"/>
                <a:gd name="connsiteY14" fmla="*/ 139148 h 1361661"/>
                <a:gd name="connsiteX15" fmla="*/ 69574 w 1063487"/>
                <a:gd name="connsiteY15" fmla="*/ 69574 h 1361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63487" h="1361661">
                  <a:moveTo>
                    <a:pt x="69574" y="69574"/>
                  </a:moveTo>
                  <a:lnTo>
                    <a:pt x="288234" y="49695"/>
                  </a:lnTo>
                  <a:lnTo>
                    <a:pt x="447260" y="19878"/>
                  </a:lnTo>
                  <a:lnTo>
                    <a:pt x="626165" y="29817"/>
                  </a:lnTo>
                  <a:lnTo>
                    <a:pt x="755374" y="49695"/>
                  </a:lnTo>
                  <a:lnTo>
                    <a:pt x="815008" y="0"/>
                  </a:lnTo>
                  <a:lnTo>
                    <a:pt x="924339" y="159026"/>
                  </a:lnTo>
                  <a:lnTo>
                    <a:pt x="1063487" y="288235"/>
                  </a:lnTo>
                  <a:lnTo>
                    <a:pt x="1063487" y="447261"/>
                  </a:lnTo>
                  <a:lnTo>
                    <a:pt x="974034" y="576469"/>
                  </a:lnTo>
                  <a:lnTo>
                    <a:pt x="665921" y="884582"/>
                  </a:lnTo>
                  <a:lnTo>
                    <a:pt x="516834" y="1212574"/>
                  </a:lnTo>
                  <a:lnTo>
                    <a:pt x="397565" y="1361661"/>
                  </a:lnTo>
                  <a:lnTo>
                    <a:pt x="89452" y="1341782"/>
                  </a:lnTo>
                  <a:lnTo>
                    <a:pt x="0" y="139148"/>
                  </a:lnTo>
                  <a:lnTo>
                    <a:pt x="69574" y="6957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B546352A-3369-6263-F1A0-D109F09A1082}"/>
                </a:ext>
              </a:extLst>
            </p:cNvPr>
            <p:cNvSpPr/>
            <p:nvPr/>
          </p:nvSpPr>
          <p:spPr>
            <a:xfrm>
              <a:off x="6997148" y="1749287"/>
              <a:ext cx="1451113" cy="1560443"/>
            </a:xfrm>
            <a:custGeom>
              <a:avLst/>
              <a:gdLst>
                <a:gd name="connsiteX0" fmla="*/ 556591 w 1451113"/>
                <a:gd name="connsiteY0" fmla="*/ 0 h 1560443"/>
                <a:gd name="connsiteX1" fmla="*/ 755374 w 1451113"/>
                <a:gd name="connsiteY1" fmla="*/ 69574 h 1560443"/>
                <a:gd name="connsiteX2" fmla="*/ 954156 w 1451113"/>
                <a:gd name="connsiteY2" fmla="*/ 178904 h 1560443"/>
                <a:gd name="connsiteX3" fmla="*/ 1113182 w 1451113"/>
                <a:gd name="connsiteY3" fmla="*/ 248478 h 1560443"/>
                <a:gd name="connsiteX4" fmla="*/ 1302026 w 1451113"/>
                <a:gd name="connsiteY4" fmla="*/ 357809 h 1560443"/>
                <a:gd name="connsiteX5" fmla="*/ 1451113 w 1451113"/>
                <a:gd name="connsiteY5" fmla="*/ 457200 h 1560443"/>
                <a:gd name="connsiteX6" fmla="*/ 1381539 w 1451113"/>
                <a:gd name="connsiteY6" fmla="*/ 596348 h 1560443"/>
                <a:gd name="connsiteX7" fmla="*/ 1222513 w 1451113"/>
                <a:gd name="connsiteY7" fmla="*/ 795130 h 1560443"/>
                <a:gd name="connsiteX8" fmla="*/ 874643 w 1451113"/>
                <a:gd name="connsiteY8" fmla="*/ 1033670 h 1560443"/>
                <a:gd name="connsiteX9" fmla="*/ 536713 w 1451113"/>
                <a:gd name="connsiteY9" fmla="*/ 1331843 h 1560443"/>
                <a:gd name="connsiteX10" fmla="*/ 407504 w 1451113"/>
                <a:gd name="connsiteY10" fmla="*/ 1411356 h 1560443"/>
                <a:gd name="connsiteX11" fmla="*/ 298174 w 1451113"/>
                <a:gd name="connsiteY11" fmla="*/ 1411356 h 1560443"/>
                <a:gd name="connsiteX12" fmla="*/ 308113 w 1451113"/>
                <a:gd name="connsiteY12" fmla="*/ 1451113 h 1560443"/>
                <a:gd name="connsiteX13" fmla="*/ 308113 w 1451113"/>
                <a:gd name="connsiteY13" fmla="*/ 1451113 h 1560443"/>
                <a:gd name="connsiteX14" fmla="*/ 268356 w 1451113"/>
                <a:gd name="connsiteY14" fmla="*/ 1550504 h 1560443"/>
                <a:gd name="connsiteX15" fmla="*/ 59635 w 1451113"/>
                <a:gd name="connsiteY15" fmla="*/ 1560443 h 1560443"/>
                <a:gd name="connsiteX16" fmla="*/ 0 w 1451113"/>
                <a:gd name="connsiteY16" fmla="*/ 467139 h 1560443"/>
                <a:gd name="connsiteX17" fmla="*/ 556591 w 1451113"/>
                <a:gd name="connsiteY17" fmla="*/ 0 h 1560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1113" h="1560443">
                  <a:moveTo>
                    <a:pt x="556591" y="0"/>
                  </a:moveTo>
                  <a:lnTo>
                    <a:pt x="755374" y="69574"/>
                  </a:lnTo>
                  <a:lnTo>
                    <a:pt x="954156" y="178904"/>
                  </a:lnTo>
                  <a:lnTo>
                    <a:pt x="1113182" y="248478"/>
                  </a:lnTo>
                  <a:lnTo>
                    <a:pt x="1302026" y="357809"/>
                  </a:lnTo>
                  <a:lnTo>
                    <a:pt x="1451113" y="457200"/>
                  </a:lnTo>
                  <a:lnTo>
                    <a:pt x="1381539" y="596348"/>
                  </a:lnTo>
                  <a:lnTo>
                    <a:pt x="1222513" y="795130"/>
                  </a:lnTo>
                  <a:lnTo>
                    <a:pt x="874643" y="1033670"/>
                  </a:lnTo>
                  <a:lnTo>
                    <a:pt x="536713" y="1331843"/>
                  </a:lnTo>
                  <a:lnTo>
                    <a:pt x="407504" y="1411356"/>
                  </a:lnTo>
                  <a:lnTo>
                    <a:pt x="298174" y="1411356"/>
                  </a:lnTo>
                  <a:lnTo>
                    <a:pt x="308113" y="1451113"/>
                  </a:lnTo>
                  <a:lnTo>
                    <a:pt x="308113" y="1451113"/>
                  </a:lnTo>
                  <a:lnTo>
                    <a:pt x="268356" y="1550504"/>
                  </a:lnTo>
                  <a:lnTo>
                    <a:pt x="59635" y="1560443"/>
                  </a:lnTo>
                  <a:lnTo>
                    <a:pt x="0" y="467139"/>
                  </a:lnTo>
                  <a:lnTo>
                    <a:pt x="55659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761FE55-6A48-21A3-A38F-A2F18E58D42E}"/>
                </a:ext>
              </a:extLst>
            </p:cNvPr>
            <p:cNvSpPr/>
            <p:nvPr/>
          </p:nvSpPr>
          <p:spPr>
            <a:xfrm>
              <a:off x="7663070" y="2276061"/>
              <a:ext cx="834887" cy="566530"/>
            </a:xfrm>
            <a:custGeom>
              <a:avLst/>
              <a:gdLst>
                <a:gd name="connsiteX0" fmla="*/ 606287 w 834887"/>
                <a:gd name="connsiteY0" fmla="*/ 0 h 566530"/>
                <a:gd name="connsiteX1" fmla="*/ 755373 w 834887"/>
                <a:gd name="connsiteY1" fmla="*/ 0 h 566530"/>
                <a:gd name="connsiteX2" fmla="*/ 805069 w 834887"/>
                <a:gd name="connsiteY2" fmla="*/ 178904 h 566530"/>
                <a:gd name="connsiteX3" fmla="*/ 834887 w 834887"/>
                <a:gd name="connsiteY3" fmla="*/ 337930 h 566530"/>
                <a:gd name="connsiteX4" fmla="*/ 775252 w 834887"/>
                <a:gd name="connsiteY4" fmla="*/ 457200 h 566530"/>
                <a:gd name="connsiteX5" fmla="*/ 516834 w 834887"/>
                <a:gd name="connsiteY5" fmla="*/ 506896 h 566530"/>
                <a:gd name="connsiteX6" fmla="*/ 0 w 834887"/>
                <a:gd name="connsiteY6" fmla="*/ 566530 h 566530"/>
                <a:gd name="connsiteX7" fmla="*/ 79513 w 834887"/>
                <a:gd name="connsiteY7" fmla="*/ 29817 h 566530"/>
                <a:gd name="connsiteX8" fmla="*/ 606287 w 834887"/>
                <a:gd name="connsiteY8" fmla="*/ 0 h 56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34887" h="566530">
                  <a:moveTo>
                    <a:pt x="606287" y="0"/>
                  </a:moveTo>
                  <a:lnTo>
                    <a:pt x="755373" y="0"/>
                  </a:lnTo>
                  <a:lnTo>
                    <a:pt x="805069" y="178904"/>
                  </a:lnTo>
                  <a:lnTo>
                    <a:pt x="834887" y="337930"/>
                  </a:lnTo>
                  <a:lnTo>
                    <a:pt x="775252" y="457200"/>
                  </a:lnTo>
                  <a:lnTo>
                    <a:pt x="516834" y="506896"/>
                  </a:lnTo>
                  <a:lnTo>
                    <a:pt x="0" y="566530"/>
                  </a:lnTo>
                  <a:lnTo>
                    <a:pt x="79513" y="29817"/>
                  </a:lnTo>
                  <a:lnTo>
                    <a:pt x="60628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7649557F-998B-8467-9FB6-36B5E8FE2C23}"/>
                </a:ext>
              </a:extLst>
            </p:cNvPr>
            <p:cNvSpPr/>
            <p:nvPr/>
          </p:nvSpPr>
          <p:spPr>
            <a:xfrm>
              <a:off x="3011557" y="2544417"/>
              <a:ext cx="3866321" cy="1709531"/>
            </a:xfrm>
            <a:custGeom>
              <a:avLst/>
              <a:gdLst>
                <a:gd name="connsiteX0" fmla="*/ 0 w 3866321"/>
                <a:gd name="connsiteY0" fmla="*/ 99392 h 1709531"/>
                <a:gd name="connsiteX1" fmla="*/ 0 w 3866321"/>
                <a:gd name="connsiteY1" fmla="*/ 318053 h 1709531"/>
                <a:gd name="connsiteX2" fmla="*/ 89452 w 3866321"/>
                <a:gd name="connsiteY2" fmla="*/ 556592 h 1709531"/>
                <a:gd name="connsiteX3" fmla="*/ 268356 w 3866321"/>
                <a:gd name="connsiteY3" fmla="*/ 815009 h 1709531"/>
                <a:gd name="connsiteX4" fmla="*/ 546652 w 3866321"/>
                <a:gd name="connsiteY4" fmla="*/ 974035 h 1709531"/>
                <a:gd name="connsiteX5" fmla="*/ 1043608 w 3866321"/>
                <a:gd name="connsiteY5" fmla="*/ 1182757 h 1709531"/>
                <a:gd name="connsiteX6" fmla="*/ 1560443 w 3866321"/>
                <a:gd name="connsiteY6" fmla="*/ 1331844 h 1709531"/>
                <a:gd name="connsiteX7" fmla="*/ 2126973 w 3866321"/>
                <a:gd name="connsiteY7" fmla="*/ 1500809 h 1709531"/>
                <a:gd name="connsiteX8" fmla="*/ 2445026 w 3866321"/>
                <a:gd name="connsiteY8" fmla="*/ 1610140 h 1709531"/>
                <a:gd name="connsiteX9" fmla="*/ 2872408 w 3866321"/>
                <a:gd name="connsiteY9" fmla="*/ 1679713 h 1709531"/>
                <a:gd name="connsiteX10" fmla="*/ 3120886 w 3866321"/>
                <a:gd name="connsiteY10" fmla="*/ 1709531 h 1709531"/>
                <a:gd name="connsiteX11" fmla="*/ 3409121 w 3866321"/>
                <a:gd name="connsiteY11" fmla="*/ 1679713 h 1709531"/>
                <a:gd name="connsiteX12" fmla="*/ 3607904 w 3866321"/>
                <a:gd name="connsiteY12" fmla="*/ 1630018 h 1709531"/>
                <a:gd name="connsiteX13" fmla="*/ 3727173 w 3866321"/>
                <a:gd name="connsiteY13" fmla="*/ 1570383 h 1709531"/>
                <a:gd name="connsiteX14" fmla="*/ 3866321 w 3866321"/>
                <a:gd name="connsiteY14" fmla="*/ 1431235 h 1709531"/>
                <a:gd name="connsiteX15" fmla="*/ 2763078 w 3866321"/>
                <a:gd name="connsiteY15" fmla="*/ 536713 h 1709531"/>
                <a:gd name="connsiteX16" fmla="*/ 427382 w 3866321"/>
                <a:gd name="connsiteY16" fmla="*/ 0 h 1709531"/>
                <a:gd name="connsiteX17" fmla="*/ 0 w 3866321"/>
                <a:gd name="connsiteY17" fmla="*/ 99392 h 1709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66321" h="1709531">
                  <a:moveTo>
                    <a:pt x="0" y="99392"/>
                  </a:moveTo>
                  <a:lnTo>
                    <a:pt x="0" y="318053"/>
                  </a:lnTo>
                  <a:lnTo>
                    <a:pt x="89452" y="556592"/>
                  </a:lnTo>
                  <a:lnTo>
                    <a:pt x="268356" y="815009"/>
                  </a:lnTo>
                  <a:lnTo>
                    <a:pt x="546652" y="974035"/>
                  </a:lnTo>
                  <a:lnTo>
                    <a:pt x="1043608" y="1182757"/>
                  </a:lnTo>
                  <a:lnTo>
                    <a:pt x="1560443" y="1331844"/>
                  </a:lnTo>
                  <a:lnTo>
                    <a:pt x="2126973" y="1500809"/>
                  </a:lnTo>
                  <a:lnTo>
                    <a:pt x="2445026" y="1610140"/>
                  </a:lnTo>
                  <a:lnTo>
                    <a:pt x="2872408" y="1679713"/>
                  </a:lnTo>
                  <a:lnTo>
                    <a:pt x="3120886" y="1709531"/>
                  </a:lnTo>
                  <a:lnTo>
                    <a:pt x="3409121" y="1679713"/>
                  </a:lnTo>
                  <a:lnTo>
                    <a:pt x="3607904" y="1630018"/>
                  </a:lnTo>
                  <a:lnTo>
                    <a:pt x="3727173" y="1570383"/>
                  </a:lnTo>
                  <a:lnTo>
                    <a:pt x="3866321" y="1431235"/>
                  </a:lnTo>
                  <a:lnTo>
                    <a:pt x="2763078" y="536713"/>
                  </a:lnTo>
                  <a:lnTo>
                    <a:pt x="427382" y="0"/>
                  </a:lnTo>
                  <a:lnTo>
                    <a:pt x="0" y="9939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F9989C74-B230-32A1-BD5F-51B1B36F3B89}"/>
                </a:ext>
              </a:extLst>
            </p:cNvPr>
            <p:cNvSpPr/>
            <p:nvPr/>
          </p:nvSpPr>
          <p:spPr>
            <a:xfrm>
              <a:off x="7345017" y="2633870"/>
              <a:ext cx="1490870" cy="1133060"/>
            </a:xfrm>
            <a:custGeom>
              <a:avLst/>
              <a:gdLst>
                <a:gd name="connsiteX0" fmla="*/ 1023731 w 1490870"/>
                <a:gd name="connsiteY0" fmla="*/ 39756 h 1133060"/>
                <a:gd name="connsiteX1" fmla="*/ 1172818 w 1490870"/>
                <a:gd name="connsiteY1" fmla="*/ 218660 h 1133060"/>
                <a:gd name="connsiteX2" fmla="*/ 1232453 w 1490870"/>
                <a:gd name="connsiteY2" fmla="*/ 337930 h 1133060"/>
                <a:gd name="connsiteX3" fmla="*/ 1341783 w 1490870"/>
                <a:gd name="connsiteY3" fmla="*/ 576469 h 1133060"/>
                <a:gd name="connsiteX4" fmla="*/ 1490870 w 1490870"/>
                <a:gd name="connsiteY4" fmla="*/ 924339 h 1133060"/>
                <a:gd name="connsiteX5" fmla="*/ 1480931 w 1490870"/>
                <a:gd name="connsiteY5" fmla="*/ 974034 h 1133060"/>
                <a:gd name="connsiteX6" fmla="*/ 1272209 w 1490870"/>
                <a:gd name="connsiteY6" fmla="*/ 1033669 h 1133060"/>
                <a:gd name="connsiteX7" fmla="*/ 785192 w 1490870"/>
                <a:gd name="connsiteY7" fmla="*/ 1083365 h 1133060"/>
                <a:gd name="connsiteX8" fmla="*/ 218661 w 1490870"/>
                <a:gd name="connsiteY8" fmla="*/ 1113182 h 1133060"/>
                <a:gd name="connsiteX9" fmla="*/ 9940 w 1490870"/>
                <a:gd name="connsiteY9" fmla="*/ 1133060 h 1133060"/>
                <a:gd name="connsiteX10" fmla="*/ 0 w 1490870"/>
                <a:gd name="connsiteY10" fmla="*/ 914400 h 1133060"/>
                <a:gd name="connsiteX11" fmla="*/ 39757 w 1490870"/>
                <a:gd name="connsiteY11" fmla="*/ 606287 h 1133060"/>
                <a:gd name="connsiteX12" fmla="*/ 89453 w 1490870"/>
                <a:gd name="connsiteY12" fmla="*/ 367747 h 1133060"/>
                <a:gd name="connsiteX13" fmla="*/ 725557 w 1490870"/>
                <a:gd name="connsiteY13" fmla="*/ 0 h 1133060"/>
                <a:gd name="connsiteX14" fmla="*/ 1023731 w 1490870"/>
                <a:gd name="connsiteY14" fmla="*/ 39756 h 1133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90870" h="1133060">
                  <a:moveTo>
                    <a:pt x="1023731" y="39756"/>
                  </a:moveTo>
                  <a:lnTo>
                    <a:pt x="1172818" y="218660"/>
                  </a:lnTo>
                  <a:lnTo>
                    <a:pt x="1232453" y="337930"/>
                  </a:lnTo>
                  <a:lnTo>
                    <a:pt x="1341783" y="576469"/>
                  </a:lnTo>
                  <a:lnTo>
                    <a:pt x="1490870" y="924339"/>
                  </a:lnTo>
                  <a:lnTo>
                    <a:pt x="1480931" y="974034"/>
                  </a:lnTo>
                  <a:lnTo>
                    <a:pt x="1272209" y="1033669"/>
                  </a:lnTo>
                  <a:lnTo>
                    <a:pt x="785192" y="1083365"/>
                  </a:lnTo>
                  <a:lnTo>
                    <a:pt x="218661" y="1113182"/>
                  </a:lnTo>
                  <a:lnTo>
                    <a:pt x="9940" y="1133060"/>
                  </a:lnTo>
                  <a:lnTo>
                    <a:pt x="0" y="914400"/>
                  </a:lnTo>
                  <a:lnTo>
                    <a:pt x="39757" y="606287"/>
                  </a:lnTo>
                  <a:lnTo>
                    <a:pt x="89453" y="367747"/>
                  </a:lnTo>
                  <a:lnTo>
                    <a:pt x="725557" y="0"/>
                  </a:lnTo>
                  <a:lnTo>
                    <a:pt x="1023731" y="3975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F0F8021-C023-7BC3-9700-FE1F5BB65C43}"/>
                </a:ext>
              </a:extLst>
            </p:cNvPr>
            <p:cNvSpPr/>
            <p:nvPr/>
          </p:nvSpPr>
          <p:spPr>
            <a:xfrm>
              <a:off x="7673009" y="3399183"/>
              <a:ext cx="1083365" cy="596347"/>
            </a:xfrm>
            <a:custGeom>
              <a:avLst/>
              <a:gdLst>
                <a:gd name="connsiteX0" fmla="*/ 964095 w 1083365"/>
                <a:gd name="connsiteY0" fmla="*/ 0 h 596347"/>
                <a:gd name="connsiteX1" fmla="*/ 1083365 w 1083365"/>
                <a:gd name="connsiteY1" fmla="*/ 308113 h 596347"/>
                <a:gd name="connsiteX2" fmla="*/ 1023730 w 1083365"/>
                <a:gd name="connsiteY2" fmla="*/ 487017 h 596347"/>
                <a:gd name="connsiteX3" fmla="*/ 974034 w 1083365"/>
                <a:gd name="connsiteY3" fmla="*/ 556591 h 596347"/>
                <a:gd name="connsiteX4" fmla="*/ 864704 w 1083365"/>
                <a:gd name="connsiteY4" fmla="*/ 596347 h 596347"/>
                <a:gd name="connsiteX5" fmla="*/ 695739 w 1083365"/>
                <a:gd name="connsiteY5" fmla="*/ 516834 h 596347"/>
                <a:gd name="connsiteX6" fmla="*/ 0 w 1083365"/>
                <a:gd name="connsiteY6" fmla="*/ 149087 h 596347"/>
                <a:gd name="connsiteX7" fmla="*/ 964095 w 1083365"/>
                <a:gd name="connsiteY7" fmla="*/ 0 h 596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3365" h="596347">
                  <a:moveTo>
                    <a:pt x="964095" y="0"/>
                  </a:moveTo>
                  <a:lnTo>
                    <a:pt x="1083365" y="308113"/>
                  </a:lnTo>
                  <a:lnTo>
                    <a:pt x="1023730" y="487017"/>
                  </a:lnTo>
                  <a:lnTo>
                    <a:pt x="974034" y="556591"/>
                  </a:lnTo>
                  <a:lnTo>
                    <a:pt x="864704" y="596347"/>
                  </a:lnTo>
                  <a:lnTo>
                    <a:pt x="695739" y="516834"/>
                  </a:lnTo>
                  <a:lnTo>
                    <a:pt x="0" y="149087"/>
                  </a:lnTo>
                  <a:lnTo>
                    <a:pt x="96409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EEC92EDA-C98B-5320-9637-093956E52E49}"/>
                </a:ext>
              </a:extLst>
            </p:cNvPr>
            <p:cNvSpPr/>
            <p:nvPr/>
          </p:nvSpPr>
          <p:spPr>
            <a:xfrm>
              <a:off x="7046843" y="3637722"/>
              <a:ext cx="1540566" cy="1411356"/>
            </a:xfrm>
            <a:custGeom>
              <a:avLst/>
              <a:gdLst>
                <a:gd name="connsiteX0" fmla="*/ 1540566 w 1540566"/>
                <a:gd name="connsiteY0" fmla="*/ 238539 h 1411356"/>
                <a:gd name="connsiteX1" fmla="*/ 1470992 w 1540566"/>
                <a:gd name="connsiteY1" fmla="*/ 785191 h 1411356"/>
                <a:gd name="connsiteX2" fmla="*/ 1411357 w 1540566"/>
                <a:gd name="connsiteY2" fmla="*/ 1063487 h 1411356"/>
                <a:gd name="connsiteX3" fmla="*/ 1341783 w 1540566"/>
                <a:gd name="connsiteY3" fmla="*/ 1351721 h 1411356"/>
                <a:gd name="connsiteX4" fmla="*/ 1331844 w 1540566"/>
                <a:gd name="connsiteY4" fmla="*/ 1411356 h 1411356"/>
                <a:gd name="connsiteX5" fmla="*/ 1192696 w 1540566"/>
                <a:gd name="connsiteY5" fmla="*/ 1351721 h 1411356"/>
                <a:gd name="connsiteX6" fmla="*/ 785192 w 1540566"/>
                <a:gd name="connsiteY6" fmla="*/ 1143000 h 1411356"/>
                <a:gd name="connsiteX7" fmla="*/ 298174 w 1540566"/>
                <a:gd name="connsiteY7" fmla="*/ 904461 h 1411356"/>
                <a:gd name="connsiteX8" fmla="*/ 0 w 1540566"/>
                <a:gd name="connsiteY8" fmla="*/ 755374 h 1411356"/>
                <a:gd name="connsiteX9" fmla="*/ 0 w 1540566"/>
                <a:gd name="connsiteY9" fmla="*/ 655982 h 1411356"/>
                <a:gd name="connsiteX10" fmla="*/ 129209 w 1540566"/>
                <a:gd name="connsiteY10" fmla="*/ 546652 h 1411356"/>
                <a:gd name="connsiteX11" fmla="*/ 218661 w 1540566"/>
                <a:gd name="connsiteY11" fmla="*/ 347869 h 1411356"/>
                <a:gd name="connsiteX12" fmla="*/ 377687 w 1540566"/>
                <a:gd name="connsiteY12" fmla="*/ 218661 h 1411356"/>
                <a:gd name="connsiteX13" fmla="*/ 367748 w 1540566"/>
                <a:gd name="connsiteY13" fmla="*/ 89452 h 1411356"/>
                <a:gd name="connsiteX14" fmla="*/ 566531 w 1540566"/>
                <a:gd name="connsiteY14" fmla="*/ 0 h 1411356"/>
                <a:gd name="connsiteX15" fmla="*/ 1341783 w 1540566"/>
                <a:gd name="connsiteY15" fmla="*/ 159026 h 1411356"/>
                <a:gd name="connsiteX16" fmla="*/ 1540566 w 1540566"/>
                <a:gd name="connsiteY16" fmla="*/ 238539 h 141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40566" h="1411356">
                  <a:moveTo>
                    <a:pt x="1540566" y="238539"/>
                  </a:moveTo>
                  <a:lnTo>
                    <a:pt x="1470992" y="785191"/>
                  </a:lnTo>
                  <a:lnTo>
                    <a:pt x="1411357" y="1063487"/>
                  </a:lnTo>
                  <a:lnTo>
                    <a:pt x="1341783" y="1351721"/>
                  </a:lnTo>
                  <a:lnTo>
                    <a:pt x="1331844" y="1411356"/>
                  </a:lnTo>
                  <a:lnTo>
                    <a:pt x="1192696" y="1351721"/>
                  </a:lnTo>
                  <a:lnTo>
                    <a:pt x="785192" y="1143000"/>
                  </a:lnTo>
                  <a:lnTo>
                    <a:pt x="298174" y="904461"/>
                  </a:lnTo>
                  <a:lnTo>
                    <a:pt x="0" y="755374"/>
                  </a:lnTo>
                  <a:lnTo>
                    <a:pt x="0" y="655982"/>
                  </a:lnTo>
                  <a:lnTo>
                    <a:pt x="129209" y="546652"/>
                  </a:lnTo>
                  <a:lnTo>
                    <a:pt x="218661" y="347869"/>
                  </a:lnTo>
                  <a:lnTo>
                    <a:pt x="377687" y="218661"/>
                  </a:lnTo>
                  <a:lnTo>
                    <a:pt x="367748" y="89452"/>
                  </a:lnTo>
                  <a:lnTo>
                    <a:pt x="566531" y="0"/>
                  </a:lnTo>
                  <a:lnTo>
                    <a:pt x="1341783" y="159026"/>
                  </a:lnTo>
                  <a:lnTo>
                    <a:pt x="1540566" y="2385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38C6BEB-F691-445B-FDCF-500B5264B501}"/>
                </a:ext>
              </a:extLst>
            </p:cNvPr>
            <p:cNvSpPr/>
            <p:nvPr/>
          </p:nvSpPr>
          <p:spPr>
            <a:xfrm>
              <a:off x="7494104" y="4472609"/>
              <a:ext cx="785192" cy="715617"/>
            </a:xfrm>
            <a:custGeom>
              <a:avLst/>
              <a:gdLst>
                <a:gd name="connsiteX0" fmla="*/ 785192 w 785192"/>
                <a:gd name="connsiteY0" fmla="*/ 427382 h 715617"/>
                <a:gd name="connsiteX1" fmla="*/ 765313 w 785192"/>
                <a:gd name="connsiteY1" fmla="*/ 586408 h 715617"/>
                <a:gd name="connsiteX2" fmla="*/ 616226 w 785192"/>
                <a:gd name="connsiteY2" fmla="*/ 675861 h 715617"/>
                <a:gd name="connsiteX3" fmla="*/ 477079 w 785192"/>
                <a:gd name="connsiteY3" fmla="*/ 715617 h 715617"/>
                <a:gd name="connsiteX4" fmla="*/ 198783 w 785192"/>
                <a:gd name="connsiteY4" fmla="*/ 377687 h 715617"/>
                <a:gd name="connsiteX5" fmla="*/ 0 w 785192"/>
                <a:gd name="connsiteY5" fmla="*/ 0 h 715617"/>
                <a:gd name="connsiteX6" fmla="*/ 646044 w 785192"/>
                <a:gd name="connsiteY6" fmla="*/ 258417 h 715617"/>
                <a:gd name="connsiteX7" fmla="*/ 785192 w 785192"/>
                <a:gd name="connsiteY7" fmla="*/ 427382 h 715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5192" h="715617">
                  <a:moveTo>
                    <a:pt x="785192" y="427382"/>
                  </a:moveTo>
                  <a:lnTo>
                    <a:pt x="765313" y="586408"/>
                  </a:lnTo>
                  <a:lnTo>
                    <a:pt x="616226" y="675861"/>
                  </a:lnTo>
                  <a:lnTo>
                    <a:pt x="477079" y="715617"/>
                  </a:lnTo>
                  <a:lnTo>
                    <a:pt x="198783" y="377687"/>
                  </a:lnTo>
                  <a:lnTo>
                    <a:pt x="0" y="0"/>
                  </a:lnTo>
                  <a:lnTo>
                    <a:pt x="646044" y="258417"/>
                  </a:lnTo>
                  <a:lnTo>
                    <a:pt x="785192" y="427382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4F9C10D5-9D5A-04D4-3F53-46EEAC4FC93F}"/>
                </a:ext>
              </a:extLst>
            </p:cNvPr>
            <p:cNvSpPr/>
            <p:nvPr/>
          </p:nvSpPr>
          <p:spPr>
            <a:xfrm>
              <a:off x="6400800" y="4373217"/>
              <a:ext cx="1610139" cy="1590261"/>
            </a:xfrm>
            <a:custGeom>
              <a:avLst/>
              <a:gdLst>
                <a:gd name="connsiteX0" fmla="*/ 1610139 w 1610139"/>
                <a:gd name="connsiteY0" fmla="*/ 646044 h 1590261"/>
                <a:gd name="connsiteX1" fmla="*/ 1510748 w 1610139"/>
                <a:gd name="connsiteY1" fmla="*/ 904461 h 1590261"/>
                <a:gd name="connsiteX2" fmla="*/ 1302026 w 1610139"/>
                <a:gd name="connsiteY2" fmla="*/ 1093305 h 1590261"/>
                <a:gd name="connsiteX3" fmla="*/ 1103243 w 1610139"/>
                <a:gd name="connsiteY3" fmla="*/ 1302026 h 1590261"/>
                <a:gd name="connsiteX4" fmla="*/ 934278 w 1610139"/>
                <a:gd name="connsiteY4" fmla="*/ 1451113 h 1590261"/>
                <a:gd name="connsiteX5" fmla="*/ 775252 w 1610139"/>
                <a:gd name="connsiteY5" fmla="*/ 1590261 h 1590261"/>
                <a:gd name="connsiteX6" fmla="*/ 586409 w 1610139"/>
                <a:gd name="connsiteY6" fmla="*/ 1252331 h 1590261"/>
                <a:gd name="connsiteX7" fmla="*/ 487017 w 1610139"/>
                <a:gd name="connsiteY7" fmla="*/ 914400 h 1590261"/>
                <a:gd name="connsiteX8" fmla="*/ 208722 w 1610139"/>
                <a:gd name="connsiteY8" fmla="*/ 685800 h 1590261"/>
                <a:gd name="connsiteX9" fmla="*/ 109330 w 1610139"/>
                <a:gd name="connsiteY9" fmla="*/ 556592 h 1590261"/>
                <a:gd name="connsiteX10" fmla="*/ 0 w 1610139"/>
                <a:gd name="connsiteY10" fmla="*/ 487018 h 1590261"/>
                <a:gd name="connsiteX11" fmla="*/ 99391 w 1610139"/>
                <a:gd name="connsiteY11" fmla="*/ 377687 h 1590261"/>
                <a:gd name="connsiteX12" fmla="*/ 308113 w 1610139"/>
                <a:gd name="connsiteY12" fmla="*/ 288235 h 1590261"/>
                <a:gd name="connsiteX13" fmla="*/ 477078 w 1610139"/>
                <a:gd name="connsiteY13" fmla="*/ 168966 h 1590261"/>
                <a:gd name="connsiteX14" fmla="*/ 646043 w 1610139"/>
                <a:gd name="connsiteY14" fmla="*/ 99392 h 1590261"/>
                <a:gd name="connsiteX15" fmla="*/ 795130 w 1610139"/>
                <a:gd name="connsiteY15" fmla="*/ 0 h 1590261"/>
                <a:gd name="connsiteX16" fmla="*/ 1461052 w 1610139"/>
                <a:gd name="connsiteY16" fmla="*/ 79513 h 1590261"/>
                <a:gd name="connsiteX17" fmla="*/ 1610139 w 1610139"/>
                <a:gd name="connsiteY17" fmla="*/ 646044 h 159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10139" h="1590261">
                  <a:moveTo>
                    <a:pt x="1610139" y="646044"/>
                  </a:moveTo>
                  <a:lnTo>
                    <a:pt x="1510748" y="904461"/>
                  </a:lnTo>
                  <a:lnTo>
                    <a:pt x="1302026" y="1093305"/>
                  </a:lnTo>
                  <a:lnTo>
                    <a:pt x="1103243" y="1302026"/>
                  </a:lnTo>
                  <a:lnTo>
                    <a:pt x="934278" y="1451113"/>
                  </a:lnTo>
                  <a:lnTo>
                    <a:pt x="775252" y="1590261"/>
                  </a:lnTo>
                  <a:lnTo>
                    <a:pt x="586409" y="1252331"/>
                  </a:lnTo>
                  <a:lnTo>
                    <a:pt x="487017" y="914400"/>
                  </a:lnTo>
                  <a:lnTo>
                    <a:pt x="208722" y="685800"/>
                  </a:lnTo>
                  <a:lnTo>
                    <a:pt x="109330" y="556592"/>
                  </a:lnTo>
                  <a:lnTo>
                    <a:pt x="0" y="487018"/>
                  </a:lnTo>
                  <a:lnTo>
                    <a:pt x="99391" y="377687"/>
                  </a:lnTo>
                  <a:lnTo>
                    <a:pt x="308113" y="288235"/>
                  </a:lnTo>
                  <a:lnTo>
                    <a:pt x="477078" y="168966"/>
                  </a:lnTo>
                  <a:lnTo>
                    <a:pt x="646043" y="99392"/>
                  </a:lnTo>
                  <a:lnTo>
                    <a:pt x="795130" y="0"/>
                  </a:lnTo>
                  <a:lnTo>
                    <a:pt x="1461052" y="79513"/>
                  </a:lnTo>
                  <a:lnTo>
                    <a:pt x="1610139" y="6460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F3EBAF35-246A-E8F0-CF01-01C9D6443E33}"/>
                </a:ext>
              </a:extLst>
            </p:cNvPr>
            <p:cNvSpPr/>
            <p:nvPr/>
          </p:nvSpPr>
          <p:spPr>
            <a:xfrm>
              <a:off x="6629400" y="4989443"/>
              <a:ext cx="516835" cy="874644"/>
            </a:xfrm>
            <a:custGeom>
              <a:avLst/>
              <a:gdLst>
                <a:gd name="connsiteX0" fmla="*/ 516835 w 516835"/>
                <a:gd name="connsiteY0" fmla="*/ 765314 h 874644"/>
                <a:gd name="connsiteX1" fmla="*/ 417443 w 516835"/>
                <a:gd name="connsiteY1" fmla="*/ 844827 h 874644"/>
                <a:gd name="connsiteX2" fmla="*/ 327991 w 516835"/>
                <a:gd name="connsiteY2" fmla="*/ 874644 h 874644"/>
                <a:gd name="connsiteX3" fmla="*/ 178904 w 516835"/>
                <a:gd name="connsiteY3" fmla="*/ 824948 h 874644"/>
                <a:gd name="connsiteX4" fmla="*/ 129209 w 516835"/>
                <a:gd name="connsiteY4" fmla="*/ 665922 h 874644"/>
                <a:gd name="connsiteX5" fmla="*/ 89452 w 516835"/>
                <a:gd name="connsiteY5" fmla="*/ 347870 h 874644"/>
                <a:gd name="connsiteX6" fmla="*/ 0 w 516835"/>
                <a:gd name="connsiteY6" fmla="*/ 0 h 874644"/>
                <a:gd name="connsiteX7" fmla="*/ 487017 w 516835"/>
                <a:gd name="connsiteY7" fmla="*/ 556592 h 874644"/>
                <a:gd name="connsiteX8" fmla="*/ 516835 w 516835"/>
                <a:gd name="connsiteY8" fmla="*/ 765314 h 87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6835" h="874644">
                  <a:moveTo>
                    <a:pt x="516835" y="765314"/>
                  </a:moveTo>
                  <a:lnTo>
                    <a:pt x="417443" y="844827"/>
                  </a:lnTo>
                  <a:lnTo>
                    <a:pt x="327991" y="874644"/>
                  </a:lnTo>
                  <a:lnTo>
                    <a:pt x="178904" y="824948"/>
                  </a:lnTo>
                  <a:lnTo>
                    <a:pt x="129209" y="665922"/>
                  </a:lnTo>
                  <a:lnTo>
                    <a:pt x="89452" y="347870"/>
                  </a:lnTo>
                  <a:lnTo>
                    <a:pt x="0" y="0"/>
                  </a:lnTo>
                  <a:lnTo>
                    <a:pt x="487017" y="556592"/>
                  </a:lnTo>
                  <a:lnTo>
                    <a:pt x="516835" y="7653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EB63738D-EED7-6F33-EFDD-5EEB568441F5}"/>
                </a:ext>
              </a:extLst>
            </p:cNvPr>
            <p:cNvSpPr/>
            <p:nvPr/>
          </p:nvSpPr>
          <p:spPr>
            <a:xfrm>
              <a:off x="5555974" y="4959626"/>
              <a:ext cx="1361661" cy="1192696"/>
            </a:xfrm>
            <a:custGeom>
              <a:avLst/>
              <a:gdLst>
                <a:gd name="connsiteX0" fmla="*/ 1302026 w 1361661"/>
                <a:gd name="connsiteY0" fmla="*/ 745435 h 1192696"/>
                <a:gd name="connsiteX1" fmla="*/ 1262269 w 1361661"/>
                <a:gd name="connsiteY1" fmla="*/ 884583 h 1192696"/>
                <a:gd name="connsiteX2" fmla="*/ 1262269 w 1361661"/>
                <a:gd name="connsiteY2" fmla="*/ 884583 h 1192696"/>
                <a:gd name="connsiteX3" fmla="*/ 1262269 w 1361661"/>
                <a:gd name="connsiteY3" fmla="*/ 884583 h 1192696"/>
                <a:gd name="connsiteX4" fmla="*/ 1331843 w 1361661"/>
                <a:gd name="connsiteY4" fmla="*/ 993913 h 1192696"/>
                <a:gd name="connsiteX5" fmla="*/ 1182756 w 1361661"/>
                <a:gd name="connsiteY5" fmla="*/ 983974 h 1192696"/>
                <a:gd name="connsiteX6" fmla="*/ 1083365 w 1361661"/>
                <a:gd name="connsiteY6" fmla="*/ 1023731 h 1192696"/>
                <a:gd name="connsiteX7" fmla="*/ 854765 w 1361661"/>
                <a:gd name="connsiteY7" fmla="*/ 1073426 h 1192696"/>
                <a:gd name="connsiteX8" fmla="*/ 596348 w 1361661"/>
                <a:gd name="connsiteY8" fmla="*/ 1123122 h 1192696"/>
                <a:gd name="connsiteX9" fmla="*/ 347869 w 1361661"/>
                <a:gd name="connsiteY9" fmla="*/ 1162878 h 1192696"/>
                <a:gd name="connsiteX10" fmla="*/ 218661 w 1361661"/>
                <a:gd name="connsiteY10" fmla="*/ 1192696 h 1192696"/>
                <a:gd name="connsiteX11" fmla="*/ 178904 w 1361661"/>
                <a:gd name="connsiteY11" fmla="*/ 1192696 h 1192696"/>
                <a:gd name="connsiteX12" fmla="*/ 168965 w 1361661"/>
                <a:gd name="connsiteY12" fmla="*/ 1103244 h 1192696"/>
                <a:gd name="connsiteX13" fmla="*/ 99391 w 1361661"/>
                <a:gd name="connsiteY13" fmla="*/ 1043609 h 1192696"/>
                <a:gd name="connsiteX14" fmla="*/ 0 w 1361661"/>
                <a:gd name="connsiteY14" fmla="*/ 1003852 h 1192696"/>
                <a:gd name="connsiteX15" fmla="*/ 69574 w 1361661"/>
                <a:gd name="connsiteY15" fmla="*/ 785191 h 1192696"/>
                <a:gd name="connsiteX16" fmla="*/ 159026 w 1361661"/>
                <a:gd name="connsiteY16" fmla="*/ 576470 h 1192696"/>
                <a:gd name="connsiteX17" fmla="*/ 99391 w 1361661"/>
                <a:gd name="connsiteY17" fmla="*/ 308113 h 1192696"/>
                <a:gd name="connsiteX18" fmla="*/ 29817 w 1361661"/>
                <a:gd name="connsiteY18" fmla="*/ 168965 h 1192696"/>
                <a:gd name="connsiteX19" fmla="*/ 109330 w 1361661"/>
                <a:gd name="connsiteY19" fmla="*/ 109331 h 1192696"/>
                <a:gd name="connsiteX20" fmla="*/ 268356 w 1361661"/>
                <a:gd name="connsiteY20" fmla="*/ 79513 h 1192696"/>
                <a:gd name="connsiteX21" fmla="*/ 467139 w 1361661"/>
                <a:gd name="connsiteY21" fmla="*/ 39757 h 1192696"/>
                <a:gd name="connsiteX22" fmla="*/ 705678 w 1361661"/>
                <a:gd name="connsiteY22" fmla="*/ 0 h 1192696"/>
                <a:gd name="connsiteX23" fmla="*/ 894522 w 1361661"/>
                <a:gd name="connsiteY23" fmla="*/ 0 h 1192696"/>
                <a:gd name="connsiteX24" fmla="*/ 983974 w 1361661"/>
                <a:gd name="connsiteY24" fmla="*/ 9939 h 1192696"/>
                <a:gd name="connsiteX25" fmla="*/ 1182756 w 1361661"/>
                <a:gd name="connsiteY25" fmla="*/ 19878 h 1192696"/>
                <a:gd name="connsiteX26" fmla="*/ 1361661 w 1361661"/>
                <a:gd name="connsiteY26" fmla="*/ 675861 h 1192696"/>
                <a:gd name="connsiteX27" fmla="*/ 1302026 w 1361661"/>
                <a:gd name="connsiteY27" fmla="*/ 745435 h 119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1661" h="1192696">
                  <a:moveTo>
                    <a:pt x="1302026" y="745435"/>
                  </a:moveTo>
                  <a:lnTo>
                    <a:pt x="1262269" y="884583"/>
                  </a:lnTo>
                  <a:lnTo>
                    <a:pt x="1262269" y="884583"/>
                  </a:lnTo>
                  <a:lnTo>
                    <a:pt x="1262269" y="884583"/>
                  </a:lnTo>
                  <a:lnTo>
                    <a:pt x="1331843" y="993913"/>
                  </a:lnTo>
                  <a:lnTo>
                    <a:pt x="1182756" y="983974"/>
                  </a:lnTo>
                  <a:lnTo>
                    <a:pt x="1083365" y="1023731"/>
                  </a:lnTo>
                  <a:lnTo>
                    <a:pt x="854765" y="1073426"/>
                  </a:lnTo>
                  <a:lnTo>
                    <a:pt x="596348" y="1123122"/>
                  </a:lnTo>
                  <a:lnTo>
                    <a:pt x="347869" y="1162878"/>
                  </a:lnTo>
                  <a:lnTo>
                    <a:pt x="218661" y="1192696"/>
                  </a:lnTo>
                  <a:lnTo>
                    <a:pt x="178904" y="1192696"/>
                  </a:lnTo>
                  <a:lnTo>
                    <a:pt x="168965" y="1103244"/>
                  </a:lnTo>
                  <a:lnTo>
                    <a:pt x="99391" y="1043609"/>
                  </a:lnTo>
                  <a:lnTo>
                    <a:pt x="0" y="1003852"/>
                  </a:lnTo>
                  <a:lnTo>
                    <a:pt x="69574" y="785191"/>
                  </a:lnTo>
                  <a:lnTo>
                    <a:pt x="159026" y="576470"/>
                  </a:lnTo>
                  <a:lnTo>
                    <a:pt x="99391" y="308113"/>
                  </a:lnTo>
                  <a:lnTo>
                    <a:pt x="29817" y="168965"/>
                  </a:lnTo>
                  <a:lnTo>
                    <a:pt x="109330" y="109331"/>
                  </a:lnTo>
                  <a:lnTo>
                    <a:pt x="268356" y="79513"/>
                  </a:lnTo>
                  <a:lnTo>
                    <a:pt x="467139" y="39757"/>
                  </a:lnTo>
                  <a:lnTo>
                    <a:pt x="705678" y="0"/>
                  </a:lnTo>
                  <a:lnTo>
                    <a:pt x="894522" y="0"/>
                  </a:lnTo>
                  <a:lnTo>
                    <a:pt x="983974" y="9939"/>
                  </a:lnTo>
                  <a:lnTo>
                    <a:pt x="1182756" y="19878"/>
                  </a:lnTo>
                  <a:lnTo>
                    <a:pt x="1361661" y="675861"/>
                  </a:lnTo>
                  <a:lnTo>
                    <a:pt x="1302026" y="7454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D554D81E-1B46-0057-DBD4-FAEEC1B51F8F}"/>
                </a:ext>
              </a:extLst>
            </p:cNvPr>
            <p:cNvSpPr/>
            <p:nvPr/>
          </p:nvSpPr>
          <p:spPr>
            <a:xfrm>
              <a:off x="4253948" y="4979504"/>
              <a:ext cx="1630017" cy="1013792"/>
            </a:xfrm>
            <a:custGeom>
              <a:avLst/>
              <a:gdLst>
                <a:gd name="connsiteX0" fmla="*/ 1411356 w 1630017"/>
                <a:gd name="connsiteY0" fmla="*/ 934279 h 1013792"/>
                <a:gd name="connsiteX1" fmla="*/ 1272209 w 1630017"/>
                <a:gd name="connsiteY1" fmla="*/ 1013792 h 1013792"/>
                <a:gd name="connsiteX2" fmla="*/ 944217 w 1630017"/>
                <a:gd name="connsiteY2" fmla="*/ 934279 h 1013792"/>
                <a:gd name="connsiteX3" fmla="*/ 705678 w 1630017"/>
                <a:gd name="connsiteY3" fmla="*/ 834887 h 1013792"/>
                <a:gd name="connsiteX4" fmla="*/ 506895 w 1630017"/>
                <a:gd name="connsiteY4" fmla="*/ 675861 h 1013792"/>
                <a:gd name="connsiteX5" fmla="*/ 417443 w 1630017"/>
                <a:gd name="connsiteY5" fmla="*/ 546653 h 1013792"/>
                <a:gd name="connsiteX6" fmla="*/ 308113 w 1630017"/>
                <a:gd name="connsiteY6" fmla="*/ 357809 h 1013792"/>
                <a:gd name="connsiteX7" fmla="*/ 298174 w 1630017"/>
                <a:gd name="connsiteY7" fmla="*/ 258418 h 1013792"/>
                <a:gd name="connsiteX8" fmla="*/ 188843 w 1630017"/>
                <a:gd name="connsiteY8" fmla="*/ 248479 h 1013792"/>
                <a:gd name="connsiteX9" fmla="*/ 109330 w 1630017"/>
                <a:gd name="connsiteY9" fmla="*/ 278296 h 1013792"/>
                <a:gd name="connsiteX10" fmla="*/ 0 w 1630017"/>
                <a:gd name="connsiteY10" fmla="*/ 218661 h 1013792"/>
                <a:gd name="connsiteX11" fmla="*/ 0 w 1630017"/>
                <a:gd name="connsiteY11" fmla="*/ 159026 h 1013792"/>
                <a:gd name="connsiteX12" fmla="*/ 129209 w 1630017"/>
                <a:gd name="connsiteY12" fmla="*/ 119270 h 1013792"/>
                <a:gd name="connsiteX13" fmla="*/ 308113 w 1630017"/>
                <a:gd name="connsiteY13" fmla="*/ 39757 h 1013792"/>
                <a:gd name="connsiteX14" fmla="*/ 447261 w 1630017"/>
                <a:gd name="connsiteY14" fmla="*/ 0 h 1013792"/>
                <a:gd name="connsiteX15" fmla="*/ 626165 w 1630017"/>
                <a:gd name="connsiteY15" fmla="*/ 19879 h 1013792"/>
                <a:gd name="connsiteX16" fmla="*/ 765313 w 1630017"/>
                <a:gd name="connsiteY16" fmla="*/ 59635 h 1013792"/>
                <a:gd name="connsiteX17" fmla="*/ 854765 w 1630017"/>
                <a:gd name="connsiteY17" fmla="*/ 79513 h 1013792"/>
                <a:gd name="connsiteX18" fmla="*/ 864704 w 1630017"/>
                <a:gd name="connsiteY18" fmla="*/ 49696 h 1013792"/>
                <a:gd name="connsiteX19" fmla="*/ 1043609 w 1630017"/>
                <a:gd name="connsiteY19" fmla="*/ 99392 h 1013792"/>
                <a:gd name="connsiteX20" fmla="*/ 1252330 w 1630017"/>
                <a:gd name="connsiteY20" fmla="*/ 178905 h 1013792"/>
                <a:gd name="connsiteX21" fmla="*/ 1421295 w 1630017"/>
                <a:gd name="connsiteY21" fmla="*/ 218661 h 1013792"/>
                <a:gd name="connsiteX22" fmla="*/ 1630017 w 1630017"/>
                <a:gd name="connsiteY22" fmla="*/ 387626 h 1013792"/>
                <a:gd name="connsiteX23" fmla="*/ 1411356 w 1630017"/>
                <a:gd name="connsiteY23" fmla="*/ 934279 h 1013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30017" h="1013792">
                  <a:moveTo>
                    <a:pt x="1411356" y="934279"/>
                  </a:moveTo>
                  <a:lnTo>
                    <a:pt x="1272209" y="1013792"/>
                  </a:lnTo>
                  <a:lnTo>
                    <a:pt x="944217" y="934279"/>
                  </a:lnTo>
                  <a:lnTo>
                    <a:pt x="705678" y="834887"/>
                  </a:lnTo>
                  <a:lnTo>
                    <a:pt x="506895" y="675861"/>
                  </a:lnTo>
                  <a:lnTo>
                    <a:pt x="417443" y="546653"/>
                  </a:lnTo>
                  <a:lnTo>
                    <a:pt x="308113" y="357809"/>
                  </a:lnTo>
                  <a:lnTo>
                    <a:pt x="298174" y="258418"/>
                  </a:lnTo>
                  <a:lnTo>
                    <a:pt x="188843" y="248479"/>
                  </a:lnTo>
                  <a:lnTo>
                    <a:pt x="109330" y="278296"/>
                  </a:lnTo>
                  <a:lnTo>
                    <a:pt x="0" y="218661"/>
                  </a:lnTo>
                  <a:lnTo>
                    <a:pt x="0" y="159026"/>
                  </a:lnTo>
                  <a:lnTo>
                    <a:pt x="129209" y="119270"/>
                  </a:lnTo>
                  <a:lnTo>
                    <a:pt x="308113" y="39757"/>
                  </a:lnTo>
                  <a:lnTo>
                    <a:pt x="447261" y="0"/>
                  </a:lnTo>
                  <a:lnTo>
                    <a:pt x="626165" y="19879"/>
                  </a:lnTo>
                  <a:lnTo>
                    <a:pt x="765313" y="59635"/>
                  </a:lnTo>
                  <a:lnTo>
                    <a:pt x="854765" y="79513"/>
                  </a:lnTo>
                  <a:lnTo>
                    <a:pt x="864704" y="49696"/>
                  </a:lnTo>
                  <a:lnTo>
                    <a:pt x="1043609" y="99392"/>
                  </a:lnTo>
                  <a:lnTo>
                    <a:pt x="1252330" y="178905"/>
                  </a:lnTo>
                  <a:lnTo>
                    <a:pt x="1421295" y="218661"/>
                  </a:lnTo>
                  <a:lnTo>
                    <a:pt x="1630017" y="387626"/>
                  </a:lnTo>
                  <a:lnTo>
                    <a:pt x="1411356" y="93427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333054AF-4787-087E-5E9D-8DD48D1D53E7}"/>
                </a:ext>
              </a:extLst>
            </p:cNvPr>
            <p:cNvSpPr/>
            <p:nvPr/>
          </p:nvSpPr>
          <p:spPr>
            <a:xfrm>
              <a:off x="3041374" y="5078896"/>
              <a:ext cx="1779104" cy="467139"/>
            </a:xfrm>
            <a:custGeom>
              <a:avLst/>
              <a:gdLst>
                <a:gd name="connsiteX0" fmla="*/ 1719469 w 1779104"/>
                <a:gd name="connsiteY0" fmla="*/ 437321 h 467139"/>
                <a:gd name="connsiteX1" fmla="*/ 1540565 w 1779104"/>
                <a:gd name="connsiteY1" fmla="*/ 467139 h 467139"/>
                <a:gd name="connsiteX2" fmla="*/ 1321904 w 1779104"/>
                <a:gd name="connsiteY2" fmla="*/ 447261 h 467139"/>
                <a:gd name="connsiteX3" fmla="*/ 1123122 w 1779104"/>
                <a:gd name="connsiteY3" fmla="*/ 437321 h 467139"/>
                <a:gd name="connsiteX4" fmla="*/ 974035 w 1779104"/>
                <a:gd name="connsiteY4" fmla="*/ 437321 h 467139"/>
                <a:gd name="connsiteX5" fmla="*/ 815009 w 1779104"/>
                <a:gd name="connsiteY5" fmla="*/ 437321 h 467139"/>
                <a:gd name="connsiteX6" fmla="*/ 646043 w 1779104"/>
                <a:gd name="connsiteY6" fmla="*/ 437321 h 467139"/>
                <a:gd name="connsiteX7" fmla="*/ 447261 w 1779104"/>
                <a:gd name="connsiteY7" fmla="*/ 377687 h 467139"/>
                <a:gd name="connsiteX8" fmla="*/ 268356 w 1779104"/>
                <a:gd name="connsiteY8" fmla="*/ 318052 h 467139"/>
                <a:gd name="connsiteX9" fmla="*/ 159026 w 1779104"/>
                <a:gd name="connsiteY9" fmla="*/ 288234 h 467139"/>
                <a:gd name="connsiteX10" fmla="*/ 69574 w 1779104"/>
                <a:gd name="connsiteY10" fmla="*/ 268356 h 467139"/>
                <a:gd name="connsiteX11" fmla="*/ 0 w 1779104"/>
                <a:gd name="connsiteY11" fmla="*/ 218661 h 467139"/>
                <a:gd name="connsiteX12" fmla="*/ 29817 w 1779104"/>
                <a:gd name="connsiteY12" fmla="*/ 198782 h 467139"/>
                <a:gd name="connsiteX13" fmla="*/ 119269 w 1779104"/>
                <a:gd name="connsiteY13" fmla="*/ 188843 h 467139"/>
                <a:gd name="connsiteX14" fmla="*/ 218661 w 1779104"/>
                <a:gd name="connsiteY14" fmla="*/ 178904 h 467139"/>
                <a:gd name="connsiteX15" fmla="*/ 168965 w 1779104"/>
                <a:gd name="connsiteY15" fmla="*/ 139147 h 467139"/>
                <a:gd name="connsiteX16" fmla="*/ 168965 w 1779104"/>
                <a:gd name="connsiteY16" fmla="*/ 139147 h 467139"/>
                <a:gd name="connsiteX17" fmla="*/ 79513 w 1779104"/>
                <a:gd name="connsiteY17" fmla="*/ 89452 h 467139"/>
                <a:gd name="connsiteX18" fmla="*/ 89452 w 1779104"/>
                <a:gd name="connsiteY18" fmla="*/ 39756 h 467139"/>
                <a:gd name="connsiteX19" fmla="*/ 218661 w 1779104"/>
                <a:gd name="connsiteY19" fmla="*/ 9939 h 467139"/>
                <a:gd name="connsiteX20" fmla="*/ 377687 w 1779104"/>
                <a:gd name="connsiteY20" fmla="*/ 0 h 467139"/>
                <a:gd name="connsiteX21" fmla="*/ 566530 w 1779104"/>
                <a:gd name="connsiteY21" fmla="*/ 0 h 467139"/>
                <a:gd name="connsiteX22" fmla="*/ 705678 w 1779104"/>
                <a:gd name="connsiteY22" fmla="*/ 19878 h 467139"/>
                <a:gd name="connsiteX23" fmla="*/ 844826 w 1779104"/>
                <a:gd name="connsiteY23" fmla="*/ 59634 h 467139"/>
                <a:gd name="connsiteX24" fmla="*/ 1053548 w 1779104"/>
                <a:gd name="connsiteY24" fmla="*/ 119269 h 467139"/>
                <a:gd name="connsiteX25" fmla="*/ 1242391 w 1779104"/>
                <a:gd name="connsiteY25" fmla="*/ 178904 h 467139"/>
                <a:gd name="connsiteX26" fmla="*/ 1500809 w 1779104"/>
                <a:gd name="connsiteY26" fmla="*/ 248478 h 467139"/>
                <a:gd name="connsiteX27" fmla="*/ 1719469 w 1779104"/>
                <a:gd name="connsiteY27" fmla="*/ 298174 h 467139"/>
                <a:gd name="connsiteX28" fmla="*/ 1779104 w 1779104"/>
                <a:gd name="connsiteY28" fmla="*/ 417443 h 467139"/>
                <a:gd name="connsiteX29" fmla="*/ 1779104 w 1779104"/>
                <a:gd name="connsiteY29" fmla="*/ 417443 h 467139"/>
                <a:gd name="connsiteX30" fmla="*/ 1719469 w 1779104"/>
                <a:gd name="connsiteY30" fmla="*/ 437321 h 467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79104" h="467139">
                  <a:moveTo>
                    <a:pt x="1719469" y="437321"/>
                  </a:moveTo>
                  <a:lnTo>
                    <a:pt x="1540565" y="467139"/>
                  </a:lnTo>
                  <a:lnTo>
                    <a:pt x="1321904" y="447261"/>
                  </a:lnTo>
                  <a:lnTo>
                    <a:pt x="1123122" y="437321"/>
                  </a:lnTo>
                  <a:lnTo>
                    <a:pt x="974035" y="437321"/>
                  </a:lnTo>
                  <a:lnTo>
                    <a:pt x="815009" y="437321"/>
                  </a:lnTo>
                  <a:lnTo>
                    <a:pt x="646043" y="437321"/>
                  </a:lnTo>
                  <a:lnTo>
                    <a:pt x="447261" y="377687"/>
                  </a:lnTo>
                  <a:lnTo>
                    <a:pt x="268356" y="318052"/>
                  </a:lnTo>
                  <a:lnTo>
                    <a:pt x="159026" y="288234"/>
                  </a:lnTo>
                  <a:lnTo>
                    <a:pt x="69574" y="268356"/>
                  </a:lnTo>
                  <a:lnTo>
                    <a:pt x="0" y="218661"/>
                  </a:lnTo>
                  <a:lnTo>
                    <a:pt x="29817" y="198782"/>
                  </a:lnTo>
                  <a:lnTo>
                    <a:pt x="119269" y="188843"/>
                  </a:lnTo>
                  <a:lnTo>
                    <a:pt x="218661" y="178904"/>
                  </a:lnTo>
                  <a:lnTo>
                    <a:pt x="168965" y="139147"/>
                  </a:lnTo>
                  <a:lnTo>
                    <a:pt x="168965" y="139147"/>
                  </a:lnTo>
                  <a:lnTo>
                    <a:pt x="79513" y="89452"/>
                  </a:lnTo>
                  <a:lnTo>
                    <a:pt x="89452" y="39756"/>
                  </a:lnTo>
                  <a:lnTo>
                    <a:pt x="218661" y="9939"/>
                  </a:lnTo>
                  <a:lnTo>
                    <a:pt x="377687" y="0"/>
                  </a:lnTo>
                  <a:lnTo>
                    <a:pt x="566530" y="0"/>
                  </a:lnTo>
                  <a:lnTo>
                    <a:pt x="705678" y="19878"/>
                  </a:lnTo>
                  <a:lnTo>
                    <a:pt x="844826" y="59634"/>
                  </a:lnTo>
                  <a:lnTo>
                    <a:pt x="1053548" y="119269"/>
                  </a:lnTo>
                  <a:lnTo>
                    <a:pt x="1242391" y="178904"/>
                  </a:lnTo>
                  <a:lnTo>
                    <a:pt x="1500809" y="248478"/>
                  </a:lnTo>
                  <a:lnTo>
                    <a:pt x="1719469" y="298174"/>
                  </a:lnTo>
                  <a:lnTo>
                    <a:pt x="1779104" y="417443"/>
                  </a:lnTo>
                  <a:lnTo>
                    <a:pt x="1779104" y="417443"/>
                  </a:lnTo>
                  <a:lnTo>
                    <a:pt x="1719469" y="43732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929DB98D-C601-6454-7E5B-9B3EE50EB140}"/>
                </a:ext>
              </a:extLst>
            </p:cNvPr>
            <p:cNvSpPr/>
            <p:nvPr/>
          </p:nvSpPr>
          <p:spPr>
            <a:xfrm>
              <a:off x="6341165" y="974035"/>
              <a:ext cx="407505" cy="288235"/>
            </a:xfrm>
            <a:custGeom>
              <a:avLst/>
              <a:gdLst>
                <a:gd name="connsiteX0" fmla="*/ 129209 w 407505"/>
                <a:gd name="connsiteY0" fmla="*/ 288235 h 288235"/>
                <a:gd name="connsiteX1" fmla="*/ 168965 w 407505"/>
                <a:gd name="connsiteY1" fmla="*/ 238539 h 288235"/>
                <a:gd name="connsiteX2" fmla="*/ 278296 w 407505"/>
                <a:gd name="connsiteY2" fmla="*/ 218661 h 288235"/>
                <a:gd name="connsiteX3" fmla="*/ 407505 w 407505"/>
                <a:gd name="connsiteY3" fmla="*/ 188843 h 288235"/>
                <a:gd name="connsiteX4" fmla="*/ 347870 w 407505"/>
                <a:gd name="connsiteY4" fmla="*/ 139148 h 288235"/>
                <a:gd name="connsiteX5" fmla="*/ 288235 w 407505"/>
                <a:gd name="connsiteY5" fmla="*/ 99391 h 288235"/>
                <a:gd name="connsiteX6" fmla="*/ 228600 w 407505"/>
                <a:gd name="connsiteY6" fmla="*/ 59635 h 288235"/>
                <a:gd name="connsiteX7" fmla="*/ 178905 w 407505"/>
                <a:gd name="connsiteY7" fmla="*/ 9939 h 288235"/>
                <a:gd name="connsiteX8" fmla="*/ 178905 w 407505"/>
                <a:gd name="connsiteY8" fmla="*/ 9939 h 288235"/>
                <a:gd name="connsiteX9" fmla="*/ 59635 w 407505"/>
                <a:gd name="connsiteY9" fmla="*/ 0 h 288235"/>
                <a:gd name="connsiteX10" fmla="*/ 0 w 407505"/>
                <a:gd name="connsiteY10" fmla="*/ 0 h 288235"/>
                <a:gd name="connsiteX11" fmla="*/ 89452 w 407505"/>
                <a:gd name="connsiteY11" fmla="*/ 139148 h 288235"/>
                <a:gd name="connsiteX12" fmla="*/ 129209 w 407505"/>
                <a:gd name="connsiteY12" fmla="*/ 188843 h 288235"/>
                <a:gd name="connsiteX13" fmla="*/ 139148 w 407505"/>
                <a:gd name="connsiteY13" fmla="*/ 228600 h 288235"/>
                <a:gd name="connsiteX14" fmla="*/ 129209 w 407505"/>
                <a:gd name="connsiteY14" fmla="*/ 288235 h 288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7505" h="288235">
                  <a:moveTo>
                    <a:pt x="129209" y="288235"/>
                  </a:moveTo>
                  <a:lnTo>
                    <a:pt x="168965" y="238539"/>
                  </a:lnTo>
                  <a:lnTo>
                    <a:pt x="278296" y="218661"/>
                  </a:lnTo>
                  <a:lnTo>
                    <a:pt x="407505" y="188843"/>
                  </a:lnTo>
                  <a:lnTo>
                    <a:pt x="347870" y="139148"/>
                  </a:lnTo>
                  <a:lnTo>
                    <a:pt x="288235" y="99391"/>
                  </a:lnTo>
                  <a:lnTo>
                    <a:pt x="228600" y="59635"/>
                  </a:lnTo>
                  <a:lnTo>
                    <a:pt x="178905" y="9939"/>
                  </a:lnTo>
                  <a:lnTo>
                    <a:pt x="178905" y="9939"/>
                  </a:lnTo>
                  <a:lnTo>
                    <a:pt x="59635" y="0"/>
                  </a:lnTo>
                  <a:lnTo>
                    <a:pt x="0" y="0"/>
                  </a:lnTo>
                  <a:lnTo>
                    <a:pt x="89452" y="139148"/>
                  </a:lnTo>
                  <a:lnTo>
                    <a:pt x="129209" y="188843"/>
                  </a:lnTo>
                  <a:lnTo>
                    <a:pt x="139148" y="228600"/>
                  </a:lnTo>
                  <a:lnTo>
                    <a:pt x="129209" y="28823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59E9FC6-4681-7560-2704-1B03459A93A6}"/>
              </a:ext>
            </a:extLst>
          </p:cNvPr>
          <p:cNvGrpSpPr>
            <a:grpSpLocks noChangeAspect="1"/>
          </p:cNvGrpSpPr>
          <p:nvPr/>
        </p:nvGrpSpPr>
        <p:grpSpPr>
          <a:xfrm rot="7511392" flipH="1" flipV="1">
            <a:off x="7447946" y="5855345"/>
            <a:ext cx="270084" cy="186070"/>
            <a:chOff x="2124307" y="887104"/>
            <a:chExt cx="3689639" cy="2541896"/>
          </a:xfrm>
          <a:solidFill>
            <a:srgbClr val="1A0D00"/>
          </a:solidFill>
        </p:grpSpPr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8CA1C99B-96CD-78BC-9ECA-6BC37C26DD16}"/>
                </a:ext>
              </a:extLst>
            </p:cNvPr>
            <p:cNvSpPr/>
            <p:nvPr/>
          </p:nvSpPr>
          <p:spPr>
            <a:xfrm>
              <a:off x="5129561" y="1081668"/>
              <a:ext cx="490654" cy="473927"/>
            </a:xfrm>
            <a:custGeom>
              <a:avLst/>
              <a:gdLst>
                <a:gd name="connsiteX0" fmla="*/ 61332 w 490654"/>
                <a:gd name="connsiteY0" fmla="*/ 334537 h 473927"/>
                <a:gd name="connsiteX1" fmla="*/ 16727 w 490654"/>
                <a:gd name="connsiteY1" fmla="*/ 295508 h 473927"/>
                <a:gd name="connsiteX2" fmla="*/ 0 w 490654"/>
                <a:gd name="connsiteY2" fmla="*/ 267630 h 473927"/>
                <a:gd name="connsiteX3" fmla="*/ 0 w 490654"/>
                <a:gd name="connsiteY3" fmla="*/ 267630 h 473927"/>
                <a:gd name="connsiteX4" fmla="*/ 5576 w 490654"/>
                <a:gd name="connsiteY4" fmla="*/ 189571 h 473927"/>
                <a:gd name="connsiteX5" fmla="*/ 5576 w 490654"/>
                <a:gd name="connsiteY5" fmla="*/ 189571 h 473927"/>
                <a:gd name="connsiteX6" fmla="*/ 72483 w 490654"/>
                <a:gd name="connsiteY6" fmla="*/ 111512 h 473927"/>
                <a:gd name="connsiteX7" fmla="*/ 111512 w 490654"/>
                <a:gd name="connsiteY7" fmla="*/ 83634 h 473927"/>
                <a:gd name="connsiteX8" fmla="*/ 200722 w 490654"/>
                <a:gd name="connsiteY8" fmla="*/ 22303 h 473927"/>
                <a:gd name="connsiteX9" fmla="*/ 245327 w 490654"/>
                <a:gd name="connsiteY9" fmla="*/ 0 h 473927"/>
                <a:gd name="connsiteX10" fmla="*/ 306659 w 490654"/>
                <a:gd name="connsiteY10" fmla="*/ 5576 h 473927"/>
                <a:gd name="connsiteX11" fmla="*/ 367990 w 490654"/>
                <a:gd name="connsiteY11" fmla="*/ 22303 h 473927"/>
                <a:gd name="connsiteX12" fmla="*/ 423746 w 490654"/>
                <a:gd name="connsiteY12" fmla="*/ 50181 h 473927"/>
                <a:gd name="connsiteX13" fmla="*/ 451624 w 490654"/>
                <a:gd name="connsiteY13" fmla="*/ 78059 h 473927"/>
                <a:gd name="connsiteX14" fmla="*/ 485078 w 490654"/>
                <a:gd name="connsiteY14" fmla="*/ 133815 h 473927"/>
                <a:gd name="connsiteX15" fmla="*/ 490654 w 490654"/>
                <a:gd name="connsiteY15" fmla="*/ 189571 h 473927"/>
                <a:gd name="connsiteX16" fmla="*/ 490654 w 490654"/>
                <a:gd name="connsiteY16" fmla="*/ 189571 h 473927"/>
                <a:gd name="connsiteX17" fmla="*/ 473927 w 490654"/>
                <a:gd name="connsiteY17" fmla="*/ 301083 h 473927"/>
                <a:gd name="connsiteX18" fmla="*/ 462776 w 490654"/>
                <a:gd name="connsiteY18" fmla="*/ 345688 h 473927"/>
                <a:gd name="connsiteX19" fmla="*/ 462776 w 490654"/>
                <a:gd name="connsiteY19" fmla="*/ 395869 h 473927"/>
                <a:gd name="connsiteX20" fmla="*/ 462776 w 490654"/>
                <a:gd name="connsiteY20" fmla="*/ 395869 h 473927"/>
                <a:gd name="connsiteX21" fmla="*/ 401444 w 490654"/>
                <a:gd name="connsiteY21" fmla="*/ 457200 h 473927"/>
                <a:gd name="connsiteX22" fmla="*/ 401444 w 490654"/>
                <a:gd name="connsiteY22" fmla="*/ 457200 h 473927"/>
                <a:gd name="connsiteX23" fmla="*/ 306659 w 490654"/>
                <a:gd name="connsiteY23" fmla="*/ 473927 h 473927"/>
                <a:gd name="connsiteX24" fmla="*/ 250902 w 490654"/>
                <a:gd name="connsiteY24" fmla="*/ 462776 h 473927"/>
                <a:gd name="connsiteX25" fmla="*/ 195146 w 490654"/>
                <a:gd name="connsiteY25" fmla="*/ 440473 h 473927"/>
                <a:gd name="connsiteX26" fmla="*/ 133815 w 490654"/>
                <a:gd name="connsiteY26" fmla="*/ 401444 h 473927"/>
                <a:gd name="connsiteX27" fmla="*/ 94785 w 490654"/>
                <a:gd name="connsiteY27" fmla="*/ 373566 h 473927"/>
                <a:gd name="connsiteX28" fmla="*/ 61332 w 490654"/>
                <a:gd name="connsiteY28" fmla="*/ 334537 h 4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0654" h="473927">
                  <a:moveTo>
                    <a:pt x="61332" y="334537"/>
                  </a:moveTo>
                  <a:lnTo>
                    <a:pt x="16727" y="295508"/>
                  </a:lnTo>
                  <a:lnTo>
                    <a:pt x="0" y="267630"/>
                  </a:lnTo>
                  <a:lnTo>
                    <a:pt x="0" y="267630"/>
                  </a:lnTo>
                  <a:lnTo>
                    <a:pt x="5576" y="189571"/>
                  </a:lnTo>
                  <a:lnTo>
                    <a:pt x="5576" y="189571"/>
                  </a:lnTo>
                  <a:lnTo>
                    <a:pt x="72483" y="111512"/>
                  </a:lnTo>
                  <a:lnTo>
                    <a:pt x="111512" y="83634"/>
                  </a:lnTo>
                  <a:lnTo>
                    <a:pt x="200722" y="22303"/>
                  </a:lnTo>
                  <a:lnTo>
                    <a:pt x="245327" y="0"/>
                  </a:lnTo>
                  <a:lnTo>
                    <a:pt x="306659" y="5576"/>
                  </a:lnTo>
                  <a:lnTo>
                    <a:pt x="367990" y="22303"/>
                  </a:lnTo>
                  <a:lnTo>
                    <a:pt x="423746" y="50181"/>
                  </a:lnTo>
                  <a:lnTo>
                    <a:pt x="451624" y="78059"/>
                  </a:lnTo>
                  <a:lnTo>
                    <a:pt x="485078" y="133815"/>
                  </a:lnTo>
                  <a:lnTo>
                    <a:pt x="490654" y="189571"/>
                  </a:lnTo>
                  <a:lnTo>
                    <a:pt x="490654" y="189571"/>
                  </a:lnTo>
                  <a:lnTo>
                    <a:pt x="473927" y="301083"/>
                  </a:lnTo>
                  <a:lnTo>
                    <a:pt x="462776" y="345688"/>
                  </a:lnTo>
                  <a:lnTo>
                    <a:pt x="462776" y="395869"/>
                  </a:lnTo>
                  <a:lnTo>
                    <a:pt x="462776" y="395869"/>
                  </a:lnTo>
                  <a:lnTo>
                    <a:pt x="401444" y="457200"/>
                  </a:lnTo>
                  <a:lnTo>
                    <a:pt x="401444" y="457200"/>
                  </a:lnTo>
                  <a:lnTo>
                    <a:pt x="306659" y="473927"/>
                  </a:lnTo>
                  <a:lnTo>
                    <a:pt x="250902" y="462776"/>
                  </a:lnTo>
                  <a:lnTo>
                    <a:pt x="195146" y="440473"/>
                  </a:lnTo>
                  <a:lnTo>
                    <a:pt x="133815" y="401444"/>
                  </a:lnTo>
                  <a:lnTo>
                    <a:pt x="94785" y="373566"/>
                  </a:lnTo>
                  <a:lnTo>
                    <a:pt x="61332" y="3345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3F41667B-16D4-C521-F9C3-8373E6CEBAB3}"/>
                </a:ext>
              </a:extLst>
            </p:cNvPr>
            <p:cNvSpPr/>
            <p:nvPr/>
          </p:nvSpPr>
          <p:spPr>
            <a:xfrm>
              <a:off x="4767146" y="1410629"/>
              <a:ext cx="758283" cy="713678"/>
            </a:xfrm>
            <a:custGeom>
              <a:avLst/>
              <a:gdLst>
                <a:gd name="connsiteX0" fmla="*/ 44605 w 758283"/>
                <a:gd name="connsiteY0" fmla="*/ 234176 h 713678"/>
                <a:gd name="connsiteX1" fmla="*/ 61332 w 758283"/>
                <a:gd name="connsiteY1" fmla="*/ 183995 h 713678"/>
                <a:gd name="connsiteX2" fmla="*/ 100361 w 758283"/>
                <a:gd name="connsiteY2" fmla="*/ 122664 h 713678"/>
                <a:gd name="connsiteX3" fmla="*/ 139391 w 758283"/>
                <a:gd name="connsiteY3" fmla="*/ 83634 h 713678"/>
                <a:gd name="connsiteX4" fmla="*/ 156117 w 758283"/>
                <a:gd name="connsiteY4" fmla="*/ 72483 h 713678"/>
                <a:gd name="connsiteX5" fmla="*/ 156117 w 758283"/>
                <a:gd name="connsiteY5" fmla="*/ 72483 h 713678"/>
                <a:gd name="connsiteX6" fmla="*/ 234176 w 758283"/>
                <a:gd name="connsiteY6" fmla="*/ 22303 h 713678"/>
                <a:gd name="connsiteX7" fmla="*/ 234176 w 758283"/>
                <a:gd name="connsiteY7" fmla="*/ 22303 h 713678"/>
                <a:gd name="connsiteX8" fmla="*/ 306659 w 758283"/>
                <a:gd name="connsiteY8" fmla="*/ 0 h 713678"/>
                <a:gd name="connsiteX9" fmla="*/ 306659 w 758283"/>
                <a:gd name="connsiteY9" fmla="*/ 0 h 713678"/>
                <a:gd name="connsiteX10" fmla="*/ 401444 w 758283"/>
                <a:gd name="connsiteY10" fmla="*/ 16727 h 713678"/>
                <a:gd name="connsiteX11" fmla="*/ 429322 w 758283"/>
                <a:gd name="connsiteY11" fmla="*/ 33454 h 713678"/>
                <a:gd name="connsiteX12" fmla="*/ 479503 w 758283"/>
                <a:gd name="connsiteY12" fmla="*/ 66908 h 713678"/>
                <a:gd name="connsiteX13" fmla="*/ 524108 w 758283"/>
                <a:gd name="connsiteY13" fmla="*/ 100361 h 713678"/>
                <a:gd name="connsiteX14" fmla="*/ 524108 w 758283"/>
                <a:gd name="connsiteY14" fmla="*/ 100361 h 713678"/>
                <a:gd name="connsiteX15" fmla="*/ 607742 w 758283"/>
                <a:gd name="connsiteY15" fmla="*/ 139391 h 713678"/>
                <a:gd name="connsiteX16" fmla="*/ 607742 w 758283"/>
                <a:gd name="connsiteY16" fmla="*/ 139391 h 713678"/>
                <a:gd name="connsiteX17" fmla="*/ 691376 w 758283"/>
                <a:gd name="connsiteY17" fmla="*/ 189571 h 713678"/>
                <a:gd name="connsiteX18" fmla="*/ 724830 w 758283"/>
                <a:gd name="connsiteY18" fmla="*/ 223025 h 713678"/>
                <a:gd name="connsiteX19" fmla="*/ 758283 w 758283"/>
                <a:gd name="connsiteY19" fmla="*/ 267630 h 713678"/>
                <a:gd name="connsiteX20" fmla="*/ 758283 w 758283"/>
                <a:gd name="connsiteY20" fmla="*/ 267630 h 713678"/>
                <a:gd name="connsiteX21" fmla="*/ 752708 w 758283"/>
                <a:gd name="connsiteY21" fmla="*/ 356839 h 713678"/>
                <a:gd name="connsiteX22" fmla="*/ 752708 w 758283"/>
                <a:gd name="connsiteY22" fmla="*/ 407020 h 713678"/>
                <a:gd name="connsiteX23" fmla="*/ 752708 w 758283"/>
                <a:gd name="connsiteY23" fmla="*/ 407020 h 713678"/>
                <a:gd name="connsiteX24" fmla="*/ 730405 w 758283"/>
                <a:gd name="connsiteY24" fmla="*/ 473927 h 713678"/>
                <a:gd name="connsiteX25" fmla="*/ 691376 w 758283"/>
                <a:gd name="connsiteY25" fmla="*/ 551986 h 713678"/>
                <a:gd name="connsiteX26" fmla="*/ 652347 w 758283"/>
                <a:gd name="connsiteY26" fmla="*/ 618893 h 713678"/>
                <a:gd name="connsiteX27" fmla="*/ 624469 w 758283"/>
                <a:gd name="connsiteY27" fmla="*/ 663498 h 713678"/>
                <a:gd name="connsiteX28" fmla="*/ 557561 w 758283"/>
                <a:gd name="connsiteY28" fmla="*/ 685800 h 713678"/>
                <a:gd name="connsiteX29" fmla="*/ 490654 w 758283"/>
                <a:gd name="connsiteY29" fmla="*/ 696951 h 713678"/>
                <a:gd name="connsiteX30" fmla="*/ 434898 w 758283"/>
                <a:gd name="connsiteY30" fmla="*/ 713678 h 713678"/>
                <a:gd name="connsiteX31" fmla="*/ 434898 w 758283"/>
                <a:gd name="connsiteY31" fmla="*/ 713678 h 713678"/>
                <a:gd name="connsiteX32" fmla="*/ 312234 w 758283"/>
                <a:gd name="connsiteY32" fmla="*/ 657922 h 713678"/>
                <a:gd name="connsiteX33" fmla="*/ 256478 w 758283"/>
                <a:gd name="connsiteY33" fmla="*/ 624469 h 713678"/>
                <a:gd name="connsiteX34" fmla="*/ 183995 w 758283"/>
                <a:gd name="connsiteY34" fmla="*/ 596591 h 713678"/>
                <a:gd name="connsiteX35" fmla="*/ 122664 w 758283"/>
                <a:gd name="connsiteY35" fmla="*/ 563137 h 713678"/>
                <a:gd name="connsiteX36" fmla="*/ 61332 w 758283"/>
                <a:gd name="connsiteY36" fmla="*/ 524108 h 713678"/>
                <a:gd name="connsiteX37" fmla="*/ 33454 w 758283"/>
                <a:gd name="connsiteY37" fmla="*/ 496230 h 713678"/>
                <a:gd name="connsiteX38" fmla="*/ 11152 w 758283"/>
                <a:gd name="connsiteY38" fmla="*/ 434898 h 713678"/>
                <a:gd name="connsiteX39" fmla="*/ 0 w 758283"/>
                <a:gd name="connsiteY39" fmla="*/ 367991 h 713678"/>
                <a:gd name="connsiteX40" fmla="*/ 11152 w 758283"/>
                <a:gd name="connsiteY40" fmla="*/ 284356 h 713678"/>
                <a:gd name="connsiteX41" fmla="*/ 44605 w 758283"/>
                <a:gd name="connsiteY41" fmla="*/ 234176 h 71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8283" h="713678">
                  <a:moveTo>
                    <a:pt x="44605" y="234176"/>
                  </a:moveTo>
                  <a:lnTo>
                    <a:pt x="61332" y="183995"/>
                  </a:lnTo>
                  <a:lnTo>
                    <a:pt x="100361" y="122664"/>
                  </a:lnTo>
                  <a:lnTo>
                    <a:pt x="139391" y="83634"/>
                  </a:lnTo>
                  <a:lnTo>
                    <a:pt x="156117" y="72483"/>
                  </a:lnTo>
                  <a:lnTo>
                    <a:pt x="156117" y="72483"/>
                  </a:lnTo>
                  <a:lnTo>
                    <a:pt x="234176" y="22303"/>
                  </a:lnTo>
                  <a:lnTo>
                    <a:pt x="234176" y="22303"/>
                  </a:lnTo>
                  <a:lnTo>
                    <a:pt x="306659" y="0"/>
                  </a:lnTo>
                  <a:lnTo>
                    <a:pt x="306659" y="0"/>
                  </a:lnTo>
                  <a:lnTo>
                    <a:pt x="401444" y="16727"/>
                  </a:lnTo>
                  <a:lnTo>
                    <a:pt x="429322" y="33454"/>
                  </a:lnTo>
                  <a:lnTo>
                    <a:pt x="479503" y="66908"/>
                  </a:lnTo>
                  <a:lnTo>
                    <a:pt x="524108" y="100361"/>
                  </a:lnTo>
                  <a:lnTo>
                    <a:pt x="524108" y="100361"/>
                  </a:lnTo>
                  <a:lnTo>
                    <a:pt x="607742" y="139391"/>
                  </a:lnTo>
                  <a:lnTo>
                    <a:pt x="607742" y="139391"/>
                  </a:lnTo>
                  <a:lnTo>
                    <a:pt x="691376" y="189571"/>
                  </a:lnTo>
                  <a:lnTo>
                    <a:pt x="724830" y="223025"/>
                  </a:lnTo>
                  <a:lnTo>
                    <a:pt x="758283" y="267630"/>
                  </a:lnTo>
                  <a:lnTo>
                    <a:pt x="758283" y="267630"/>
                  </a:lnTo>
                  <a:lnTo>
                    <a:pt x="752708" y="356839"/>
                  </a:lnTo>
                  <a:lnTo>
                    <a:pt x="752708" y="407020"/>
                  </a:lnTo>
                  <a:lnTo>
                    <a:pt x="752708" y="407020"/>
                  </a:lnTo>
                  <a:lnTo>
                    <a:pt x="730405" y="473927"/>
                  </a:lnTo>
                  <a:lnTo>
                    <a:pt x="691376" y="551986"/>
                  </a:lnTo>
                  <a:lnTo>
                    <a:pt x="652347" y="618893"/>
                  </a:lnTo>
                  <a:lnTo>
                    <a:pt x="624469" y="663498"/>
                  </a:lnTo>
                  <a:lnTo>
                    <a:pt x="557561" y="685800"/>
                  </a:lnTo>
                  <a:lnTo>
                    <a:pt x="490654" y="696951"/>
                  </a:lnTo>
                  <a:lnTo>
                    <a:pt x="434898" y="713678"/>
                  </a:lnTo>
                  <a:lnTo>
                    <a:pt x="434898" y="713678"/>
                  </a:lnTo>
                  <a:lnTo>
                    <a:pt x="312234" y="657922"/>
                  </a:lnTo>
                  <a:lnTo>
                    <a:pt x="256478" y="624469"/>
                  </a:lnTo>
                  <a:lnTo>
                    <a:pt x="183995" y="596591"/>
                  </a:lnTo>
                  <a:lnTo>
                    <a:pt x="122664" y="563137"/>
                  </a:lnTo>
                  <a:lnTo>
                    <a:pt x="61332" y="524108"/>
                  </a:lnTo>
                  <a:lnTo>
                    <a:pt x="33454" y="496230"/>
                  </a:lnTo>
                  <a:lnTo>
                    <a:pt x="11152" y="434898"/>
                  </a:lnTo>
                  <a:lnTo>
                    <a:pt x="0" y="367991"/>
                  </a:lnTo>
                  <a:lnTo>
                    <a:pt x="11152" y="284356"/>
                  </a:lnTo>
                  <a:lnTo>
                    <a:pt x="44605" y="23417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54919BC-8F41-9A3A-9EE2-868F68344BED}"/>
                </a:ext>
              </a:extLst>
            </p:cNvPr>
            <p:cNvSpPr/>
            <p:nvPr/>
          </p:nvSpPr>
          <p:spPr>
            <a:xfrm>
              <a:off x="4683512" y="1918010"/>
              <a:ext cx="501805" cy="451624"/>
            </a:xfrm>
            <a:custGeom>
              <a:avLst/>
              <a:gdLst>
                <a:gd name="connsiteX0" fmla="*/ 128239 w 501805"/>
                <a:gd name="connsiteY0" fmla="*/ 0 h 451624"/>
                <a:gd name="connsiteX1" fmla="*/ 111512 w 501805"/>
                <a:gd name="connsiteY1" fmla="*/ 55756 h 451624"/>
                <a:gd name="connsiteX2" fmla="*/ 66908 w 501805"/>
                <a:gd name="connsiteY2" fmla="*/ 72483 h 451624"/>
                <a:gd name="connsiteX3" fmla="*/ 66908 w 501805"/>
                <a:gd name="connsiteY3" fmla="*/ 72483 h 451624"/>
                <a:gd name="connsiteX4" fmla="*/ 16727 w 501805"/>
                <a:gd name="connsiteY4" fmla="*/ 117088 h 451624"/>
                <a:gd name="connsiteX5" fmla="*/ 22303 w 501805"/>
                <a:gd name="connsiteY5" fmla="*/ 144966 h 451624"/>
                <a:gd name="connsiteX6" fmla="*/ 27878 w 501805"/>
                <a:gd name="connsiteY6" fmla="*/ 167268 h 451624"/>
                <a:gd name="connsiteX7" fmla="*/ 0 w 501805"/>
                <a:gd name="connsiteY7" fmla="*/ 195146 h 451624"/>
                <a:gd name="connsiteX8" fmla="*/ 0 w 501805"/>
                <a:gd name="connsiteY8" fmla="*/ 195146 h 451624"/>
                <a:gd name="connsiteX9" fmla="*/ 55756 w 501805"/>
                <a:gd name="connsiteY9" fmla="*/ 289931 h 451624"/>
                <a:gd name="connsiteX10" fmla="*/ 122664 w 501805"/>
                <a:gd name="connsiteY10" fmla="*/ 312234 h 451624"/>
                <a:gd name="connsiteX11" fmla="*/ 206298 w 501805"/>
                <a:gd name="connsiteY11" fmla="*/ 379141 h 451624"/>
                <a:gd name="connsiteX12" fmla="*/ 262054 w 501805"/>
                <a:gd name="connsiteY12" fmla="*/ 423746 h 451624"/>
                <a:gd name="connsiteX13" fmla="*/ 312234 w 501805"/>
                <a:gd name="connsiteY13" fmla="*/ 451624 h 451624"/>
                <a:gd name="connsiteX14" fmla="*/ 373566 w 501805"/>
                <a:gd name="connsiteY14" fmla="*/ 412595 h 451624"/>
                <a:gd name="connsiteX15" fmla="*/ 407020 w 501805"/>
                <a:gd name="connsiteY15" fmla="*/ 384717 h 451624"/>
                <a:gd name="connsiteX16" fmla="*/ 446049 w 501805"/>
                <a:gd name="connsiteY16" fmla="*/ 306658 h 451624"/>
                <a:gd name="connsiteX17" fmla="*/ 496229 w 501805"/>
                <a:gd name="connsiteY17" fmla="*/ 250902 h 451624"/>
                <a:gd name="connsiteX18" fmla="*/ 501805 w 501805"/>
                <a:gd name="connsiteY18" fmla="*/ 200722 h 451624"/>
                <a:gd name="connsiteX19" fmla="*/ 457200 w 501805"/>
                <a:gd name="connsiteY19" fmla="*/ 139390 h 451624"/>
                <a:gd name="connsiteX20" fmla="*/ 289932 w 501805"/>
                <a:gd name="connsiteY20" fmla="*/ 50180 h 451624"/>
                <a:gd name="connsiteX21" fmla="*/ 128239 w 501805"/>
                <a:gd name="connsiteY21" fmla="*/ 0 h 45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1805" h="451624">
                  <a:moveTo>
                    <a:pt x="128239" y="0"/>
                  </a:moveTo>
                  <a:lnTo>
                    <a:pt x="111512" y="55756"/>
                  </a:lnTo>
                  <a:lnTo>
                    <a:pt x="66908" y="72483"/>
                  </a:lnTo>
                  <a:lnTo>
                    <a:pt x="66908" y="72483"/>
                  </a:lnTo>
                  <a:lnTo>
                    <a:pt x="16727" y="117088"/>
                  </a:lnTo>
                  <a:lnTo>
                    <a:pt x="22303" y="144966"/>
                  </a:lnTo>
                  <a:lnTo>
                    <a:pt x="27878" y="167268"/>
                  </a:lnTo>
                  <a:lnTo>
                    <a:pt x="0" y="195146"/>
                  </a:lnTo>
                  <a:lnTo>
                    <a:pt x="0" y="195146"/>
                  </a:lnTo>
                  <a:lnTo>
                    <a:pt x="55756" y="289931"/>
                  </a:lnTo>
                  <a:lnTo>
                    <a:pt x="122664" y="312234"/>
                  </a:lnTo>
                  <a:lnTo>
                    <a:pt x="206298" y="379141"/>
                  </a:lnTo>
                  <a:lnTo>
                    <a:pt x="262054" y="423746"/>
                  </a:lnTo>
                  <a:lnTo>
                    <a:pt x="312234" y="451624"/>
                  </a:lnTo>
                  <a:lnTo>
                    <a:pt x="373566" y="412595"/>
                  </a:lnTo>
                  <a:lnTo>
                    <a:pt x="407020" y="384717"/>
                  </a:lnTo>
                  <a:lnTo>
                    <a:pt x="446049" y="306658"/>
                  </a:lnTo>
                  <a:lnTo>
                    <a:pt x="496229" y="250902"/>
                  </a:lnTo>
                  <a:lnTo>
                    <a:pt x="501805" y="200722"/>
                  </a:lnTo>
                  <a:lnTo>
                    <a:pt x="457200" y="139390"/>
                  </a:lnTo>
                  <a:lnTo>
                    <a:pt x="289932" y="50180"/>
                  </a:lnTo>
                  <a:lnTo>
                    <a:pt x="128239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A8BCC5D5-BB6D-8D17-F1DC-7581276BC4AF}"/>
                </a:ext>
              </a:extLst>
            </p:cNvPr>
            <p:cNvSpPr/>
            <p:nvPr/>
          </p:nvSpPr>
          <p:spPr>
            <a:xfrm>
              <a:off x="4493941" y="2113156"/>
              <a:ext cx="551986" cy="490654"/>
            </a:xfrm>
            <a:custGeom>
              <a:avLst/>
              <a:gdLst>
                <a:gd name="connsiteX0" fmla="*/ 200722 w 551986"/>
                <a:gd name="connsiteY0" fmla="*/ 0 h 490654"/>
                <a:gd name="connsiteX1" fmla="*/ 178420 w 551986"/>
                <a:gd name="connsiteY1" fmla="*/ 50181 h 490654"/>
                <a:gd name="connsiteX2" fmla="*/ 117088 w 551986"/>
                <a:gd name="connsiteY2" fmla="*/ 61332 h 490654"/>
                <a:gd name="connsiteX3" fmla="*/ 72483 w 551986"/>
                <a:gd name="connsiteY3" fmla="*/ 83634 h 490654"/>
                <a:gd name="connsiteX4" fmla="*/ 44605 w 551986"/>
                <a:gd name="connsiteY4" fmla="*/ 100361 h 490654"/>
                <a:gd name="connsiteX5" fmla="*/ 39030 w 551986"/>
                <a:gd name="connsiteY5" fmla="*/ 150542 h 490654"/>
                <a:gd name="connsiteX6" fmla="*/ 16727 w 551986"/>
                <a:gd name="connsiteY6" fmla="*/ 228600 h 490654"/>
                <a:gd name="connsiteX7" fmla="*/ 0 w 551986"/>
                <a:gd name="connsiteY7" fmla="*/ 262054 h 490654"/>
                <a:gd name="connsiteX8" fmla="*/ 61332 w 551986"/>
                <a:gd name="connsiteY8" fmla="*/ 317810 h 490654"/>
                <a:gd name="connsiteX9" fmla="*/ 122664 w 551986"/>
                <a:gd name="connsiteY9" fmla="*/ 379142 h 490654"/>
                <a:gd name="connsiteX10" fmla="*/ 200722 w 551986"/>
                <a:gd name="connsiteY10" fmla="*/ 429322 h 490654"/>
                <a:gd name="connsiteX11" fmla="*/ 245327 w 551986"/>
                <a:gd name="connsiteY11" fmla="*/ 457200 h 490654"/>
                <a:gd name="connsiteX12" fmla="*/ 295508 w 551986"/>
                <a:gd name="connsiteY12" fmla="*/ 490654 h 490654"/>
                <a:gd name="connsiteX13" fmla="*/ 407020 w 551986"/>
                <a:gd name="connsiteY13" fmla="*/ 462776 h 490654"/>
                <a:gd name="connsiteX14" fmla="*/ 457200 w 551986"/>
                <a:gd name="connsiteY14" fmla="*/ 367990 h 490654"/>
                <a:gd name="connsiteX15" fmla="*/ 501805 w 551986"/>
                <a:gd name="connsiteY15" fmla="*/ 284356 h 490654"/>
                <a:gd name="connsiteX16" fmla="*/ 551986 w 551986"/>
                <a:gd name="connsiteY16" fmla="*/ 200722 h 490654"/>
                <a:gd name="connsiteX17" fmla="*/ 418171 w 551986"/>
                <a:gd name="connsiteY17" fmla="*/ 61332 h 490654"/>
                <a:gd name="connsiteX18" fmla="*/ 200722 w 551986"/>
                <a:gd name="connsiteY18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1986" h="490654">
                  <a:moveTo>
                    <a:pt x="200722" y="0"/>
                  </a:moveTo>
                  <a:lnTo>
                    <a:pt x="178420" y="50181"/>
                  </a:lnTo>
                  <a:lnTo>
                    <a:pt x="117088" y="61332"/>
                  </a:lnTo>
                  <a:lnTo>
                    <a:pt x="72483" y="83634"/>
                  </a:lnTo>
                  <a:lnTo>
                    <a:pt x="44605" y="100361"/>
                  </a:lnTo>
                  <a:lnTo>
                    <a:pt x="39030" y="150542"/>
                  </a:lnTo>
                  <a:lnTo>
                    <a:pt x="16727" y="228600"/>
                  </a:lnTo>
                  <a:lnTo>
                    <a:pt x="0" y="262054"/>
                  </a:lnTo>
                  <a:lnTo>
                    <a:pt x="61332" y="317810"/>
                  </a:lnTo>
                  <a:lnTo>
                    <a:pt x="122664" y="379142"/>
                  </a:lnTo>
                  <a:lnTo>
                    <a:pt x="200722" y="429322"/>
                  </a:lnTo>
                  <a:lnTo>
                    <a:pt x="245327" y="457200"/>
                  </a:lnTo>
                  <a:lnTo>
                    <a:pt x="295508" y="490654"/>
                  </a:lnTo>
                  <a:lnTo>
                    <a:pt x="407020" y="462776"/>
                  </a:lnTo>
                  <a:lnTo>
                    <a:pt x="457200" y="367990"/>
                  </a:lnTo>
                  <a:lnTo>
                    <a:pt x="501805" y="284356"/>
                  </a:lnTo>
                  <a:lnTo>
                    <a:pt x="551986" y="200722"/>
                  </a:lnTo>
                  <a:lnTo>
                    <a:pt x="418171" y="61332"/>
                  </a:lnTo>
                  <a:lnTo>
                    <a:pt x="200722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3418A7F0-C11A-EF89-A7D9-AA7567864DA6}"/>
                </a:ext>
              </a:extLst>
            </p:cNvPr>
            <p:cNvSpPr/>
            <p:nvPr/>
          </p:nvSpPr>
          <p:spPr>
            <a:xfrm>
              <a:off x="4287644" y="2352907"/>
              <a:ext cx="524107" cy="490654"/>
            </a:xfrm>
            <a:custGeom>
              <a:avLst/>
              <a:gdLst>
                <a:gd name="connsiteX0" fmla="*/ 228600 w 524107"/>
                <a:gd name="connsiteY0" fmla="*/ 0 h 490654"/>
                <a:gd name="connsiteX1" fmla="*/ 167268 w 524107"/>
                <a:gd name="connsiteY1" fmla="*/ 22303 h 490654"/>
                <a:gd name="connsiteX2" fmla="*/ 167268 w 524107"/>
                <a:gd name="connsiteY2" fmla="*/ 22303 h 490654"/>
                <a:gd name="connsiteX3" fmla="*/ 72483 w 524107"/>
                <a:gd name="connsiteY3" fmla="*/ 55756 h 490654"/>
                <a:gd name="connsiteX4" fmla="*/ 50180 w 524107"/>
                <a:gd name="connsiteY4" fmla="*/ 83634 h 490654"/>
                <a:gd name="connsiteX5" fmla="*/ 16727 w 524107"/>
                <a:gd name="connsiteY5" fmla="*/ 122664 h 490654"/>
                <a:gd name="connsiteX6" fmla="*/ 0 w 524107"/>
                <a:gd name="connsiteY6" fmla="*/ 183995 h 490654"/>
                <a:gd name="connsiteX7" fmla="*/ 0 w 524107"/>
                <a:gd name="connsiteY7" fmla="*/ 183995 h 490654"/>
                <a:gd name="connsiteX8" fmla="*/ 55756 w 524107"/>
                <a:gd name="connsiteY8" fmla="*/ 289932 h 490654"/>
                <a:gd name="connsiteX9" fmla="*/ 100361 w 524107"/>
                <a:gd name="connsiteY9" fmla="*/ 340113 h 490654"/>
                <a:gd name="connsiteX10" fmla="*/ 133815 w 524107"/>
                <a:gd name="connsiteY10" fmla="*/ 401444 h 490654"/>
                <a:gd name="connsiteX11" fmla="*/ 189571 w 524107"/>
                <a:gd name="connsiteY11" fmla="*/ 446049 h 490654"/>
                <a:gd name="connsiteX12" fmla="*/ 273205 w 524107"/>
                <a:gd name="connsiteY12" fmla="*/ 473927 h 490654"/>
                <a:gd name="connsiteX13" fmla="*/ 345688 w 524107"/>
                <a:gd name="connsiteY13" fmla="*/ 490654 h 490654"/>
                <a:gd name="connsiteX14" fmla="*/ 401444 w 524107"/>
                <a:gd name="connsiteY14" fmla="*/ 473927 h 490654"/>
                <a:gd name="connsiteX15" fmla="*/ 457200 w 524107"/>
                <a:gd name="connsiteY15" fmla="*/ 362415 h 490654"/>
                <a:gd name="connsiteX16" fmla="*/ 507380 w 524107"/>
                <a:gd name="connsiteY16" fmla="*/ 278781 h 490654"/>
                <a:gd name="connsiteX17" fmla="*/ 524107 w 524107"/>
                <a:gd name="connsiteY17" fmla="*/ 195147 h 490654"/>
                <a:gd name="connsiteX18" fmla="*/ 423746 w 524107"/>
                <a:gd name="connsiteY18" fmla="*/ 66908 h 490654"/>
                <a:gd name="connsiteX19" fmla="*/ 323385 w 524107"/>
                <a:gd name="connsiteY19" fmla="*/ 5576 h 490654"/>
                <a:gd name="connsiteX20" fmla="*/ 228600 w 524107"/>
                <a:gd name="connsiteY20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4107" h="490654">
                  <a:moveTo>
                    <a:pt x="228600" y="0"/>
                  </a:moveTo>
                  <a:lnTo>
                    <a:pt x="167268" y="22303"/>
                  </a:lnTo>
                  <a:lnTo>
                    <a:pt x="167268" y="22303"/>
                  </a:lnTo>
                  <a:lnTo>
                    <a:pt x="72483" y="55756"/>
                  </a:lnTo>
                  <a:lnTo>
                    <a:pt x="50180" y="83634"/>
                  </a:lnTo>
                  <a:lnTo>
                    <a:pt x="16727" y="122664"/>
                  </a:lnTo>
                  <a:lnTo>
                    <a:pt x="0" y="183995"/>
                  </a:lnTo>
                  <a:lnTo>
                    <a:pt x="0" y="183995"/>
                  </a:lnTo>
                  <a:lnTo>
                    <a:pt x="55756" y="289932"/>
                  </a:lnTo>
                  <a:lnTo>
                    <a:pt x="100361" y="340113"/>
                  </a:lnTo>
                  <a:lnTo>
                    <a:pt x="133815" y="401444"/>
                  </a:lnTo>
                  <a:lnTo>
                    <a:pt x="189571" y="446049"/>
                  </a:lnTo>
                  <a:lnTo>
                    <a:pt x="273205" y="473927"/>
                  </a:lnTo>
                  <a:lnTo>
                    <a:pt x="345688" y="490654"/>
                  </a:lnTo>
                  <a:lnTo>
                    <a:pt x="401444" y="473927"/>
                  </a:lnTo>
                  <a:lnTo>
                    <a:pt x="457200" y="362415"/>
                  </a:lnTo>
                  <a:lnTo>
                    <a:pt x="507380" y="278781"/>
                  </a:lnTo>
                  <a:lnTo>
                    <a:pt x="524107" y="195147"/>
                  </a:lnTo>
                  <a:lnTo>
                    <a:pt x="423746" y="66908"/>
                  </a:lnTo>
                  <a:lnTo>
                    <a:pt x="323385" y="5576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815EE53D-C085-0DB8-E438-254211B597BD}"/>
                </a:ext>
              </a:extLst>
            </p:cNvPr>
            <p:cNvSpPr/>
            <p:nvPr/>
          </p:nvSpPr>
          <p:spPr>
            <a:xfrm>
              <a:off x="3986561" y="2559205"/>
              <a:ext cx="579863" cy="501805"/>
            </a:xfrm>
            <a:custGeom>
              <a:avLst/>
              <a:gdLst>
                <a:gd name="connsiteX0" fmla="*/ 323385 w 579863"/>
                <a:gd name="connsiteY0" fmla="*/ 0 h 501805"/>
                <a:gd name="connsiteX1" fmla="*/ 262054 w 579863"/>
                <a:gd name="connsiteY1" fmla="*/ 5575 h 501805"/>
                <a:gd name="connsiteX2" fmla="*/ 161693 w 579863"/>
                <a:gd name="connsiteY2" fmla="*/ 11151 h 501805"/>
                <a:gd name="connsiteX3" fmla="*/ 117088 w 579863"/>
                <a:gd name="connsiteY3" fmla="*/ 39029 h 501805"/>
                <a:gd name="connsiteX4" fmla="*/ 72483 w 579863"/>
                <a:gd name="connsiteY4" fmla="*/ 66907 h 501805"/>
                <a:gd name="connsiteX5" fmla="*/ 16727 w 579863"/>
                <a:gd name="connsiteY5" fmla="*/ 117088 h 501805"/>
                <a:gd name="connsiteX6" fmla="*/ 0 w 579863"/>
                <a:gd name="connsiteY6" fmla="*/ 133815 h 501805"/>
                <a:gd name="connsiteX7" fmla="*/ 27878 w 579863"/>
                <a:gd name="connsiteY7" fmla="*/ 195146 h 501805"/>
                <a:gd name="connsiteX8" fmla="*/ 66907 w 579863"/>
                <a:gd name="connsiteY8" fmla="*/ 267629 h 501805"/>
                <a:gd name="connsiteX9" fmla="*/ 94785 w 579863"/>
                <a:gd name="connsiteY9" fmla="*/ 356839 h 501805"/>
                <a:gd name="connsiteX10" fmla="*/ 117088 w 579863"/>
                <a:gd name="connsiteY10" fmla="*/ 446049 h 501805"/>
                <a:gd name="connsiteX11" fmla="*/ 144966 w 579863"/>
                <a:gd name="connsiteY11" fmla="*/ 496229 h 501805"/>
                <a:gd name="connsiteX12" fmla="*/ 228600 w 579863"/>
                <a:gd name="connsiteY12" fmla="*/ 496229 h 501805"/>
                <a:gd name="connsiteX13" fmla="*/ 306659 w 579863"/>
                <a:gd name="connsiteY13" fmla="*/ 501805 h 501805"/>
                <a:gd name="connsiteX14" fmla="*/ 395868 w 579863"/>
                <a:gd name="connsiteY14" fmla="*/ 451624 h 501805"/>
                <a:gd name="connsiteX15" fmla="*/ 485078 w 579863"/>
                <a:gd name="connsiteY15" fmla="*/ 379141 h 501805"/>
                <a:gd name="connsiteX16" fmla="*/ 507380 w 579863"/>
                <a:gd name="connsiteY16" fmla="*/ 328961 h 501805"/>
                <a:gd name="connsiteX17" fmla="*/ 557561 w 579863"/>
                <a:gd name="connsiteY17" fmla="*/ 323385 h 501805"/>
                <a:gd name="connsiteX18" fmla="*/ 579863 w 579863"/>
                <a:gd name="connsiteY18" fmla="*/ 262054 h 501805"/>
                <a:gd name="connsiteX19" fmla="*/ 579863 w 579863"/>
                <a:gd name="connsiteY19" fmla="*/ 111512 h 501805"/>
                <a:gd name="connsiteX20" fmla="*/ 418171 w 579863"/>
                <a:gd name="connsiteY20" fmla="*/ 22302 h 501805"/>
                <a:gd name="connsiteX21" fmla="*/ 323385 w 579863"/>
                <a:gd name="connsiteY21" fmla="*/ 0 h 50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9863" h="501805">
                  <a:moveTo>
                    <a:pt x="323385" y="0"/>
                  </a:moveTo>
                  <a:lnTo>
                    <a:pt x="262054" y="5575"/>
                  </a:lnTo>
                  <a:lnTo>
                    <a:pt x="161693" y="11151"/>
                  </a:lnTo>
                  <a:lnTo>
                    <a:pt x="117088" y="39029"/>
                  </a:lnTo>
                  <a:lnTo>
                    <a:pt x="72483" y="66907"/>
                  </a:lnTo>
                  <a:lnTo>
                    <a:pt x="16727" y="117088"/>
                  </a:lnTo>
                  <a:lnTo>
                    <a:pt x="0" y="133815"/>
                  </a:lnTo>
                  <a:lnTo>
                    <a:pt x="27878" y="195146"/>
                  </a:lnTo>
                  <a:lnTo>
                    <a:pt x="66907" y="267629"/>
                  </a:lnTo>
                  <a:lnTo>
                    <a:pt x="94785" y="356839"/>
                  </a:lnTo>
                  <a:lnTo>
                    <a:pt x="117088" y="446049"/>
                  </a:lnTo>
                  <a:lnTo>
                    <a:pt x="144966" y="496229"/>
                  </a:lnTo>
                  <a:lnTo>
                    <a:pt x="228600" y="496229"/>
                  </a:lnTo>
                  <a:lnTo>
                    <a:pt x="306659" y="501805"/>
                  </a:lnTo>
                  <a:lnTo>
                    <a:pt x="395868" y="451624"/>
                  </a:lnTo>
                  <a:lnTo>
                    <a:pt x="485078" y="379141"/>
                  </a:lnTo>
                  <a:lnTo>
                    <a:pt x="507380" y="328961"/>
                  </a:lnTo>
                  <a:lnTo>
                    <a:pt x="557561" y="323385"/>
                  </a:lnTo>
                  <a:lnTo>
                    <a:pt x="579863" y="262054"/>
                  </a:lnTo>
                  <a:lnTo>
                    <a:pt x="579863" y="111512"/>
                  </a:lnTo>
                  <a:lnTo>
                    <a:pt x="418171" y="22302"/>
                  </a:lnTo>
                  <a:lnTo>
                    <a:pt x="323385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080319CB-D586-FC7A-52D4-35A4751D7FF0}"/>
                </a:ext>
              </a:extLst>
            </p:cNvPr>
            <p:cNvSpPr/>
            <p:nvPr/>
          </p:nvSpPr>
          <p:spPr>
            <a:xfrm>
              <a:off x="3685478" y="2693020"/>
              <a:ext cx="524107" cy="496229"/>
            </a:xfrm>
            <a:custGeom>
              <a:avLst/>
              <a:gdLst>
                <a:gd name="connsiteX0" fmla="*/ 345688 w 524107"/>
                <a:gd name="connsiteY0" fmla="*/ 16726 h 496229"/>
                <a:gd name="connsiteX1" fmla="*/ 273205 w 524107"/>
                <a:gd name="connsiteY1" fmla="*/ 16726 h 496229"/>
                <a:gd name="connsiteX2" fmla="*/ 189571 w 524107"/>
                <a:gd name="connsiteY2" fmla="*/ 0 h 496229"/>
                <a:gd name="connsiteX3" fmla="*/ 122663 w 524107"/>
                <a:gd name="connsiteY3" fmla="*/ 5575 h 496229"/>
                <a:gd name="connsiteX4" fmla="*/ 89210 w 524107"/>
                <a:gd name="connsiteY4" fmla="*/ 27878 h 496229"/>
                <a:gd name="connsiteX5" fmla="*/ 89210 w 524107"/>
                <a:gd name="connsiteY5" fmla="*/ 27878 h 496229"/>
                <a:gd name="connsiteX6" fmla="*/ 27878 w 524107"/>
                <a:gd name="connsiteY6" fmla="*/ 66907 h 496229"/>
                <a:gd name="connsiteX7" fmla="*/ 0 w 524107"/>
                <a:gd name="connsiteY7" fmla="*/ 100360 h 496229"/>
                <a:gd name="connsiteX8" fmla="*/ 0 w 524107"/>
                <a:gd name="connsiteY8" fmla="*/ 167268 h 496229"/>
                <a:gd name="connsiteX9" fmla="*/ 22302 w 524107"/>
                <a:gd name="connsiteY9" fmla="*/ 284356 h 496229"/>
                <a:gd name="connsiteX10" fmla="*/ 50181 w 524107"/>
                <a:gd name="connsiteY10" fmla="*/ 407019 h 496229"/>
                <a:gd name="connsiteX11" fmla="*/ 89210 w 524107"/>
                <a:gd name="connsiteY11" fmla="*/ 440473 h 496229"/>
                <a:gd name="connsiteX12" fmla="*/ 156117 w 524107"/>
                <a:gd name="connsiteY12" fmla="*/ 473926 h 496229"/>
                <a:gd name="connsiteX13" fmla="*/ 223024 w 524107"/>
                <a:gd name="connsiteY13" fmla="*/ 496229 h 496229"/>
                <a:gd name="connsiteX14" fmla="*/ 345688 w 524107"/>
                <a:gd name="connsiteY14" fmla="*/ 446048 h 496229"/>
                <a:gd name="connsiteX15" fmla="*/ 434898 w 524107"/>
                <a:gd name="connsiteY15" fmla="*/ 395868 h 496229"/>
                <a:gd name="connsiteX16" fmla="*/ 507381 w 524107"/>
                <a:gd name="connsiteY16" fmla="*/ 323385 h 496229"/>
                <a:gd name="connsiteX17" fmla="*/ 524107 w 524107"/>
                <a:gd name="connsiteY17" fmla="*/ 139390 h 496229"/>
                <a:gd name="connsiteX18" fmla="*/ 401444 w 524107"/>
                <a:gd name="connsiteY18" fmla="*/ 50180 h 496229"/>
                <a:gd name="connsiteX19" fmla="*/ 345688 w 524107"/>
                <a:gd name="connsiteY19" fmla="*/ 16726 h 49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4107" h="496229">
                  <a:moveTo>
                    <a:pt x="345688" y="16726"/>
                  </a:moveTo>
                  <a:lnTo>
                    <a:pt x="273205" y="16726"/>
                  </a:lnTo>
                  <a:lnTo>
                    <a:pt x="189571" y="0"/>
                  </a:lnTo>
                  <a:lnTo>
                    <a:pt x="122663" y="5575"/>
                  </a:lnTo>
                  <a:lnTo>
                    <a:pt x="89210" y="27878"/>
                  </a:lnTo>
                  <a:lnTo>
                    <a:pt x="89210" y="27878"/>
                  </a:lnTo>
                  <a:lnTo>
                    <a:pt x="27878" y="66907"/>
                  </a:lnTo>
                  <a:lnTo>
                    <a:pt x="0" y="100360"/>
                  </a:lnTo>
                  <a:lnTo>
                    <a:pt x="0" y="167268"/>
                  </a:lnTo>
                  <a:lnTo>
                    <a:pt x="22302" y="284356"/>
                  </a:lnTo>
                  <a:lnTo>
                    <a:pt x="50181" y="407019"/>
                  </a:lnTo>
                  <a:lnTo>
                    <a:pt x="89210" y="440473"/>
                  </a:lnTo>
                  <a:lnTo>
                    <a:pt x="156117" y="473926"/>
                  </a:lnTo>
                  <a:lnTo>
                    <a:pt x="223024" y="496229"/>
                  </a:lnTo>
                  <a:lnTo>
                    <a:pt x="345688" y="446048"/>
                  </a:lnTo>
                  <a:lnTo>
                    <a:pt x="434898" y="395868"/>
                  </a:lnTo>
                  <a:lnTo>
                    <a:pt x="507381" y="323385"/>
                  </a:lnTo>
                  <a:lnTo>
                    <a:pt x="524107" y="139390"/>
                  </a:lnTo>
                  <a:lnTo>
                    <a:pt x="401444" y="50180"/>
                  </a:lnTo>
                  <a:lnTo>
                    <a:pt x="345688" y="1672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BF5D3E1-444A-D93F-CAC7-C62046EFCFF3}"/>
                </a:ext>
              </a:extLst>
            </p:cNvPr>
            <p:cNvSpPr/>
            <p:nvPr/>
          </p:nvSpPr>
          <p:spPr>
            <a:xfrm>
              <a:off x="3367668" y="2771078"/>
              <a:ext cx="490654" cy="434898"/>
            </a:xfrm>
            <a:custGeom>
              <a:avLst/>
              <a:gdLst>
                <a:gd name="connsiteX0" fmla="*/ 345688 w 490654"/>
                <a:gd name="connsiteY0" fmla="*/ 39029 h 434898"/>
                <a:gd name="connsiteX1" fmla="*/ 278781 w 490654"/>
                <a:gd name="connsiteY1" fmla="*/ 16727 h 434898"/>
                <a:gd name="connsiteX2" fmla="*/ 206298 w 490654"/>
                <a:gd name="connsiteY2" fmla="*/ 0 h 434898"/>
                <a:gd name="connsiteX3" fmla="*/ 139391 w 490654"/>
                <a:gd name="connsiteY3" fmla="*/ 0 h 434898"/>
                <a:gd name="connsiteX4" fmla="*/ 83634 w 490654"/>
                <a:gd name="connsiteY4" fmla="*/ 0 h 434898"/>
                <a:gd name="connsiteX5" fmla="*/ 39030 w 490654"/>
                <a:gd name="connsiteY5" fmla="*/ 16727 h 434898"/>
                <a:gd name="connsiteX6" fmla="*/ 22303 w 490654"/>
                <a:gd name="connsiteY6" fmla="*/ 44605 h 434898"/>
                <a:gd name="connsiteX7" fmla="*/ 22303 w 490654"/>
                <a:gd name="connsiteY7" fmla="*/ 44605 h 434898"/>
                <a:gd name="connsiteX8" fmla="*/ 0 w 490654"/>
                <a:gd name="connsiteY8" fmla="*/ 167268 h 434898"/>
                <a:gd name="connsiteX9" fmla="*/ 0 w 490654"/>
                <a:gd name="connsiteY9" fmla="*/ 256478 h 434898"/>
                <a:gd name="connsiteX10" fmla="*/ 5576 w 490654"/>
                <a:gd name="connsiteY10" fmla="*/ 351263 h 434898"/>
                <a:gd name="connsiteX11" fmla="*/ 5576 w 490654"/>
                <a:gd name="connsiteY11" fmla="*/ 351263 h 434898"/>
                <a:gd name="connsiteX12" fmla="*/ 61332 w 490654"/>
                <a:gd name="connsiteY12" fmla="*/ 429322 h 434898"/>
                <a:gd name="connsiteX13" fmla="*/ 122664 w 490654"/>
                <a:gd name="connsiteY13" fmla="*/ 434898 h 434898"/>
                <a:gd name="connsiteX14" fmla="*/ 228600 w 490654"/>
                <a:gd name="connsiteY14" fmla="*/ 434898 h 434898"/>
                <a:gd name="connsiteX15" fmla="*/ 362415 w 490654"/>
                <a:gd name="connsiteY15" fmla="*/ 407020 h 434898"/>
                <a:gd name="connsiteX16" fmla="*/ 446049 w 490654"/>
                <a:gd name="connsiteY16" fmla="*/ 379142 h 434898"/>
                <a:gd name="connsiteX17" fmla="*/ 490654 w 490654"/>
                <a:gd name="connsiteY17" fmla="*/ 323385 h 434898"/>
                <a:gd name="connsiteX18" fmla="*/ 418171 w 490654"/>
                <a:gd name="connsiteY18" fmla="*/ 167268 h 434898"/>
                <a:gd name="connsiteX19" fmla="*/ 345688 w 490654"/>
                <a:gd name="connsiteY19" fmla="*/ 39029 h 43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0654" h="434898">
                  <a:moveTo>
                    <a:pt x="345688" y="39029"/>
                  </a:moveTo>
                  <a:lnTo>
                    <a:pt x="278781" y="16727"/>
                  </a:lnTo>
                  <a:lnTo>
                    <a:pt x="206298" y="0"/>
                  </a:lnTo>
                  <a:lnTo>
                    <a:pt x="139391" y="0"/>
                  </a:lnTo>
                  <a:lnTo>
                    <a:pt x="83634" y="0"/>
                  </a:lnTo>
                  <a:lnTo>
                    <a:pt x="39030" y="16727"/>
                  </a:lnTo>
                  <a:lnTo>
                    <a:pt x="22303" y="44605"/>
                  </a:lnTo>
                  <a:lnTo>
                    <a:pt x="22303" y="44605"/>
                  </a:lnTo>
                  <a:lnTo>
                    <a:pt x="0" y="167268"/>
                  </a:lnTo>
                  <a:lnTo>
                    <a:pt x="0" y="256478"/>
                  </a:lnTo>
                  <a:lnTo>
                    <a:pt x="5576" y="351263"/>
                  </a:lnTo>
                  <a:lnTo>
                    <a:pt x="5576" y="351263"/>
                  </a:lnTo>
                  <a:lnTo>
                    <a:pt x="61332" y="429322"/>
                  </a:lnTo>
                  <a:lnTo>
                    <a:pt x="122664" y="434898"/>
                  </a:lnTo>
                  <a:lnTo>
                    <a:pt x="228600" y="434898"/>
                  </a:lnTo>
                  <a:lnTo>
                    <a:pt x="362415" y="407020"/>
                  </a:lnTo>
                  <a:lnTo>
                    <a:pt x="446049" y="379142"/>
                  </a:lnTo>
                  <a:lnTo>
                    <a:pt x="490654" y="323385"/>
                  </a:lnTo>
                  <a:lnTo>
                    <a:pt x="418171" y="167268"/>
                  </a:lnTo>
                  <a:lnTo>
                    <a:pt x="345688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AB2954D7-247C-3880-7C2E-DF8DCE6684D3}"/>
                </a:ext>
              </a:extLst>
            </p:cNvPr>
            <p:cNvSpPr/>
            <p:nvPr/>
          </p:nvSpPr>
          <p:spPr>
            <a:xfrm>
              <a:off x="3061010" y="2743200"/>
              <a:ext cx="395868" cy="429322"/>
            </a:xfrm>
            <a:custGeom>
              <a:avLst/>
              <a:gdLst>
                <a:gd name="connsiteX0" fmla="*/ 345688 w 395868"/>
                <a:gd name="connsiteY0" fmla="*/ 105937 h 429322"/>
                <a:gd name="connsiteX1" fmla="*/ 301083 w 395868"/>
                <a:gd name="connsiteY1" fmla="*/ 55756 h 429322"/>
                <a:gd name="connsiteX2" fmla="*/ 228600 w 395868"/>
                <a:gd name="connsiteY2" fmla="*/ 33454 h 429322"/>
                <a:gd name="connsiteX3" fmla="*/ 133814 w 395868"/>
                <a:gd name="connsiteY3" fmla="*/ 0 h 429322"/>
                <a:gd name="connsiteX4" fmla="*/ 50180 w 395868"/>
                <a:gd name="connsiteY4" fmla="*/ 0 h 429322"/>
                <a:gd name="connsiteX5" fmla="*/ 33453 w 395868"/>
                <a:gd name="connsiteY5" fmla="*/ 66907 h 429322"/>
                <a:gd name="connsiteX6" fmla="*/ 22302 w 395868"/>
                <a:gd name="connsiteY6" fmla="*/ 122663 h 429322"/>
                <a:gd name="connsiteX7" fmla="*/ 11151 w 395868"/>
                <a:gd name="connsiteY7" fmla="*/ 178420 h 429322"/>
                <a:gd name="connsiteX8" fmla="*/ 0 w 395868"/>
                <a:gd name="connsiteY8" fmla="*/ 256478 h 429322"/>
                <a:gd name="connsiteX9" fmla="*/ 0 w 395868"/>
                <a:gd name="connsiteY9" fmla="*/ 340112 h 429322"/>
                <a:gd name="connsiteX10" fmla="*/ 44605 w 395868"/>
                <a:gd name="connsiteY10" fmla="*/ 379141 h 429322"/>
                <a:gd name="connsiteX11" fmla="*/ 161692 w 395868"/>
                <a:gd name="connsiteY11" fmla="*/ 412595 h 429322"/>
                <a:gd name="connsiteX12" fmla="*/ 245327 w 395868"/>
                <a:gd name="connsiteY12" fmla="*/ 429322 h 429322"/>
                <a:gd name="connsiteX13" fmla="*/ 267629 w 395868"/>
                <a:gd name="connsiteY13" fmla="*/ 418171 h 429322"/>
                <a:gd name="connsiteX14" fmla="*/ 267629 w 395868"/>
                <a:gd name="connsiteY14" fmla="*/ 418171 h 429322"/>
                <a:gd name="connsiteX15" fmla="*/ 273205 w 395868"/>
                <a:gd name="connsiteY15" fmla="*/ 351263 h 429322"/>
                <a:gd name="connsiteX16" fmla="*/ 345688 w 395868"/>
                <a:gd name="connsiteY16" fmla="*/ 351263 h 429322"/>
                <a:gd name="connsiteX17" fmla="*/ 395868 w 395868"/>
                <a:gd name="connsiteY17" fmla="*/ 211873 h 429322"/>
                <a:gd name="connsiteX18" fmla="*/ 345688 w 395868"/>
                <a:gd name="connsiteY18" fmla="*/ 105937 h 4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5868" h="429322">
                  <a:moveTo>
                    <a:pt x="345688" y="105937"/>
                  </a:moveTo>
                  <a:lnTo>
                    <a:pt x="301083" y="55756"/>
                  </a:lnTo>
                  <a:lnTo>
                    <a:pt x="228600" y="33454"/>
                  </a:lnTo>
                  <a:lnTo>
                    <a:pt x="133814" y="0"/>
                  </a:lnTo>
                  <a:lnTo>
                    <a:pt x="50180" y="0"/>
                  </a:lnTo>
                  <a:lnTo>
                    <a:pt x="33453" y="66907"/>
                  </a:lnTo>
                  <a:lnTo>
                    <a:pt x="22302" y="122663"/>
                  </a:lnTo>
                  <a:lnTo>
                    <a:pt x="11151" y="178420"/>
                  </a:lnTo>
                  <a:lnTo>
                    <a:pt x="0" y="256478"/>
                  </a:lnTo>
                  <a:lnTo>
                    <a:pt x="0" y="340112"/>
                  </a:lnTo>
                  <a:lnTo>
                    <a:pt x="44605" y="379141"/>
                  </a:lnTo>
                  <a:lnTo>
                    <a:pt x="161692" y="412595"/>
                  </a:lnTo>
                  <a:lnTo>
                    <a:pt x="245327" y="429322"/>
                  </a:lnTo>
                  <a:lnTo>
                    <a:pt x="267629" y="418171"/>
                  </a:lnTo>
                  <a:lnTo>
                    <a:pt x="267629" y="418171"/>
                  </a:lnTo>
                  <a:lnTo>
                    <a:pt x="273205" y="351263"/>
                  </a:lnTo>
                  <a:lnTo>
                    <a:pt x="345688" y="351263"/>
                  </a:lnTo>
                  <a:lnTo>
                    <a:pt x="395868" y="211873"/>
                  </a:lnTo>
                  <a:lnTo>
                    <a:pt x="345688" y="1059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75239A60-B86B-1C9E-D467-829AA7A9C73E}"/>
                </a:ext>
              </a:extLst>
            </p:cNvPr>
            <p:cNvSpPr/>
            <p:nvPr/>
          </p:nvSpPr>
          <p:spPr>
            <a:xfrm>
              <a:off x="2837985" y="2709746"/>
              <a:ext cx="367991" cy="356839"/>
            </a:xfrm>
            <a:custGeom>
              <a:avLst/>
              <a:gdLst>
                <a:gd name="connsiteX0" fmla="*/ 289932 w 367991"/>
                <a:gd name="connsiteY0" fmla="*/ 61332 h 356839"/>
                <a:gd name="connsiteX1" fmla="*/ 228600 w 367991"/>
                <a:gd name="connsiteY1" fmla="*/ 27878 h 356839"/>
                <a:gd name="connsiteX2" fmla="*/ 167269 w 367991"/>
                <a:gd name="connsiteY2" fmla="*/ 0 h 356839"/>
                <a:gd name="connsiteX3" fmla="*/ 167269 w 367991"/>
                <a:gd name="connsiteY3" fmla="*/ 0 h 356839"/>
                <a:gd name="connsiteX4" fmla="*/ 89210 w 367991"/>
                <a:gd name="connsiteY4" fmla="*/ 33454 h 356839"/>
                <a:gd name="connsiteX5" fmla="*/ 55756 w 367991"/>
                <a:gd name="connsiteY5" fmla="*/ 78059 h 356839"/>
                <a:gd name="connsiteX6" fmla="*/ 16727 w 367991"/>
                <a:gd name="connsiteY6" fmla="*/ 139391 h 356839"/>
                <a:gd name="connsiteX7" fmla="*/ 0 w 367991"/>
                <a:gd name="connsiteY7" fmla="*/ 200722 h 356839"/>
                <a:gd name="connsiteX8" fmla="*/ 22303 w 367991"/>
                <a:gd name="connsiteY8" fmla="*/ 273205 h 356839"/>
                <a:gd name="connsiteX9" fmla="*/ 78059 w 367991"/>
                <a:gd name="connsiteY9" fmla="*/ 312234 h 356839"/>
                <a:gd name="connsiteX10" fmla="*/ 161693 w 367991"/>
                <a:gd name="connsiteY10" fmla="*/ 328961 h 356839"/>
                <a:gd name="connsiteX11" fmla="*/ 234176 w 367991"/>
                <a:gd name="connsiteY11" fmla="*/ 356839 h 356839"/>
                <a:gd name="connsiteX12" fmla="*/ 323386 w 367991"/>
                <a:gd name="connsiteY12" fmla="*/ 356839 h 356839"/>
                <a:gd name="connsiteX13" fmla="*/ 367991 w 367991"/>
                <a:gd name="connsiteY13" fmla="*/ 200722 h 356839"/>
                <a:gd name="connsiteX14" fmla="*/ 289932 w 367991"/>
                <a:gd name="connsiteY14" fmla="*/ 61332 h 35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7991" h="356839">
                  <a:moveTo>
                    <a:pt x="289932" y="61332"/>
                  </a:moveTo>
                  <a:lnTo>
                    <a:pt x="228600" y="27878"/>
                  </a:lnTo>
                  <a:lnTo>
                    <a:pt x="167269" y="0"/>
                  </a:lnTo>
                  <a:lnTo>
                    <a:pt x="167269" y="0"/>
                  </a:lnTo>
                  <a:lnTo>
                    <a:pt x="89210" y="33454"/>
                  </a:lnTo>
                  <a:lnTo>
                    <a:pt x="55756" y="78059"/>
                  </a:lnTo>
                  <a:lnTo>
                    <a:pt x="16727" y="139391"/>
                  </a:lnTo>
                  <a:lnTo>
                    <a:pt x="0" y="200722"/>
                  </a:lnTo>
                  <a:lnTo>
                    <a:pt x="22303" y="273205"/>
                  </a:lnTo>
                  <a:lnTo>
                    <a:pt x="78059" y="312234"/>
                  </a:lnTo>
                  <a:lnTo>
                    <a:pt x="161693" y="328961"/>
                  </a:lnTo>
                  <a:lnTo>
                    <a:pt x="234176" y="356839"/>
                  </a:lnTo>
                  <a:lnTo>
                    <a:pt x="323386" y="356839"/>
                  </a:lnTo>
                  <a:lnTo>
                    <a:pt x="367991" y="200722"/>
                  </a:lnTo>
                  <a:lnTo>
                    <a:pt x="289932" y="61332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D6E090B7-F6A3-963D-BE03-43930C9DFD11}"/>
                </a:ext>
              </a:extLst>
            </p:cNvPr>
            <p:cNvSpPr/>
            <p:nvPr/>
          </p:nvSpPr>
          <p:spPr>
            <a:xfrm>
              <a:off x="2514600" y="2509024"/>
              <a:ext cx="546410" cy="412596"/>
            </a:xfrm>
            <a:custGeom>
              <a:avLst/>
              <a:gdLst>
                <a:gd name="connsiteX0" fmla="*/ 496229 w 546410"/>
                <a:gd name="connsiteY0" fmla="*/ 223025 h 412596"/>
                <a:gd name="connsiteX1" fmla="*/ 429322 w 546410"/>
                <a:gd name="connsiteY1" fmla="*/ 172844 h 412596"/>
                <a:gd name="connsiteX2" fmla="*/ 367990 w 546410"/>
                <a:gd name="connsiteY2" fmla="*/ 133815 h 412596"/>
                <a:gd name="connsiteX3" fmla="*/ 301083 w 546410"/>
                <a:gd name="connsiteY3" fmla="*/ 89210 h 412596"/>
                <a:gd name="connsiteX4" fmla="*/ 217449 w 546410"/>
                <a:gd name="connsiteY4" fmla="*/ 55756 h 412596"/>
                <a:gd name="connsiteX5" fmla="*/ 139390 w 546410"/>
                <a:gd name="connsiteY5" fmla="*/ 27878 h 412596"/>
                <a:gd name="connsiteX6" fmla="*/ 100361 w 546410"/>
                <a:gd name="connsiteY6" fmla="*/ 0 h 412596"/>
                <a:gd name="connsiteX7" fmla="*/ 44605 w 546410"/>
                <a:gd name="connsiteY7" fmla="*/ 11152 h 412596"/>
                <a:gd name="connsiteX8" fmla="*/ 44605 w 546410"/>
                <a:gd name="connsiteY8" fmla="*/ 11152 h 412596"/>
                <a:gd name="connsiteX9" fmla="*/ 0 w 546410"/>
                <a:gd name="connsiteY9" fmla="*/ 55756 h 412596"/>
                <a:gd name="connsiteX10" fmla="*/ 50180 w 546410"/>
                <a:gd name="connsiteY10" fmla="*/ 117088 h 412596"/>
                <a:gd name="connsiteX11" fmla="*/ 111512 w 546410"/>
                <a:gd name="connsiteY11" fmla="*/ 178420 h 412596"/>
                <a:gd name="connsiteX12" fmla="*/ 189571 w 546410"/>
                <a:gd name="connsiteY12" fmla="*/ 245327 h 412596"/>
                <a:gd name="connsiteX13" fmla="*/ 267629 w 546410"/>
                <a:gd name="connsiteY13" fmla="*/ 312235 h 412596"/>
                <a:gd name="connsiteX14" fmla="*/ 317810 w 546410"/>
                <a:gd name="connsiteY14" fmla="*/ 367991 h 412596"/>
                <a:gd name="connsiteX15" fmla="*/ 423746 w 546410"/>
                <a:gd name="connsiteY15" fmla="*/ 412596 h 412596"/>
                <a:gd name="connsiteX16" fmla="*/ 546410 w 546410"/>
                <a:gd name="connsiteY16" fmla="*/ 412596 h 412596"/>
                <a:gd name="connsiteX17" fmla="*/ 496229 w 546410"/>
                <a:gd name="connsiteY17" fmla="*/ 223025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410" h="412596">
                  <a:moveTo>
                    <a:pt x="496229" y="223025"/>
                  </a:moveTo>
                  <a:lnTo>
                    <a:pt x="429322" y="172844"/>
                  </a:lnTo>
                  <a:lnTo>
                    <a:pt x="367990" y="133815"/>
                  </a:lnTo>
                  <a:lnTo>
                    <a:pt x="301083" y="89210"/>
                  </a:lnTo>
                  <a:lnTo>
                    <a:pt x="217449" y="55756"/>
                  </a:lnTo>
                  <a:lnTo>
                    <a:pt x="139390" y="27878"/>
                  </a:lnTo>
                  <a:lnTo>
                    <a:pt x="100361" y="0"/>
                  </a:lnTo>
                  <a:lnTo>
                    <a:pt x="44605" y="11152"/>
                  </a:lnTo>
                  <a:lnTo>
                    <a:pt x="44605" y="11152"/>
                  </a:lnTo>
                  <a:lnTo>
                    <a:pt x="0" y="55756"/>
                  </a:lnTo>
                  <a:lnTo>
                    <a:pt x="50180" y="117088"/>
                  </a:lnTo>
                  <a:lnTo>
                    <a:pt x="111512" y="178420"/>
                  </a:lnTo>
                  <a:lnTo>
                    <a:pt x="189571" y="245327"/>
                  </a:lnTo>
                  <a:lnTo>
                    <a:pt x="267629" y="312235"/>
                  </a:lnTo>
                  <a:lnTo>
                    <a:pt x="317810" y="367991"/>
                  </a:lnTo>
                  <a:lnTo>
                    <a:pt x="423746" y="412596"/>
                  </a:lnTo>
                  <a:lnTo>
                    <a:pt x="546410" y="412596"/>
                  </a:lnTo>
                  <a:lnTo>
                    <a:pt x="496229" y="22302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656F2BD-5E9E-4DDA-1B7B-123642A12D03}"/>
                </a:ext>
              </a:extLst>
            </p:cNvPr>
            <p:cNvSpPr/>
            <p:nvPr/>
          </p:nvSpPr>
          <p:spPr>
            <a:xfrm>
              <a:off x="2670717" y="2771078"/>
              <a:ext cx="217449" cy="223024"/>
            </a:xfrm>
            <a:custGeom>
              <a:avLst/>
              <a:gdLst>
                <a:gd name="connsiteX0" fmla="*/ 83634 w 217449"/>
                <a:gd name="connsiteY0" fmla="*/ 0 h 223024"/>
                <a:gd name="connsiteX1" fmla="*/ 27878 w 217449"/>
                <a:gd name="connsiteY1" fmla="*/ 16727 h 223024"/>
                <a:gd name="connsiteX2" fmla="*/ 0 w 217449"/>
                <a:gd name="connsiteY2" fmla="*/ 33454 h 223024"/>
                <a:gd name="connsiteX3" fmla="*/ 22303 w 217449"/>
                <a:gd name="connsiteY3" fmla="*/ 89210 h 223024"/>
                <a:gd name="connsiteX4" fmla="*/ 22303 w 217449"/>
                <a:gd name="connsiteY4" fmla="*/ 89210 h 223024"/>
                <a:gd name="connsiteX5" fmla="*/ 33454 w 217449"/>
                <a:gd name="connsiteY5" fmla="*/ 189571 h 223024"/>
                <a:gd name="connsiteX6" fmla="*/ 44605 w 217449"/>
                <a:gd name="connsiteY6" fmla="*/ 223024 h 223024"/>
                <a:gd name="connsiteX7" fmla="*/ 150542 w 217449"/>
                <a:gd name="connsiteY7" fmla="*/ 189571 h 223024"/>
                <a:gd name="connsiteX8" fmla="*/ 217449 w 217449"/>
                <a:gd name="connsiteY8" fmla="*/ 172844 h 223024"/>
                <a:gd name="connsiteX9" fmla="*/ 172844 w 217449"/>
                <a:gd name="connsiteY9" fmla="*/ 27878 h 223024"/>
                <a:gd name="connsiteX10" fmla="*/ 83634 w 217449"/>
                <a:gd name="connsiteY10" fmla="*/ 0 h 22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7449" h="223024">
                  <a:moveTo>
                    <a:pt x="83634" y="0"/>
                  </a:moveTo>
                  <a:lnTo>
                    <a:pt x="27878" y="16727"/>
                  </a:lnTo>
                  <a:lnTo>
                    <a:pt x="0" y="33454"/>
                  </a:lnTo>
                  <a:lnTo>
                    <a:pt x="22303" y="89210"/>
                  </a:lnTo>
                  <a:lnTo>
                    <a:pt x="22303" y="89210"/>
                  </a:lnTo>
                  <a:lnTo>
                    <a:pt x="33454" y="189571"/>
                  </a:lnTo>
                  <a:lnTo>
                    <a:pt x="44605" y="223024"/>
                  </a:lnTo>
                  <a:lnTo>
                    <a:pt x="150542" y="189571"/>
                  </a:lnTo>
                  <a:lnTo>
                    <a:pt x="217449" y="172844"/>
                  </a:lnTo>
                  <a:lnTo>
                    <a:pt x="172844" y="27878"/>
                  </a:lnTo>
                  <a:lnTo>
                    <a:pt x="83634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637C3EB-B40B-475A-74E8-AFEC89C725AA}"/>
                </a:ext>
              </a:extLst>
            </p:cNvPr>
            <p:cNvSpPr/>
            <p:nvPr/>
          </p:nvSpPr>
          <p:spPr>
            <a:xfrm>
              <a:off x="2174488" y="2743200"/>
              <a:ext cx="602166" cy="100361"/>
            </a:xfrm>
            <a:custGeom>
              <a:avLst/>
              <a:gdLst>
                <a:gd name="connsiteX0" fmla="*/ 546410 w 602166"/>
                <a:gd name="connsiteY0" fmla="*/ 39029 h 100361"/>
                <a:gd name="connsiteX1" fmla="*/ 446049 w 602166"/>
                <a:gd name="connsiteY1" fmla="*/ 22302 h 100361"/>
                <a:gd name="connsiteX2" fmla="*/ 317810 w 602166"/>
                <a:gd name="connsiteY2" fmla="*/ 0 h 100361"/>
                <a:gd name="connsiteX3" fmla="*/ 239751 w 602166"/>
                <a:gd name="connsiteY3" fmla="*/ 0 h 100361"/>
                <a:gd name="connsiteX4" fmla="*/ 156117 w 602166"/>
                <a:gd name="connsiteY4" fmla="*/ 0 h 100361"/>
                <a:gd name="connsiteX5" fmla="*/ 61332 w 602166"/>
                <a:gd name="connsiteY5" fmla="*/ 0 h 100361"/>
                <a:gd name="connsiteX6" fmla="*/ 11151 w 602166"/>
                <a:gd name="connsiteY6" fmla="*/ 22302 h 100361"/>
                <a:gd name="connsiteX7" fmla="*/ 0 w 602166"/>
                <a:gd name="connsiteY7" fmla="*/ 39029 h 100361"/>
                <a:gd name="connsiteX8" fmla="*/ 27878 w 602166"/>
                <a:gd name="connsiteY8" fmla="*/ 78059 h 100361"/>
                <a:gd name="connsiteX9" fmla="*/ 133814 w 602166"/>
                <a:gd name="connsiteY9" fmla="*/ 94785 h 100361"/>
                <a:gd name="connsiteX10" fmla="*/ 239751 w 602166"/>
                <a:gd name="connsiteY10" fmla="*/ 89210 h 100361"/>
                <a:gd name="connsiteX11" fmla="*/ 390292 w 602166"/>
                <a:gd name="connsiteY11" fmla="*/ 94785 h 100361"/>
                <a:gd name="connsiteX12" fmla="*/ 518532 w 602166"/>
                <a:gd name="connsiteY12" fmla="*/ 100361 h 100361"/>
                <a:gd name="connsiteX13" fmla="*/ 602166 w 602166"/>
                <a:gd name="connsiteY13" fmla="*/ 94785 h 100361"/>
                <a:gd name="connsiteX14" fmla="*/ 546410 w 602166"/>
                <a:gd name="connsiteY14" fmla="*/ 39029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2166" h="100361">
                  <a:moveTo>
                    <a:pt x="546410" y="39029"/>
                  </a:moveTo>
                  <a:lnTo>
                    <a:pt x="446049" y="22302"/>
                  </a:lnTo>
                  <a:lnTo>
                    <a:pt x="317810" y="0"/>
                  </a:lnTo>
                  <a:lnTo>
                    <a:pt x="239751" y="0"/>
                  </a:lnTo>
                  <a:lnTo>
                    <a:pt x="156117" y="0"/>
                  </a:lnTo>
                  <a:lnTo>
                    <a:pt x="61332" y="0"/>
                  </a:lnTo>
                  <a:lnTo>
                    <a:pt x="11151" y="22302"/>
                  </a:lnTo>
                  <a:lnTo>
                    <a:pt x="0" y="39029"/>
                  </a:lnTo>
                  <a:lnTo>
                    <a:pt x="27878" y="78059"/>
                  </a:lnTo>
                  <a:lnTo>
                    <a:pt x="133814" y="94785"/>
                  </a:lnTo>
                  <a:lnTo>
                    <a:pt x="239751" y="89210"/>
                  </a:lnTo>
                  <a:lnTo>
                    <a:pt x="390292" y="94785"/>
                  </a:lnTo>
                  <a:lnTo>
                    <a:pt x="518532" y="100361"/>
                  </a:lnTo>
                  <a:lnTo>
                    <a:pt x="602166" y="94785"/>
                  </a:lnTo>
                  <a:lnTo>
                    <a:pt x="546410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1B8E655A-A2F9-C8F5-44A8-FCCE51D4070E}"/>
                </a:ext>
              </a:extLst>
            </p:cNvPr>
            <p:cNvSpPr/>
            <p:nvPr/>
          </p:nvSpPr>
          <p:spPr>
            <a:xfrm>
              <a:off x="2124307" y="2810107"/>
              <a:ext cx="696952" cy="172844"/>
            </a:xfrm>
            <a:custGeom>
              <a:avLst/>
              <a:gdLst>
                <a:gd name="connsiteX0" fmla="*/ 429322 w 696952"/>
                <a:gd name="connsiteY0" fmla="*/ 22303 h 172844"/>
                <a:gd name="connsiteX1" fmla="*/ 278781 w 696952"/>
                <a:gd name="connsiteY1" fmla="*/ 33454 h 172844"/>
                <a:gd name="connsiteX2" fmla="*/ 195147 w 696952"/>
                <a:gd name="connsiteY2" fmla="*/ 50181 h 172844"/>
                <a:gd name="connsiteX3" fmla="*/ 122664 w 696952"/>
                <a:gd name="connsiteY3" fmla="*/ 66908 h 172844"/>
                <a:gd name="connsiteX4" fmla="*/ 61332 w 696952"/>
                <a:gd name="connsiteY4" fmla="*/ 78059 h 172844"/>
                <a:gd name="connsiteX5" fmla="*/ 5576 w 696952"/>
                <a:gd name="connsiteY5" fmla="*/ 111513 h 172844"/>
                <a:gd name="connsiteX6" fmla="*/ 0 w 696952"/>
                <a:gd name="connsiteY6" fmla="*/ 128239 h 172844"/>
                <a:gd name="connsiteX7" fmla="*/ 55756 w 696952"/>
                <a:gd name="connsiteY7" fmla="*/ 172844 h 172844"/>
                <a:gd name="connsiteX8" fmla="*/ 234176 w 696952"/>
                <a:gd name="connsiteY8" fmla="*/ 156117 h 172844"/>
                <a:gd name="connsiteX9" fmla="*/ 367991 w 696952"/>
                <a:gd name="connsiteY9" fmla="*/ 144966 h 172844"/>
                <a:gd name="connsiteX10" fmla="*/ 501805 w 696952"/>
                <a:gd name="connsiteY10" fmla="*/ 117088 h 172844"/>
                <a:gd name="connsiteX11" fmla="*/ 646771 w 696952"/>
                <a:gd name="connsiteY11" fmla="*/ 66908 h 172844"/>
                <a:gd name="connsiteX12" fmla="*/ 696952 w 696952"/>
                <a:gd name="connsiteY12" fmla="*/ 27878 h 172844"/>
                <a:gd name="connsiteX13" fmla="*/ 485078 w 696952"/>
                <a:gd name="connsiteY13" fmla="*/ 0 h 172844"/>
                <a:gd name="connsiteX14" fmla="*/ 429322 w 696952"/>
                <a:gd name="connsiteY14" fmla="*/ 22303 h 17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6952" h="172844">
                  <a:moveTo>
                    <a:pt x="429322" y="22303"/>
                  </a:moveTo>
                  <a:lnTo>
                    <a:pt x="278781" y="33454"/>
                  </a:lnTo>
                  <a:lnTo>
                    <a:pt x="195147" y="50181"/>
                  </a:lnTo>
                  <a:lnTo>
                    <a:pt x="122664" y="66908"/>
                  </a:lnTo>
                  <a:lnTo>
                    <a:pt x="61332" y="78059"/>
                  </a:lnTo>
                  <a:lnTo>
                    <a:pt x="5576" y="111513"/>
                  </a:lnTo>
                  <a:lnTo>
                    <a:pt x="0" y="128239"/>
                  </a:lnTo>
                  <a:lnTo>
                    <a:pt x="55756" y="172844"/>
                  </a:lnTo>
                  <a:lnTo>
                    <a:pt x="234176" y="156117"/>
                  </a:lnTo>
                  <a:lnTo>
                    <a:pt x="367991" y="144966"/>
                  </a:lnTo>
                  <a:lnTo>
                    <a:pt x="501805" y="117088"/>
                  </a:lnTo>
                  <a:lnTo>
                    <a:pt x="646771" y="66908"/>
                  </a:lnTo>
                  <a:lnTo>
                    <a:pt x="696952" y="27878"/>
                  </a:lnTo>
                  <a:lnTo>
                    <a:pt x="485078" y="0"/>
                  </a:lnTo>
                  <a:lnTo>
                    <a:pt x="429322" y="22303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EAC7920F-3EA2-CEC5-4721-B0D88949C312}"/>
                </a:ext>
              </a:extLst>
            </p:cNvPr>
            <p:cNvSpPr/>
            <p:nvPr/>
          </p:nvSpPr>
          <p:spPr>
            <a:xfrm>
              <a:off x="2258122" y="2854712"/>
              <a:ext cx="585439" cy="256478"/>
            </a:xfrm>
            <a:custGeom>
              <a:avLst/>
              <a:gdLst>
                <a:gd name="connsiteX0" fmla="*/ 289932 w 585439"/>
                <a:gd name="connsiteY0" fmla="*/ 66908 h 256478"/>
                <a:gd name="connsiteX1" fmla="*/ 167268 w 585439"/>
                <a:gd name="connsiteY1" fmla="*/ 133815 h 256478"/>
                <a:gd name="connsiteX2" fmla="*/ 100361 w 585439"/>
                <a:gd name="connsiteY2" fmla="*/ 156117 h 256478"/>
                <a:gd name="connsiteX3" fmla="*/ 44605 w 585439"/>
                <a:gd name="connsiteY3" fmla="*/ 183995 h 256478"/>
                <a:gd name="connsiteX4" fmla="*/ 44605 w 585439"/>
                <a:gd name="connsiteY4" fmla="*/ 183995 h 256478"/>
                <a:gd name="connsiteX5" fmla="*/ 0 w 585439"/>
                <a:gd name="connsiteY5" fmla="*/ 228600 h 256478"/>
                <a:gd name="connsiteX6" fmla="*/ 11151 w 585439"/>
                <a:gd name="connsiteY6" fmla="*/ 256478 h 256478"/>
                <a:gd name="connsiteX7" fmla="*/ 133815 w 585439"/>
                <a:gd name="connsiteY7" fmla="*/ 239751 h 256478"/>
                <a:gd name="connsiteX8" fmla="*/ 245327 w 585439"/>
                <a:gd name="connsiteY8" fmla="*/ 195147 h 256478"/>
                <a:gd name="connsiteX9" fmla="*/ 390293 w 585439"/>
                <a:gd name="connsiteY9" fmla="*/ 133815 h 256478"/>
                <a:gd name="connsiteX10" fmla="*/ 585439 w 585439"/>
                <a:gd name="connsiteY10" fmla="*/ 33454 h 256478"/>
                <a:gd name="connsiteX11" fmla="*/ 423746 w 585439"/>
                <a:gd name="connsiteY11" fmla="*/ 0 h 256478"/>
                <a:gd name="connsiteX12" fmla="*/ 289932 w 585439"/>
                <a:gd name="connsiteY12" fmla="*/ 66908 h 25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5439" h="256478">
                  <a:moveTo>
                    <a:pt x="289932" y="66908"/>
                  </a:moveTo>
                  <a:lnTo>
                    <a:pt x="167268" y="133815"/>
                  </a:lnTo>
                  <a:lnTo>
                    <a:pt x="100361" y="156117"/>
                  </a:lnTo>
                  <a:lnTo>
                    <a:pt x="44605" y="183995"/>
                  </a:lnTo>
                  <a:lnTo>
                    <a:pt x="44605" y="183995"/>
                  </a:lnTo>
                  <a:lnTo>
                    <a:pt x="0" y="228600"/>
                  </a:lnTo>
                  <a:lnTo>
                    <a:pt x="11151" y="256478"/>
                  </a:lnTo>
                  <a:lnTo>
                    <a:pt x="133815" y="239751"/>
                  </a:lnTo>
                  <a:lnTo>
                    <a:pt x="245327" y="195147"/>
                  </a:lnTo>
                  <a:lnTo>
                    <a:pt x="390293" y="133815"/>
                  </a:lnTo>
                  <a:lnTo>
                    <a:pt x="585439" y="33454"/>
                  </a:lnTo>
                  <a:lnTo>
                    <a:pt x="423746" y="0"/>
                  </a:lnTo>
                  <a:lnTo>
                    <a:pt x="289932" y="66908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D3868172-593E-8A70-0428-B839C4C9BE9A}"/>
                </a:ext>
              </a:extLst>
            </p:cNvPr>
            <p:cNvSpPr/>
            <p:nvPr/>
          </p:nvSpPr>
          <p:spPr>
            <a:xfrm>
              <a:off x="5222543" y="887104"/>
              <a:ext cx="159224" cy="300251"/>
            </a:xfrm>
            <a:custGeom>
              <a:avLst/>
              <a:gdLst>
                <a:gd name="connsiteX0" fmla="*/ 0 w 159224"/>
                <a:gd name="connsiteY0" fmla="*/ 300251 h 300251"/>
                <a:gd name="connsiteX1" fmla="*/ 36394 w 159224"/>
                <a:gd name="connsiteY1" fmla="*/ 227463 h 300251"/>
                <a:gd name="connsiteX2" fmla="*/ 63690 w 159224"/>
                <a:gd name="connsiteY2" fmla="*/ 209266 h 300251"/>
                <a:gd name="connsiteX3" fmla="*/ 63690 w 159224"/>
                <a:gd name="connsiteY3" fmla="*/ 154675 h 300251"/>
                <a:gd name="connsiteX4" fmla="*/ 68239 w 159224"/>
                <a:gd name="connsiteY4" fmla="*/ 95535 h 300251"/>
                <a:gd name="connsiteX5" fmla="*/ 90985 w 159224"/>
                <a:gd name="connsiteY5" fmla="*/ 18197 h 300251"/>
                <a:gd name="connsiteX6" fmla="*/ 113732 w 159224"/>
                <a:gd name="connsiteY6" fmla="*/ 4550 h 300251"/>
                <a:gd name="connsiteX7" fmla="*/ 113732 w 159224"/>
                <a:gd name="connsiteY7" fmla="*/ 4550 h 300251"/>
                <a:gd name="connsiteX8" fmla="*/ 159224 w 159224"/>
                <a:gd name="connsiteY8" fmla="*/ 0 h 300251"/>
                <a:gd name="connsiteX9" fmla="*/ 131929 w 159224"/>
                <a:gd name="connsiteY9" fmla="*/ 22747 h 300251"/>
                <a:gd name="connsiteX10" fmla="*/ 104633 w 159224"/>
                <a:gd name="connsiteY10" fmla="*/ 36395 h 300251"/>
                <a:gd name="connsiteX11" fmla="*/ 104633 w 159224"/>
                <a:gd name="connsiteY11" fmla="*/ 36395 h 300251"/>
                <a:gd name="connsiteX12" fmla="*/ 81887 w 159224"/>
                <a:gd name="connsiteY12" fmla="*/ 141027 h 300251"/>
                <a:gd name="connsiteX13" fmla="*/ 90985 w 159224"/>
                <a:gd name="connsiteY13" fmla="*/ 191069 h 300251"/>
                <a:gd name="connsiteX14" fmla="*/ 100084 w 159224"/>
                <a:gd name="connsiteY14" fmla="*/ 241111 h 300251"/>
                <a:gd name="connsiteX15" fmla="*/ 145576 w 159224"/>
                <a:gd name="connsiteY15" fmla="*/ 272956 h 300251"/>
                <a:gd name="connsiteX16" fmla="*/ 0 w 159224"/>
                <a:gd name="connsiteY16" fmla="*/ 300251 h 30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9224" h="300251">
                  <a:moveTo>
                    <a:pt x="0" y="300251"/>
                  </a:moveTo>
                  <a:lnTo>
                    <a:pt x="36394" y="227463"/>
                  </a:lnTo>
                  <a:lnTo>
                    <a:pt x="63690" y="209266"/>
                  </a:lnTo>
                  <a:lnTo>
                    <a:pt x="63690" y="154675"/>
                  </a:lnTo>
                  <a:lnTo>
                    <a:pt x="68239" y="95535"/>
                  </a:lnTo>
                  <a:lnTo>
                    <a:pt x="90985" y="18197"/>
                  </a:lnTo>
                  <a:lnTo>
                    <a:pt x="113732" y="4550"/>
                  </a:lnTo>
                  <a:lnTo>
                    <a:pt x="113732" y="4550"/>
                  </a:lnTo>
                  <a:lnTo>
                    <a:pt x="159224" y="0"/>
                  </a:lnTo>
                  <a:lnTo>
                    <a:pt x="131929" y="22747"/>
                  </a:lnTo>
                  <a:lnTo>
                    <a:pt x="104633" y="36395"/>
                  </a:lnTo>
                  <a:lnTo>
                    <a:pt x="104633" y="36395"/>
                  </a:lnTo>
                  <a:lnTo>
                    <a:pt x="81887" y="141027"/>
                  </a:lnTo>
                  <a:lnTo>
                    <a:pt x="90985" y="191069"/>
                  </a:lnTo>
                  <a:lnTo>
                    <a:pt x="100084" y="241111"/>
                  </a:lnTo>
                  <a:lnTo>
                    <a:pt x="145576" y="272956"/>
                  </a:lnTo>
                  <a:lnTo>
                    <a:pt x="0" y="300251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61ABFCD6-CE99-D978-0B0F-8594C9C02748}"/>
                </a:ext>
              </a:extLst>
            </p:cNvPr>
            <p:cNvSpPr/>
            <p:nvPr/>
          </p:nvSpPr>
          <p:spPr>
            <a:xfrm>
              <a:off x="5550090" y="1191904"/>
              <a:ext cx="263856" cy="163774"/>
            </a:xfrm>
            <a:custGeom>
              <a:avLst/>
              <a:gdLst>
                <a:gd name="connsiteX0" fmla="*/ 54591 w 263856"/>
                <a:gd name="connsiteY0" fmla="*/ 95535 h 163774"/>
                <a:gd name="connsiteX1" fmla="*/ 100083 w 263856"/>
                <a:gd name="connsiteY1" fmla="*/ 104633 h 163774"/>
                <a:gd name="connsiteX2" fmla="*/ 159223 w 263856"/>
                <a:gd name="connsiteY2" fmla="*/ 81887 h 163774"/>
                <a:gd name="connsiteX3" fmla="*/ 200167 w 263856"/>
                <a:gd name="connsiteY3" fmla="*/ 59141 h 163774"/>
                <a:gd name="connsiteX4" fmla="*/ 259307 w 263856"/>
                <a:gd name="connsiteY4" fmla="*/ 22747 h 163774"/>
                <a:gd name="connsiteX5" fmla="*/ 259307 w 263856"/>
                <a:gd name="connsiteY5" fmla="*/ 0 h 163774"/>
                <a:gd name="connsiteX6" fmla="*/ 263856 w 263856"/>
                <a:gd name="connsiteY6" fmla="*/ 40944 h 163774"/>
                <a:gd name="connsiteX7" fmla="*/ 200167 w 263856"/>
                <a:gd name="connsiteY7" fmla="*/ 86436 h 163774"/>
                <a:gd name="connsiteX8" fmla="*/ 154674 w 263856"/>
                <a:gd name="connsiteY8" fmla="*/ 113732 h 163774"/>
                <a:gd name="connsiteX9" fmla="*/ 113731 w 263856"/>
                <a:gd name="connsiteY9" fmla="*/ 136478 h 163774"/>
                <a:gd name="connsiteX10" fmla="*/ 77337 w 263856"/>
                <a:gd name="connsiteY10" fmla="*/ 154675 h 163774"/>
                <a:gd name="connsiteX11" fmla="*/ 31844 w 263856"/>
                <a:gd name="connsiteY11" fmla="*/ 163774 h 163774"/>
                <a:gd name="connsiteX12" fmla="*/ 0 w 263856"/>
                <a:gd name="connsiteY12" fmla="*/ 122830 h 163774"/>
                <a:gd name="connsiteX13" fmla="*/ 54591 w 263856"/>
                <a:gd name="connsiteY13" fmla="*/ 95535 h 16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856" h="163774">
                  <a:moveTo>
                    <a:pt x="54591" y="95535"/>
                  </a:moveTo>
                  <a:lnTo>
                    <a:pt x="100083" y="104633"/>
                  </a:lnTo>
                  <a:lnTo>
                    <a:pt x="159223" y="81887"/>
                  </a:lnTo>
                  <a:lnTo>
                    <a:pt x="200167" y="59141"/>
                  </a:lnTo>
                  <a:lnTo>
                    <a:pt x="259307" y="22747"/>
                  </a:lnTo>
                  <a:lnTo>
                    <a:pt x="259307" y="0"/>
                  </a:lnTo>
                  <a:lnTo>
                    <a:pt x="263856" y="40944"/>
                  </a:lnTo>
                  <a:lnTo>
                    <a:pt x="200167" y="86436"/>
                  </a:lnTo>
                  <a:lnTo>
                    <a:pt x="154674" y="113732"/>
                  </a:lnTo>
                  <a:lnTo>
                    <a:pt x="113731" y="136478"/>
                  </a:lnTo>
                  <a:lnTo>
                    <a:pt x="77337" y="154675"/>
                  </a:lnTo>
                  <a:lnTo>
                    <a:pt x="31844" y="163774"/>
                  </a:lnTo>
                  <a:lnTo>
                    <a:pt x="0" y="122830"/>
                  </a:lnTo>
                  <a:lnTo>
                    <a:pt x="54591" y="9553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119B7518-A249-1C4D-2415-A4790955DFCA}"/>
                </a:ext>
              </a:extLst>
            </p:cNvPr>
            <p:cNvCxnSpPr>
              <a:endCxn id="31" idx="6"/>
            </p:cNvCxnSpPr>
            <p:nvPr/>
          </p:nvCxnSpPr>
          <p:spPr>
            <a:xfrm>
              <a:off x="4913194" y="1081668"/>
              <a:ext cx="88128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15BEAB-F52A-B625-3E3B-9BFE1770B7AB}"/>
                </a:ext>
              </a:extLst>
            </p:cNvPr>
            <p:cNvCxnSpPr>
              <a:endCxn id="31" idx="6"/>
            </p:cNvCxnSpPr>
            <p:nvPr/>
          </p:nvCxnSpPr>
          <p:spPr>
            <a:xfrm>
              <a:off x="4885899" y="1081668"/>
              <a:ext cx="115423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46D8A5E-A529-F2A9-14C8-F156F35FC2A5}"/>
                </a:ext>
              </a:extLst>
            </p:cNvPr>
            <p:cNvCxnSpPr>
              <a:endCxn id="31" idx="6"/>
            </p:cNvCxnSpPr>
            <p:nvPr/>
          </p:nvCxnSpPr>
          <p:spPr>
            <a:xfrm>
              <a:off x="4811751" y="1187355"/>
              <a:ext cx="189571" cy="24557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CD6E0C-61EE-0539-9074-B45D5C63FB28}"/>
                </a:ext>
              </a:extLst>
            </p:cNvPr>
            <p:cNvCxnSpPr>
              <a:endCxn id="31" idx="18"/>
            </p:cNvCxnSpPr>
            <p:nvPr/>
          </p:nvCxnSpPr>
          <p:spPr>
            <a:xfrm flipH="1">
              <a:off x="5491976" y="1410629"/>
              <a:ext cx="285576" cy="2230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25F4EBF-4AD2-D812-8AAF-E52AFA3CD544}"/>
                </a:ext>
              </a:extLst>
            </p:cNvPr>
            <p:cNvCxnSpPr>
              <a:endCxn id="31" idx="18"/>
            </p:cNvCxnSpPr>
            <p:nvPr/>
          </p:nvCxnSpPr>
          <p:spPr>
            <a:xfrm flipH="1">
              <a:off x="5491976" y="1555595"/>
              <a:ext cx="290125" cy="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D71900B-744D-BBD2-8CDC-A465CCC09B60}"/>
                </a:ext>
              </a:extLst>
            </p:cNvPr>
            <p:cNvCxnSpPr>
              <a:endCxn id="31" idx="18"/>
            </p:cNvCxnSpPr>
            <p:nvPr/>
          </p:nvCxnSpPr>
          <p:spPr>
            <a:xfrm flipH="1">
              <a:off x="5491976" y="1633654"/>
              <a:ext cx="285576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94F81EF-6B4C-1109-293E-4DE950917724}"/>
                </a:ext>
              </a:extLst>
            </p:cNvPr>
            <p:cNvCxnSpPr>
              <a:endCxn id="31" idx="18"/>
            </p:cNvCxnSpPr>
            <p:nvPr/>
          </p:nvCxnSpPr>
          <p:spPr>
            <a:xfrm flipH="1">
              <a:off x="5491976" y="1501254"/>
              <a:ext cx="253731" cy="13240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4C73794-C730-21EC-8492-76C699790530}"/>
                </a:ext>
              </a:extLst>
            </p:cNvPr>
            <p:cNvCxnSpPr>
              <a:endCxn id="31" idx="24"/>
            </p:cNvCxnSpPr>
            <p:nvPr/>
          </p:nvCxnSpPr>
          <p:spPr>
            <a:xfrm flipH="1">
              <a:off x="5497551" y="1751463"/>
              <a:ext cx="316395" cy="13309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0F2DDEE-2530-558C-0CA4-9E919EA0BF65}"/>
                </a:ext>
              </a:extLst>
            </p:cNvPr>
            <p:cNvCxnSpPr>
              <a:endCxn id="31" idx="24"/>
            </p:cNvCxnSpPr>
            <p:nvPr/>
          </p:nvCxnSpPr>
          <p:spPr>
            <a:xfrm flipH="1">
              <a:off x="5497551" y="1815152"/>
              <a:ext cx="316395" cy="6940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72D6A45F-74E6-8C65-4D39-4BC2351498B7}"/>
                </a:ext>
              </a:extLst>
            </p:cNvPr>
            <p:cNvCxnSpPr>
              <a:endCxn id="31" idx="24"/>
            </p:cNvCxnSpPr>
            <p:nvPr/>
          </p:nvCxnSpPr>
          <p:spPr>
            <a:xfrm flipH="1" flipV="1">
              <a:off x="5497551" y="1884556"/>
              <a:ext cx="316395" cy="3345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5EE2297-9297-DA30-E5AB-E221096180B3}"/>
                </a:ext>
              </a:extLst>
            </p:cNvPr>
            <p:cNvCxnSpPr>
              <a:endCxn id="31" idx="24"/>
            </p:cNvCxnSpPr>
            <p:nvPr/>
          </p:nvCxnSpPr>
          <p:spPr>
            <a:xfrm flipH="1">
              <a:off x="5497551" y="1884556"/>
              <a:ext cx="316395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887D14B-866A-3B4C-82B7-95297C0AFA41}"/>
                </a:ext>
              </a:extLst>
            </p:cNvPr>
            <p:cNvCxnSpPr>
              <a:endCxn id="31" idx="2"/>
            </p:cNvCxnSpPr>
            <p:nvPr/>
          </p:nvCxnSpPr>
          <p:spPr>
            <a:xfrm>
              <a:off x="4608394" y="1155510"/>
              <a:ext cx="259113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A0F6B01-726D-46FC-0F16-DB7814068812}"/>
                </a:ext>
              </a:extLst>
            </p:cNvPr>
            <p:cNvCxnSpPr>
              <a:endCxn id="31" idx="2"/>
            </p:cNvCxnSpPr>
            <p:nvPr/>
          </p:nvCxnSpPr>
          <p:spPr>
            <a:xfrm>
              <a:off x="4767146" y="1155510"/>
              <a:ext cx="100361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1D41AD6-CA46-51CE-964E-408626509B1E}"/>
                </a:ext>
              </a:extLst>
            </p:cNvPr>
            <p:cNvCxnSpPr>
              <a:endCxn id="31" idx="2"/>
            </p:cNvCxnSpPr>
            <p:nvPr/>
          </p:nvCxnSpPr>
          <p:spPr>
            <a:xfrm>
              <a:off x="4566424" y="1319284"/>
              <a:ext cx="301083" cy="21400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F064DCE-5FA0-99D9-BF27-A7025D4CED72}"/>
                </a:ext>
              </a:extLst>
            </p:cNvPr>
            <p:cNvCxnSpPr>
              <a:endCxn id="31" idx="2"/>
            </p:cNvCxnSpPr>
            <p:nvPr/>
          </p:nvCxnSpPr>
          <p:spPr>
            <a:xfrm>
              <a:off x="4493941" y="1410629"/>
              <a:ext cx="373566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A95E5FE-25AD-E6F5-FAC1-70CB673617AB}"/>
                </a:ext>
              </a:extLst>
            </p:cNvPr>
            <p:cNvCxnSpPr>
              <a:endCxn id="31" idx="2"/>
            </p:cNvCxnSpPr>
            <p:nvPr/>
          </p:nvCxnSpPr>
          <p:spPr>
            <a:xfrm>
              <a:off x="4493941" y="1355678"/>
              <a:ext cx="373566" cy="17761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C706EB3-2357-265A-F288-861DBEABDC8F}"/>
                </a:ext>
              </a:extLst>
            </p:cNvPr>
            <p:cNvCxnSpPr>
              <a:endCxn id="31" idx="40"/>
            </p:cNvCxnSpPr>
            <p:nvPr/>
          </p:nvCxnSpPr>
          <p:spPr>
            <a:xfrm>
              <a:off x="4394579" y="1633654"/>
              <a:ext cx="383719" cy="613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B8860DE-D02B-DE69-8404-EC5A90E3EB6F}"/>
                </a:ext>
              </a:extLst>
            </p:cNvPr>
            <p:cNvCxnSpPr>
              <a:cxnSpLocks/>
              <a:endCxn id="31" idx="40"/>
            </p:cNvCxnSpPr>
            <p:nvPr/>
          </p:nvCxnSpPr>
          <p:spPr>
            <a:xfrm>
              <a:off x="4394579" y="1694985"/>
              <a:ext cx="383719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28D6C93-1750-4D08-5B8B-38BDEC726BA0}"/>
                </a:ext>
              </a:extLst>
            </p:cNvPr>
            <p:cNvCxnSpPr>
              <a:endCxn id="31" idx="40"/>
            </p:cNvCxnSpPr>
            <p:nvPr/>
          </p:nvCxnSpPr>
          <p:spPr>
            <a:xfrm flipV="1">
              <a:off x="4493941" y="1694985"/>
              <a:ext cx="284357" cy="12016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232EC23-5442-F008-2D61-7309B7D8DA01}"/>
                </a:ext>
              </a:extLst>
            </p:cNvPr>
            <p:cNvCxnSpPr>
              <a:endCxn id="31" idx="40"/>
            </p:cNvCxnSpPr>
            <p:nvPr/>
          </p:nvCxnSpPr>
          <p:spPr>
            <a:xfrm flipV="1">
              <a:off x="4426424" y="1694985"/>
              <a:ext cx="351874" cy="5647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E979E0E-DA51-31E8-1A2D-EC8119A09289}"/>
                </a:ext>
              </a:extLst>
            </p:cNvPr>
            <p:cNvCxnSpPr>
              <a:endCxn id="32" idx="4"/>
            </p:cNvCxnSpPr>
            <p:nvPr/>
          </p:nvCxnSpPr>
          <p:spPr>
            <a:xfrm>
              <a:off x="4394579" y="1884556"/>
              <a:ext cx="305660" cy="150542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BE08B6C-04F2-C28E-8DB0-D7AF51A985E6}"/>
                </a:ext>
              </a:extLst>
            </p:cNvPr>
            <p:cNvCxnSpPr>
              <a:endCxn id="32" idx="4"/>
            </p:cNvCxnSpPr>
            <p:nvPr/>
          </p:nvCxnSpPr>
          <p:spPr>
            <a:xfrm>
              <a:off x="4426424" y="1992573"/>
              <a:ext cx="273815" cy="425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40107ED1-3786-0703-1AD4-167A4AC48D76}"/>
                </a:ext>
              </a:extLst>
            </p:cNvPr>
            <p:cNvCxnSpPr/>
            <p:nvPr/>
          </p:nvCxnSpPr>
          <p:spPr>
            <a:xfrm>
              <a:off x="4394579" y="1918010"/>
              <a:ext cx="305660" cy="1170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941EC5A-7684-421A-A4AB-435A8233C613}"/>
                </a:ext>
              </a:extLst>
            </p:cNvPr>
            <p:cNvCxnSpPr>
              <a:endCxn id="33" idx="4"/>
            </p:cNvCxnSpPr>
            <p:nvPr/>
          </p:nvCxnSpPr>
          <p:spPr>
            <a:xfrm>
              <a:off x="4339988" y="1992573"/>
              <a:ext cx="198558" cy="2209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912B424-FA31-6D6C-83D6-B82E7B363FD3}"/>
                </a:ext>
              </a:extLst>
            </p:cNvPr>
            <p:cNvCxnSpPr>
              <a:endCxn id="33" idx="4"/>
            </p:cNvCxnSpPr>
            <p:nvPr/>
          </p:nvCxnSpPr>
          <p:spPr>
            <a:xfrm>
              <a:off x="4209585" y="2035098"/>
              <a:ext cx="328961" cy="17841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CC784FE-BE30-869A-BFAF-0E976062C7AC}"/>
                </a:ext>
              </a:extLst>
            </p:cNvPr>
            <p:cNvCxnSpPr>
              <a:endCxn id="33" idx="4"/>
            </p:cNvCxnSpPr>
            <p:nvPr/>
          </p:nvCxnSpPr>
          <p:spPr>
            <a:xfrm>
              <a:off x="4209585" y="2113156"/>
              <a:ext cx="328961" cy="10036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4556CC0-0864-95AD-775B-39C0D6FF0809}"/>
                </a:ext>
              </a:extLst>
            </p:cNvPr>
            <p:cNvCxnSpPr>
              <a:endCxn id="33" idx="4"/>
            </p:cNvCxnSpPr>
            <p:nvPr/>
          </p:nvCxnSpPr>
          <p:spPr>
            <a:xfrm>
              <a:off x="4339988" y="2213517"/>
              <a:ext cx="198558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32E2808-46AD-4DFC-D110-AF8FCCC3E783}"/>
                </a:ext>
              </a:extLst>
            </p:cNvPr>
            <p:cNvCxnSpPr>
              <a:endCxn id="34" idx="5"/>
            </p:cNvCxnSpPr>
            <p:nvPr/>
          </p:nvCxnSpPr>
          <p:spPr>
            <a:xfrm>
              <a:off x="3986561" y="2352907"/>
              <a:ext cx="317810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91D67B0-1F09-7F7B-BC9B-B2224F6FD8EB}"/>
                </a:ext>
              </a:extLst>
            </p:cNvPr>
            <p:cNvCxnSpPr>
              <a:endCxn id="34" idx="5"/>
            </p:cNvCxnSpPr>
            <p:nvPr/>
          </p:nvCxnSpPr>
          <p:spPr>
            <a:xfrm flipV="1">
              <a:off x="4026090" y="2475571"/>
              <a:ext cx="278281" cy="3345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6BC1BF2-19DF-89F0-FC3B-3B4B50BC14B1}"/>
                </a:ext>
              </a:extLst>
            </p:cNvPr>
            <p:cNvCxnSpPr>
              <a:endCxn id="35" idx="3"/>
            </p:cNvCxnSpPr>
            <p:nvPr/>
          </p:nvCxnSpPr>
          <p:spPr>
            <a:xfrm>
              <a:off x="3858322" y="2475571"/>
              <a:ext cx="245327" cy="12266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3BFFB0D-D9CA-8430-443D-ACE125CCBE1C}"/>
                </a:ext>
              </a:extLst>
            </p:cNvPr>
            <p:cNvCxnSpPr/>
            <p:nvPr/>
          </p:nvCxnSpPr>
          <p:spPr>
            <a:xfrm>
              <a:off x="3858322" y="2559205"/>
              <a:ext cx="240556" cy="4460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12E2F36-4E97-86CF-AA97-9A4556DCA9E6}"/>
                </a:ext>
              </a:extLst>
            </p:cNvPr>
            <p:cNvCxnSpPr>
              <a:endCxn id="36" idx="3"/>
            </p:cNvCxnSpPr>
            <p:nvPr/>
          </p:nvCxnSpPr>
          <p:spPr>
            <a:xfrm>
              <a:off x="3625755" y="2559205"/>
              <a:ext cx="182386" cy="13939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87202CC-EA94-18CA-B24F-F223EA046F8B}"/>
                </a:ext>
              </a:extLst>
            </p:cNvPr>
            <p:cNvCxnSpPr>
              <a:cxnSpLocks/>
              <a:endCxn id="36" idx="3"/>
            </p:cNvCxnSpPr>
            <p:nvPr/>
          </p:nvCxnSpPr>
          <p:spPr>
            <a:xfrm>
              <a:off x="3685478" y="2656764"/>
              <a:ext cx="122663" cy="418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D72C8C8-68CC-CCB0-F562-1098EC6FD3AD}"/>
                </a:ext>
              </a:extLst>
            </p:cNvPr>
            <p:cNvCxnSpPr>
              <a:endCxn id="37" idx="4"/>
            </p:cNvCxnSpPr>
            <p:nvPr/>
          </p:nvCxnSpPr>
          <p:spPr>
            <a:xfrm>
              <a:off x="3367668" y="2598234"/>
              <a:ext cx="83634" cy="1728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1AC215A-A680-2177-8F39-80153677BA31}"/>
                </a:ext>
              </a:extLst>
            </p:cNvPr>
            <p:cNvCxnSpPr>
              <a:cxnSpLocks/>
              <a:endCxn id="37" idx="4"/>
            </p:cNvCxnSpPr>
            <p:nvPr/>
          </p:nvCxnSpPr>
          <p:spPr>
            <a:xfrm>
              <a:off x="3451302" y="2656764"/>
              <a:ext cx="0" cy="11431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9F633942-4172-D6E4-691F-E9972C0DE440}"/>
                </a:ext>
              </a:extLst>
            </p:cNvPr>
            <p:cNvCxnSpPr>
              <a:endCxn id="31" idx="26"/>
            </p:cNvCxnSpPr>
            <p:nvPr/>
          </p:nvCxnSpPr>
          <p:spPr>
            <a:xfrm flipH="1">
              <a:off x="5419493" y="1992573"/>
              <a:ext cx="267074" cy="3694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4B8A117-5A3B-9C1C-8AE0-270197C34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7261" y="2035098"/>
              <a:ext cx="259306" cy="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66AF4D8-CF7A-0DAE-0FC6-8914B48A0A59}"/>
                </a:ext>
              </a:extLst>
            </p:cNvPr>
            <p:cNvCxnSpPr/>
            <p:nvPr/>
          </p:nvCxnSpPr>
          <p:spPr>
            <a:xfrm flipH="1" flipV="1">
              <a:off x="5419493" y="2029522"/>
              <a:ext cx="267074" cy="4948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B478566D-C4F9-0B4D-DED6-755F0497F0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7261" y="2029523"/>
              <a:ext cx="318446" cy="12682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8696790-92D6-97F2-44A2-BD70EC4DBC94}"/>
                </a:ext>
              </a:extLst>
            </p:cNvPr>
            <p:cNvCxnSpPr>
              <a:cxnSpLocks/>
              <a:stCxn id="31" idx="26"/>
            </p:cNvCxnSpPr>
            <p:nvPr/>
          </p:nvCxnSpPr>
          <p:spPr>
            <a:xfrm>
              <a:off x="5419493" y="2029522"/>
              <a:ext cx="267074" cy="13137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E107ECC-03F0-CAFF-97F5-AB39E68CFBB1}"/>
                </a:ext>
              </a:extLst>
            </p:cNvPr>
            <p:cNvCxnSpPr/>
            <p:nvPr/>
          </p:nvCxnSpPr>
          <p:spPr>
            <a:xfrm>
              <a:off x="5419493" y="2029522"/>
              <a:ext cx="267074" cy="18399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C2FCBAB9-0F70-D026-6FF6-DB78D157B6CB}"/>
                </a:ext>
              </a:extLst>
            </p:cNvPr>
            <p:cNvCxnSpPr>
              <a:stCxn id="32" idx="15"/>
            </p:cNvCxnSpPr>
            <p:nvPr/>
          </p:nvCxnSpPr>
          <p:spPr>
            <a:xfrm>
              <a:off x="5090532" y="2302727"/>
              <a:ext cx="213898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6181DD5-8069-F602-FC9E-1602E66EB8A1}"/>
                </a:ext>
              </a:extLst>
            </p:cNvPr>
            <p:cNvCxnSpPr>
              <a:cxnSpLocks/>
              <a:stCxn id="32" idx="15"/>
            </p:cNvCxnSpPr>
            <p:nvPr/>
          </p:nvCxnSpPr>
          <p:spPr>
            <a:xfrm>
              <a:off x="5090532" y="2302727"/>
              <a:ext cx="291235" cy="35403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39219D9-8F5D-E76F-5191-E675C7DFD2F4}"/>
                </a:ext>
              </a:extLst>
            </p:cNvPr>
            <p:cNvCxnSpPr>
              <a:endCxn id="32" idx="15"/>
            </p:cNvCxnSpPr>
            <p:nvPr/>
          </p:nvCxnSpPr>
          <p:spPr>
            <a:xfrm flipH="1" flipV="1">
              <a:off x="5090532" y="2302727"/>
              <a:ext cx="291235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EC4FCD0-7E60-30B0-0ADF-E6DBDDA5F6F6}"/>
                </a:ext>
              </a:extLst>
            </p:cNvPr>
            <p:cNvCxnSpPr>
              <a:endCxn id="33" idx="13"/>
            </p:cNvCxnSpPr>
            <p:nvPr/>
          </p:nvCxnSpPr>
          <p:spPr>
            <a:xfrm flipH="1" flipV="1">
              <a:off x="4900961" y="2575932"/>
              <a:ext cx="284356" cy="23417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B9D04E8-10AE-2292-6311-BF63B4D0BDFF}"/>
                </a:ext>
              </a:extLst>
            </p:cNvPr>
            <p:cNvCxnSpPr>
              <a:cxnSpLocks/>
              <a:endCxn id="33" idx="13"/>
            </p:cNvCxnSpPr>
            <p:nvPr/>
          </p:nvCxnSpPr>
          <p:spPr>
            <a:xfrm flipH="1" flipV="1">
              <a:off x="4900961" y="2575932"/>
              <a:ext cx="228602" cy="3456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EC66038-1F21-DC37-5015-7D3F9064DB06}"/>
                </a:ext>
              </a:extLst>
            </p:cNvPr>
            <p:cNvCxnSpPr>
              <a:cxnSpLocks/>
              <a:endCxn id="33" idx="13"/>
            </p:cNvCxnSpPr>
            <p:nvPr/>
          </p:nvCxnSpPr>
          <p:spPr>
            <a:xfrm flipH="1" flipV="1">
              <a:off x="4900961" y="2575932"/>
              <a:ext cx="189572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C533438-683E-CAE2-C534-AC9EEE380092}"/>
                </a:ext>
              </a:extLst>
            </p:cNvPr>
            <p:cNvCxnSpPr>
              <a:endCxn id="34" idx="14"/>
            </p:cNvCxnSpPr>
            <p:nvPr/>
          </p:nvCxnSpPr>
          <p:spPr>
            <a:xfrm flipH="1" flipV="1">
              <a:off x="4689088" y="2826834"/>
              <a:ext cx="224106" cy="28435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712AB3E-EFAF-FAC9-0078-8B791FEE2D85}"/>
                </a:ext>
              </a:extLst>
            </p:cNvPr>
            <p:cNvCxnSpPr>
              <a:cxnSpLocks/>
              <a:endCxn id="34" idx="14"/>
            </p:cNvCxnSpPr>
            <p:nvPr/>
          </p:nvCxnSpPr>
          <p:spPr>
            <a:xfrm flipH="1" flipV="1">
              <a:off x="4689088" y="2826834"/>
              <a:ext cx="196812" cy="16727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D908D0-0FF0-7E11-B3D7-7295806B9118}"/>
                </a:ext>
              </a:extLst>
            </p:cNvPr>
            <p:cNvCxnSpPr/>
            <p:nvPr/>
          </p:nvCxnSpPr>
          <p:spPr>
            <a:xfrm>
              <a:off x="4695690" y="2826834"/>
              <a:ext cx="144716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5D2A45E-BB30-A06A-448D-9743DF6BD8F5}"/>
                </a:ext>
              </a:extLst>
            </p:cNvPr>
            <p:cNvCxnSpPr>
              <a:cxnSpLocks/>
              <a:stCxn id="35" idx="13"/>
            </p:cNvCxnSpPr>
            <p:nvPr/>
          </p:nvCxnSpPr>
          <p:spPr>
            <a:xfrm>
              <a:off x="4293220" y="3061010"/>
              <a:ext cx="46768" cy="25539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CAB8098-9A0C-5C27-FA19-5384FD09F396}"/>
                </a:ext>
              </a:extLst>
            </p:cNvPr>
            <p:cNvCxnSpPr/>
            <p:nvPr/>
          </p:nvCxnSpPr>
          <p:spPr>
            <a:xfrm flipH="1">
              <a:off x="4287644" y="3061010"/>
              <a:ext cx="16727" cy="1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F69CC33-9B3E-DDDD-603C-2A42937C994C}"/>
                </a:ext>
              </a:extLst>
            </p:cNvPr>
            <p:cNvCxnSpPr>
              <a:cxnSpLocks/>
              <a:stCxn id="36" idx="13"/>
            </p:cNvCxnSpPr>
            <p:nvPr/>
          </p:nvCxnSpPr>
          <p:spPr>
            <a:xfrm>
              <a:off x="3908502" y="3189249"/>
              <a:ext cx="35701" cy="23975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2257370-7EE9-7513-B5C1-01E050EB1F21}"/>
                </a:ext>
              </a:extLst>
            </p:cNvPr>
            <p:cNvCxnSpPr>
              <a:cxnSpLocks/>
              <a:stCxn id="36" idx="13"/>
            </p:cNvCxnSpPr>
            <p:nvPr/>
          </p:nvCxnSpPr>
          <p:spPr>
            <a:xfrm>
              <a:off x="3908502" y="3189249"/>
              <a:ext cx="58895" cy="16292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AEF0948-FD52-FD22-9589-1893400FB2DC}"/>
                </a:ext>
              </a:extLst>
            </p:cNvPr>
            <p:cNvCxnSpPr>
              <a:stCxn id="37" idx="12"/>
            </p:cNvCxnSpPr>
            <p:nvPr/>
          </p:nvCxnSpPr>
          <p:spPr>
            <a:xfrm flipH="1">
              <a:off x="3243618" y="3200400"/>
              <a:ext cx="185382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91D33A80-D64E-0B73-C400-AF64B52807CD}"/>
                </a:ext>
              </a:extLst>
            </p:cNvPr>
            <p:cNvCxnSpPr>
              <a:stCxn id="37" idx="12"/>
            </p:cNvCxnSpPr>
            <p:nvPr/>
          </p:nvCxnSpPr>
          <p:spPr>
            <a:xfrm flipH="1">
              <a:off x="3298209" y="3200400"/>
              <a:ext cx="130791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14EF4B1-733C-ED87-491C-941A02823D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8053233" y="5817977"/>
            <a:ext cx="378570" cy="260807"/>
            <a:chOff x="2124307" y="887104"/>
            <a:chExt cx="3689639" cy="2541896"/>
          </a:xfrm>
          <a:solidFill>
            <a:srgbClr val="1A0D00"/>
          </a:solidFill>
        </p:grpSpPr>
        <p:sp>
          <p:nvSpPr>
            <p:cNvPr id="104" name="Freeform 24">
              <a:extLst>
                <a:ext uri="{FF2B5EF4-FFF2-40B4-BE49-F238E27FC236}">
                  <a16:creationId xmlns:a16="http://schemas.microsoft.com/office/drawing/2014/main" id="{FB47CB64-C193-7C2F-E821-8C13E498827E}"/>
                </a:ext>
              </a:extLst>
            </p:cNvPr>
            <p:cNvSpPr/>
            <p:nvPr/>
          </p:nvSpPr>
          <p:spPr>
            <a:xfrm>
              <a:off x="5129561" y="1081668"/>
              <a:ext cx="490654" cy="473927"/>
            </a:xfrm>
            <a:custGeom>
              <a:avLst/>
              <a:gdLst>
                <a:gd name="connsiteX0" fmla="*/ 61332 w 490654"/>
                <a:gd name="connsiteY0" fmla="*/ 334537 h 473927"/>
                <a:gd name="connsiteX1" fmla="*/ 16727 w 490654"/>
                <a:gd name="connsiteY1" fmla="*/ 295508 h 473927"/>
                <a:gd name="connsiteX2" fmla="*/ 0 w 490654"/>
                <a:gd name="connsiteY2" fmla="*/ 267630 h 473927"/>
                <a:gd name="connsiteX3" fmla="*/ 0 w 490654"/>
                <a:gd name="connsiteY3" fmla="*/ 267630 h 473927"/>
                <a:gd name="connsiteX4" fmla="*/ 5576 w 490654"/>
                <a:gd name="connsiteY4" fmla="*/ 189571 h 473927"/>
                <a:gd name="connsiteX5" fmla="*/ 5576 w 490654"/>
                <a:gd name="connsiteY5" fmla="*/ 189571 h 473927"/>
                <a:gd name="connsiteX6" fmla="*/ 72483 w 490654"/>
                <a:gd name="connsiteY6" fmla="*/ 111512 h 473927"/>
                <a:gd name="connsiteX7" fmla="*/ 111512 w 490654"/>
                <a:gd name="connsiteY7" fmla="*/ 83634 h 473927"/>
                <a:gd name="connsiteX8" fmla="*/ 200722 w 490654"/>
                <a:gd name="connsiteY8" fmla="*/ 22303 h 473927"/>
                <a:gd name="connsiteX9" fmla="*/ 245327 w 490654"/>
                <a:gd name="connsiteY9" fmla="*/ 0 h 473927"/>
                <a:gd name="connsiteX10" fmla="*/ 306659 w 490654"/>
                <a:gd name="connsiteY10" fmla="*/ 5576 h 473927"/>
                <a:gd name="connsiteX11" fmla="*/ 367990 w 490654"/>
                <a:gd name="connsiteY11" fmla="*/ 22303 h 473927"/>
                <a:gd name="connsiteX12" fmla="*/ 423746 w 490654"/>
                <a:gd name="connsiteY12" fmla="*/ 50181 h 473927"/>
                <a:gd name="connsiteX13" fmla="*/ 451624 w 490654"/>
                <a:gd name="connsiteY13" fmla="*/ 78059 h 473927"/>
                <a:gd name="connsiteX14" fmla="*/ 485078 w 490654"/>
                <a:gd name="connsiteY14" fmla="*/ 133815 h 473927"/>
                <a:gd name="connsiteX15" fmla="*/ 490654 w 490654"/>
                <a:gd name="connsiteY15" fmla="*/ 189571 h 473927"/>
                <a:gd name="connsiteX16" fmla="*/ 490654 w 490654"/>
                <a:gd name="connsiteY16" fmla="*/ 189571 h 473927"/>
                <a:gd name="connsiteX17" fmla="*/ 473927 w 490654"/>
                <a:gd name="connsiteY17" fmla="*/ 301083 h 473927"/>
                <a:gd name="connsiteX18" fmla="*/ 462776 w 490654"/>
                <a:gd name="connsiteY18" fmla="*/ 345688 h 473927"/>
                <a:gd name="connsiteX19" fmla="*/ 462776 w 490654"/>
                <a:gd name="connsiteY19" fmla="*/ 395869 h 473927"/>
                <a:gd name="connsiteX20" fmla="*/ 462776 w 490654"/>
                <a:gd name="connsiteY20" fmla="*/ 395869 h 473927"/>
                <a:gd name="connsiteX21" fmla="*/ 401444 w 490654"/>
                <a:gd name="connsiteY21" fmla="*/ 457200 h 473927"/>
                <a:gd name="connsiteX22" fmla="*/ 401444 w 490654"/>
                <a:gd name="connsiteY22" fmla="*/ 457200 h 473927"/>
                <a:gd name="connsiteX23" fmla="*/ 306659 w 490654"/>
                <a:gd name="connsiteY23" fmla="*/ 473927 h 473927"/>
                <a:gd name="connsiteX24" fmla="*/ 250902 w 490654"/>
                <a:gd name="connsiteY24" fmla="*/ 462776 h 473927"/>
                <a:gd name="connsiteX25" fmla="*/ 195146 w 490654"/>
                <a:gd name="connsiteY25" fmla="*/ 440473 h 473927"/>
                <a:gd name="connsiteX26" fmla="*/ 133815 w 490654"/>
                <a:gd name="connsiteY26" fmla="*/ 401444 h 473927"/>
                <a:gd name="connsiteX27" fmla="*/ 94785 w 490654"/>
                <a:gd name="connsiteY27" fmla="*/ 373566 h 473927"/>
                <a:gd name="connsiteX28" fmla="*/ 61332 w 490654"/>
                <a:gd name="connsiteY28" fmla="*/ 334537 h 4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0654" h="473927">
                  <a:moveTo>
                    <a:pt x="61332" y="334537"/>
                  </a:moveTo>
                  <a:lnTo>
                    <a:pt x="16727" y="295508"/>
                  </a:lnTo>
                  <a:lnTo>
                    <a:pt x="0" y="267630"/>
                  </a:lnTo>
                  <a:lnTo>
                    <a:pt x="0" y="267630"/>
                  </a:lnTo>
                  <a:lnTo>
                    <a:pt x="5576" y="189571"/>
                  </a:lnTo>
                  <a:lnTo>
                    <a:pt x="5576" y="189571"/>
                  </a:lnTo>
                  <a:lnTo>
                    <a:pt x="72483" y="111512"/>
                  </a:lnTo>
                  <a:lnTo>
                    <a:pt x="111512" y="83634"/>
                  </a:lnTo>
                  <a:lnTo>
                    <a:pt x="200722" y="22303"/>
                  </a:lnTo>
                  <a:lnTo>
                    <a:pt x="245327" y="0"/>
                  </a:lnTo>
                  <a:lnTo>
                    <a:pt x="306659" y="5576"/>
                  </a:lnTo>
                  <a:lnTo>
                    <a:pt x="367990" y="22303"/>
                  </a:lnTo>
                  <a:lnTo>
                    <a:pt x="423746" y="50181"/>
                  </a:lnTo>
                  <a:lnTo>
                    <a:pt x="451624" y="78059"/>
                  </a:lnTo>
                  <a:lnTo>
                    <a:pt x="485078" y="133815"/>
                  </a:lnTo>
                  <a:lnTo>
                    <a:pt x="490654" y="189571"/>
                  </a:lnTo>
                  <a:lnTo>
                    <a:pt x="490654" y="189571"/>
                  </a:lnTo>
                  <a:lnTo>
                    <a:pt x="473927" y="301083"/>
                  </a:lnTo>
                  <a:lnTo>
                    <a:pt x="462776" y="345688"/>
                  </a:lnTo>
                  <a:lnTo>
                    <a:pt x="462776" y="395869"/>
                  </a:lnTo>
                  <a:lnTo>
                    <a:pt x="462776" y="395869"/>
                  </a:lnTo>
                  <a:lnTo>
                    <a:pt x="401444" y="457200"/>
                  </a:lnTo>
                  <a:lnTo>
                    <a:pt x="401444" y="457200"/>
                  </a:lnTo>
                  <a:lnTo>
                    <a:pt x="306659" y="473927"/>
                  </a:lnTo>
                  <a:lnTo>
                    <a:pt x="250902" y="462776"/>
                  </a:lnTo>
                  <a:lnTo>
                    <a:pt x="195146" y="440473"/>
                  </a:lnTo>
                  <a:lnTo>
                    <a:pt x="133815" y="401444"/>
                  </a:lnTo>
                  <a:lnTo>
                    <a:pt x="94785" y="373566"/>
                  </a:lnTo>
                  <a:lnTo>
                    <a:pt x="61332" y="3345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5" name="Freeform 25">
              <a:extLst>
                <a:ext uri="{FF2B5EF4-FFF2-40B4-BE49-F238E27FC236}">
                  <a16:creationId xmlns:a16="http://schemas.microsoft.com/office/drawing/2014/main" id="{5A80C245-36AB-3DD9-807C-C508063DD9B4}"/>
                </a:ext>
              </a:extLst>
            </p:cNvPr>
            <p:cNvSpPr/>
            <p:nvPr/>
          </p:nvSpPr>
          <p:spPr>
            <a:xfrm>
              <a:off x="4767146" y="1410629"/>
              <a:ext cx="758283" cy="713678"/>
            </a:xfrm>
            <a:custGeom>
              <a:avLst/>
              <a:gdLst>
                <a:gd name="connsiteX0" fmla="*/ 44605 w 758283"/>
                <a:gd name="connsiteY0" fmla="*/ 234176 h 713678"/>
                <a:gd name="connsiteX1" fmla="*/ 61332 w 758283"/>
                <a:gd name="connsiteY1" fmla="*/ 183995 h 713678"/>
                <a:gd name="connsiteX2" fmla="*/ 100361 w 758283"/>
                <a:gd name="connsiteY2" fmla="*/ 122664 h 713678"/>
                <a:gd name="connsiteX3" fmla="*/ 139391 w 758283"/>
                <a:gd name="connsiteY3" fmla="*/ 83634 h 713678"/>
                <a:gd name="connsiteX4" fmla="*/ 156117 w 758283"/>
                <a:gd name="connsiteY4" fmla="*/ 72483 h 713678"/>
                <a:gd name="connsiteX5" fmla="*/ 156117 w 758283"/>
                <a:gd name="connsiteY5" fmla="*/ 72483 h 713678"/>
                <a:gd name="connsiteX6" fmla="*/ 234176 w 758283"/>
                <a:gd name="connsiteY6" fmla="*/ 22303 h 713678"/>
                <a:gd name="connsiteX7" fmla="*/ 234176 w 758283"/>
                <a:gd name="connsiteY7" fmla="*/ 22303 h 713678"/>
                <a:gd name="connsiteX8" fmla="*/ 306659 w 758283"/>
                <a:gd name="connsiteY8" fmla="*/ 0 h 713678"/>
                <a:gd name="connsiteX9" fmla="*/ 306659 w 758283"/>
                <a:gd name="connsiteY9" fmla="*/ 0 h 713678"/>
                <a:gd name="connsiteX10" fmla="*/ 401444 w 758283"/>
                <a:gd name="connsiteY10" fmla="*/ 16727 h 713678"/>
                <a:gd name="connsiteX11" fmla="*/ 429322 w 758283"/>
                <a:gd name="connsiteY11" fmla="*/ 33454 h 713678"/>
                <a:gd name="connsiteX12" fmla="*/ 479503 w 758283"/>
                <a:gd name="connsiteY12" fmla="*/ 66908 h 713678"/>
                <a:gd name="connsiteX13" fmla="*/ 524108 w 758283"/>
                <a:gd name="connsiteY13" fmla="*/ 100361 h 713678"/>
                <a:gd name="connsiteX14" fmla="*/ 524108 w 758283"/>
                <a:gd name="connsiteY14" fmla="*/ 100361 h 713678"/>
                <a:gd name="connsiteX15" fmla="*/ 607742 w 758283"/>
                <a:gd name="connsiteY15" fmla="*/ 139391 h 713678"/>
                <a:gd name="connsiteX16" fmla="*/ 607742 w 758283"/>
                <a:gd name="connsiteY16" fmla="*/ 139391 h 713678"/>
                <a:gd name="connsiteX17" fmla="*/ 691376 w 758283"/>
                <a:gd name="connsiteY17" fmla="*/ 189571 h 713678"/>
                <a:gd name="connsiteX18" fmla="*/ 724830 w 758283"/>
                <a:gd name="connsiteY18" fmla="*/ 223025 h 713678"/>
                <a:gd name="connsiteX19" fmla="*/ 758283 w 758283"/>
                <a:gd name="connsiteY19" fmla="*/ 267630 h 713678"/>
                <a:gd name="connsiteX20" fmla="*/ 758283 w 758283"/>
                <a:gd name="connsiteY20" fmla="*/ 267630 h 713678"/>
                <a:gd name="connsiteX21" fmla="*/ 752708 w 758283"/>
                <a:gd name="connsiteY21" fmla="*/ 356839 h 713678"/>
                <a:gd name="connsiteX22" fmla="*/ 752708 w 758283"/>
                <a:gd name="connsiteY22" fmla="*/ 407020 h 713678"/>
                <a:gd name="connsiteX23" fmla="*/ 752708 w 758283"/>
                <a:gd name="connsiteY23" fmla="*/ 407020 h 713678"/>
                <a:gd name="connsiteX24" fmla="*/ 730405 w 758283"/>
                <a:gd name="connsiteY24" fmla="*/ 473927 h 713678"/>
                <a:gd name="connsiteX25" fmla="*/ 691376 w 758283"/>
                <a:gd name="connsiteY25" fmla="*/ 551986 h 713678"/>
                <a:gd name="connsiteX26" fmla="*/ 652347 w 758283"/>
                <a:gd name="connsiteY26" fmla="*/ 618893 h 713678"/>
                <a:gd name="connsiteX27" fmla="*/ 624469 w 758283"/>
                <a:gd name="connsiteY27" fmla="*/ 663498 h 713678"/>
                <a:gd name="connsiteX28" fmla="*/ 557561 w 758283"/>
                <a:gd name="connsiteY28" fmla="*/ 685800 h 713678"/>
                <a:gd name="connsiteX29" fmla="*/ 490654 w 758283"/>
                <a:gd name="connsiteY29" fmla="*/ 696951 h 713678"/>
                <a:gd name="connsiteX30" fmla="*/ 434898 w 758283"/>
                <a:gd name="connsiteY30" fmla="*/ 713678 h 713678"/>
                <a:gd name="connsiteX31" fmla="*/ 434898 w 758283"/>
                <a:gd name="connsiteY31" fmla="*/ 713678 h 713678"/>
                <a:gd name="connsiteX32" fmla="*/ 312234 w 758283"/>
                <a:gd name="connsiteY32" fmla="*/ 657922 h 713678"/>
                <a:gd name="connsiteX33" fmla="*/ 256478 w 758283"/>
                <a:gd name="connsiteY33" fmla="*/ 624469 h 713678"/>
                <a:gd name="connsiteX34" fmla="*/ 183995 w 758283"/>
                <a:gd name="connsiteY34" fmla="*/ 596591 h 713678"/>
                <a:gd name="connsiteX35" fmla="*/ 122664 w 758283"/>
                <a:gd name="connsiteY35" fmla="*/ 563137 h 713678"/>
                <a:gd name="connsiteX36" fmla="*/ 61332 w 758283"/>
                <a:gd name="connsiteY36" fmla="*/ 524108 h 713678"/>
                <a:gd name="connsiteX37" fmla="*/ 33454 w 758283"/>
                <a:gd name="connsiteY37" fmla="*/ 496230 h 713678"/>
                <a:gd name="connsiteX38" fmla="*/ 11152 w 758283"/>
                <a:gd name="connsiteY38" fmla="*/ 434898 h 713678"/>
                <a:gd name="connsiteX39" fmla="*/ 0 w 758283"/>
                <a:gd name="connsiteY39" fmla="*/ 367991 h 713678"/>
                <a:gd name="connsiteX40" fmla="*/ 11152 w 758283"/>
                <a:gd name="connsiteY40" fmla="*/ 284356 h 713678"/>
                <a:gd name="connsiteX41" fmla="*/ 44605 w 758283"/>
                <a:gd name="connsiteY41" fmla="*/ 234176 h 71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8283" h="713678">
                  <a:moveTo>
                    <a:pt x="44605" y="234176"/>
                  </a:moveTo>
                  <a:lnTo>
                    <a:pt x="61332" y="183995"/>
                  </a:lnTo>
                  <a:lnTo>
                    <a:pt x="100361" y="122664"/>
                  </a:lnTo>
                  <a:lnTo>
                    <a:pt x="139391" y="83634"/>
                  </a:lnTo>
                  <a:lnTo>
                    <a:pt x="156117" y="72483"/>
                  </a:lnTo>
                  <a:lnTo>
                    <a:pt x="156117" y="72483"/>
                  </a:lnTo>
                  <a:lnTo>
                    <a:pt x="234176" y="22303"/>
                  </a:lnTo>
                  <a:lnTo>
                    <a:pt x="234176" y="22303"/>
                  </a:lnTo>
                  <a:lnTo>
                    <a:pt x="306659" y="0"/>
                  </a:lnTo>
                  <a:lnTo>
                    <a:pt x="306659" y="0"/>
                  </a:lnTo>
                  <a:lnTo>
                    <a:pt x="401444" y="16727"/>
                  </a:lnTo>
                  <a:lnTo>
                    <a:pt x="429322" y="33454"/>
                  </a:lnTo>
                  <a:lnTo>
                    <a:pt x="479503" y="66908"/>
                  </a:lnTo>
                  <a:lnTo>
                    <a:pt x="524108" y="100361"/>
                  </a:lnTo>
                  <a:lnTo>
                    <a:pt x="524108" y="100361"/>
                  </a:lnTo>
                  <a:lnTo>
                    <a:pt x="607742" y="139391"/>
                  </a:lnTo>
                  <a:lnTo>
                    <a:pt x="607742" y="139391"/>
                  </a:lnTo>
                  <a:lnTo>
                    <a:pt x="691376" y="189571"/>
                  </a:lnTo>
                  <a:lnTo>
                    <a:pt x="724830" y="223025"/>
                  </a:lnTo>
                  <a:lnTo>
                    <a:pt x="758283" y="267630"/>
                  </a:lnTo>
                  <a:lnTo>
                    <a:pt x="758283" y="267630"/>
                  </a:lnTo>
                  <a:lnTo>
                    <a:pt x="752708" y="356839"/>
                  </a:lnTo>
                  <a:lnTo>
                    <a:pt x="752708" y="407020"/>
                  </a:lnTo>
                  <a:lnTo>
                    <a:pt x="752708" y="407020"/>
                  </a:lnTo>
                  <a:lnTo>
                    <a:pt x="730405" y="473927"/>
                  </a:lnTo>
                  <a:lnTo>
                    <a:pt x="691376" y="551986"/>
                  </a:lnTo>
                  <a:lnTo>
                    <a:pt x="652347" y="618893"/>
                  </a:lnTo>
                  <a:lnTo>
                    <a:pt x="624469" y="663498"/>
                  </a:lnTo>
                  <a:lnTo>
                    <a:pt x="557561" y="685800"/>
                  </a:lnTo>
                  <a:lnTo>
                    <a:pt x="490654" y="696951"/>
                  </a:lnTo>
                  <a:lnTo>
                    <a:pt x="434898" y="713678"/>
                  </a:lnTo>
                  <a:lnTo>
                    <a:pt x="434898" y="713678"/>
                  </a:lnTo>
                  <a:lnTo>
                    <a:pt x="312234" y="657922"/>
                  </a:lnTo>
                  <a:lnTo>
                    <a:pt x="256478" y="624469"/>
                  </a:lnTo>
                  <a:lnTo>
                    <a:pt x="183995" y="596591"/>
                  </a:lnTo>
                  <a:lnTo>
                    <a:pt x="122664" y="563137"/>
                  </a:lnTo>
                  <a:lnTo>
                    <a:pt x="61332" y="524108"/>
                  </a:lnTo>
                  <a:lnTo>
                    <a:pt x="33454" y="496230"/>
                  </a:lnTo>
                  <a:lnTo>
                    <a:pt x="11152" y="434898"/>
                  </a:lnTo>
                  <a:lnTo>
                    <a:pt x="0" y="367991"/>
                  </a:lnTo>
                  <a:lnTo>
                    <a:pt x="11152" y="284356"/>
                  </a:lnTo>
                  <a:lnTo>
                    <a:pt x="44605" y="23417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6" name="Freeform 26">
              <a:extLst>
                <a:ext uri="{FF2B5EF4-FFF2-40B4-BE49-F238E27FC236}">
                  <a16:creationId xmlns:a16="http://schemas.microsoft.com/office/drawing/2014/main" id="{DEE03E1B-10B8-BE98-78F8-748D693CB539}"/>
                </a:ext>
              </a:extLst>
            </p:cNvPr>
            <p:cNvSpPr/>
            <p:nvPr/>
          </p:nvSpPr>
          <p:spPr>
            <a:xfrm>
              <a:off x="4683512" y="1918010"/>
              <a:ext cx="501805" cy="451624"/>
            </a:xfrm>
            <a:custGeom>
              <a:avLst/>
              <a:gdLst>
                <a:gd name="connsiteX0" fmla="*/ 128239 w 501805"/>
                <a:gd name="connsiteY0" fmla="*/ 0 h 451624"/>
                <a:gd name="connsiteX1" fmla="*/ 111512 w 501805"/>
                <a:gd name="connsiteY1" fmla="*/ 55756 h 451624"/>
                <a:gd name="connsiteX2" fmla="*/ 66908 w 501805"/>
                <a:gd name="connsiteY2" fmla="*/ 72483 h 451624"/>
                <a:gd name="connsiteX3" fmla="*/ 66908 w 501805"/>
                <a:gd name="connsiteY3" fmla="*/ 72483 h 451624"/>
                <a:gd name="connsiteX4" fmla="*/ 16727 w 501805"/>
                <a:gd name="connsiteY4" fmla="*/ 117088 h 451624"/>
                <a:gd name="connsiteX5" fmla="*/ 22303 w 501805"/>
                <a:gd name="connsiteY5" fmla="*/ 144966 h 451624"/>
                <a:gd name="connsiteX6" fmla="*/ 27878 w 501805"/>
                <a:gd name="connsiteY6" fmla="*/ 167268 h 451624"/>
                <a:gd name="connsiteX7" fmla="*/ 0 w 501805"/>
                <a:gd name="connsiteY7" fmla="*/ 195146 h 451624"/>
                <a:gd name="connsiteX8" fmla="*/ 0 w 501805"/>
                <a:gd name="connsiteY8" fmla="*/ 195146 h 451624"/>
                <a:gd name="connsiteX9" fmla="*/ 55756 w 501805"/>
                <a:gd name="connsiteY9" fmla="*/ 289931 h 451624"/>
                <a:gd name="connsiteX10" fmla="*/ 122664 w 501805"/>
                <a:gd name="connsiteY10" fmla="*/ 312234 h 451624"/>
                <a:gd name="connsiteX11" fmla="*/ 206298 w 501805"/>
                <a:gd name="connsiteY11" fmla="*/ 379141 h 451624"/>
                <a:gd name="connsiteX12" fmla="*/ 262054 w 501805"/>
                <a:gd name="connsiteY12" fmla="*/ 423746 h 451624"/>
                <a:gd name="connsiteX13" fmla="*/ 312234 w 501805"/>
                <a:gd name="connsiteY13" fmla="*/ 451624 h 451624"/>
                <a:gd name="connsiteX14" fmla="*/ 373566 w 501805"/>
                <a:gd name="connsiteY14" fmla="*/ 412595 h 451624"/>
                <a:gd name="connsiteX15" fmla="*/ 407020 w 501805"/>
                <a:gd name="connsiteY15" fmla="*/ 384717 h 451624"/>
                <a:gd name="connsiteX16" fmla="*/ 446049 w 501805"/>
                <a:gd name="connsiteY16" fmla="*/ 306658 h 451624"/>
                <a:gd name="connsiteX17" fmla="*/ 496229 w 501805"/>
                <a:gd name="connsiteY17" fmla="*/ 250902 h 451624"/>
                <a:gd name="connsiteX18" fmla="*/ 501805 w 501805"/>
                <a:gd name="connsiteY18" fmla="*/ 200722 h 451624"/>
                <a:gd name="connsiteX19" fmla="*/ 457200 w 501805"/>
                <a:gd name="connsiteY19" fmla="*/ 139390 h 451624"/>
                <a:gd name="connsiteX20" fmla="*/ 289932 w 501805"/>
                <a:gd name="connsiteY20" fmla="*/ 50180 h 451624"/>
                <a:gd name="connsiteX21" fmla="*/ 128239 w 501805"/>
                <a:gd name="connsiteY21" fmla="*/ 0 h 45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1805" h="451624">
                  <a:moveTo>
                    <a:pt x="128239" y="0"/>
                  </a:moveTo>
                  <a:lnTo>
                    <a:pt x="111512" y="55756"/>
                  </a:lnTo>
                  <a:lnTo>
                    <a:pt x="66908" y="72483"/>
                  </a:lnTo>
                  <a:lnTo>
                    <a:pt x="66908" y="72483"/>
                  </a:lnTo>
                  <a:lnTo>
                    <a:pt x="16727" y="117088"/>
                  </a:lnTo>
                  <a:lnTo>
                    <a:pt x="22303" y="144966"/>
                  </a:lnTo>
                  <a:lnTo>
                    <a:pt x="27878" y="167268"/>
                  </a:lnTo>
                  <a:lnTo>
                    <a:pt x="0" y="195146"/>
                  </a:lnTo>
                  <a:lnTo>
                    <a:pt x="0" y="195146"/>
                  </a:lnTo>
                  <a:lnTo>
                    <a:pt x="55756" y="289931"/>
                  </a:lnTo>
                  <a:lnTo>
                    <a:pt x="122664" y="312234"/>
                  </a:lnTo>
                  <a:lnTo>
                    <a:pt x="206298" y="379141"/>
                  </a:lnTo>
                  <a:lnTo>
                    <a:pt x="262054" y="423746"/>
                  </a:lnTo>
                  <a:lnTo>
                    <a:pt x="312234" y="451624"/>
                  </a:lnTo>
                  <a:lnTo>
                    <a:pt x="373566" y="412595"/>
                  </a:lnTo>
                  <a:lnTo>
                    <a:pt x="407020" y="384717"/>
                  </a:lnTo>
                  <a:lnTo>
                    <a:pt x="446049" y="306658"/>
                  </a:lnTo>
                  <a:lnTo>
                    <a:pt x="496229" y="250902"/>
                  </a:lnTo>
                  <a:lnTo>
                    <a:pt x="501805" y="200722"/>
                  </a:lnTo>
                  <a:lnTo>
                    <a:pt x="457200" y="139390"/>
                  </a:lnTo>
                  <a:lnTo>
                    <a:pt x="289932" y="50180"/>
                  </a:lnTo>
                  <a:lnTo>
                    <a:pt x="128239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DBDB1164-1D48-1B3B-23E1-03BBBE4AE21F}"/>
                </a:ext>
              </a:extLst>
            </p:cNvPr>
            <p:cNvSpPr/>
            <p:nvPr/>
          </p:nvSpPr>
          <p:spPr>
            <a:xfrm>
              <a:off x="4493941" y="2113156"/>
              <a:ext cx="551986" cy="490654"/>
            </a:xfrm>
            <a:custGeom>
              <a:avLst/>
              <a:gdLst>
                <a:gd name="connsiteX0" fmla="*/ 200722 w 551986"/>
                <a:gd name="connsiteY0" fmla="*/ 0 h 490654"/>
                <a:gd name="connsiteX1" fmla="*/ 178420 w 551986"/>
                <a:gd name="connsiteY1" fmla="*/ 50181 h 490654"/>
                <a:gd name="connsiteX2" fmla="*/ 117088 w 551986"/>
                <a:gd name="connsiteY2" fmla="*/ 61332 h 490654"/>
                <a:gd name="connsiteX3" fmla="*/ 72483 w 551986"/>
                <a:gd name="connsiteY3" fmla="*/ 83634 h 490654"/>
                <a:gd name="connsiteX4" fmla="*/ 44605 w 551986"/>
                <a:gd name="connsiteY4" fmla="*/ 100361 h 490654"/>
                <a:gd name="connsiteX5" fmla="*/ 39030 w 551986"/>
                <a:gd name="connsiteY5" fmla="*/ 150542 h 490654"/>
                <a:gd name="connsiteX6" fmla="*/ 16727 w 551986"/>
                <a:gd name="connsiteY6" fmla="*/ 228600 h 490654"/>
                <a:gd name="connsiteX7" fmla="*/ 0 w 551986"/>
                <a:gd name="connsiteY7" fmla="*/ 262054 h 490654"/>
                <a:gd name="connsiteX8" fmla="*/ 61332 w 551986"/>
                <a:gd name="connsiteY8" fmla="*/ 317810 h 490654"/>
                <a:gd name="connsiteX9" fmla="*/ 122664 w 551986"/>
                <a:gd name="connsiteY9" fmla="*/ 379142 h 490654"/>
                <a:gd name="connsiteX10" fmla="*/ 200722 w 551986"/>
                <a:gd name="connsiteY10" fmla="*/ 429322 h 490654"/>
                <a:gd name="connsiteX11" fmla="*/ 245327 w 551986"/>
                <a:gd name="connsiteY11" fmla="*/ 457200 h 490654"/>
                <a:gd name="connsiteX12" fmla="*/ 295508 w 551986"/>
                <a:gd name="connsiteY12" fmla="*/ 490654 h 490654"/>
                <a:gd name="connsiteX13" fmla="*/ 407020 w 551986"/>
                <a:gd name="connsiteY13" fmla="*/ 462776 h 490654"/>
                <a:gd name="connsiteX14" fmla="*/ 457200 w 551986"/>
                <a:gd name="connsiteY14" fmla="*/ 367990 h 490654"/>
                <a:gd name="connsiteX15" fmla="*/ 501805 w 551986"/>
                <a:gd name="connsiteY15" fmla="*/ 284356 h 490654"/>
                <a:gd name="connsiteX16" fmla="*/ 551986 w 551986"/>
                <a:gd name="connsiteY16" fmla="*/ 200722 h 490654"/>
                <a:gd name="connsiteX17" fmla="*/ 418171 w 551986"/>
                <a:gd name="connsiteY17" fmla="*/ 61332 h 490654"/>
                <a:gd name="connsiteX18" fmla="*/ 200722 w 551986"/>
                <a:gd name="connsiteY18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1986" h="490654">
                  <a:moveTo>
                    <a:pt x="200722" y="0"/>
                  </a:moveTo>
                  <a:lnTo>
                    <a:pt x="178420" y="50181"/>
                  </a:lnTo>
                  <a:lnTo>
                    <a:pt x="117088" y="61332"/>
                  </a:lnTo>
                  <a:lnTo>
                    <a:pt x="72483" y="83634"/>
                  </a:lnTo>
                  <a:lnTo>
                    <a:pt x="44605" y="100361"/>
                  </a:lnTo>
                  <a:lnTo>
                    <a:pt x="39030" y="150542"/>
                  </a:lnTo>
                  <a:lnTo>
                    <a:pt x="16727" y="228600"/>
                  </a:lnTo>
                  <a:lnTo>
                    <a:pt x="0" y="262054"/>
                  </a:lnTo>
                  <a:lnTo>
                    <a:pt x="61332" y="317810"/>
                  </a:lnTo>
                  <a:lnTo>
                    <a:pt x="122664" y="379142"/>
                  </a:lnTo>
                  <a:lnTo>
                    <a:pt x="200722" y="429322"/>
                  </a:lnTo>
                  <a:lnTo>
                    <a:pt x="245327" y="457200"/>
                  </a:lnTo>
                  <a:lnTo>
                    <a:pt x="295508" y="490654"/>
                  </a:lnTo>
                  <a:lnTo>
                    <a:pt x="407020" y="462776"/>
                  </a:lnTo>
                  <a:lnTo>
                    <a:pt x="457200" y="367990"/>
                  </a:lnTo>
                  <a:lnTo>
                    <a:pt x="501805" y="284356"/>
                  </a:lnTo>
                  <a:lnTo>
                    <a:pt x="551986" y="200722"/>
                  </a:lnTo>
                  <a:lnTo>
                    <a:pt x="418171" y="61332"/>
                  </a:lnTo>
                  <a:lnTo>
                    <a:pt x="200722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D9A33C70-2959-BD68-C74F-FF6B2961F7FD}"/>
                </a:ext>
              </a:extLst>
            </p:cNvPr>
            <p:cNvSpPr/>
            <p:nvPr/>
          </p:nvSpPr>
          <p:spPr>
            <a:xfrm>
              <a:off x="4287644" y="2352907"/>
              <a:ext cx="524107" cy="490654"/>
            </a:xfrm>
            <a:custGeom>
              <a:avLst/>
              <a:gdLst>
                <a:gd name="connsiteX0" fmla="*/ 228600 w 524107"/>
                <a:gd name="connsiteY0" fmla="*/ 0 h 490654"/>
                <a:gd name="connsiteX1" fmla="*/ 167268 w 524107"/>
                <a:gd name="connsiteY1" fmla="*/ 22303 h 490654"/>
                <a:gd name="connsiteX2" fmla="*/ 167268 w 524107"/>
                <a:gd name="connsiteY2" fmla="*/ 22303 h 490654"/>
                <a:gd name="connsiteX3" fmla="*/ 72483 w 524107"/>
                <a:gd name="connsiteY3" fmla="*/ 55756 h 490654"/>
                <a:gd name="connsiteX4" fmla="*/ 50180 w 524107"/>
                <a:gd name="connsiteY4" fmla="*/ 83634 h 490654"/>
                <a:gd name="connsiteX5" fmla="*/ 16727 w 524107"/>
                <a:gd name="connsiteY5" fmla="*/ 122664 h 490654"/>
                <a:gd name="connsiteX6" fmla="*/ 0 w 524107"/>
                <a:gd name="connsiteY6" fmla="*/ 183995 h 490654"/>
                <a:gd name="connsiteX7" fmla="*/ 0 w 524107"/>
                <a:gd name="connsiteY7" fmla="*/ 183995 h 490654"/>
                <a:gd name="connsiteX8" fmla="*/ 55756 w 524107"/>
                <a:gd name="connsiteY8" fmla="*/ 289932 h 490654"/>
                <a:gd name="connsiteX9" fmla="*/ 100361 w 524107"/>
                <a:gd name="connsiteY9" fmla="*/ 340113 h 490654"/>
                <a:gd name="connsiteX10" fmla="*/ 133815 w 524107"/>
                <a:gd name="connsiteY10" fmla="*/ 401444 h 490654"/>
                <a:gd name="connsiteX11" fmla="*/ 189571 w 524107"/>
                <a:gd name="connsiteY11" fmla="*/ 446049 h 490654"/>
                <a:gd name="connsiteX12" fmla="*/ 273205 w 524107"/>
                <a:gd name="connsiteY12" fmla="*/ 473927 h 490654"/>
                <a:gd name="connsiteX13" fmla="*/ 345688 w 524107"/>
                <a:gd name="connsiteY13" fmla="*/ 490654 h 490654"/>
                <a:gd name="connsiteX14" fmla="*/ 401444 w 524107"/>
                <a:gd name="connsiteY14" fmla="*/ 473927 h 490654"/>
                <a:gd name="connsiteX15" fmla="*/ 457200 w 524107"/>
                <a:gd name="connsiteY15" fmla="*/ 362415 h 490654"/>
                <a:gd name="connsiteX16" fmla="*/ 507380 w 524107"/>
                <a:gd name="connsiteY16" fmla="*/ 278781 h 490654"/>
                <a:gd name="connsiteX17" fmla="*/ 524107 w 524107"/>
                <a:gd name="connsiteY17" fmla="*/ 195147 h 490654"/>
                <a:gd name="connsiteX18" fmla="*/ 423746 w 524107"/>
                <a:gd name="connsiteY18" fmla="*/ 66908 h 490654"/>
                <a:gd name="connsiteX19" fmla="*/ 323385 w 524107"/>
                <a:gd name="connsiteY19" fmla="*/ 5576 h 490654"/>
                <a:gd name="connsiteX20" fmla="*/ 228600 w 524107"/>
                <a:gd name="connsiteY20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4107" h="490654">
                  <a:moveTo>
                    <a:pt x="228600" y="0"/>
                  </a:moveTo>
                  <a:lnTo>
                    <a:pt x="167268" y="22303"/>
                  </a:lnTo>
                  <a:lnTo>
                    <a:pt x="167268" y="22303"/>
                  </a:lnTo>
                  <a:lnTo>
                    <a:pt x="72483" y="55756"/>
                  </a:lnTo>
                  <a:lnTo>
                    <a:pt x="50180" y="83634"/>
                  </a:lnTo>
                  <a:lnTo>
                    <a:pt x="16727" y="122664"/>
                  </a:lnTo>
                  <a:lnTo>
                    <a:pt x="0" y="183995"/>
                  </a:lnTo>
                  <a:lnTo>
                    <a:pt x="0" y="183995"/>
                  </a:lnTo>
                  <a:lnTo>
                    <a:pt x="55756" y="289932"/>
                  </a:lnTo>
                  <a:lnTo>
                    <a:pt x="100361" y="340113"/>
                  </a:lnTo>
                  <a:lnTo>
                    <a:pt x="133815" y="401444"/>
                  </a:lnTo>
                  <a:lnTo>
                    <a:pt x="189571" y="446049"/>
                  </a:lnTo>
                  <a:lnTo>
                    <a:pt x="273205" y="473927"/>
                  </a:lnTo>
                  <a:lnTo>
                    <a:pt x="345688" y="490654"/>
                  </a:lnTo>
                  <a:lnTo>
                    <a:pt x="401444" y="473927"/>
                  </a:lnTo>
                  <a:lnTo>
                    <a:pt x="457200" y="362415"/>
                  </a:lnTo>
                  <a:lnTo>
                    <a:pt x="507380" y="278781"/>
                  </a:lnTo>
                  <a:lnTo>
                    <a:pt x="524107" y="195147"/>
                  </a:lnTo>
                  <a:lnTo>
                    <a:pt x="423746" y="66908"/>
                  </a:lnTo>
                  <a:lnTo>
                    <a:pt x="323385" y="5576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61995553-C374-3779-7FBE-BC45E674CDD8}"/>
                </a:ext>
              </a:extLst>
            </p:cNvPr>
            <p:cNvSpPr/>
            <p:nvPr/>
          </p:nvSpPr>
          <p:spPr>
            <a:xfrm>
              <a:off x="3986561" y="2559205"/>
              <a:ext cx="579863" cy="501805"/>
            </a:xfrm>
            <a:custGeom>
              <a:avLst/>
              <a:gdLst>
                <a:gd name="connsiteX0" fmla="*/ 323385 w 579863"/>
                <a:gd name="connsiteY0" fmla="*/ 0 h 501805"/>
                <a:gd name="connsiteX1" fmla="*/ 262054 w 579863"/>
                <a:gd name="connsiteY1" fmla="*/ 5575 h 501805"/>
                <a:gd name="connsiteX2" fmla="*/ 161693 w 579863"/>
                <a:gd name="connsiteY2" fmla="*/ 11151 h 501805"/>
                <a:gd name="connsiteX3" fmla="*/ 117088 w 579863"/>
                <a:gd name="connsiteY3" fmla="*/ 39029 h 501805"/>
                <a:gd name="connsiteX4" fmla="*/ 72483 w 579863"/>
                <a:gd name="connsiteY4" fmla="*/ 66907 h 501805"/>
                <a:gd name="connsiteX5" fmla="*/ 16727 w 579863"/>
                <a:gd name="connsiteY5" fmla="*/ 117088 h 501805"/>
                <a:gd name="connsiteX6" fmla="*/ 0 w 579863"/>
                <a:gd name="connsiteY6" fmla="*/ 133815 h 501805"/>
                <a:gd name="connsiteX7" fmla="*/ 27878 w 579863"/>
                <a:gd name="connsiteY7" fmla="*/ 195146 h 501805"/>
                <a:gd name="connsiteX8" fmla="*/ 66907 w 579863"/>
                <a:gd name="connsiteY8" fmla="*/ 267629 h 501805"/>
                <a:gd name="connsiteX9" fmla="*/ 94785 w 579863"/>
                <a:gd name="connsiteY9" fmla="*/ 356839 h 501805"/>
                <a:gd name="connsiteX10" fmla="*/ 117088 w 579863"/>
                <a:gd name="connsiteY10" fmla="*/ 446049 h 501805"/>
                <a:gd name="connsiteX11" fmla="*/ 144966 w 579863"/>
                <a:gd name="connsiteY11" fmla="*/ 496229 h 501805"/>
                <a:gd name="connsiteX12" fmla="*/ 228600 w 579863"/>
                <a:gd name="connsiteY12" fmla="*/ 496229 h 501805"/>
                <a:gd name="connsiteX13" fmla="*/ 306659 w 579863"/>
                <a:gd name="connsiteY13" fmla="*/ 501805 h 501805"/>
                <a:gd name="connsiteX14" fmla="*/ 395868 w 579863"/>
                <a:gd name="connsiteY14" fmla="*/ 451624 h 501805"/>
                <a:gd name="connsiteX15" fmla="*/ 485078 w 579863"/>
                <a:gd name="connsiteY15" fmla="*/ 379141 h 501805"/>
                <a:gd name="connsiteX16" fmla="*/ 507380 w 579863"/>
                <a:gd name="connsiteY16" fmla="*/ 328961 h 501805"/>
                <a:gd name="connsiteX17" fmla="*/ 557561 w 579863"/>
                <a:gd name="connsiteY17" fmla="*/ 323385 h 501805"/>
                <a:gd name="connsiteX18" fmla="*/ 579863 w 579863"/>
                <a:gd name="connsiteY18" fmla="*/ 262054 h 501805"/>
                <a:gd name="connsiteX19" fmla="*/ 579863 w 579863"/>
                <a:gd name="connsiteY19" fmla="*/ 111512 h 501805"/>
                <a:gd name="connsiteX20" fmla="*/ 418171 w 579863"/>
                <a:gd name="connsiteY20" fmla="*/ 22302 h 501805"/>
                <a:gd name="connsiteX21" fmla="*/ 323385 w 579863"/>
                <a:gd name="connsiteY21" fmla="*/ 0 h 50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9863" h="501805">
                  <a:moveTo>
                    <a:pt x="323385" y="0"/>
                  </a:moveTo>
                  <a:lnTo>
                    <a:pt x="262054" y="5575"/>
                  </a:lnTo>
                  <a:lnTo>
                    <a:pt x="161693" y="11151"/>
                  </a:lnTo>
                  <a:lnTo>
                    <a:pt x="117088" y="39029"/>
                  </a:lnTo>
                  <a:lnTo>
                    <a:pt x="72483" y="66907"/>
                  </a:lnTo>
                  <a:lnTo>
                    <a:pt x="16727" y="117088"/>
                  </a:lnTo>
                  <a:lnTo>
                    <a:pt x="0" y="133815"/>
                  </a:lnTo>
                  <a:lnTo>
                    <a:pt x="27878" y="195146"/>
                  </a:lnTo>
                  <a:lnTo>
                    <a:pt x="66907" y="267629"/>
                  </a:lnTo>
                  <a:lnTo>
                    <a:pt x="94785" y="356839"/>
                  </a:lnTo>
                  <a:lnTo>
                    <a:pt x="117088" y="446049"/>
                  </a:lnTo>
                  <a:lnTo>
                    <a:pt x="144966" y="496229"/>
                  </a:lnTo>
                  <a:lnTo>
                    <a:pt x="228600" y="496229"/>
                  </a:lnTo>
                  <a:lnTo>
                    <a:pt x="306659" y="501805"/>
                  </a:lnTo>
                  <a:lnTo>
                    <a:pt x="395868" y="451624"/>
                  </a:lnTo>
                  <a:lnTo>
                    <a:pt x="485078" y="379141"/>
                  </a:lnTo>
                  <a:lnTo>
                    <a:pt x="507380" y="328961"/>
                  </a:lnTo>
                  <a:lnTo>
                    <a:pt x="557561" y="323385"/>
                  </a:lnTo>
                  <a:lnTo>
                    <a:pt x="579863" y="262054"/>
                  </a:lnTo>
                  <a:lnTo>
                    <a:pt x="579863" y="111512"/>
                  </a:lnTo>
                  <a:lnTo>
                    <a:pt x="418171" y="22302"/>
                  </a:lnTo>
                  <a:lnTo>
                    <a:pt x="323385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8B4133F7-5828-E63D-0B58-236BC284CE24}"/>
                </a:ext>
              </a:extLst>
            </p:cNvPr>
            <p:cNvSpPr/>
            <p:nvPr/>
          </p:nvSpPr>
          <p:spPr>
            <a:xfrm>
              <a:off x="3685478" y="2693020"/>
              <a:ext cx="524107" cy="496229"/>
            </a:xfrm>
            <a:custGeom>
              <a:avLst/>
              <a:gdLst>
                <a:gd name="connsiteX0" fmla="*/ 345688 w 524107"/>
                <a:gd name="connsiteY0" fmla="*/ 16726 h 496229"/>
                <a:gd name="connsiteX1" fmla="*/ 273205 w 524107"/>
                <a:gd name="connsiteY1" fmla="*/ 16726 h 496229"/>
                <a:gd name="connsiteX2" fmla="*/ 189571 w 524107"/>
                <a:gd name="connsiteY2" fmla="*/ 0 h 496229"/>
                <a:gd name="connsiteX3" fmla="*/ 122663 w 524107"/>
                <a:gd name="connsiteY3" fmla="*/ 5575 h 496229"/>
                <a:gd name="connsiteX4" fmla="*/ 89210 w 524107"/>
                <a:gd name="connsiteY4" fmla="*/ 27878 h 496229"/>
                <a:gd name="connsiteX5" fmla="*/ 89210 w 524107"/>
                <a:gd name="connsiteY5" fmla="*/ 27878 h 496229"/>
                <a:gd name="connsiteX6" fmla="*/ 27878 w 524107"/>
                <a:gd name="connsiteY6" fmla="*/ 66907 h 496229"/>
                <a:gd name="connsiteX7" fmla="*/ 0 w 524107"/>
                <a:gd name="connsiteY7" fmla="*/ 100360 h 496229"/>
                <a:gd name="connsiteX8" fmla="*/ 0 w 524107"/>
                <a:gd name="connsiteY8" fmla="*/ 167268 h 496229"/>
                <a:gd name="connsiteX9" fmla="*/ 22302 w 524107"/>
                <a:gd name="connsiteY9" fmla="*/ 284356 h 496229"/>
                <a:gd name="connsiteX10" fmla="*/ 50181 w 524107"/>
                <a:gd name="connsiteY10" fmla="*/ 407019 h 496229"/>
                <a:gd name="connsiteX11" fmla="*/ 89210 w 524107"/>
                <a:gd name="connsiteY11" fmla="*/ 440473 h 496229"/>
                <a:gd name="connsiteX12" fmla="*/ 156117 w 524107"/>
                <a:gd name="connsiteY12" fmla="*/ 473926 h 496229"/>
                <a:gd name="connsiteX13" fmla="*/ 223024 w 524107"/>
                <a:gd name="connsiteY13" fmla="*/ 496229 h 496229"/>
                <a:gd name="connsiteX14" fmla="*/ 345688 w 524107"/>
                <a:gd name="connsiteY14" fmla="*/ 446048 h 496229"/>
                <a:gd name="connsiteX15" fmla="*/ 434898 w 524107"/>
                <a:gd name="connsiteY15" fmla="*/ 395868 h 496229"/>
                <a:gd name="connsiteX16" fmla="*/ 507381 w 524107"/>
                <a:gd name="connsiteY16" fmla="*/ 323385 h 496229"/>
                <a:gd name="connsiteX17" fmla="*/ 524107 w 524107"/>
                <a:gd name="connsiteY17" fmla="*/ 139390 h 496229"/>
                <a:gd name="connsiteX18" fmla="*/ 401444 w 524107"/>
                <a:gd name="connsiteY18" fmla="*/ 50180 h 496229"/>
                <a:gd name="connsiteX19" fmla="*/ 345688 w 524107"/>
                <a:gd name="connsiteY19" fmla="*/ 16726 h 49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4107" h="496229">
                  <a:moveTo>
                    <a:pt x="345688" y="16726"/>
                  </a:moveTo>
                  <a:lnTo>
                    <a:pt x="273205" y="16726"/>
                  </a:lnTo>
                  <a:lnTo>
                    <a:pt x="189571" y="0"/>
                  </a:lnTo>
                  <a:lnTo>
                    <a:pt x="122663" y="5575"/>
                  </a:lnTo>
                  <a:lnTo>
                    <a:pt x="89210" y="27878"/>
                  </a:lnTo>
                  <a:lnTo>
                    <a:pt x="89210" y="27878"/>
                  </a:lnTo>
                  <a:lnTo>
                    <a:pt x="27878" y="66907"/>
                  </a:lnTo>
                  <a:lnTo>
                    <a:pt x="0" y="100360"/>
                  </a:lnTo>
                  <a:lnTo>
                    <a:pt x="0" y="167268"/>
                  </a:lnTo>
                  <a:lnTo>
                    <a:pt x="22302" y="284356"/>
                  </a:lnTo>
                  <a:lnTo>
                    <a:pt x="50181" y="407019"/>
                  </a:lnTo>
                  <a:lnTo>
                    <a:pt x="89210" y="440473"/>
                  </a:lnTo>
                  <a:lnTo>
                    <a:pt x="156117" y="473926"/>
                  </a:lnTo>
                  <a:lnTo>
                    <a:pt x="223024" y="496229"/>
                  </a:lnTo>
                  <a:lnTo>
                    <a:pt x="345688" y="446048"/>
                  </a:lnTo>
                  <a:lnTo>
                    <a:pt x="434898" y="395868"/>
                  </a:lnTo>
                  <a:lnTo>
                    <a:pt x="507381" y="323385"/>
                  </a:lnTo>
                  <a:lnTo>
                    <a:pt x="524107" y="139390"/>
                  </a:lnTo>
                  <a:lnTo>
                    <a:pt x="401444" y="50180"/>
                  </a:lnTo>
                  <a:lnTo>
                    <a:pt x="345688" y="1672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DADA627C-CC22-0FE7-D4B5-81875E658F2D}"/>
                </a:ext>
              </a:extLst>
            </p:cNvPr>
            <p:cNvSpPr/>
            <p:nvPr/>
          </p:nvSpPr>
          <p:spPr>
            <a:xfrm>
              <a:off x="3367668" y="2771078"/>
              <a:ext cx="490654" cy="434898"/>
            </a:xfrm>
            <a:custGeom>
              <a:avLst/>
              <a:gdLst>
                <a:gd name="connsiteX0" fmla="*/ 345688 w 490654"/>
                <a:gd name="connsiteY0" fmla="*/ 39029 h 434898"/>
                <a:gd name="connsiteX1" fmla="*/ 278781 w 490654"/>
                <a:gd name="connsiteY1" fmla="*/ 16727 h 434898"/>
                <a:gd name="connsiteX2" fmla="*/ 206298 w 490654"/>
                <a:gd name="connsiteY2" fmla="*/ 0 h 434898"/>
                <a:gd name="connsiteX3" fmla="*/ 139391 w 490654"/>
                <a:gd name="connsiteY3" fmla="*/ 0 h 434898"/>
                <a:gd name="connsiteX4" fmla="*/ 83634 w 490654"/>
                <a:gd name="connsiteY4" fmla="*/ 0 h 434898"/>
                <a:gd name="connsiteX5" fmla="*/ 39030 w 490654"/>
                <a:gd name="connsiteY5" fmla="*/ 16727 h 434898"/>
                <a:gd name="connsiteX6" fmla="*/ 22303 w 490654"/>
                <a:gd name="connsiteY6" fmla="*/ 44605 h 434898"/>
                <a:gd name="connsiteX7" fmla="*/ 22303 w 490654"/>
                <a:gd name="connsiteY7" fmla="*/ 44605 h 434898"/>
                <a:gd name="connsiteX8" fmla="*/ 0 w 490654"/>
                <a:gd name="connsiteY8" fmla="*/ 167268 h 434898"/>
                <a:gd name="connsiteX9" fmla="*/ 0 w 490654"/>
                <a:gd name="connsiteY9" fmla="*/ 256478 h 434898"/>
                <a:gd name="connsiteX10" fmla="*/ 5576 w 490654"/>
                <a:gd name="connsiteY10" fmla="*/ 351263 h 434898"/>
                <a:gd name="connsiteX11" fmla="*/ 5576 w 490654"/>
                <a:gd name="connsiteY11" fmla="*/ 351263 h 434898"/>
                <a:gd name="connsiteX12" fmla="*/ 61332 w 490654"/>
                <a:gd name="connsiteY12" fmla="*/ 429322 h 434898"/>
                <a:gd name="connsiteX13" fmla="*/ 122664 w 490654"/>
                <a:gd name="connsiteY13" fmla="*/ 434898 h 434898"/>
                <a:gd name="connsiteX14" fmla="*/ 228600 w 490654"/>
                <a:gd name="connsiteY14" fmla="*/ 434898 h 434898"/>
                <a:gd name="connsiteX15" fmla="*/ 362415 w 490654"/>
                <a:gd name="connsiteY15" fmla="*/ 407020 h 434898"/>
                <a:gd name="connsiteX16" fmla="*/ 446049 w 490654"/>
                <a:gd name="connsiteY16" fmla="*/ 379142 h 434898"/>
                <a:gd name="connsiteX17" fmla="*/ 490654 w 490654"/>
                <a:gd name="connsiteY17" fmla="*/ 323385 h 434898"/>
                <a:gd name="connsiteX18" fmla="*/ 418171 w 490654"/>
                <a:gd name="connsiteY18" fmla="*/ 167268 h 434898"/>
                <a:gd name="connsiteX19" fmla="*/ 345688 w 490654"/>
                <a:gd name="connsiteY19" fmla="*/ 39029 h 43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0654" h="434898">
                  <a:moveTo>
                    <a:pt x="345688" y="39029"/>
                  </a:moveTo>
                  <a:lnTo>
                    <a:pt x="278781" y="16727"/>
                  </a:lnTo>
                  <a:lnTo>
                    <a:pt x="206298" y="0"/>
                  </a:lnTo>
                  <a:lnTo>
                    <a:pt x="139391" y="0"/>
                  </a:lnTo>
                  <a:lnTo>
                    <a:pt x="83634" y="0"/>
                  </a:lnTo>
                  <a:lnTo>
                    <a:pt x="39030" y="16727"/>
                  </a:lnTo>
                  <a:lnTo>
                    <a:pt x="22303" y="44605"/>
                  </a:lnTo>
                  <a:lnTo>
                    <a:pt x="22303" y="44605"/>
                  </a:lnTo>
                  <a:lnTo>
                    <a:pt x="0" y="167268"/>
                  </a:lnTo>
                  <a:lnTo>
                    <a:pt x="0" y="256478"/>
                  </a:lnTo>
                  <a:lnTo>
                    <a:pt x="5576" y="351263"/>
                  </a:lnTo>
                  <a:lnTo>
                    <a:pt x="5576" y="351263"/>
                  </a:lnTo>
                  <a:lnTo>
                    <a:pt x="61332" y="429322"/>
                  </a:lnTo>
                  <a:lnTo>
                    <a:pt x="122664" y="434898"/>
                  </a:lnTo>
                  <a:lnTo>
                    <a:pt x="228600" y="434898"/>
                  </a:lnTo>
                  <a:lnTo>
                    <a:pt x="362415" y="407020"/>
                  </a:lnTo>
                  <a:lnTo>
                    <a:pt x="446049" y="379142"/>
                  </a:lnTo>
                  <a:lnTo>
                    <a:pt x="490654" y="323385"/>
                  </a:lnTo>
                  <a:lnTo>
                    <a:pt x="418171" y="167268"/>
                  </a:lnTo>
                  <a:lnTo>
                    <a:pt x="345688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727E0F46-3044-2268-DC8A-2993ADEFB57D}"/>
                </a:ext>
              </a:extLst>
            </p:cNvPr>
            <p:cNvSpPr/>
            <p:nvPr/>
          </p:nvSpPr>
          <p:spPr>
            <a:xfrm>
              <a:off x="3061010" y="2743200"/>
              <a:ext cx="395868" cy="429322"/>
            </a:xfrm>
            <a:custGeom>
              <a:avLst/>
              <a:gdLst>
                <a:gd name="connsiteX0" fmla="*/ 345688 w 395868"/>
                <a:gd name="connsiteY0" fmla="*/ 105937 h 429322"/>
                <a:gd name="connsiteX1" fmla="*/ 301083 w 395868"/>
                <a:gd name="connsiteY1" fmla="*/ 55756 h 429322"/>
                <a:gd name="connsiteX2" fmla="*/ 228600 w 395868"/>
                <a:gd name="connsiteY2" fmla="*/ 33454 h 429322"/>
                <a:gd name="connsiteX3" fmla="*/ 133814 w 395868"/>
                <a:gd name="connsiteY3" fmla="*/ 0 h 429322"/>
                <a:gd name="connsiteX4" fmla="*/ 50180 w 395868"/>
                <a:gd name="connsiteY4" fmla="*/ 0 h 429322"/>
                <a:gd name="connsiteX5" fmla="*/ 33453 w 395868"/>
                <a:gd name="connsiteY5" fmla="*/ 66907 h 429322"/>
                <a:gd name="connsiteX6" fmla="*/ 22302 w 395868"/>
                <a:gd name="connsiteY6" fmla="*/ 122663 h 429322"/>
                <a:gd name="connsiteX7" fmla="*/ 11151 w 395868"/>
                <a:gd name="connsiteY7" fmla="*/ 178420 h 429322"/>
                <a:gd name="connsiteX8" fmla="*/ 0 w 395868"/>
                <a:gd name="connsiteY8" fmla="*/ 256478 h 429322"/>
                <a:gd name="connsiteX9" fmla="*/ 0 w 395868"/>
                <a:gd name="connsiteY9" fmla="*/ 340112 h 429322"/>
                <a:gd name="connsiteX10" fmla="*/ 44605 w 395868"/>
                <a:gd name="connsiteY10" fmla="*/ 379141 h 429322"/>
                <a:gd name="connsiteX11" fmla="*/ 161692 w 395868"/>
                <a:gd name="connsiteY11" fmla="*/ 412595 h 429322"/>
                <a:gd name="connsiteX12" fmla="*/ 245327 w 395868"/>
                <a:gd name="connsiteY12" fmla="*/ 429322 h 429322"/>
                <a:gd name="connsiteX13" fmla="*/ 267629 w 395868"/>
                <a:gd name="connsiteY13" fmla="*/ 418171 h 429322"/>
                <a:gd name="connsiteX14" fmla="*/ 267629 w 395868"/>
                <a:gd name="connsiteY14" fmla="*/ 418171 h 429322"/>
                <a:gd name="connsiteX15" fmla="*/ 273205 w 395868"/>
                <a:gd name="connsiteY15" fmla="*/ 351263 h 429322"/>
                <a:gd name="connsiteX16" fmla="*/ 345688 w 395868"/>
                <a:gd name="connsiteY16" fmla="*/ 351263 h 429322"/>
                <a:gd name="connsiteX17" fmla="*/ 395868 w 395868"/>
                <a:gd name="connsiteY17" fmla="*/ 211873 h 429322"/>
                <a:gd name="connsiteX18" fmla="*/ 345688 w 395868"/>
                <a:gd name="connsiteY18" fmla="*/ 105937 h 4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5868" h="429322">
                  <a:moveTo>
                    <a:pt x="345688" y="105937"/>
                  </a:moveTo>
                  <a:lnTo>
                    <a:pt x="301083" y="55756"/>
                  </a:lnTo>
                  <a:lnTo>
                    <a:pt x="228600" y="33454"/>
                  </a:lnTo>
                  <a:lnTo>
                    <a:pt x="133814" y="0"/>
                  </a:lnTo>
                  <a:lnTo>
                    <a:pt x="50180" y="0"/>
                  </a:lnTo>
                  <a:lnTo>
                    <a:pt x="33453" y="66907"/>
                  </a:lnTo>
                  <a:lnTo>
                    <a:pt x="22302" y="122663"/>
                  </a:lnTo>
                  <a:lnTo>
                    <a:pt x="11151" y="178420"/>
                  </a:lnTo>
                  <a:lnTo>
                    <a:pt x="0" y="256478"/>
                  </a:lnTo>
                  <a:lnTo>
                    <a:pt x="0" y="340112"/>
                  </a:lnTo>
                  <a:lnTo>
                    <a:pt x="44605" y="379141"/>
                  </a:lnTo>
                  <a:lnTo>
                    <a:pt x="161692" y="412595"/>
                  </a:lnTo>
                  <a:lnTo>
                    <a:pt x="245327" y="429322"/>
                  </a:lnTo>
                  <a:lnTo>
                    <a:pt x="267629" y="418171"/>
                  </a:lnTo>
                  <a:lnTo>
                    <a:pt x="267629" y="418171"/>
                  </a:lnTo>
                  <a:lnTo>
                    <a:pt x="273205" y="351263"/>
                  </a:lnTo>
                  <a:lnTo>
                    <a:pt x="345688" y="351263"/>
                  </a:lnTo>
                  <a:lnTo>
                    <a:pt x="395868" y="211873"/>
                  </a:lnTo>
                  <a:lnTo>
                    <a:pt x="345688" y="1059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3" name="Freeform 33">
              <a:extLst>
                <a:ext uri="{FF2B5EF4-FFF2-40B4-BE49-F238E27FC236}">
                  <a16:creationId xmlns:a16="http://schemas.microsoft.com/office/drawing/2014/main" id="{89833597-8EDD-0DBD-49EC-6C8FAAC28295}"/>
                </a:ext>
              </a:extLst>
            </p:cNvPr>
            <p:cNvSpPr/>
            <p:nvPr/>
          </p:nvSpPr>
          <p:spPr>
            <a:xfrm>
              <a:off x="2837985" y="2709746"/>
              <a:ext cx="367991" cy="356839"/>
            </a:xfrm>
            <a:custGeom>
              <a:avLst/>
              <a:gdLst>
                <a:gd name="connsiteX0" fmla="*/ 289932 w 367991"/>
                <a:gd name="connsiteY0" fmla="*/ 61332 h 356839"/>
                <a:gd name="connsiteX1" fmla="*/ 228600 w 367991"/>
                <a:gd name="connsiteY1" fmla="*/ 27878 h 356839"/>
                <a:gd name="connsiteX2" fmla="*/ 167269 w 367991"/>
                <a:gd name="connsiteY2" fmla="*/ 0 h 356839"/>
                <a:gd name="connsiteX3" fmla="*/ 167269 w 367991"/>
                <a:gd name="connsiteY3" fmla="*/ 0 h 356839"/>
                <a:gd name="connsiteX4" fmla="*/ 89210 w 367991"/>
                <a:gd name="connsiteY4" fmla="*/ 33454 h 356839"/>
                <a:gd name="connsiteX5" fmla="*/ 55756 w 367991"/>
                <a:gd name="connsiteY5" fmla="*/ 78059 h 356839"/>
                <a:gd name="connsiteX6" fmla="*/ 16727 w 367991"/>
                <a:gd name="connsiteY6" fmla="*/ 139391 h 356839"/>
                <a:gd name="connsiteX7" fmla="*/ 0 w 367991"/>
                <a:gd name="connsiteY7" fmla="*/ 200722 h 356839"/>
                <a:gd name="connsiteX8" fmla="*/ 22303 w 367991"/>
                <a:gd name="connsiteY8" fmla="*/ 273205 h 356839"/>
                <a:gd name="connsiteX9" fmla="*/ 78059 w 367991"/>
                <a:gd name="connsiteY9" fmla="*/ 312234 h 356839"/>
                <a:gd name="connsiteX10" fmla="*/ 161693 w 367991"/>
                <a:gd name="connsiteY10" fmla="*/ 328961 h 356839"/>
                <a:gd name="connsiteX11" fmla="*/ 234176 w 367991"/>
                <a:gd name="connsiteY11" fmla="*/ 356839 h 356839"/>
                <a:gd name="connsiteX12" fmla="*/ 323386 w 367991"/>
                <a:gd name="connsiteY12" fmla="*/ 356839 h 356839"/>
                <a:gd name="connsiteX13" fmla="*/ 367991 w 367991"/>
                <a:gd name="connsiteY13" fmla="*/ 200722 h 356839"/>
                <a:gd name="connsiteX14" fmla="*/ 289932 w 367991"/>
                <a:gd name="connsiteY14" fmla="*/ 61332 h 35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7991" h="356839">
                  <a:moveTo>
                    <a:pt x="289932" y="61332"/>
                  </a:moveTo>
                  <a:lnTo>
                    <a:pt x="228600" y="27878"/>
                  </a:lnTo>
                  <a:lnTo>
                    <a:pt x="167269" y="0"/>
                  </a:lnTo>
                  <a:lnTo>
                    <a:pt x="167269" y="0"/>
                  </a:lnTo>
                  <a:lnTo>
                    <a:pt x="89210" y="33454"/>
                  </a:lnTo>
                  <a:lnTo>
                    <a:pt x="55756" y="78059"/>
                  </a:lnTo>
                  <a:lnTo>
                    <a:pt x="16727" y="139391"/>
                  </a:lnTo>
                  <a:lnTo>
                    <a:pt x="0" y="200722"/>
                  </a:lnTo>
                  <a:lnTo>
                    <a:pt x="22303" y="273205"/>
                  </a:lnTo>
                  <a:lnTo>
                    <a:pt x="78059" y="312234"/>
                  </a:lnTo>
                  <a:lnTo>
                    <a:pt x="161693" y="328961"/>
                  </a:lnTo>
                  <a:lnTo>
                    <a:pt x="234176" y="356839"/>
                  </a:lnTo>
                  <a:lnTo>
                    <a:pt x="323386" y="356839"/>
                  </a:lnTo>
                  <a:lnTo>
                    <a:pt x="367991" y="200722"/>
                  </a:lnTo>
                  <a:lnTo>
                    <a:pt x="289932" y="61332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10B07A17-E12B-2539-5C94-8922FD7A601D}"/>
                </a:ext>
              </a:extLst>
            </p:cNvPr>
            <p:cNvSpPr/>
            <p:nvPr/>
          </p:nvSpPr>
          <p:spPr>
            <a:xfrm>
              <a:off x="2514600" y="2509024"/>
              <a:ext cx="546410" cy="412596"/>
            </a:xfrm>
            <a:custGeom>
              <a:avLst/>
              <a:gdLst>
                <a:gd name="connsiteX0" fmla="*/ 496229 w 546410"/>
                <a:gd name="connsiteY0" fmla="*/ 223025 h 412596"/>
                <a:gd name="connsiteX1" fmla="*/ 429322 w 546410"/>
                <a:gd name="connsiteY1" fmla="*/ 172844 h 412596"/>
                <a:gd name="connsiteX2" fmla="*/ 367990 w 546410"/>
                <a:gd name="connsiteY2" fmla="*/ 133815 h 412596"/>
                <a:gd name="connsiteX3" fmla="*/ 301083 w 546410"/>
                <a:gd name="connsiteY3" fmla="*/ 89210 h 412596"/>
                <a:gd name="connsiteX4" fmla="*/ 217449 w 546410"/>
                <a:gd name="connsiteY4" fmla="*/ 55756 h 412596"/>
                <a:gd name="connsiteX5" fmla="*/ 139390 w 546410"/>
                <a:gd name="connsiteY5" fmla="*/ 27878 h 412596"/>
                <a:gd name="connsiteX6" fmla="*/ 100361 w 546410"/>
                <a:gd name="connsiteY6" fmla="*/ 0 h 412596"/>
                <a:gd name="connsiteX7" fmla="*/ 44605 w 546410"/>
                <a:gd name="connsiteY7" fmla="*/ 11152 h 412596"/>
                <a:gd name="connsiteX8" fmla="*/ 44605 w 546410"/>
                <a:gd name="connsiteY8" fmla="*/ 11152 h 412596"/>
                <a:gd name="connsiteX9" fmla="*/ 0 w 546410"/>
                <a:gd name="connsiteY9" fmla="*/ 55756 h 412596"/>
                <a:gd name="connsiteX10" fmla="*/ 50180 w 546410"/>
                <a:gd name="connsiteY10" fmla="*/ 117088 h 412596"/>
                <a:gd name="connsiteX11" fmla="*/ 111512 w 546410"/>
                <a:gd name="connsiteY11" fmla="*/ 178420 h 412596"/>
                <a:gd name="connsiteX12" fmla="*/ 189571 w 546410"/>
                <a:gd name="connsiteY12" fmla="*/ 245327 h 412596"/>
                <a:gd name="connsiteX13" fmla="*/ 267629 w 546410"/>
                <a:gd name="connsiteY13" fmla="*/ 312235 h 412596"/>
                <a:gd name="connsiteX14" fmla="*/ 317810 w 546410"/>
                <a:gd name="connsiteY14" fmla="*/ 367991 h 412596"/>
                <a:gd name="connsiteX15" fmla="*/ 423746 w 546410"/>
                <a:gd name="connsiteY15" fmla="*/ 412596 h 412596"/>
                <a:gd name="connsiteX16" fmla="*/ 546410 w 546410"/>
                <a:gd name="connsiteY16" fmla="*/ 412596 h 412596"/>
                <a:gd name="connsiteX17" fmla="*/ 496229 w 546410"/>
                <a:gd name="connsiteY17" fmla="*/ 223025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410" h="412596">
                  <a:moveTo>
                    <a:pt x="496229" y="223025"/>
                  </a:moveTo>
                  <a:lnTo>
                    <a:pt x="429322" y="172844"/>
                  </a:lnTo>
                  <a:lnTo>
                    <a:pt x="367990" y="133815"/>
                  </a:lnTo>
                  <a:lnTo>
                    <a:pt x="301083" y="89210"/>
                  </a:lnTo>
                  <a:lnTo>
                    <a:pt x="217449" y="55756"/>
                  </a:lnTo>
                  <a:lnTo>
                    <a:pt x="139390" y="27878"/>
                  </a:lnTo>
                  <a:lnTo>
                    <a:pt x="100361" y="0"/>
                  </a:lnTo>
                  <a:lnTo>
                    <a:pt x="44605" y="11152"/>
                  </a:lnTo>
                  <a:lnTo>
                    <a:pt x="44605" y="11152"/>
                  </a:lnTo>
                  <a:lnTo>
                    <a:pt x="0" y="55756"/>
                  </a:lnTo>
                  <a:lnTo>
                    <a:pt x="50180" y="117088"/>
                  </a:lnTo>
                  <a:lnTo>
                    <a:pt x="111512" y="178420"/>
                  </a:lnTo>
                  <a:lnTo>
                    <a:pt x="189571" y="245327"/>
                  </a:lnTo>
                  <a:lnTo>
                    <a:pt x="267629" y="312235"/>
                  </a:lnTo>
                  <a:lnTo>
                    <a:pt x="317810" y="367991"/>
                  </a:lnTo>
                  <a:lnTo>
                    <a:pt x="423746" y="412596"/>
                  </a:lnTo>
                  <a:lnTo>
                    <a:pt x="546410" y="412596"/>
                  </a:lnTo>
                  <a:lnTo>
                    <a:pt x="496229" y="22302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3E6FEFED-7E45-81F5-3528-0A4BE8A8B5FE}"/>
                </a:ext>
              </a:extLst>
            </p:cNvPr>
            <p:cNvSpPr/>
            <p:nvPr/>
          </p:nvSpPr>
          <p:spPr>
            <a:xfrm>
              <a:off x="2670717" y="2771078"/>
              <a:ext cx="217449" cy="223024"/>
            </a:xfrm>
            <a:custGeom>
              <a:avLst/>
              <a:gdLst>
                <a:gd name="connsiteX0" fmla="*/ 83634 w 217449"/>
                <a:gd name="connsiteY0" fmla="*/ 0 h 223024"/>
                <a:gd name="connsiteX1" fmla="*/ 27878 w 217449"/>
                <a:gd name="connsiteY1" fmla="*/ 16727 h 223024"/>
                <a:gd name="connsiteX2" fmla="*/ 0 w 217449"/>
                <a:gd name="connsiteY2" fmla="*/ 33454 h 223024"/>
                <a:gd name="connsiteX3" fmla="*/ 22303 w 217449"/>
                <a:gd name="connsiteY3" fmla="*/ 89210 h 223024"/>
                <a:gd name="connsiteX4" fmla="*/ 22303 w 217449"/>
                <a:gd name="connsiteY4" fmla="*/ 89210 h 223024"/>
                <a:gd name="connsiteX5" fmla="*/ 33454 w 217449"/>
                <a:gd name="connsiteY5" fmla="*/ 189571 h 223024"/>
                <a:gd name="connsiteX6" fmla="*/ 44605 w 217449"/>
                <a:gd name="connsiteY6" fmla="*/ 223024 h 223024"/>
                <a:gd name="connsiteX7" fmla="*/ 150542 w 217449"/>
                <a:gd name="connsiteY7" fmla="*/ 189571 h 223024"/>
                <a:gd name="connsiteX8" fmla="*/ 217449 w 217449"/>
                <a:gd name="connsiteY8" fmla="*/ 172844 h 223024"/>
                <a:gd name="connsiteX9" fmla="*/ 172844 w 217449"/>
                <a:gd name="connsiteY9" fmla="*/ 27878 h 223024"/>
                <a:gd name="connsiteX10" fmla="*/ 83634 w 217449"/>
                <a:gd name="connsiteY10" fmla="*/ 0 h 22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7449" h="223024">
                  <a:moveTo>
                    <a:pt x="83634" y="0"/>
                  </a:moveTo>
                  <a:lnTo>
                    <a:pt x="27878" y="16727"/>
                  </a:lnTo>
                  <a:lnTo>
                    <a:pt x="0" y="33454"/>
                  </a:lnTo>
                  <a:lnTo>
                    <a:pt x="22303" y="89210"/>
                  </a:lnTo>
                  <a:lnTo>
                    <a:pt x="22303" y="89210"/>
                  </a:lnTo>
                  <a:lnTo>
                    <a:pt x="33454" y="189571"/>
                  </a:lnTo>
                  <a:lnTo>
                    <a:pt x="44605" y="223024"/>
                  </a:lnTo>
                  <a:lnTo>
                    <a:pt x="150542" y="189571"/>
                  </a:lnTo>
                  <a:lnTo>
                    <a:pt x="217449" y="172844"/>
                  </a:lnTo>
                  <a:lnTo>
                    <a:pt x="172844" y="27878"/>
                  </a:lnTo>
                  <a:lnTo>
                    <a:pt x="83634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7271BFE9-1590-0322-6DD9-CD6BA9C7478B}"/>
                </a:ext>
              </a:extLst>
            </p:cNvPr>
            <p:cNvSpPr/>
            <p:nvPr/>
          </p:nvSpPr>
          <p:spPr>
            <a:xfrm>
              <a:off x="2174488" y="2743200"/>
              <a:ext cx="602166" cy="100361"/>
            </a:xfrm>
            <a:custGeom>
              <a:avLst/>
              <a:gdLst>
                <a:gd name="connsiteX0" fmla="*/ 546410 w 602166"/>
                <a:gd name="connsiteY0" fmla="*/ 39029 h 100361"/>
                <a:gd name="connsiteX1" fmla="*/ 446049 w 602166"/>
                <a:gd name="connsiteY1" fmla="*/ 22302 h 100361"/>
                <a:gd name="connsiteX2" fmla="*/ 317810 w 602166"/>
                <a:gd name="connsiteY2" fmla="*/ 0 h 100361"/>
                <a:gd name="connsiteX3" fmla="*/ 239751 w 602166"/>
                <a:gd name="connsiteY3" fmla="*/ 0 h 100361"/>
                <a:gd name="connsiteX4" fmla="*/ 156117 w 602166"/>
                <a:gd name="connsiteY4" fmla="*/ 0 h 100361"/>
                <a:gd name="connsiteX5" fmla="*/ 61332 w 602166"/>
                <a:gd name="connsiteY5" fmla="*/ 0 h 100361"/>
                <a:gd name="connsiteX6" fmla="*/ 11151 w 602166"/>
                <a:gd name="connsiteY6" fmla="*/ 22302 h 100361"/>
                <a:gd name="connsiteX7" fmla="*/ 0 w 602166"/>
                <a:gd name="connsiteY7" fmla="*/ 39029 h 100361"/>
                <a:gd name="connsiteX8" fmla="*/ 27878 w 602166"/>
                <a:gd name="connsiteY8" fmla="*/ 78059 h 100361"/>
                <a:gd name="connsiteX9" fmla="*/ 133814 w 602166"/>
                <a:gd name="connsiteY9" fmla="*/ 94785 h 100361"/>
                <a:gd name="connsiteX10" fmla="*/ 239751 w 602166"/>
                <a:gd name="connsiteY10" fmla="*/ 89210 h 100361"/>
                <a:gd name="connsiteX11" fmla="*/ 390292 w 602166"/>
                <a:gd name="connsiteY11" fmla="*/ 94785 h 100361"/>
                <a:gd name="connsiteX12" fmla="*/ 518532 w 602166"/>
                <a:gd name="connsiteY12" fmla="*/ 100361 h 100361"/>
                <a:gd name="connsiteX13" fmla="*/ 602166 w 602166"/>
                <a:gd name="connsiteY13" fmla="*/ 94785 h 100361"/>
                <a:gd name="connsiteX14" fmla="*/ 546410 w 602166"/>
                <a:gd name="connsiteY14" fmla="*/ 39029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2166" h="100361">
                  <a:moveTo>
                    <a:pt x="546410" y="39029"/>
                  </a:moveTo>
                  <a:lnTo>
                    <a:pt x="446049" y="22302"/>
                  </a:lnTo>
                  <a:lnTo>
                    <a:pt x="317810" y="0"/>
                  </a:lnTo>
                  <a:lnTo>
                    <a:pt x="239751" y="0"/>
                  </a:lnTo>
                  <a:lnTo>
                    <a:pt x="156117" y="0"/>
                  </a:lnTo>
                  <a:lnTo>
                    <a:pt x="61332" y="0"/>
                  </a:lnTo>
                  <a:lnTo>
                    <a:pt x="11151" y="22302"/>
                  </a:lnTo>
                  <a:lnTo>
                    <a:pt x="0" y="39029"/>
                  </a:lnTo>
                  <a:lnTo>
                    <a:pt x="27878" y="78059"/>
                  </a:lnTo>
                  <a:lnTo>
                    <a:pt x="133814" y="94785"/>
                  </a:lnTo>
                  <a:lnTo>
                    <a:pt x="239751" y="89210"/>
                  </a:lnTo>
                  <a:lnTo>
                    <a:pt x="390292" y="94785"/>
                  </a:lnTo>
                  <a:lnTo>
                    <a:pt x="518532" y="100361"/>
                  </a:lnTo>
                  <a:lnTo>
                    <a:pt x="602166" y="94785"/>
                  </a:lnTo>
                  <a:lnTo>
                    <a:pt x="546410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8A883D63-68EC-28B1-4999-4D1B511E6B9E}"/>
                </a:ext>
              </a:extLst>
            </p:cNvPr>
            <p:cNvSpPr/>
            <p:nvPr/>
          </p:nvSpPr>
          <p:spPr>
            <a:xfrm>
              <a:off x="2124307" y="2810107"/>
              <a:ext cx="696952" cy="172844"/>
            </a:xfrm>
            <a:custGeom>
              <a:avLst/>
              <a:gdLst>
                <a:gd name="connsiteX0" fmla="*/ 429322 w 696952"/>
                <a:gd name="connsiteY0" fmla="*/ 22303 h 172844"/>
                <a:gd name="connsiteX1" fmla="*/ 278781 w 696952"/>
                <a:gd name="connsiteY1" fmla="*/ 33454 h 172844"/>
                <a:gd name="connsiteX2" fmla="*/ 195147 w 696952"/>
                <a:gd name="connsiteY2" fmla="*/ 50181 h 172844"/>
                <a:gd name="connsiteX3" fmla="*/ 122664 w 696952"/>
                <a:gd name="connsiteY3" fmla="*/ 66908 h 172844"/>
                <a:gd name="connsiteX4" fmla="*/ 61332 w 696952"/>
                <a:gd name="connsiteY4" fmla="*/ 78059 h 172844"/>
                <a:gd name="connsiteX5" fmla="*/ 5576 w 696952"/>
                <a:gd name="connsiteY5" fmla="*/ 111513 h 172844"/>
                <a:gd name="connsiteX6" fmla="*/ 0 w 696952"/>
                <a:gd name="connsiteY6" fmla="*/ 128239 h 172844"/>
                <a:gd name="connsiteX7" fmla="*/ 55756 w 696952"/>
                <a:gd name="connsiteY7" fmla="*/ 172844 h 172844"/>
                <a:gd name="connsiteX8" fmla="*/ 234176 w 696952"/>
                <a:gd name="connsiteY8" fmla="*/ 156117 h 172844"/>
                <a:gd name="connsiteX9" fmla="*/ 367991 w 696952"/>
                <a:gd name="connsiteY9" fmla="*/ 144966 h 172844"/>
                <a:gd name="connsiteX10" fmla="*/ 501805 w 696952"/>
                <a:gd name="connsiteY10" fmla="*/ 117088 h 172844"/>
                <a:gd name="connsiteX11" fmla="*/ 646771 w 696952"/>
                <a:gd name="connsiteY11" fmla="*/ 66908 h 172844"/>
                <a:gd name="connsiteX12" fmla="*/ 696952 w 696952"/>
                <a:gd name="connsiteY12" fmla="*/ 27878 h 172844"/>
                <a:gd name="connsiteX13" fmla="*/ 485078 w 696952"/>
                <a:gd name="connsiteY13" fmla="*/ 0 h 172844"/>
                <a:gd name="connsiteX14" fmla="*/ 429322 w 696952"/>
                <a:gd name="connsiteY14" fmla="*/ 22303 h 17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6952" h="172844">
                  <a:moveTo>
                    <a:pt x="429322" y="22303"/>
                  </a:moveTo>
                  <a:lnTo>
                    <a:pt x="278781" y="33454"/>
                  </a:lnTo>
                  <a:lnTo>
                    <a:pt x="195147" y="50181"/>
                  </a:lnTo>
                  <a:lnTo>
                    <a:pt x="122664" y="66908"/>
                  </a:lnTo>
                  <a:lnTo>
                    <a:pt x="61332" y="78059"/>
                  </a:lnTo>
                  <a:lnTo>
                    <a:pt x="5576" y="111513"/>
                  </a:lnTo>
                  <a:lnTo>
                    <a:pt x="0" y="128239"/>
                  </a:lnTo>
                  <a:lnTo>
                    <a:pt x="55756" y="172844"/>
                  </a:lnTo>
                  <a:lnTo>
                    <a:pt x="234176" y="156117"/>
                  </a:lnTo>
                  <a:lnTo>
                    <a:pt x="367991" y="144966"/>
                  </a:lnTo>
                  <a:lnTo>
                    <a:pt x="501805" y="117088"/>
                  </a:lnTo>
                  <a:lnTo>
                    <a:pt x="646771" y="66908"/>
                  </a:lnTo>
                  <a:lnTo>
                    <a:pt x="696952" y="27878"/>
                  </a:lnTo>
                  <a:lnTo>
                    <a:pt x="485078" y="0"/>
                  </a:lnTo>
                  <a:lnTo>
                    <a:pt x="429322" y="22303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DC56A54F-2A45-03B1-0E10-06B94448A318}"/>
                </a:ext>
              </a:extLst>
            </p:cNvPr>
            <p:cNvSpPr/>
            <p:nvPr/>
          </p:nvSpPr>
          <p:spPr>
            <a:xfrm>
              <a:off x="2258122" y="2854712"/>
              <a:ext cx="585439" cy="256478"/>
            </a:xfrm>
            <a:custGeom>
              <a:avLst/>
              <a:gdLst>
                <a:gd name="connsiteX0" fmla="*/ 289932 w 585439"/>
                <a:gd name="connsiteY0" fmla="*/ 66908 h 256478"/>
                <a:gd name="connsiteX1" fmla="*/ 167268 w 585439"/>
                <a:gd name="connsiteY1" fmla="*/ 133815 h 256478"/>
                <a:gd name="connsiteX2" fmla="*/ 100361 w 585439"/>
                <a:gd name="connsiteY2" fmla="*/ 156117 h 256478"/>
                <a:gd name="connsiteX3" fmla="*/ 44605 w 585439"/>
                <a:gd name="connsiteY3" fmla="*/ 183995 h 256478"/>
                <a:gd name="connsiteX4" fmla="*/ 44605 w 585439"/>
                <a:gd name="connsiteY4" fmla="*/ 183995 h 256478"/>
                <a:gd name="connsiteX5" fmla="*/ 0 w 585439"/>
                <a:gd name="connsiteY5" fmla="*/ 228600 h 256478"/>
                <a:gd name="connsiteX6" fmla="*/ 11151 w 585439"/>
                <a:gd name="connsiteY6" fmla="*/ 256478 h 256478"/>
                <a:gd name="connsiteX7" fmla="*/ 133815 w 585439"/>
                <a:gd name="connsiteY7" fmla="*/ 239751 h 256478"/>
                <a:gd name="connsiteX8" fmla="*/ 245327 w 585439"/>
                <a:gd name="connsiteY8" fmla="*/ 195147 h 256478"/>
                <a:gd name="connsiteX9" fmla="*/ 390293 w 585439"/>
                <a:gd name="connsiteY9" fmla="*/ 133815 h 256478"/>
                <a:gd name="connsiteX10" fmla="*/ 585439 w 585439"/>
                <a:gd name="connsiteY10" fmla="*/ 33454 h 256478"/>
                <a:gd name="connsiteX11" fmla="*/ 423746 w 585439"/>
                <a:gd name="connsiteY11" fmla="*/ 0 h 256478"/>
                <a:gd name="connsiteX12" fmla="*/ 289932 w 585439"/>
                <a:gd name="connsiteY12" fmla="*/ 66908 h 25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5439" h="256478">
                  <a:moveTo>
                    <a:pt x="289932" y="66908"/>
                  </a:moveTo>
                  <a:lnTo>
                    <a:pt x="167268" y="133815"/>
                  </a:lnTo>
                  <a:lnTo>
                    <a:pt x="100361" y="156117"/>
                  </a:lnTo>
                  <a:lnTo>
                    <a:pt x="44605" y="183995"/>
                  </a:lnTo>
                  <a:lnTo>
                    <a:pt x="44605" y="183995"/>
                  </a:lnTo>
                  <a:lnTo>
                    <a:pt x="0" y="228600"/>
                  </a:lnTo>
                  <a:lnTo>
                    <a:pt x="11151" y="256478"/>
                  </a:lnTo>
                  <a:lnTo>
                    <a:pt x="133815" y="239751"/>
                  </a:lnTo>
                  <a:lnTo>
                    <a:pt x="245327" y="195147"/>
                  </a:lnTo>
                  <a:lnTo>
                    <a:pt x="390293" y="133815"/>
                  </a:lnTo>
                  <a:lnTo>
                    <a:pt x="585439" y="33454"/>
                  </a:lnTo>
                  <a:lnTo>
                    <a:pt x="423746" y="0"/>
                  </a:lnTo>
                  <a:lnTo>
                    <a:pt x="289932" y="66908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9" name="Freeform 39">
              <a:extLst>
                <a:ext uri="{FF2B5EF4-FFF2-40B4-BE49-F238E27FC236}">
                  <a16:creationId xmlns:a16="http://schemas.microsoft.com/office/drawing/2014/main" id="{41A97F85-F819-2560-60FF-9F8050685857}"/>
                </a:ext>
              </a:extLst>
            </p:cNvPr>
            <p:cNvSpPr/>
            <p:nvPr/>
          </p:nvSpPr>
          <p:spPr>
            <a:xfrm>
              <a:off x="5222543" y="887104"/>
              <a:ext cx="159224" cy="300251"/>
            </a:xfrm>
            <a:custGeom>
              <a:avLst/>
              <a:gdLst>
                <a:gd name="connsiteX0" fmla="*/ 0 w 159224"/>
                <a:gd name="connsiteY0" fmla="*/ 300251 h 300251"/>
                <a:gd name="connsiteX1" fmla="*/ 36394 w 159224"/>
                <a:gd name="connsiteY1" fmla="*/ 227463 h 300251"/>
                <a:gd name="connsiteX2" fmla="*/ 63690 w 159224"/>
                <a:gd name="connsiteY2" fmla="*/ 209266 h 300251"/>
                <a:gd name="connsiteX3" fmla="*/ 63690 w 159224"/>
                <a:gd name="connsiteY3" fmla="*/ 154675 h 300251"/>
                <a:gd name="connsiteX4" fmla="*/ 68239 w 159224"/>
                <a:gd name="connsiteY4" fmla="*/ 95535 h 300251"/>
                <a:gd name="connsiteX5" fmla="*/ 90985 w 159224"/>
                <a:gd name="connsiteY5" fmla="*/ 18197 h 300251"/>
                <a:gd name="connsiteX6" fmla="*/ 113732 w 159224"/>
                <a:gd name="connsiteY6" fmla="*/ 4550 h 300251"/>
                <a:gd name="connsiteX7" fmla="*/ 113732 w 159224"/>
                <a:gd name="connsiteY7" fmla="*/ 4550 h 300251"/>
                <a:gd name="connsiteX8" fmla="*/ 159224 w 159224"/>
                <a:gd name="connsiteY8" fmla="*/ 0 h 300251"/>
                <a:gd name="connsiteX9" fmla="*/ 131929 w 159224"/>
                <a:gd name="connsiteY9" fmla="*/ 22747 h 300251"/>
                <a:gd name="connsiteX10" fmla="*/ 104633 w 159224"/>
                <a:gd name="connsiteY10" fmla="*/ 36395 h 300251"/>
                <a:gd name="connsiteX11" fmla="*/ 104633 w 159224"/>
                <a:gd name="connsiteY11" fmla="*/ 36395 h 300251"/>
                <a:gd name="connsiteX12" fmla="*/ 81887 w 159224"/>
                <a:gd name="connsiteY12" fmla="*/ 141027 h 300251"/>
                <a:gd name="connsiteX13" fmla="*/ 90985 w 159224"/>
                <a:gd name="connsiteY13" fmla="*/ 191069 h 300251"/>
                <a:gd name="connsiteX14" fmla="*/ 100084 w 159224"/>
                <a:gd name="connsiteY14" fmla="*/ 241111 h 300251"/>
                <a:gd name="connsiteX15" fmla="*/ 145576 w 159224"/>
                <a:gd name="connsiteY15" fmla="*/ 272956 h 300251"/>
                <a:gd name="connsiteX16" fmla="*/ 0 w 159224"/>
                <a:gd name="connsiteY16" fmla="*/ 300251 h 30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9224" h="300251">
                  <a:moveTo>
                    <a:pt x="0" y="300251"/>
                  </a:moveTo>
                  <a:lnTo>
                    <a:pt x="36394" y="227463"/>
                  </a:lnTo>
                  <a:lnTo>
                    <a:pt x="63690" y="209266"/>
                  </a:lnTo>
                  <a:lnTo>
                    <a:pt x="63690" y="154675"/>
                  </a:lnTo>
                  <a:lnTo>
                    <a:pt x="68239" y="95535"/>
                  </a:lnTo>
                  <a:lnTo>
                    <a:pt x="90985" y="18197"/>
                  </a:lnTo>
                  <a:lnTo>
                    <a:pt x="113732" y="4550"/>
                  </a:lnTo>
                  <a:lnTo>
                    <a:pt x="113732" y="4550"/>
                  </a:lnTo>
                  <a:lnTo>
                    <a:pt x="159224" y="0"/>
                  </a:lnTo>
                  <a:lnTo>
                    <a:pt x="131929" y="22747"/>
                  </a:lnTo>
                  <a:lnTo>
                    <a:pt x="104633" y="36395"/>
                  </a:lnTo>
                  <a:lnTo>
                    <a:pt x="104633" y="36395"/>
                  </a:lnTo>
                  <a:lnTo>
                    <a:pt x="81887" y="141027"/>
                  </a:lnTo>
                  <a:lnTo>
                    <a:pt x="90985" y="191069"/>
                  </a:lnTo>
                  <a:lnTo>
                    <a:pt x="100084" y="241111"/>
                  </a:lnTo>
                  <a:lnTo>
                    <a:pt x="145576" y="272956"/>
                  </a:lnTo>
                  <a:lnTo>
                    <a:pt x="0" y="300251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0" name="Freeform 40">
              <a:extLst>
                <a:ext uri="{FF2B5EF4-FFF2-40B4-BE49-F238E27FC236}">
                  <a16:creationId xmlns:a16="http://schemas.microsoft.com/office/drawing/2014/main" id="{1C5E1352-734C-9F1D-D467-17946AA75DE9}"/>
                </a:ext>
              </a:extLst>
            </p:cNvPr>
            <p:cNvSpPr/>
            <p:nvPr/>
          </p:nvSpPr>
          <p:spPr>
            <a:xfrm>
              <a:off x="5550090" y="1191904"/>
              <a:ext cx="263856" cy="163774"/>
            </a:xfrm>
            <a:custGeom>
              <a:avLst/>
              <a:gdLst>
                <a:gd name="connsiteX0" fmla="*/ 54591 w 263856"/>
                <a:gd name="connsiteY0" fmla="*/ 95535 h 163774"/>
                <a:gd name="connsiteX1" fmla="*/ 100083 w 263856"/>
                <a:gd name="connsiteY1" fmla="*/ 104633 h 163774"/>
                <a:gd name="connsiteX2" fmla="*/ 159223 w 263856"/>
                <a:gd name="connsiteY2" fmla="*/ 81887 h 163774"/>
                <a:gd name="connsiteX3" fmla="*/ 200167 w 263856"/>
                <a:gd name="connsiteY3" fmla="*/ 59141 h 163774"/>
                <a:gd name="connsiteX4" fmla="*/ 259307 w 263856"/>
                <a:gd name="connsiteY4" fmla="*/ 22747 h 163774"/>
                <a:gd name="connsiteX5" fmla="*/ 259307 w 263856"/>
                <a:gd name="connsiteY5" fmla="*/ 0 h 163774"/>
                <a:gd name="connsiteX6" fmla="*/ 263856 w 263856"/>
                <a:gd name="connsiteY6" fmla="*/ 40944 h 163774"/>
                <a:gd name="connsiteX7" fmla="*/ 200167 w 263856"/>
                <a:gd name="connsiteY7" fmla="*/ 86436 h 163774"/>
                <a:gd name="connsiteX8" fmla="*/ 154674 w 263856"/>
                <a:gd name="connsiteY8" fmla="*/ 113732 h 163774"/>
                <a:gd name="connsiteX9" fmla="*/ 113731 w 263856"/>
                <a:gd name="connsiteY9" fmla="*/ 136478 h 163774"/>
                <a:gd name="connsiteX10" fmla="*/ 77337 w 263856"/>
                <a:gd name="connsiteY10" fmla="*/ 154675 h 163774"/>
                <a:gd name="connsiteX11" fmla="*/ 31844 w 263856"/>
                <a:gd name="connsiteY11" fmla="*/ 163774 h 163774"/>
                <a:gd name="connsiteX12" fmla="*/ 0 w 263856"/>
                <a:gd name="connsiteY12" fmla="*/ 122830 h 163774"/>
                <a:gd name="connsiteX13" fmla="*/ 54591 w 263856"/>
                <a:gd name="connsiteY13" fmla="*/ 95535 h 16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856" h="163774">
                  <a:moveTo>
                    <a:pt x="54591" y="95535"/>
                  </a:moveTo>
                  <a:lnTo>
                    <a:pt x="100083" y="104633"/>
                  </a:lnTo>
                  <a:lnTo>
                    <a:pt x="159223" y="81887"/>
                  </a:lnTo>
                  <a:lnTo>
                    <a:pt x="200167" y="59141"/>
                  </a:lnTo>
                  <a:lnTo>
                    <a:pt x="259307" y="22747"/>
                  </a:lnTo>
                  <a:lnTo>
                    <a:pt x="259307" y="0"/>
                  </a:lnTo>
                  <a:lnTo>
                    <a:pt x="263856" y="40944"/>
                  </a:lnTo>
                  <a:lnTo>
                    <a:pt x="200167" y="86436"/>
                  </a:lnTo>
                  <a:lnTo>
                    <a:pt x="154674" y="113732"/>
                  </a:lnTo>
                  <a:lnTo>
                    <a:pt x="113731" y="136478"/>
                  </a:lnTo>
                  <a:lnTo>
                    <a:pt x="77337" y="154675"/>
                  </a:lnTo>
                  <a:lnTo>
                    <a:pt x="31844" y="163774"/>
                  </a:lnTo>
                  <a:lnTo>
                    <a:pt x="0" y="122830"/>
                  </a:lnTo>
                  <a:lnTo>
                    <a:pt x="54591" y="9553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B22463F-37F6-7E18-FF83-F1ADDBD130AD}"/>
                </a:ext>
              </a:extLst>
            </p:cNvPr>
            <p:cNvCxnSpPr>
              <a:endCxn id="105" idx="6"/>
            </p:cNvCxnSpPr>
            <p:nvPr/>
          </p:nvCxnSpPr>
          <p:spPr>
            <a:xfrm>
              <a:off x="4913194" y="1081668"/>
              <a:ext cx="88128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3C47B3A-4078-02AE-95E1-2C19BF8F2060}"/>
                </a:ext>
              </a:extLst>
            </p:cNvPr>
            <p:cNvCxnSpPr>
              <a:endCxn id="105" idx="6"/>
            </p:cNvCxnSpPr>
            <p:nvPr/>
          </p:nvCxnSpPr>
          <p:spPr>
            <a:xfrm>
              <a:off x="4885899" y="1081668"/>
              <a:ext cx="115423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2593A86-1B04-7780-5C76-1406F4290D43}"/>
                </a:ext>
              </a:extLst>
            </p:cNvPr>
            <p:cNvCxnSpPr>
              <a:endCxn id="105" idx="6"/>
            </p:cNvCxnSpPr>
            <p:nvPr/>
          </p:nvCxnSpPr>
          <p:spPr>
            <a:xfrm>
              <a:off x="4811751" y="1187355"/>
              <a:ext cx="189571" cy="24557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0861D3D-FA76-32CF-BC4C-F5EDA902066E}"/>
                </a:ext>
              </a:extLst>
            </p:cNvPr>
            <p:cNvCxnSpPr>
              <a:endCxn id="105" idx="18"/>
            </p:cNvCxnSpPr>
            <p:nvPr/>
          </p:nvCxnSpPr>
          <p:spPr>
            <a:xfrm flipH="1">
              <a:off x="5491976" y="1410629"/>
              <a:ext cx="285576" cy="2230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282AB0AD-5247-97CB-6F3B-23B951DBFB3E}"/>
                </a:ext>
              </a:extLst>
            </p:cNvPr>
            <p:cNvCxnSpPr>
              <a:endCxn id="105" idx="18"/>
            </p:cNvCxnSpPr>
            <p:nvPr/>
          </p:nvCxnSpPr>
          <p:spPr>
            <a:xfrm flipH="1">
              <a:off x="5491976" y="1555595"/>
              <a:ext cx="290125" cy="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1E81A4D-87CA-13F5-1214-A9E6712E8E71}"/>
                </a:ext>
              </a:extLst>
            </p:cNvPr>
            <p:cNvCxnSpPr>
              <a:endCxn id="105" idx="18"/>
            </p:cNvCxnSpPr>
            <p:nvPr/>
          </p:nvCxnSpPr>
          <p:spPr>
            <a:xfrm flipH="1">
              <a:off x="5491976" y="1633654"/>
              <a:ext cx="285576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668C013-9399-AF70-D656-03D2EE7CA069}"/>
                </a:ext>
              </a:extLst>
            </p:cNvPr>
            <p:cNvCxnSpPr>
              <a:endCxn id="105" idx="18"/>
            </p:cNvCxnSpPr>
            <p:nvPr/>
          </p:nvCxnSpPr>
          <p:spPr>
            <a:xfrm flipH="1">
              <a:off x="5491976" y="1501254"/>
              <a:ext cx="253731" cy="13240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D94203D-E2EE-4893-8252-FAA8A2EE7E4E}"/>
                </a:ext>
              </a:extLst>
            </p:cNvPr>
            <p:cNvCxnSpPr>
              <a:endCxn id="105" idx="24"/>
            </p:cNvCxnSpPr>
            <p:nvPr/>
          </p:nvCxnSpPr>
          <p:spPr>
            <a:xfrm flipH="1">
              <a:off x="5497551" y="1751463"/>
              <a:ext cx="316395" cy="13309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F42232B-7C57-E3C8-21A4-F51F8BDDF53D}"/>
                </a:ext>
              </a:extLst>
            </p:cNvPr>
            <p:cNvCxnSpPr>
              <a:endCxn id="105" idx="24"/>
            </p:cNvCxnSpPr>
            <p:nvPr/>
          </p:nvCxnSpPr>
          <p:spPr>
            <a:xfrm flipH="1">
              <a:off x="5497551" y="1815152"/>
              <a:ext cx="316395" cy="6940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F288932-6513-0F05-E347-0C378C4AB9D3}"/>
                </a:ext>
              </a:extLst>
            </p:cNvPr>
            <p:cNvCxnSpPr>
              <a:endCxn id="105" idx="24"/>
            </p:cNvCxnSpPr>
            <p:nvPr/>
          </p:nvCxnSpPr>
          <p:spPr>
            <a:xfrm flipH="1" flipV="1">
              <a:off x="5497551" y="1884556"/>
              <a:ext cx="316395" cy="3345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6DEF8B9-385F-B7AD-A7AC-38EE0750253E}"/>
                </a:ext>
              </a:extLst>
            </p:cNvPr>
            <p:cNvCxnSpPr>
              <a:endCxn id="105" idx="24"/>
            </p:cNvCxnSpPr>
            <p:nvPr/>
          </p:nvCxnSpPr>
          <p:spPr>
            <a:xfrm flipH="1">
              <a:off x="5497551" y="1884556"/>
              <a:ext cx="316395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C8E4B91-50D6-2FFD-5735-5271C96CAE56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4608394" y="1155510"/>
              <a:ext cx="259113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30BAA2B-6D1D-087D-A897-727E354976A3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4767146" y="1155510"/>
              <a:ext cx="100361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2CC9DE34-4480-804E-9A80-2060A9601F2F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4566424" y="1319284"/>
              <a:ext cx="301083" cy="21400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D775871-8A71-309A-26AC-EFE96D453228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4493941" y="1410629"/>
              <a:ext cx="373566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9F08AF0-3EAF-3B24-F9AD-11E179D396C5}"/>
                </a:ext>
              </a:extLst>
            </p:cNvPr>
            <p:cNvCxnSpPr>
              <a:endCxn id="105" idx="2"/>
            </p:cNvCxnSpPr>
            <p:nvPr/>
          </p:nvCxnSpPr>
          <p:spPr>
            <a:xfrm>
              <a:off x="4493941" y="1355678"/>
              <a:ext cx="373566" cy="17761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D138A7E0-40A3-A0B5-EB6A-D3E4EE4CFD9B}"/>
                </a:ext>
              </a:extLst>
            </p:cNvPr>
            <p:cNvCxnSpPr>
              <a:endCxn id="105" idx="40"/>
            </p:cNvCxnSpPr>
            <p:nvPr/>
          </p:nvCxnSpPr>
          <p:spPr>
            <a:xfrm>
              <a:off x="4394579" y="1633654"/>
              <a:ext cx="383719" cy="613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3082845-94F0-63CE-C16E-448E0A59B20B}"/>
                </a:ext>
              </a:extLst>
            </p:cNvPr>
            <p:cNvCxnSpPr>
              <a:cxnSpLocks/>
              <a:endCxn id="105" idx="40"/>
            </p:cNvCxnSpPr>
            <p:nvPr/>
          </p:nvCxnSpPr>
          <p:spPr>
            <a:xfrm>
              <a:off x="4394579" y="1694985"/>
              <a:ext cx="383719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EF06DB8-266F-48CA-0DDB-BD24F4DD1012}"/>
                </a:ext>
              </a:extLst>
            </p:cNvPr>
            <p:cNvCxnSpPr>
              <a:endCxn id="105" idx="40"/>
            </p:cNvCxnSpPr>
            <p:nvPr/>
          </p:nvCxnSpPr>
          <p:spPr>
            <a:xfrm flipV="1">
              <a:off x="4493941" y="1694985"/>
              <a:ext cx="284357" cy="12016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EE4EF25-3260-EFB4-28E5-63795A059744}"/>
                </a:ext>
              </a:extLst>
            </p:cNvPr>
            <p:cNvCxnSpPr>
              <a:endCxn id="105" idx="40"/>
            </p:cNvCxnSpPr>
            <p:nvPr/>
          </p:nvCxnSpPr>
          <p:spPr>
            <a:xfrm flipV="1">
              <a:off x="4426424" y="1694985"/>
              <a:ext cx="351874" cy="5647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6DA7F59F-CA73-79E2-DD77-D0D3C2E1CDA5}"/>
                </a:ext>
              </a:extLst>
            </p:cNvPr>
            <p:cNvCxnSpPr>
              <a:endCxn id="106" idx="4"/>
            </p:cNvCxnSpPr>
            <p:nvPr/>
          </p:nvCxnSpPr>
          <p:spPr>
            <a:xfrm>
              <a:off x="4394579" y="1884556"/>
              <a:ext cx="305660" cy="150542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86F7BC3-010B-B516-013D-155855EAFE77}"/>
                </a:ext>
              </a:extLst>
            </p:cNvPr>
            <p:cNvCxnSpPr>
              <a:endCxn id="106" idx="4"/>
            </p:cNvCxnSpPr>
            <p:nvPr/>
          </p:nvCxnSpPr>
          <p:spPr>
            <a:xfrm>
              <a:off x="4426424" y="1992573"/>
              <a:ext cx="273815" cy="425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6AACE37-C770-1ADA-B3F2-2F5CE2A80C29}"/>
                </a:ext>
              </a:extLst>
            </p:cNvPr>
            <p:cNvCxnSpPr/>
            <p:nvPr/>
          </p:nvCxnSpPr>
          <p:spPr>
            <a:xfrm>
              <a:off x="4394579" y="1918010"/>
              <a:ext cx="305660" cy="1170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6B3ACEA-39AF-0EC8-CFE1-BA4DABB0DAE2}"/>
                </a:ext>
              </a:extLst>
            </p:cNvPr>
            <p:cNvCxnSpPr>
              <a:endCxn id="107" idx="4"/>
            </p:cNvCxnSpPr>
            <p:nvPr/>
          </p:nvCxnSpPr>
          <p:spPr>
            <a:xfrm>
              <a:off x="4339988" y="1992573"/>
              <a:ext cx="198558" cy="2209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760A9C27-8B28-E789-92AE-64341AE24F69}"/>
                </a:ext>
              </a:extLst>
            </p:cNvPr>
            <p:cNvCxnSpPr>
              <a:endCxn id="107" idx="4"/>
            </p:cNvCxnSpPr>
            <p:nvPr/>
          </p:nvCxnSpPr>
          <p:spPr>
            <a:xfrm>
              <a:off x="4209585" y="2035098"/>
              <a:ext cx="328961" cy="17841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A437203F-82B4-2595-2B4E-3AA3DE38D058}"/>
                </a:ext>
              </a:extLst>
            </p:cNvPr>
            <p:cNvCxnSpPr>
              <a:endCxn id="107" idx="4"/>
            </p:cNvCxnSpPr>
            <p:nvPr/>
          </p:nvCxnSpPr>
          <p:spPr>
            <a:xfrm>
              <a:off x="4209585" y="2113156"/>
              <a:ext cx="328961" cy="10036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015A014-78BA-8E3F-60BD-953C878A5259}"/>
                </a:ext>
              </a:extLst>
            </p:cNvPr>
            <p:cNvCxnSpPr>
              <a:endCxn id="107" idx="4"/>
            </p:cNvCxnSpPr>
            <p:nvPr/>
          </p:nvCxnSpPr>
          <p:spPr>
            <a:xfrm>
              <a:off x="4339988" y="2213517"/>
              <a:ext cx="198558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20A39565-D8F0-24C7-C074-7699B5506832}"/>
                </a:ext>
              </a:extLst>
            </p:cNvPr>
            <p:cNvCxnSpPr>
              <a:endCxn id="108" idx="5"/>
            </p:cNvCxnSpPr>
            <p:nvPr/>
          </p:nvCxnSpPr>
          <p:spPr>
            <a:xfrm>
              <a:off x="3986561" y="2352907"/>
              <a:ext cx="317810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728C2CB-7D47-49D6-CA00-F059842BD72A}"/>
                </a:ext>
              </a:extLst>
            </p:cNvPr>
            <p:cNvCxnSpPr>
              <a:endCxn id="108" idx="5"/>
            </p:cNvCxnSpPr>
            <p:nvPr/>
          </p:nvCxnSpPr>
          <p:spPr>
            <a:xfrm flipV="1">
              <a:off x="4026090" y="2475571"/>
              <a:ext cx="278281" cy="3345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854AAB24-C385-3352-7C2D-55DE8F36C18A}"/>
                </a:ext>
              </a:extLst>
            </p:cNvPr>
            <p:cNvCxnSpPr>
              <a:endCxn id="109" idx="3"/>
            </p:cNvCxnSpPr>
            <p:nvPr/>
          </p:nvCxnSpPr>
          <p:spPr>
            <a:xfrm>
              <a:off x="3858322" y="2475571"/>
              <a:ext cx="245327" cy="12266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6E1B27A-BD31-29CC-287D-48F71EC64B8F}"/>
                </a:ext>
              </a:extLst>
            </p:cNvPr>
            <p:cNvCxnSpPr/>
            <p:nvPr/>
          </p:nvCxnSpPr>
          <p:spPr>
            <a:xfrm>
              <a:off x="3858322" y="2559205"/>
              <a:ext cx="240556" cy="4460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EBFE57B0-C652-859D-E7F4-4293734DF639}"/>
                </a:ext>
              </a:extLst>
            </p:cNvPr>
            <p:cNvCxnSpPr>
              <a:endCxn id="110" idx="3"/>
            </p:cNvCxnSpPr>
            <p:nvPr/>
          </p:nvCxnSpPr>
          <p:spPr>
            <a:xfrm>
              <a:off x="3625755" y="2559205"/>
              <a:ext cx="182386" cy="13939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7EC8C51-DEA5-16E2-8415-C17E76064D13}"/>
                </a:ext>
              </a:extLst>
            </p:cNvPr>
            <p:cNvCxnSpPr>
              <a:cxnSpLocks/>
              <a:endCxn id="110" idx="3"/>
            </p:cNvCxnSpPr>
            <p:nvPr/>
          </p:nvCxnSpPr>
          <p:spPr>
            <a:xfrm>
              <a:off x="3685478" y="2656764"/>
              <a:ext cx="122663" cy="418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8FFF44C-0F79-DA33-8EF8-E64A72E50F59}"/>
                </a:ext>
              </a:extLst>
            </p:cNvPr>
            <p:cNvCxnSpPr>
              <a:endCxn id="111" idx="4"/>
            </p:cNvCxnSpPr>
            <p:nvPr/>
          </p:nvCxnSpPr>
          <p:spPr>
            <a:xfrm>
              <a:off x="3367668" y="2598234"/>
              <a:ext cx="83634" cy="1728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D381C4B6-B2C8-ED56-B733-F0717868F877}"/>
                </a:ext>
              </a:extLst>
            </p:cNvPr>
            <p:cNvCxnSpPr>
              <a:cxnSpLocks/>
              <a:endCxn id="111" idx="4"/>
            </p:cNvCxnSpPr>
            <p:nvPr/>
          </p:nvCxnSpPr>
          <p:spPr>
            <a:xfrm>
              <a:off x="3451302" y="2656764"/>
              <a:ext cx="0" cy="11431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663D8EC-CA2C-5646-BB7C-37F25E87BAEC}"/>
                </a:ext>
              </a:extLst>
            </p:cNvPr>
            <p:cNvCxnSpPr>
              <a:endCxn id="105" idx="26"/>
            </p:cNvCxnSpPr>
            <p:nvPr/>
          </p:nvCxnSpPr>
          <p:spPr>
            <a:xfrm flipH="1">
              <a:off x="5419493" y="1992573"/>
              <a:ext cx="267074" cy="3694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ADBBFEE-15B3-A07D-5711-705F04CBB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7261" y="2035098"/>
              <a:ext cx="259306" cy="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1237253-EAD7-B8B6-0DFA-215D370FB36B}"/>
                </a:ext>
              </a:extLst>
            </p:cNvPr>
            <p:cNvCxnSpPr/>
            <p:nvPr/>
          </p:nvCxnSpPr>
          <p:spPr>
            <a:xfrm flipH="1" flipV="1">
              <a:off x="5419493" y="2029522"/>
              <a:ext cx="267074" cy="4948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51F61927-D7EF-B3B2-577D-31819702F3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7261" y="2029523"/>
              <a:ext cx="318446" cy="12682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8F5F43C-72EB-9F1B-A1D4-39952AABB547}"/>
                </a:ext>
              </a:extLst>
            </p:cNvPr>
            <p:cNvCxnSpPr>
              <a:cxnSpLocks/>
              <a:stCxn id="105" idx="26"/>
            </p:cNvCxnSpPr>
            <p:nvPr/>
          </p:nvCxnSpPr>
          <p:spPr>
            <a:xfrm>
              <a:off x="5419493" y="2029522"/>
              <a:ext cx="267074" cy="13137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633DA55-B7B3-2BFE-958B-4CC4F35F2646}"/>
                </a:ext>
              </a:extLst>
            </p:cNvPr>
            <p:cNvCxnSpPr/>
            <p:nvPr/>
          </p:nvCxnSpPr>
          <p:spPr>
            <a:xfrm>
              <a:off x="5419493" y="2029522"/>
              <a:ext cx="267074" cy="18399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335A487-B509-DD0C-0F40-D96998CFE4D1}"/>
                </a:ext>
              </a:extLst>
            </p:cNvPr>
            <p:cNvCxnSpPr>
              <a:stCxn id="106" idx="15"/>
            </p:cNvCxnSpPr>
            <p:nvPr/>
          </p:nvCxnSpPr>
          <p:spPr>
            <a:xfrm>
              <a:off x="5090532" y="2302727"/>
              <a:ext cx="213898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16926B6E-3778-5A40-34A8-3FE63633BD2B}"/>
                </a:ext>
              </a:extLst>
            </p:cNvPr>
            <p:cNvCxnSpPr>
              <a:cxnSpLocks/>
              <a:stCxn id="106" idx="15"/>
            </p:cNvCxnSpPr>
            <p:nvPr/>
          </p:nvCxnSpPr>
          <p:spPr>
            <a:xfrm>
              <a:off x="5090532" y="2302727"/>
              <a:ext cx="291235" cy="35403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AB900D7-837C-B488-97DF-0322592E4878}"/>
                </a:ext>
              </a:extLst>
            </p:cNvPr>
            <p:cNvCxnSpPr>
              <a:endCxn id="106" idx="15"/>
            </p:cNvCxnSpPr>
            <p:nvPr/>
          </p:nvCxnSpPr>
          <p:spPr>
            <a:xfrm flipH="1" flipV="1">
              <a:off x="5090532" y="2302727"/>
              <a:ext cx="291235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CA4FE0D8-CAE7-2ED3-A4CE-A01B13FCA59D}"/>
                </a:ext>
              </a:extLst>
            </p:cNvPr>
            <p:cNvCxnSpPr>
              <a:endCxn id="107" idx="13"/>
            </p:cNvCxnSpPr>
            <p:nvPr/>
          </p:nvCxnSpPr>
          <p:spPr>
            <a:xfrm flipH="1" flipV="1">
              <a:off x="4900961" y="2575932"/>
              <a:ext cx="284356" cy="23417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0DA40C5-2685-1617-AB5C-D922BD19F467}"/>
                </a:ext>
              </a:extLst>
            </p:cNvPr>
            <p:cNvCxnSpPr>
              <a:cxnSpLocks/>
              <a:endCxn id="107" idx="13"/>
            </p:cNvCxnSpPr>
            <p:nvPr/>
          </p:nvCxnSpPr>
          <p:spPr>
            <a:xfrm flipH="1" flipV="1">
              <a:off x="4900961" y="2575932"/>
              <a:ext cx="228602" cy="3456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BF30C8BF-FCD0-645E-8CC0-66C3927FDA49}"/>
                </a:ext>
              </a:extLst>
            </p:cNvPr>
            <p:cNvCxnSpPr>
              <a:cxnSpLocks/>
              <a:endCxn id="107" idx="13"/>
            </p:cNvCxnSpPr>
            <p:nvPr/>
          </p:nvCxnSpPr>
          <p:spPr>
            <a:xfrm flipH="1" flipV="1">
              <a:off x="4900961" y="2575932"/>
              <a:ext cx="189572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BBE39348-A36C-B89D-341F-B3D5E5358D71}"/>
                </a:ext>
              </a:extLst>
            </p:cNvPr>
            <p:cNvCxnSpPr>
              <a:endCxn id="108" idx="14"/>
            </p:cNvCxnSpPr>
            <p:nvPr/>
          </p:nvCxnSpPr>
          <p:spPr>
            <a:xfrm flipH="1" flipV="1">
              <a:off x="4689088" y="2826834"/>
              <a:ext cx="224106" cy="28435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C56425CF-4320-299F-CF86-7C6ECA67FE8C}"/>
                </a:ext>
              </a:extLst>
            </p:cNvPr>
            <p:cNvCxnSpPr>
              <a:cxnSpLocks/>
              <a:endCxn id="108" idx="14"/>
            </p:cNvCxnSpPr>
            <p:nvPr/>
          </p:nvCxnSpPr>
          <p:spPr>
            <a:xfrm flipH="1" flipV="1">
              <a:off x="4689088" y="2826834"/>
              <a:ext cx="196812" cy="16727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36F92D02-6C63-9E7B-3160-6CE3A1FAD5BD}"/>
                </a:ext>
              </a:extLst>
            </p:cNvPr>
            <p:cNvCxnSpPr/>
            <p:nvPr/>
          </p:nvCxnSpPr>
          <p:spPr>
            <a:xfrm>
              <a:off x="4695690" y="2826834"/>
              <a:ext cx="144716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147AE5B-9375-6E12-29B4-BA7572E46F19}"/>
                </a:ext>
              </a:extLst>
            </p:cNvPr>
            <p:cNvCxnSpPr>
              <a:cxnSpLocks/>
              <a:stCxn id="109" idx="13"/>
            </p:cNvCxnSpPr>
            <p:nvPr/>
          </p:nvCxnSpPr>
          <p:spPr>
            <a:xfrm>
              <a:off x="4293220" y="3061010"/>
              <a:ext cx="46768" cy="25539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C58FB7AA-599D-C827-981D-714CC0497088}"/>
                </a:ext>
              </a:extLst>
            </p:cNvPr>
            <p:cNvCxnSpPr/>
            <p:nvPr/>
          </p:nvCxnSpPr>
          <p:spPr>
            <a:xfrm flipH="1">
              <a:off x="4287644" y="3061010"/>
              <a:ext cx="16727" cy="1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834901BA-7F7E-2ECA-AB71-B94532C549EA}"/>
                </a:ext>
              </a:extLst>
            </p:cNvPr>
            <p:cNvCxnSpPr>
              <a:cxnSpLocks/>
              <a:stCxn id="110" idx="13"/>
            </p:cNvCxnSpPr>
            <p:nvPr/>
          </p:nvCxnSpPr>
          <p:spPr>
            <a:xfrm>
              <a:off x="3908502" y="3189249"/>
              <a:ext cx="35701" cy="23975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29D332D-0212-1673-EB50-FC65CB5A86B4}"/>
                </a:ext>
              </a:extLst>
            </p:cNvPr>
            <p:cNvCxnSpPr>
              <a:cxnSpLocks/>
              <a:stCxn id="110" idx="13"/>
            </p:cNvCxnSpPr>
            <p:nvPr/>
          </p:nvCxnSpPr>
          <p:spPr>
            <a:xfrm>
              <a:off x="3908502" y="3189249"/>
              <a:ext cx="58895" cy="16292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1F33F59-ED25-4F2B-FE7C-1347C0C25BE4}"/>
                </a:ext>
              </a:extLst>
            </p:cNvPr>
            <p:cNvCxnSpPr>
              <a:stCxn id="111" idx="12"/>
            </p:cNvCxnSpPr>
            <p:nvPr/>
          </p:nvCxnSpPr>
          <p:spPr>
            <a:xfrm flipH="1">
              <a:off x="3243618" y="3200400"/>
              <a:ext cx="185382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C156141-9BFF-7D62-DF6A-67B7F95FCDBA}"/>
                </a:ext>
              </a:extLst>
            </p:cNvPr>
            <p:cNvCxnSpPr>
              <a:stCxn id="111" idx="12"/>
            </p:cNvCxnSpPr>
            <p:nvPr/>
          </p:nvCxnSpPr>
          <p:spPr>
            <a:xfrm flipH="1">
              <a:off x="3298209" y="3200400"/>
              <a:ext cx="130791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D638A653-3A8E-C664-9DE5-447214F7FE8D}"/>
              </a:ext>
            </a:extLst>
          </p:cNvPr>
          <p:cNvGrpSpPr>
            <a:grpSpLocks noChangeAspect="1"/>
          </p:cNvGrpSpPr>
          <p:nvPr/>
        </p:nvGrpSpPr>
        <p:grpSpPr>
          <a:xfrm rot="18280234" flipH="1">
            <a:off x="8717617" y="5745973"/>
            <a:ext cx="587605" cy="404814"/>
            <a:chOff x="2124307" y="887104"/>
            <a:chExt cx="3689639" cy="2541896"/>
          </a:xfrm>
          <a:solidFill>
            <a:srgbClr val="1A0D00"/>
          </a:solidFill>
        </p:grpSpPr>
        <p:sp>
          <p:nvSpPr>
            <p:cNvPr id="178" name="Freeform 24">
              <a:extLst>
                <a:ext uri="{FF2B5EF4-FFF2-40B4-BE49-F238E27FC236}">
                  <a16:creationId xmlns:a16="http://schemas.microsoft.com/office/drawing/2014/main" id="{1B45E482-51C6-BC39-3B29-B930A9406F22}"/>
                </a:ext>
              </a:extLst>
            </p:cNvPr>
            <p:cNvSpPr/>
            <p:nvPr/>
          </p:nvSpPr>
          <p:spPr>
            <a:xfrm>
              <a:off x="5129561" y="1081668"/>
              <a:ext cx="490654" cy="473927"/>
            </a:xfrm>
            <a:custGeom>
              <a:avLst/>
              <a:gdLst>
                <a:gd name="connsiteX0" fmla="*/ 61332 w 490654"/>
                <a:gd name="connsiteY0" fmla="*/ 334537 h 473927"/>
                <a:gd name="connsiteX1" fmla="*/ 16727 w 490654"/>
                <a:gd name="connsiteY1" fmla="*/ 295508 h 473927"/>
                <a:gd name="connsiteX2" fmla="*/ 0 w 490654"/>
                <a:gd name="connsiteY2" fmla="*/ 267630 h 473927"/>
                <a:gd name="connsiteX3" fmla="*/ 0 w 490654"/>
                <a:gd name="connsiteY3" fmla="*/ 267630 h 473927"/>
                <a:gd name="connsiteX4" fmla="*/ 5576 w 490654"/>
                <a:gd name="connsiteY4" fmla="*/ 189571 h 473927"/>
                <a:gd name="connsiteX5" fmla="*/ 5576 w 490654"/>
                <a:gd name="connsiteY5" fmla="*/ 189571 h 473927"/>
                <a:gd name="connsiteX6" fmla="*/ 72483 w 490654"/>
                <a:gd name="connsiteY6" fmla="*/ 111512 h 473927"/>
                <a:gd name="connsiteX7" fmla="*/ 111512 w 490654"/>
                <a:gd name="connsiteY7" fmla="*/ 83634 h 473927"/>
                <a:gd name="connsiteX8" fmla="*/ 200722 w 490654"/>
                <a:gd name="connsiteY8" fmla="*/ 22303 h 473927"/>
                <a:gd name="connsiteX9" fmla="*/ 245327 w 490654"/>
                <a:gd name="connsiteY9" fmla="*/ 0 h 473927"/>
                <a:gd name="connsiteX10" fmla="*/ 306659 w 490654"/>
                <a:gd name="connsiteY10" fmla="*/ 5576 h 473927"/>
                <a:gd name="connsiteX11" fmla="*/ 367990 w 490654"/>
                <a:gd name="connsiteY11" fmla="*/ 22303 h 473927"/>
                <a:gd name="connsiteX12" fmla="*/ 423746 w 490654"/>
                <a:gd name="connsiteY12" fmla="*/ 50181 h 473927"/>
                <a:gd name="connsiteX13" fmla="*/ 451624 w 490654"/>
                <a:gd name="connsiteY13" fmla="*/ 78059 h 473927"/>
                <a:gd name="connsiteX14" fmla="*/ 485078 w 490654"/>
                <a:gd name="connsiteY14" fmla="*/ 133815 h 473927"/>
                <a:gd name="connsiteX15" fmla="*/ 490654 w 490654"/>
                <a:gd name="connsiteY15" fmla="*/ 189571 h 473927"/>
                <a:gd name="connsiteX16" fmla="*/ 490654 w 490654"/>
                <a:gd name="connsiteY16" fmla="*/ 189571 h 473927"/>
                <a:gd name="connsiteX17" fmla="*/ 473927 w 490654"/>
                <a:gd name="connsiteY17" fmla="*/ 301083 h 473927"/>
                <a:gd name="connsiteX18" fmla="*/ 462776 w 490654"/>
                <a:gd name="connsiteY18" fmla="*/ 345688 h 473927"/>
                <a:gd name="connsiteX19" fmla="*/ 462776 w 490654"/>
                <a:gd name="connsiteY19" fmla="*/ 395869 h 473927"/>
                <a:gd name="connsiteX20" fmla="*/ 462776 w 490654"/>
                <a:gd name="connsiteY20" fmla="*/ 395869 h 473927"/>
                <a:gd name="connsiteX21" fmla="*/ 401444 w 490654"/>
                <a:gd name="connsiteY21" fmla="*/ 457200 h 473927"/>
                <a:gd name="connsiteX22" fmla="*/ 401444 w 490654"/>
                <a:gd name="connsiteY22" fmla="*/ 457200 h 473927"/>
                <a:gd name="connsiteX23" fmla="*/ 306659 w 490654"/>
                <a:gd name="connsiteY23" fmla="*/ 473927 h 473927"/>
                <a:gd name="connsiteX24" fmla="*/ 250902 w 490654"/>
                <a:gd name="connsiteY24" fmla="*/ 462776 h 473927"/>
                <a:gd name="connsiteX25" fmla="*/ 195146 w 490654"/>
                <a:gd name="connsiteY25" fmla="*/ 440473 h 473927"/>
                <a:gd name="connsiteX26" fmla="*/ 133815 w 490654"/>
                <a:gd name="connsiteY26" fmla="*/ 401444 h 473927"/>
                <a:gd name="connsiteX27" fmla="*/ 94785 w 490654"/>
                <a:gd name="connsiteY27" fmla="*/ 373566 h 473927"/>
                <a:gd name="connsiteX28" fmla="*/ 61332 w 490654"/>
                <a:gd name="connsiteY28" fmla="*/ 334537 h 4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0654" h="473927">
                  <a:moveTo>
                    <a:pt x="61332" y="334537"/>
                  </a:moveTo>
                  <a:lnTo>
                    <a:pt x="16727" y="295508"/>
                  </a:lnTo>
                  <a:lnTo>
                    <a:pt x="0" y="267630"/>
                  </a:lnTo>
                  <a:lnTo>
                    <a:pt x="0" y="267630"/>
                  </a:lnTo>
                  <a:lnTo>
                    <a:pt x="5576" y="189571"/>
                  </a:lnTo>
                  <a:lnTo>
                    <a:pt x="5576" y="189571"/>
                  </a:lnTo>
                  <a:lnTo>
                    <a:pt x="72483" y="111512"/>
                  </a:lnTo>
                  <a:lnTo>
                    <a:pt x="111512" y="83634"/>
                  </a:lnTo>
                  <a:lnTo>
                    <a:pt x="200722" y="22303"/>
                  </a:lnTo>
                  <a:lnTo>
                    <a:pt x="245327" y="0"/>
                  </a:lnTo>
                  <a:lnTo>
                    <a:pt x="306659" y="5576"/>
                  </a:lnTo>
                  <a:lnTo>
                    <a:pt x="367990" y="22303"/>
                  </a:lnTo>
                  <a:lnTo>
                    <a:pt x="423746" y="50181"/>
                  </a:lnTo>
                  <a:lnTo>
                    <a:pt x="451624" y="78059"/>
                  </a:lnTo>
                  <a:lnTo>
                    <a:pt x="485078" y="133815"/>
                  </a:lnTo>
                  <a:lnTo>
                    <a:pt x="490654" y="189571"/>
                  </a:lnTo>
                  <a:lnTo>
                    <a:pt x="490654" y="189571"/>
                  </a:lnTo>
                  <a:lnTo>
                    <a:pt x="473927" y="301083"/>
                  </a:lnTo>
                  <a:lnTo>
                    <a:pt x="462776" y="345688"/>
                  </a:lnTo>
                  <a:lnTo>
                    <a:pt x="462776" y="395869"/>
                  </a:lnTo>
                  <a:lnTo>
                    <a:pt x="462776" y="395869"/>
                  </a:lnTo>
                  <a:lnTo>
                    <a:pt x="401444" y="457200"/>
                  </a:lnTo>
                  <a:lnTo>
                    <a:pt x="401444" y="457200"/>
                  </a:lnTo>
                  <a:lnTo>
                    <a:pt x="306659" y="473927"/>
                  </a:lnTo>
                  <a:lnTo>
                    <a:pt x="250902" y="462776"/>
                  </a:lnTo>
                  <a:lnTo>
                    <a:pt x="195146" y="440473"/>
                  </a:lnTo>
                  <a:lnTo>
                    <a:pt x="133815" y="401444"/>
                  </a:lnTo>
                  <a:lnTo>
                    <a:pt x="94785" y="373566"/>
                  </a:lnTo>
                  <a:lnTo>
                    <a:pt x="61332" y="3345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9" name="Freeform 25">
              <a:extLst>
                <a:ext uri="{FF2B5EF4-FFF2-40B4-BE49-F238E27FC236}">
                  <a16:creationId xmlns:a16="http://schemas.microsoft.com/office/drawing/2014/main" id="{A6C44AE8-F36F-753B-27AB-96726D20CC05}"/>
                </a:ext>
              </a:extLst>
            </p:cNvPr>
            <p:cNvSpPr/>
            <p:nvPr/>
          </p:nvSpPr>
          <p:spPr>
            <a:xfrm>
              <a:off x="4767146" y="1410629"/>
              <a:ext cx="758283" cy="713678"/>
            </a:xfrm>
            <a:custGeom>
              <a:avLst/>
              <a:gdLst>
                <a:gd name="connsiteX0" fmla="*/ 44605 w 758283"/>
                <a:gd name="connsiteY0" fmla="*/ 234176 h 713678"/>
                <a:gd name="connsiteX1" fmla="*/ 61332 w 758283"/>
                <a:gd name="connsiteY1" fmla="*/ 183995 h 713678"/>
                <a:gd name="connsiteX2" fmla="*/ 100361 w 758283"/>
                <a:gd name="connsiteY2" fmla="*/ 122664 h 713678"/>
                <a:gd name="connsiteX3" fmla="*/ 139391 w 758283"/>
                <a:gd name="connsiteY3" fmla="*/ 83634 h 713678"/>
                <a:gd name="connsiteX4" fmla="*/ 156117 w 758283"/>
                <a:gd name="connsiteY4" fmla="*/ 72483 h 713678"/>
                <a:gd name="connsiteX5" fmla="*/ 156117 w 758283"/>
                <a:gd name="connsiteY5" fmla="*/ 72483 h 713678"/>
                <a:gd name="connsiteX6" fmla="*/ 234176 w 758283"/>
                <a:gd name="connsiteY6" fmla="*/ 22303 h 713678"/>
                <a:gd name="connsiteX7" fmla="*/ 234176 w 758283"/>
                <a:gd name="connsiteY7" fmla="*/ 22303 h 713678"/>
                <a:gd name="connsiteX8" fmla="*/ 306659 w 758283"/>
                <a:gd name="connsiteY8" fmla="*/ 0 h 713678"/>
                <a:gd name="connsiteX9" fmla="*/ 306659 w 758283"/>
                <a:gd name="connsiteY9" fmla="*/ 0 h 713678"/>
                <a:gd name="connsiteX10" fmla="*/ 401444 w 758283"/>
                <a:gd name="connsiteY10" fmla="*/ 16727 h 713678"/>
                <a:gd name="connsiteX11" fmla="*/ 429322 w 758283"/>
                <a:gd name="connsiteY11" fmla="*/ 33454 h 713678"/>
                <a:gd name="connsiteX12" fmla="*/ 479503 w 758283"/>
                <a:gd name="connsiteY12" fmla="*/ 66908 h 713678"/>
                <a:gd name="connsiteX13" fmla="*/ 524108 w 758283"/>
                <a:gd name="connsiteY13" fmla="*/ 100361 h 713678"/>
                <a:gd name="connsiteX14" fmla="*/ 524108 w 758283"/>
                <a:gd name="connsiteY14" fmla="*/ 100361 h 713678"/>
                <a:gd name="connsiteX15" fmla="*/ 607742 w 758283"/>
                <a:gd name="connsiteY15" fmla="*/ 139391 h 713678"/>
                <a:gd name="connsiteX16" fmla="*/ 607742 w 758283"/>
                <a:gd name="connsiteY16" fmla="*/ 139391 h 713678"/>
                <a:gd name="connsiteX17" fmla="*/ 691376 w 758283"/>
                <a:gd name="connsiteY17" fmla="*/ 189571 h 713678"/>
                <a:gd name="connsiteX18" fmla="*/ 724830 w 758283"/>
                <a:gd name="connsiteY18" fmla="*/ 223025 h 713678"/>
                <a:gd name="connsiteX19" fmla="*/ 758283 w 758283"/>
                <a:gd name="connsiteY19" fmla="*/ 267630 h 713678"/>
                <a:gd name="connsiteX20" fmla="*/ 758283 w 758283"/>
                <a:gd name="connsiteY20" fmla="*/ 267630 h 713678"/>
                <a:gd name="connsiteX21" fmla="*/ 752708 w 758283"/>
                <a:gd name="connsiteY21" fmla="*/ 356839 h 713678"/>
                <a:gd name="connsiteX22" fmla="*/ 752708 w 758283"/>
                <a:gd name="connsiteY22" fmla="*/ 407020 h 713678"/>
                <a:gd name="connsiteX23" fmla="*/ 752708 w 758283"/>
                <a:gd name="connsiteY23" fmla="*/ 407020 h 713678"/>
                <a:gd name="connsiteX24" fmla="*/ 730405 w 758283"/>
                <a:gd name="connsiteY24" fmla="*/ 473927 h 713678"/>
                <a:gd name="connsiteX25" fmla="*/ 691376 w 758283"/>
                <a:gd name="connsiteY25" fmla="*/ 551986 h 713678"/>
                <a:gd name="connsiteX26" fmla="*/ 652347 w 758283"/>
                <a:gd name="connsiteY26" fmla="*/ 618893 h 713678"/>
                <a:gd name="connsiteX27" fmla="*/ 624469 w 758283"/>
                <a:gd name="connsiteY27" fmla="*/ 663498 h 713678"/>
                <a:gd name="connsiteX28" fmla="*/ 557561 w 758283"/>
                <a:gd name="connsiteY28" fmla="*/ 685800 h 713678"/>
                <a:gd name="connsiteX29" fmla="*/ 490654 w 758283"/>
                <a:gd name="connsiteY29" fmla="*/ 696951 h 713678"/>
                <a:gd name="connsiteX30" fmla="*/ 434898 w 758283"/>
                <a:gd name="connsiteY30" fmla="*/ 713678 h 713678"/>
                <a:gd name="connsiteX31" fmla="*/ 434898 w 758283"/>
                <a:gd name="connsiteY31" fmla="*/ 713678 h 713678"/>
                <a:gd name="connsiteX32" fmla="*/ 312234 w 758283"/>
                <a:gd name="connsiteY32" fmla="*/ 657922 h 713678"/>
                <a:gd name="connsiteX33" fmla="*/ 256478 w 758283"/>
                <a:gd name="connsiteY33" fmla="*/ 624469 h 713678"/>
                <a:gd name="connsiteX34" fmla="*/ 183995 w 758283"/>
                <a:gd name="connsiteY34" fmla="*/ 596591 h 713678"/>
                <a:gd name="connsiteX35" fmla="*/ 122664 w 758283"/>
                <a:gd name="connsiteY35" fmla="*/ 563137 h 713678"/>
                <a:gd name="connsiteX36" fmla="*/ 61332 w 758283"/>
                <a:gd name="connsiteY36" fmla="*/ 524108 h 713678"/>
                <a:gd name="connsiteX37" fmla="*/ 33454 w 758283"/>
                <a:gd name="connsiteY37" fmla="*/ 496230 h 713678"/>
                <a:gd name="connsiteX38" fmla="*/ 11152 w 758283"/>
                <a:gd name="connsiteY38" fmla="*/ 434898 h 713678"/>
                <a:gd name="connsiteX39" fmla="*/ 0 w 758283"/>
                <a:gd name="connsiteY39" fmla="*/ 367991 h 713678"/>
                <a:gd name="connsiteX40" fmla="*/ 11152 w 758283"/>
                <a:gd name="connsiteY40" fmla="*/ 284356 h 713678"/>
                <a:gd name="connsiteX41" fmla="*/ 44605 w 758283"/>
                <a:gd name="connsiteY41" fmla="*/ 234176 h 71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8283" h="713678">
                  <a:moveTo>
                    <a:pt x="44605" y="234176"/>
                  </a:moveTo>
                  <a:lnTo>
                    <a:pt x="61332" y="183995"/>
                  </a:lnTo>
                  <a:lnTo>
                    <a:pt x="100361" y="122664"/>
                  </a:lnTo>
                  <a:lnTo>
                    <a:pt x="139391" y="83634"/>
                  </a:lnTo>
                  <a:lnTo>
                    <a:pt x="156117" y="72483"/>
                  </a:lnTo>
                  <a:lnTo>
                    <a:pt x="156117" y="72483"/>
                  </a:lnTo>
                  <a:lnTo>
                    <a:pt x="234176" y="22303"/>
                  </a:lnTo>
                  <a:lnTo>
                    <a:pt x="234176" y="22303"/>
                  </a:lnTo>
                  <a:lnTo>
                    <a:pt x="306659" y="0"/>
                  </a:lnTo>
                  <a:lnTo>
                    <a:pt x="306659" y="0"/>
                  </a:lnTo>
                  <a:lnTo>
                    <a:pt x="401444" y="16727"/>
                  </a:lnTo>
                  <a:lnTo>
                    <a:pt x="429322" y="33454"/>
                  </a:lnTo>
                  <a:lnTo>
                    <a:pt x="479503" y="66908"/>
                  </a:lnTo>
                  <a:lnTo>
                    <a:pt x="524108" y="100361"/>
                  </a:lnTo>
                  <a:lnTo>
                    <a:pt x="524108" y="100361"/>
                  </a:lnTo>
                  <a:lnTo>
                    <a:pt x="607742" y="139391"/>
                  </a:lnTo>
                  <a:lnTo>
                    <a:pt x="607742" y="139391"/>
                  </a:lnTo>
                  <a:lnTo>
                    <a:pt x="691376" y="189571"/>
                  </a:lnTo>
                  <a:lnTo>
                    <a:pt x="724830" y="223025"/>
                  </a:lnTo>
                  <a:lnTo>
                    <a:pt x="758283" y="267630"/>
                  </a:lnTo>
                  <a:lnTo>
                    <a:pt x="758283" y="267630"/>
                  </a:lnTo>
                  <a:lnTo>
                    <a:pt x="752708" y="356839"/>
                  </a:lnTo>
                  <a:lnTo>
                    <a:pt x="752708" y="407020"/>
                  </a:lnTo>
                  <a:lnTo>
                    <a:pt x="752708" y="407020"/>
                  </a:lnTo>
                  <a:lnTo>
                    <a:pt x="730405" y="473927"/>
                  </a:lnTo>
                  <a:lnTo>
                    <a:pt x="691376" y="551986"/>
                  </a:lnTo>
                  <a:lnTo>
                    <a:pt x="652347" y="618893"/>
                  </a:lnTo>
                  <a:lnTo>
                    <a:pt x="624469" y="663498"/>
                  </a:lnTo>
                  <a:lnTo>
                    <a:pt x="557561" y="685800"/>
                  </a:lnTo>
                  <a:lnTo>
                    <a:pt x="490654" y="696951"/>
                  </a:lnTo>
                  <a:lnTo>
                    <a:pt x="434898" y="713678"/>
                  </a:lnTo>
                  <a:lnTo>
                    <a:pt x="434898" y="713678"/>
                  </a:lnTo>
                  <a:lnTo>
                    <a:pt x="312234" y="657922"/>
                  </a:lnTo>
                  <a:lnTo>
                    <a:pt x="256478" y="624469"/>
                  </a:lnTo>
                  <a:lnTo>
                    <a:pt x="183995" y="596591"/>
                  </a:lnTo>
                  <a:lnTo>
                    <a:pt x="122664" y="563137"/>
                  </a:lnTo>
                  <a:lnTo>
                    <a:pt x="61332" y="524108"/>
                  </a:lnTo>
                  <a:lnTo>
                    <a:pt x="33454" y="496230"/>
                  </a:lnTo>
                  <a:lnTo>
                    <a:pt x="11152" y="434898"/>
                  </a:lnTo>
                  <a:lnTo>
                    <a:pt x="0" y="367991"/>
                  </a:lnTo>
                  <a:lnTo>
                    <a:pt x="11152" y="284356"/>
                  </a:lnTo>
                  <a:lnTo>
                    <a:pt x="44605" y="23417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0" name="Freeform 26">
              <a:extLst>
                <a:ext uri="{FF2B5EF4-FFF2-40B4-BE49-F238E27FC236}">
                  <a16:creationId xmlns:a16="http://schemas.microsoft.com/office/drawing/2014/main" id="{954AE116-3A0E-1CA9-443F-0F5A41DA0828}"/>
                </a:ext>
              </a:extLst>
            </p:cNvPr>
            <p:cNvSpPr/>
            <p:nvPr/>
          </p:nvSpPr>
          <p:spPr>
            <a:xfrm>
              <a:off x="4683512" y="1918010"/>
              <a:ext cx="501805" cy="451624"/>
            </a:xfrm>
            <a:custGeom>
              <a:avLst/>
              <a:gdLst>
                <a:gd name="connsiteX0" fmla="*/ 128239 w 501805"/>
                <a:gd name="connsiteY0" fmla="*/ 0 h 451624"/>
                <a:gd name="connsiteX1" fmla="*/ 111512 w 501805"/>
                <a:gd name="connsiteY1" fmla="*/ 55756 h 451624"/>
                <a:gd name="connsiteX2" fmla="*/ 66908 w 501805"/>
                <a:gd name="connsiteY2" fmla="*/ 72483 h 451624"/>
                <a:gd name="connsiteX3" fmla="*/ 66908 w 501805"/>
                <a:gd name="connsiteY3" fmla="*/ 72483 h 451624"/>
                <a:gd name="connsiteX4" fmla="*/ 16727 w 501805"/>
                <a:gd name="connsiteY4" fmla="*/ 117088 h 451624"/>
                <a:gd name="connsiteX5" fmla="*/ 22303 w 501805"/>
                <a:gd name="connsiteY5" fmla="*/ 144966 h 451624"/>
                <a:gd name="connsiteX6" fmla="*/ 27878 w 501805"/>
                <a:gd name="connsiteY6" fmla="*/ 167268 h 451624"/>
                <a:gd name="connsiteX7" fmla="*/ 0 w 501805"/>
                <a:gd name="connsiteY7" fmla="*/ 195146 h 451624"/>
                <a:gd name="connsiteX8" fmla="*/ 0 w 501805"/>
                <a:gd name="connsiteY8" fmla="*/ 195146 h 451624"/>
                <a:gd name="connsiteX9" fmla="*/ 55756 w 501805"/>
                <a:gd name="connsiteY9" fmla="*/ 289931 h 451624"/>
                <a:gd name="connsiteX10" fmla="*/ 122664 w 501805"/>
                <a:gd name="connsiteY10" fmla="*/ 312234 h 451624"/>
                <a:gd name="connsiteX11" fmla="*/ 206298 w 501805"/>
                <a:gd name="connsiteY11" fmla="*/ 379141 h 451624"/>
                <a:gd name="connsiteX12" fmla="*/ 262054 w 501805"/>
                <a:gd name="connsiteY12" fmla="*/ 423746 h 451624"/>
                <a:gd name="connsiteX13" fmla="*/ 312234 w 501805"/>
                <a:gd name="connsiteY13" fmla="*/ 451624 h 451624"/>
                <a:gd name="connsiteX14" fmla="*/ 373566 w 501805"/>
                <a:gd name="connsiteY14" fmla="*/ 412595 h 451624"/>
                <a:gd name="connsiteX15" fmla="*/ 407020 w 501805"/>
                <a:gd name="connsiteY15" fmla="*/ 384717 h 451624"/>
                <a:gd name="connsiteX16" fmla="*/ 446049 w 501805"/>
                <a:gd name="connsiteY16" fmla="*/ 306658 h 451624"/>
                <a:gd name="connsiteX17" fmla="*/ 496229 w 501805"/>
                <a:gd name="connsiteY17" fmla="*/ 250902 h 451624"/>
                <a:gd name="connsiteX18" fmla="*/ 501805 w 501805"/>
                <a:gd name="connsiteY18" fmla="*/ 200722 h 451624"/>
                <a:gd name="connsiteX19" fmla="*/ 457200 w 501805"/>
                <a:gd name="connsiteY19" fmla="*/ 139390 h 451624"/>
                <a:gd name="connsiteX20" fmla="*/ 289932 w 501805"/>
                <a:gd name="connsiteY20" fmla="*/ 50180 h 451624"/>
                <a:gd name="connsiteX21" fmla="*/ 128239 w 501805"/>
                <a:gd name="connsiteY21" fmla="*/ 0 h 45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1805" h="451624">
                  <a:moveTo>
                    <a:pt x="128239" y="0"/>
                  </a:moveTo>
                  <a:lnTo>
                    <a:pt x="111512" y="55756"/>
                  </a:lnTo>
                  <a:lnTo>
                    <a:pt x="66908" y="72483"/>
                  </a:lnTo>
                  <a:lnTo>
                    <a:pt x="66908" y="72483"/>
                  </a:lnTo>
                  <a:lnTo>
                    <a:pt x="16727" y="117088"/>
                  </a:lnTo>
                  <a:lnTo>
                    <a:pt x="22303" y="144966"/>
                  </a:lnTo>
                  <a:lnTo>
                    <a:pt x="27878" y="167268"/>
                  </a:lnTo>
                  <a:lnTo>
                    <a:pt x="0" y="195146"/>
                  </a:lnTo>
                  <a:lnTo>
                    <a:pt x="0" y="195146"/>
                  </a:lnTo>
                  <a:lnTo>
                    <a:pt x="55756" y="289931"/>
                  </a:lnTo>
                  <a:lnTo>
                    <a:pt x="122664" y="312234"/>
                  </a:lnTo>
                  <a:lnTo>
                    <a:pt x="206298" y="379141"/>
                  </a:lnTo>
                  <a:lnTo>
                    <a:pt x="262054" y="423746"/>
                  </a:lnTo>
                  <a:lnTo>
                    <a:pt x="312234" y="451624"/>
                  </a:lnTo>
                  <a:lnTo>
                    <a:pt x="373566" y="412595"/>
                  </a:lnTo>
                  <a:lnTo>
                    <a:pt x="407020" y="384717"/>
                  </a:lnTo>
                  <a:lnTo>
                    <a:pt x="446049" y="306658"/>
                  </a:lnTo>
                  <a:lnTo>
                    <a:pt x="496229" y="250902"/>
                  </a:lnTo>
                  <a:lnTo>
                    <a:pt x="501805" y="200722"/>
                  </a:lnTo>
                  <a:lnTo>
                    <a:pt x="457200" y="139390"/>
                  </a:lnTo>
                  <a:lnTo>
                    <a:pt x="289932" y="50180"/>
                  </a:lnTo>
                  <a:lnTo>
                    <a:pt x="128239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1" name="Freeform 27">
              <a:extLst>
                <a:ext uri="{FF2B5EF4-FFF2-40B4-BE49-F238E27FC236}">
                  <a16:creationId xmlns:a16="http://schemas.microsoft.com/office/drawing/2014/main" id="{8D2D8FAA-383F-BFE8-188A-58CF27630C6E}"/>
                </a:ext>
              </a:extLst>
            </p:cNvPr>
            <p:cNvSpPr/>
            <p:nvPr/>
          </p:nvSpPr>
          <p:spPr>
            <a:xfrm>
              <a:off x="4493941" y="2113156"/>
              <a:ext cx="551986" cy="490654"/>
            </a:xfrm>
            <a:custGeom>
              <a:avLst/>
              <a:gdLst>
                <a:gd name="connsiteX0" fmla="*/ 200722 w 551986"/>
                <a:gd name="connsiteY0" fmla="*/ 0 h 490654"/>
                <a:gd name="connsiteX1" fmla="*/ 178420 w 551986"/>
                <a:gd name="connsiteY1" fmla="*/ 50181 h 490654"/>
                <a:gd name="connsiteX2" fmla="*/ 117088 w 551986"/>
                <a:gd name="connsiteY2" fmla="*/ 61332 h 490654"/>
                <a:gd name="connsiteX3" fmla="*/ 72483 w 551986"/>
                <a:gd name="connsiteY3" fmla="*/ 83634 h 490654"/>
                <a:gd name="connsiteX4" fmla="*/ 44605 w 551986"/>
                <a:gd name="connsiteY4" fmla="*/ 100361 h 490654"/>
                <a:gd name="connsiteX5" fmla="*/ 39030 w 551986"/>
                <a:gd name="connsiteY5" fmla="*/ 150542 h 490654"/>
                <a:gd name="connsiteX6" fmla="*/ 16727 w 551986"/>
                <a:gd name="connsiteY6" fmla="*/ 228600 h 490654"/>
                <a:gd name="connsiteX7" fmla="*/ 0 w 551986"/>
                <a:gd name="connsiteY7" fmla="*/ 262054 h 490654"/>
                <a:gd name="connsiteX8" fmla="*/ 61332 w 551986"/>
                <a:gd name="connsiteY8" fmla="*/ 317810 h 490654"/>
                <a:gd name="connsiteX9" fmla="*/ 122664 w 551986"/>
                <a:gd name="connsiteY9" fmla="*/ 379142 h 490654"/>
                <a:gd name="connsiteX10" fmla="*/ 200722 w 551986"/>
                <a:gd name="connsiteY10" fmla="*/ 429322 h 490654"/>
                <a:gd name="connsiteX11" fmla="*/ 245327 w 551986"/>
                <a:gd name="connsiteY11" fmla="*/ 457200 h 490654"/>
                <a:gd name="connsiteX12" fmla="*/ 295508 w 551986"/>
                <a:gd name="connsiteY12" fmla="*/ 490654 h 490654"/>
                <a:gd name="connsiteX13" fmla="*/ 407020 w 551986"/>
                <a:gd name="connsiteY13" fmla="*/ 462776 h 490654"/>
                <a:gd name="connsiteX14" fmla="*/ 457200 w 551986"/>
                <a:gd name="connsiteY14" fmla="*/ 367990 h 490654"/>
                <a:gd name="connsiteX15" fmla="*/ 501805 w 551986"/>
                <a:gd name="connsiteY15" fmla="*/ 284356 h 490654"/>
                <a:gd name="connsiteX16" fmla="*/ 551986 w 551986"/>
                <a:gd name="connsiteY16" fmla="*/ 200722 h 490654"/>
                <a:gd name="connsiteX17" fmla="*/ 418171 w 551986"/>
                <a:gd name="connsiteY17" fmla="*/ 61332 h 490654"/>
                <a:gd name="connsiteX18" fmla="*/ 200722 w 551986"/>
                <a:gd name="connsiteY18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1986" h="490654">
                  <a:moveTo>
                    <a:pt x="200722" y="0"/>
                  </a:moveTo>
                  <a:lnTo>
                    <a:pt x="178420" y="50181"/>
                  </a:lnTo>
                  <a:lnTo>
                    <a:pt x="117088" y="61332"/>
                  </a:lnTo>
                  <a:lnTo>
                    <a:pt x="72483" y="83634"/>
                  </a:lnTo>
                  <a:lnTo>
                    <a:pt x="44605" y="100361"/>
                  </a:lnTo>
                  <a:lnTo>
                    <a:pt x="39030" y="150542"/>
                  </a:lnTo>
                  <a:lnTo>
                    <a:pt x="16727" y="228600"/>
                  </a:lnTo>
                  <a:lnTo>
                    <a:pt x="0" y="262054"/>
                  </a:lnTo>
                  <a:lnTo>
                    <a:pt x="61332" y="317810"/>
                  </a:lnTo>
                  <a:lnTo>
                    <a:pt x="122664" y="379142"/>
                  </a:lnTo>
                  <a:lnTo>
                    <a:pt x="200722" y="429322"/>
                  </a:lnTo>
                  <a:lnTo>
                    <a:pt x="245327" y="457200"/>
                  </a:lnTo>
                  <a:lnTo>
                    <a:pt x="295508" y="490654"/>
                  </a:lnTo>
                  <a:lnTo>
                    <a:pt x="407020" y="462776"/>
                  </a:lnTo>
                  <a:lnTo>
                    <a:pt x="457200" y="367990"/>
                  </a:lnTo>
                  <a:lnTo>
                    <a:pt x="501805" y="284356"/>
                  </a:lnTo>
                  <a:lnTo>
                    <a:pt x="551986" y="200722"/>
                  </a:lnTo>
                  <a:lnTo>
                    <a:pt x="418171" y="61332"/>
                  </a:lnTo>
                  <a:lnTo>
                    <a:pt x="200722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2" name="Freeform 28">
              <a:extLst>
                <a:ext uri="{FF2B5EF4-FFF2-40B4-BE49-F238E27FC236}">
                  <a16:creationId xmlns:a16="http://schemas.microsoft.com/office/drawing/2014/main" id="{FCEE5D88-A733-FDE3-FF5E-6523202304DC}"/>
                </a:ext>
              </a:extLst>
            </p:cNvPr>
            <p:cNvSpPr/>
            <p:nvPr/>
          </p:nvSpPr>
          <p:spPr>
            <a:xfrm>
              <a:off x="4287644" y="2352907"/>
              <a:ext cx="524107" cy="490654"/>
            </a:xfrm>
            <a:custGeom>
              <a:avLst/>
              <a:gdLst>
                <a:gd name="connsiteX0" fmla="*/ 228600 w 524107"/>
                <a:gd name="connsiteY0" fmla="*/ 0 h 490654"/>
                <a:gd name="connsiteX1" fmla="*/ 167268 w 524107"/>
                <a:gd name="connsiteY1" fmla="*/ 22303 h 490654"/>
                <a:gd name="connsiteX2" fmla="*/ 167268 w 524107"/>
                <a:gd name="connsiteY2" fmla="*/ 22303 h 490654"/>
                <a:gd name="connsiteX3" fmla="*/ 72483 w 524107"/>
                <a:gd name="connsiteY3" fmla="*/ 55756 h 490654"/>
                <a:gd name="connsiteX4" fmla="*/ 50180 w 524107"/>
                <a:gd name="connsiteY4" fmla="*/ 83634 h 490654"/>
                <a:gd name="connsiteX5" fmla="*/ 16727 w 524107"/>
                <a:gd name="connsiteY5" fmla="*/ 122664 h 490654"/>
                <a:gd name="connsiteX6" fmla="*/ 0 w 524107"/>
                <a:gd name="connsiteY6" fmla="*/ 183995 h 490654"/>
                <a:gd name="connsiteX7" fmla="*/ 0 w 524107"/>
                <a:gd name="connsiteY7" fmla="*/ 183995 h 490654"/>
                <a:gd name="connsiteX8" fmla="*/ 55756 w 524107"/>
                <a:gd name="connsiteY8" fmla="*/ 289932 h 490654"/>
                <a:gd name="connsiteX9" fmla="*/ 100361 w 524107"/>
                <a:gd name="connsiteY9" fmla="*/ 340113 h 490654"/>
                <a:gd name="connsiteX10" fmla="*/ 133815 w 524107"/>
                <a:gd name="connsiteY10" fmla="*/ 401444 h 490654"/>
                <a:gd name="connsiteX11" fmla="*/ 189571 w 524107"/>
                <a:gd name="connsiteY11" fmla="*/ 446049 h 490654"/>
                <a:gd name="connsiteX12" fmla="*/ 273205 w 524107"/>
                <a:gd name="connsiteY12" fmla="*/ 473927 h 490654"/>
                <a:gd name="connsiteX13" fmla="*/ 345688 w 524107"/>
                <a:gd name="connsiteY13" fmla="*/ 490654 h 490654"/>
                <a:gd name="connsiteX14" fmla="*/ 401444 w 524107"/>
                <a:gd name="connsiteY14" fmla="*/ 473927 h 490654"/>
                <a:gd name="connsiteX15" fmla="*/ 457200 w 524107"/>
                <a:gd name="connsiteY15" fmla="*/ 362415 h 490654"/>
                <a:gd name="connsiteX16" fmla="*/ 507380 w 524107"/>
                <a:gd name="connsiteY16" fmla="*/ 278781 h 490654"/>
                <a:gd name="connsiteX17" fmla="*/ 524107 w 524107"/>
                <a:gd name="connsiteY17" fmla="*/ 195147 h 490654"/>
                <a:gd name="connsiteX18" fmla="*/ 423746 w 524107"/>
                <a:gd name="connsiteY18" fmla="*/ 66908 h 490654"/>
                <a:gd name="connsiteX19" fmla="*/ 323385 w 524107"/>
                <a:gd name="connsiteY19" fmla="*/ 5576 h 490654"/>
                <a:gd name="connsiteX20" fmla="*/ 228600 w 524107"/>
                <a:gd name="connsiteY20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4107" h="490654">
                  <a:moveTo>
                    <a:pt x="228600" y="0"/>
                  </a:moveTo>
                  <a:lnTo>
                    <a:pt x="167268" y="22303"/>
                  </a:lnTo>
                  <a:lnTo>
                    <a:pt x="167268" y="22303"/>
                  </a:lnTo>
                  <a:lnTo>
                    <a:pt x="72483" y="55756"/>
                  </a:lnTo>
                  <a:lnTo>
                    <a:pt x="50180" y="83634"/>
                  </a:lnTo>
                  <a:lnTo>
                    <a:pt x="16727" y="122664"/>
                  </a:lnTo>
                  <a:lnTo>
                    <a:pt x="0" y="183995"/>
                  </a:lnTo>
                  <a:lnTo>
                    <a:pt x="0" y="183995"/>
                  </a:lnTo>
                  <a:lnTo>
                    <a:pt x="55756" y="289932"/>
                  </a:lnTo>
                  <a:lnTo>
                    <a:pt x="100361" y="340113"/>
                  </a:lnTo>
                  <a:lnTo>
                    <a:pt x="133815" y="401444"/>
                  </a:lnTo>
                  <a:lnTo>
                    <a:pt x="189571" y="446049"/>
                  </a:lnTo>
                  <a:lnTo>
                    <a:pt x="273205" y="473927"/>
                  </a:lnTo>
                  <a:lnTo>
                    <a:pt x="345688" y="490654"/>
                  </a:lnTo>
                  <a:lnTo>
                    <a:pt x="401444" y="473927"/>
                  </a:lnTo>
                  <a:lnTo>
                    <a:pt x="457200" y="362415"/>
                  </a:lnTo>
                  <a:lnTo>
                    <a:pt x="507380" y="278781"/>
                  </a:lnTo>
                  <a:lnTo>
                    <a:pt x="524107" y="195147"/>
                  </a:lnTo>
                  <a:lnTo>
                    <a:pt x="423746" y="66908"/>
                  </a:lnTo>
                  <a:lnTo>
                    <a:pt x="323385" y="5576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3" name="Freeform 29">
              <a:extLst>
                <a:ext uri="{FF2B5EF4-FFF2-40B4-BE49-F238E27FC236}">
                  <a16:creationId xmlns:a16="http://schemas.microsoft.com/office/drawing/2014/main" id="{29A42154-BCE9-590C-7F79-E354FB17DB1C}"/>
                </a:ext>
              </a:extLst>
            </p:cNvPr>
            <p:cNvSpPr/>
            <p:nvPr/>
          </p:nvSpPr>
          <p:spPr>
            <a:xfrm>
              <a:off x="3986561" y="2559205"/>
              <a:ext cx="579863" cy="501805"/>
            </a:xfrm>
            <a:custGeom>
              <a:avLst/>
              <a:gdLst>
                <a:gd name="connsiteX0" fmla="*/ 323385 w 579863"/>
                <a:gd name="connsiteY0" fmla="*/ 0 h 501805"/>
                <a:gd name="connsiteX1" fmla="*/ 262054 w 579863"/>
                <a:gd name="connsiteY1" fmla="*/ 5575 h 501805"/>
                <a:gd name="connsiteX2" fmla="*/ 161693 w 579863"/>
                <a:gd name="connsiteY2" fmla="*/ 11151 h 501805"/>
                <a:gd name="connsiteX3" fmla="*/ 117088 w 579863"/>
                <a:gd name="connsiteY3" fmla="*/ 39029 h 501805"/>
                <a:gd name="connsiteX4" fmla="*/ 72483 w 579863"/>
                <a:gd name="connsiteY4" fmla="*/ 66907 h 501805"/>
                <a:gd name="connsiteX5" fmla="*/ 16727 w 579863"/>
                <a:gd name="connsiteY5" fmla="*/ 117088 h 501805"/>
                <a:gd name="connsiteX6" fmla="*/ 0 w 579863"/>
                <a:gd name="connsiteY6" fmla="*/ 133815 h 501805"/>
                <a:gd name="connsiteX7" fmla="*/ 27878 w 579863"/>
                <a:gd name="connsiteY7" fmla="*/ 195146 h 501805"/>
                <a:gd name="connsiteX8" fmla="*/ 66907 w 579863"/>
                <a:gd name="connsiteY8" fmla="*/ 267629 h 501805"/>
                <a:gd name="connsiteX9" fmla="*/ 94785 w 579863"/>
                <a:gd name="connsiteY9" fmla="*/ 356839 h 501805"/>
                <a:gd name="connsiteX10" fmla="*/ 117088 w 579863"/>
                <a:gd name="connsiteY10" fmla="*/ 446049 h 501805"/>
                <a:gd name="connsiteX11" fmla="*/ 144966 w 579863"/>
                <a:gd name="connsiteY11" fmla="*/ 496229 h 501805"/>
                <a:gd name="connsiteX12" fmla="*/ 228600 w 579863"/>
                <a:gd name="connsiteY12" fmla="*/ 496229 h 501805"/>
                <a:gd name="connsiteX13" fmla="*/ 306659 w 579863"/>
                <a:gd name="connsiteY13" fmla="*/ 501805 h 501805"/>
                <a:gd name="connsiteX14" fmla="*/ 395868 w 579863"/>
                <a:gd name="connsiteY14" fmla="*/ 451624 h 501805"/>
                <a:gd name="connsiteX15" fmla="*/ 485078 w 579863"/>
                <a:gd name="connsiteY15" fmla="*/ 379141 h 501805"/>
                <a:gd name="connsiteX16" fmla="*/ 507380 w 579863"/>
                <a:gd name="connsiteY16" fmla="*/ 328961 h 501805"/>
                <a:gd name="connsiteX17" fmla="*/ 557561 w 579863"/>
                <a:gd name="connsiteY17" fmla="*/ 323385 h 501805"/>
                <a:gd name="connsiteX18" fmla="*/ 579863 w 579863"/>
                <a:gd name="connsiteY18" fmla="*/ 262054 h 501805"/>
                <a:gd name="connsiteX19" fmla="*/ 579863 w 579863"/>
                <a:gd name="connsiteY19" fmla="*/ 111512 h 501805"/>
                <a:gd name="connsiteX20" fmla="*/ 418171 w 579863"/>
                <a:gd name="connsiteY20" fmla="*/ 22302 h 501805"/>
                <a:gd name="connsiteX21" fmla="*/ 323385 w 579863"/>
                <a:gd name="connsiteY21" fmla="*/ 0 h 50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9863" h="501805">
                  <a:moveTo>
                    <a:pt x="323385" y="0"/>
                  </a:moveTo>
                  <a:lnTo>
                    <a:pt x="262054" y="5575"/>
                  </a:lnTo>
                  <a:lnTo>
                    <a:pt x="161693" y="11151"/>
                  </a:lnTo>
                  <a:lnTo>
                    <a:pt x="117088" y="39029"/>
                  </a:lnTo>
                  <a:lnTo>
                    <a:pt x="72483" y="66907"/>
                  </a:lnTo>
                  <a:lnTo>
                    <a:pt x="16727" y="117088"/>
                  </a:lnTo>
                  <a:lnTo>
                    <a:pt x="0" y="133815"/>
                  </a:lnTo>
                  <a:lnTo>
                    <a:pt x="27878" y="195146"/>
                  </a:lnTo>
                  <a:lnTo>
                    <a:pt x="66907" y="267629"/>
                  </a:lnTo>
                  <a:lnTo>
                    <a:pt x="94785" y="356839"/>
                  </a:lnTo>
                  <a:lnTo>
                    <a:pt x="117088" y="446049"/>
                  </a:lnTo>
                  <a:lnTo>
                    <a:pt x="144966" y="496229"/>
                  </a:lnTo>
                  <a:lnTo>
                    <a:pt x="228600" y="496229"/>
                  </a:lnTo>
                  <a:lnTo>
                    <a:pt x="306659" y="501805"/>
                  </a:lnTo>
                  <a:lnTo>
                    <a:pt x="395868" y="451624"/>
                  </a:lnTo>
                  <a:lnTo>
                    <a:pt x="485078" y="379141"/>
                  </a:lnTo>
                  <a:lnTo>
                    <a:pt x="507380" y="328961"/>
                  </a:lnTo>
                  <a:lnTo>
                    <a:pt x="557561" y="323385"/>
                  </a:lnTo>
                  <a:lnTo>
                    <a:pt x="579863" y="262054"/>
                  </a:lnTo>
                  <a:lnTo>
                    <a:pt x="579863" y="111512"/>
                  </a:lnTo>
                  <a:lnTo>
                    <a:pt x="418171" y="22302"/>
                  </a:lnTo>
                  <a:lnTo>
                    <a:pt x="323385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4" name="Freeform 30">
              <a:extLst>
                <a:ext uri="{FF2B5EF4-FFF2-40B4-BE49-F238E27FC236}">
                  <a16:creationId xmlns:a16="http://schemas.microsoft.com/office/drawing/2014/main" id="{366A71ED-A405-F295-AA00-E2CCC48C5912}"/>
                </a:ext>
              </a:extLst>
            </p:cNvPr>
            <p:cNvSpPr/>
            <p:nvPr/>
          </p:nvSpPr>
          <p:spPr>
            <a:xfrm>
              <a:off x="3685478" y="2693020"/>
              <a:ext cx="524107" cy="496229"/>
            </a:xfrm>
            <a:custGeom>
              <a:avLst/>
              <a:gdLst>
                <a:gd name="connsiteX0" fmla="*/ 345688 w 524107"/>
                <a:gd name="connsiteY0" fmla="*/ 16726 h 496229"/>
                <a:gd name="connsiteX1" fmla="*/ 273205 w 524107"/>
                <a:gd name="connsiteY1" fmla="*/ 16726 h 496229"/>
                <a:gd name="connsiteX2" fmla="*/ 189571 w 524107"/>
                <a:gd name="connsiteY2" fmla="*/ 0 h 496229"/>
                <a:gd name="connsiteX3" fmla="*/ 122663 w 524107"/>
                <a:gd name="connsiteY3" fmla="*/ 5575 h 496229"/>
                <a:gd name="connsiteX4" fmla="*/ 89210 w 524107"/>
                <a:gd name="connsiteY4" fmla="*/ 27878 h 496229"/>
                <a:gd name="connsiteX5" fmla="*/ 89210 w 524107"/>
                <a:gd name="connsiteY5" fmla="*/ 27878 h 496229"/>
                <a:gd name="connsiteX6" fmla="*/ 27878 w 524107"/>
                <a:gd name="connsiteY6" fmla="*/ 66907 h 496229"/>
                <a:gd name="connsiteX7" fmla="*/ 0 w 524107"/>
                <a:gd name="connsiteY7" fmla="*/ 100360 h 496229"/>
                <a:gd name="connsiteX8" fmla="*/ 0 w 524107"/>
                <a:gd name="connsiteY8" fmla="*/ 167268 h 496229"/>
                <a:gd name="connsiteX9" fmla="*/ 22302 w 524107"/>
                <a:gd name="connsiteY9" fmla="*/ 284356 h 496229"/>
                <a:gd name="connsiteX10" fmla="*/ 50181 w 524107"/>
                <a:gd name="connsiteY10" fmla="*/ 407019 h 496229"/>
                <a:gd name="connsiteX11" fmla="*/ 89210 w 524107"/>
                <a:gd name="connsiteY11" fmla="*/ 440473 h 496229"/>
                <a:gd name="connsiteX12" fmla="*/ 156117 w 524107"/>
                <a:gd name="connsiteY12" fmla="*/ 473926 h 496229"/>
                <a:gd name="connsiteX13" fmla="*/ 223024 w 524107"/>
                <a:gd name="connsiteY13" fmla="*/ 496229 h 496229"/>
                <a:gd name="connsiteX14" fmla="*/ 345688 w 524107"/>
                <a:gd name="connsiteY14" fmla="*/ 446048 h 496229"/>
                <a:gd name="connsiteX15" fmla="*/ 434898 w 524107"/>
                <a:gd name="connsiteY15" fmla="*/ 395868 h 496229"/>
                <a:gd name="connsiteX16" fmla="*/ 507381 w 524107"/>
                <a:gd name="connsiteY16" fmla="*/ 323385 h 496229"/>
                <a:gd name="connsiteX17" fmla="*/ 524107 w 524107"/>
                <a:gd name="connsiteY17" fmla="*/ 139390 h 496229"/>
                <a:gd name="connsiteX18" fmla="*/ 401444 w 524107"/>
                <a:gd name="connsiteY18" fmla="*/ 50180 h 496229"/>
                <a:gd name="connsiteX19" fmla="*/ 345688 w 524107"/>
                <a:gd name="connsiteY19" fmla="*/ 16726 h 49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4107" h="496229">
                  <a:moveTo>
                    <a:pt x="345688" y="16726"/>
                  </a:moveTo>
                  <a:lnTo>
                    <a:pt x="273205" y="16726"/>
                  </a:lnTo>
                  <a:lnTo>
                    <a:pt x="189571" y="0"/>
                  </a:lnTo>
                  <a:lnTo>
                    <a:pt x="122663" y="5575"/>
                  </a:lnTo>
                  <a:lnTo>
                    <a:pt x="89210" y="27878"/>
                  </a:lnTo>
                  <a:lnTo>
                    <a:pt x="89210" y="27878"/>
                  </a:lnTo>
                  <a:lnTo>
                    <a:pt x="27878" y="66907"/>
                  </a:lnTo>
                  <a:lnTo>
                    <a:pt x="0" y="100360"/>
                  </a:lnTo>
                  <a:lnTo>
                    <a:pt x="0" y="167268"/>
                  </a:lnTo>
                  <a:lnTo>
                    <a:pt x="22302" y="284356"/>
                  </a:lnTo>
                  <a:lnTo>
                    <a:pt x="50181" y="407019"/>
                  </a:lnTo>
                  <a:lnTo>
                    <a:pt x="89210" y="440473"/>
                  </a:lnTo>
                  <a:lnTo>
                    <a:pt x="156117" y="473926"/>
                  </a:lnTo>
                  <a:lnTo>
                    <a:pt x="223024" y="496229"/>
                  </a:lnTo>
                  <a:lnTo>
                    <a:pt x="345688" y="446048"/>
                  </a:lnTo>
                  <a:lnTo>
                    <a:pt x="434898" y="395868"/>
                  </a:lnTo>
                  <a:lnTo>
                    <a:pt x="507381" y="323385"/>
                  </a:lnTo>
                  <a:lnTo>
                    <a:pt x="524107" y="139390"/>
                  </a:lnTo>
                  <a:lnTo>
                    <a:pt x="401444" y="50180"/>
                  </a:lnTo>
                  <a:lnTo>
                    <a:pt x="345688" y="1672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5" name="Freeform 31">
              <a:extLst>
                <a:ext uri="{FF2B5EF4-FFF2-40B4-BE49-F238E27FC236}">
                  <a16:creationId xmlns:a16="http://schemas.microsoft.com/office/drawing/2014/main" id="{0F6875F3-27ED-33F9-701A-FCE3DD8687CE}"/>
                </a:ext>
              </a:extLst>
            </p:cNvPr>
            <p:cNvSpPr/>
            <p:nvPr/>
          </p:nvSpPr>
          <p:spPr>
            <a:xfrm>
              <a:off x="3367668" y="2771078"/>
              <a:ext cx="490654" cy="434898"/>
            </a:xfrm>
            <a:custGeom>
              <a:avLst/>
              <a:gdLst>
                <a:gd name="connsiteX0" fmla="*/ 345688 w 490654"/>
                <a:gd name="connsiteY0" fmla="*/ 39029 h 434898"/>
                <a:gd name="connsiteX1" fmla="*/ 278781 w 490654"/>
                <a:gd name="connsiteY1" fmla="*/ 16727 h 434898"/>
                <a:gd name="connsiteX2" fmla="*/ 206298 w 490654"/>
                <a:gd name="connsiteY2" fmla="*/ 0 h 434898"/>
                <a:gd name="connsiteX3" fmla="*/ 139391 w 490654"/>
                <a:gd name="connsiteY3" fmla="*/ 0 h 434898"/>
                <a:gd name="connsiteX4" fmla="*/ 83634 w 490654"/>
                <a:gd name="connsiteY4" fmla="*/ 0 h 434898"/>
                <a:gd name="connsiteX5" fmla="*/ 39030 w 490654"/>
                <a:gd name="connsiteY5" fmla="*/ 16727 h 434898"/>
                <a:gd name="connsiteX6" fmla="*/ 22303 w 490654"/>
                <a:gd name="connsiteY6" fmla="*/ 44605 h 434898"/>
                <a:gd name="connsiteX7" fmla="*/ 22303 w 490654"/>
                <a:gd name="connsiteY7" fmla="*/ 44605 h 434898"/>
                <a:gd name="connsiteX8" fmla="*/ 0 w 490654"/>
                <a:gd name="connsiteY8" fmla="*/ 167268 h 434898"/>
                <a:gd name="connsiteX9" fmla="*/ 0 w 490654"/>
                <a:gd name="connsiteY9" fmla="*/ 256478 h 434898"/>
                <a:gd name="connsiteX10" fmla="*/ 5576 w 490654"/>
                <a:gd name="connsiteY10" fmla="*/ 351263 h 434898"/>
                <a:gd name="connsiteX11" fmla="*/ 5576 w 490654"/>
                <a:gd name="connsiteY11" fmla="*/ 351263 h 434898"/>
                <a:gd name="connsiteX12" fmla="*/ 61332 w 490654"/>
                <a:gd name="connsiteY12" fmla="*/ 429322 h 434898"/>
                <a:gd name="connsiteX13" fmla="*/ 122664 w 490654"/>
                <a:gd name="connsiteY13" fmla="*/ 434898 h 434898"/>
                <a:gd name="connsiteX14" fmla="*/ 228600 w 490654"/>
                <a:gd name="connsiteY14" fmla="*/ 434898 h 434898"/>
                <a:gd name="connsiteX15" fmla="*/ 362415 w 490654"/>
                <a:gd name="connsiteY15" fmla="*/ 407020 h 434898"/>
                <a:gd name="connsiteX16" fmla="*/ 446049 w 490654"/>
                <a:gd name="connsiteY16" fmla="*/ 379142 h 434898"/>
                <a:gd name="connsiteX17" fmla="*/ 490654 w 490654"/>
                <a:gd name="connsiteY17" fmla="*/ 323385 h 434898"/>
                <a:gd name="connsiteX18" fmla="*/ 418171 w 490654"/>
                <a:gd name="connsiteY18" fmla="*/ 167268 h 434898"/>
                <a:gd name="connsiteX19" fmla="*/ 345688 w 490654"/>
                <a:gd name="connsiteY19" fmla="*/ 39029 h 43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0654" h="434898">
                  <a:moveTo>
                    <a:pt x="345688" y="39029"/>
                  </a:moveTo>
                  <a:lnTo>
                    <a:pt x="278781" y="16727"/>
                  </a:lnTo>
                  <a:lnTo>
                    <a:pt x="206298" y="0"/>
                  </a:lnTo>
                  <a:lnTo>
                    <a:pt x="139391" y="0"/>
                  </a:lnTo>
                  <a:lnTo>
                    <a:pt x="83634" y="0"/>
                  </a:lnTo>
                  <a:lnTo>
                    <a:pt x="39030" y="16727"/>
                  </a:lnTo>
                  <a:lnTo>
                    <a:pt x="22303" y="44605"/>
                  </a:lnTo>
                  <a:lnTo>
                    <a:pt x="22303" y="44605"/>
                  </a:lnTo>
                  <a:lnTo>
                    <a:pt x="0" y="167268"/>
                  </a:lnTo>
                  <a:lnTo>
                    <a:pt x="0" y="256478"/>
                  </a:lnTo>
                  <a:lnTo>
                    <a:pt x="5576" y="351263"/>
                  </a:lnTo>
                  <a:lnTo>
                    <a:pt x="5576" y="351263"/>
                  </a:lnTo>
                  <a:lnTo>
                    <a:pt x="61332" y="429322"/>
                  </a:lnTo>
                  <a:lnTo>
                    <a:pt x="122664" y="434898"/>
                  </a:lnTo>
                  <a:lnTo>
                    <a:pt x="228600" y="434898"/>
                  </a:lnTo>
                  <a:lnTo>
                    <a:pt x="362415" y="407020"/>
                  </a:lnTo>
                  <a:lnTo>
                    <a:pt x="446049" y="379142"/>
                  </a:lnTo>
                  <a:lnTo>
                    <a:pt x="490654" y="323385"/>
                  </a:lnTo>
                  <a:lnTo>
                    <a:pt x="418171" y="167268"/>
                  </a:lnTo>
                  <a:lnTo>
                    <a:pt x="345688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6" name="Freeform 32">
              <a:extLst>
                <a:ext uri="{FF2B5EF4-FFF2-40B4-BE49-F238E27FC236}">
                  <a16:creationId xmlns:a16="http://schemas.microsoft.com/office/drawing/2014/main" id="{79B364C2-BCB9-1DC9-BACB-C43844ED04DC}"/>
                </a:ext>
              </a:extLst>
            </p:cNvPr>
            <p:cNvSpPr/>
            <p:nvPr/>
          </p:nvSpPr>
          <p:spPr>
            <a:xfrm>
              <a:off x="3061010" y="2743200"/>
              <a:ext cx="395868" cy="429322"/>
            </a:xfrm>
            <a:custGeom>
              <a:avLst/>
              <a:gdLst>
                <a:gd name="connsiteX0" fmla="*/ 345688 w 395868"/>
                <a:gd name="connsiteY0" fmla="*/ 105937 h 429322"/>
                <a:gd name="connsiteX1" fmla="*/ 301083 w 395868"/>
                <a:gd name="connsiteY1" fmla="*/ 55756 h 429322"/>
                <a:gd name="connsiteX2" fmla="*/ 228600 w 395868"/>
                <a:gd name="connsiteY2" fmla="*/ 33454 h 429322"/>
                <a:gd name="connsiteX3" fmla="*/ 133814 w 395868"/>
                <a:gd name="connsiteY3" fmla="*/ 0 h 429322"/>
                <a:gd name="connsiteX4" fmla="*/ 50180 w 395868"/>
                <a:gd name="connsiteY4" fmla="*/ 0 h 429322"/>
                <a:gd name="connsiteX5" fmla="*/ 33453 w 395868"/>
                <a:gd name="connsiteY5" fmla="*/ 66907 h 429322"/>
                <a:gd name="connsiteX6" fmla="*/ 22302 w 395868"/>
                <a:gd name="connsiteY6" fmla="*/ 122663 h 429322"/>
                <a:gd name="connsiteX7" fmla="*/ 11151 w 395868"/>
                <a:gd name="connsiteY7" fmla="*/ 178420 h 429322"/>
                <a:gd name="connsiteX8" fmla="*/ 0 w 395868"/>
                <a:gd name="connsiteY8" fmla="*/ 256478 h 429322"/>
                <a:gd name="connsiteX9" fmla="*/ 0 w 395868"/>
                <a:gd name="connsiteY9" fmla="*/ 340112 h 429322"/>
                <a:gd name="connsiteX10" fmla="*/ 44605 w 395868"/>
                <a:gd name="connsiteY10" fmla="*/ 379141 h 429322"/>
                <a:gd name="connsiteX11" fmla="*/ 161692 w 395868"/>
                <a:gd name="connsiteY11" fmla="*/ 412595 h 429322"/>
                <a:gd name="connsiteX12" fmla="*/ 245327 w 395868"/>
                <a:gd name="connsiteY12" fmla="*/ 429322 h 429322"/>
                <a:gd name="connsiteX13" fmla="*/ 267629 w 395868"/>
                <a:gd name="connsiteY13" fmla="*/ 418171 h 429322"/>
                <a:gd name="connsiteX14" fmla="*/ 267629 w 395868"/>
                <a:gd name="connsiteY14" fmla="*/ 418171 h 429322"/>
                <a:gd name="connsiteX15" fmla="*/ 273205 w 395868"/>
                <a:gd name="connsiteY15" fmla="*/ 351263 h 429322"/>
                <a:gd name="connsiteX16" fmla="*/ 345688 w 395868"/>
                <a:gd name="connsiteY16" fmla="*/ 351263 h 429322"/>
                <a:gd name="connsiteX17" fmla="*/ 395868 w 395868"/>
                <a:gd name="connsiteY17" fmla="*/ 211873 h 429322"/>
                <a:gd name="connsiteX18" fmla="*/ 345688 w 395868"/>
                <a:gd name="connsiteY18" fmla="*/ 105937 h 4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5868" h="429322">
                  <a:moveTo>
                    <a:pt x="345688" y="105937"/>
                  </a:moveTo>
                  <a:lnTo>
                    <a:pt x="301083" y="55756"/>
                  </a:lnTo>
                  <a:lnTo>
                    <a:pt x="228600" y="33454"/>
                  </a:lnTo>
                  <a:lnTo>
                    <a:pt x="133814" y="0"/>
                  </a:lnTo>
                  <a:lnTo>
                    <a:pt x="50180" y="0"/>
                  </a:lnTo>
                  <a:lnTo>
                    <a:pt x="33453" y="66907"/>
                  </a:lnTo>
                  <a:lnTo>
                    <a:pt x="22302" y="122663"/>
                  </a:lnTo>
                  <a:lnTo>
                    <a:pt x="11151" y="178420"/>
                  </a:lnTo>
                  <a:lnTo>
                    <a:pt x="0" y="256478"/>
                  </a:lnTo>
                  <a:lnTo>
                    <a:pt x="0" y="340112"/>
                  </a:lnTo>
                  <a:lnTo>
                    <a:pt x="44605" y="379141"/>
                  </a:lnTo>
                  <a:lnTo>
                    <a:pt x="161692" y="412595"/>
                  </a:lnTo>
                  <a:lnTo>
                    <a:pt x="245327" y="429322"/>
                  </a:lnTo>
                  <a:lnTo>
                    <a:pt x="267629" y="418171"/>
                  </a:lnTo>
                  <a:lnTo>
                    <a:pt x="267629" y="418171"/>
                  </a:lnTo>
                  <a:lnTo>
                    <a:pt x="273205" y="351263"/>
                  </a:lnTo>
                  <a:lnTo>
                    <a:pt x="345688" y="351263"/>
                  </a:lnTo>
                  <a:lnTo>
                    <a:pt x="395868" y="211873"/>
                  </a:lnTo>
                  <a:lnTo>
                    <a:pt x="345688" y="1059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7" name="Freeform 33">
              <a:extLst>
                <a:ext uri="{FF2B5EF4-FFF2-40B4-BE49-F238E27FC236}">
                  <a16:creationId xmlns:a16="http://schemas.microsoft.com/office/drawing/2014/main" id="{40AF8EEE-3FBE-9FF6-C3DF-55957F03716D}"/>
                </a:ext>
              </a:extLst>
            </p:cNvPr>
            <p:cNvSpPr/>
            <p:nvPr/>
          </p:nvSpPr>
          <p:spPr>
            <a:xfrm>
              <a:off x="2837985" y="2709746"/>
              <a:ext cx="367991" cy="356839"/>
            </a:xfrm>
            <a:custGeom>
              <a:avLst/>
              <a:gdLst>
                <a:gd name="connsiteX0" fmla="*/ 289932 w 367991"/>
                <a:gd name="connsiteY0" fmla="*/ 61332 h 356839"/>
                <a:gd name="connsiteX1" fmla="*/ 228600 w 367991"/>
                <a:gd name="connsiteY1" fmla="*/ 27878 h 356839"/>
                <a:gd name="connsiteX2" fmla="*/ 167269 w 367991"/>
                <a:gd name="connsiteY2" fmla="*/ 0 h 356839"/>
                <a:gd name="connsiteX3" fmla="*/ 167269 w 367991"/>
                <a:gd name="connsiteY3" fmla="*/ 0 h 356839"/>
                <a:gd name="connsiteX4" fmla="*/ 89210 w 367991"/>
                <a:gd name="connsiteY4" fmla="*/ 33454 h 356839"/>
                <a:gd name="connsiteX5" fmla="*/ 55756 w 367991"/>
                <a:gd name="connsiteY5" fmla="*/ 78059 h 356839"/>
                <a:gd name="connsiteX6" fmla="*/ 16727 w 367991"/>
                <a:gd name="connsiteY6" fmla="*/ 139391 h 356839"/>
                <a:gd name="connsiteX7" fmla="*/ 0 w 367991"/>
                <a:gd name="connsiteY7" fmla="*/ 200722 h 356839"/>
                <a:gd name="connsiteX8" fmla="*/ 22303 w 367991"/>
                <a:gd name="connsiteY8" fmla="*/ 273205 h 356839"/>
                <a:gd name="connsiteX9" fmla="*/ 78059 w 367991"/>
                <a:gd name="connsiteY9" fmla="*/ 312234 h 356839"/>
                <a:gd name="connsiteX10" fmla="*/ 161693 w 367991"/>
                <a:gd name="connsiteY10" fmla="*/ 328961 h 356839"/>
                <a:gd name="connsiteX11" fmla="*/ 234176 w 367991"/>
                <a:gd name="connsiteY11" fmla="*/ 356839 h 356839"/>
                <a:gd name="connsiteX12" fmla="*/ 323386 w 367991"/>
                <a:gd name="connsiteY12" fmla="*/ 356839 h 356839"/>
                <a:gd name="connsiteX13" fmla="*/ 367991 w 367991"/>
                <a:gd name="connsiteY13" fmla="*/ 200722 h 356839"/>
                <a:gd name="connsiteX14" fmla="*/ 289932 w 367991"/>
                <a:gd name="connsiteY14" fmla="*/ 61332 h 35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7991" h="356839">
                  <a:moveTo>
                    <a:pt x="289932" y="61332"/>
                  </a:moveTo>
                  <a:lnTo>
                    <a:pt x="228600" y="27878"/>
                  </a:lnTo>
                  <a:lnTo>
                    <a:pt x="167269" y="0"/>
                  </a:lnTo>
                  <a:lnTo>
                    <a:pt x="167269" y="0"/>
                  </a:lnTo>
                  <a:lnTo>
                    <a:pt x="89210" y="33454"/>
                  </a:lnTo>
                  <a:lnTo>
                    <a:pt x="55756" y="78059"/>
                  </a:lnTo>
                  <a:lnTo>
                    <a:pt x="16727" y="139391"/>
                  </a:lnTo>
                  <a:lnTo>
                    <a:pt x="0" y="200722"/>
                  </a:lnTo>
                  <a:lnTo>
                    <a:pt x="22303" y="273205"/>
                  </a:lnTo>
                  <a:lnTo>
                    <a:pt x="78059" y="312234"/>
                  </a:lnTo>
                  <a:lnTo>
                    <a:pt x="161693" y="328961"/>
                  </a:lnTo>
                  <a:lnTo>
                    <a:pt x="234176" y="356839"/>
                  </a:lnTo>
                  <a:lnTo>
                    <a:pt x="323386" y="356839"/>
                  </a:lnTo>
                  <a:lnTo>
                    <a:pt x="367991" y="200722"/>
                  </a:lnTo>
                  <a:lnTo>
                    <a:pt x="289932" y="61332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8" name="Freeform 34">
              <a:extLst>
                <a:ext uri="{FF2B5EF4-FFF2-40B4-BE49-F238E27FC236}">
                  <a16:creationId xmlns:a16="http://schemas.microsoft.com/office/drawing/2014/main" id="{12CF3B80-A3A7-A7EF-FA70-0799181D975B}"/>
                </a:ext>
              </a:extLst>
            </p:cNvPr>
            <p:cNvSpPr/>
            <p:nvPr/>
          </p:nvSpPr>
          <p:spPr>
            <a:xfrm>
              <a:off x="2514600" y="2509024"/>
              <a:ext cx="546410" cy="412596"/>
            </a:xfrm>
            <a:custGeom>
              <a:avLst/>
              <a:gdLst>
                <a:gd name="connsiteX0" fmla="*/ 496229 w 546410"/>
                <a:gd name="connsiteY0" fmla="*/ 223025 h 412596"/>
                <a:gd name="connsiteX1" fmla="*/ 429322 w 546410"/>
                <a:gd name="connsiteY1" fmla="*/ 172844 h 412596"/>
                <a:gd name="connsiteX2" fmla="*/ 367990 w 546410"/>
                <a:gd name="connsiteY2" fmla="*/ 133815 h 412596"/>
                <a:gd name="connsiteX3" fmla="*/ 301083 w 546410"/>
                <a:gd name="connsiteY3" fmla="*/ 89210 h 412596"/>
                <a:gd name="connsiteX4" fmla="*/ 217449 w 546410"/>
                <a:gd name="connsiteY4" fmla="*/ 55756 h 412596"/>
                <a:gd name="connsiteX5" fmla="*/ 139390 w 546410"/>
                <a:gd name="connsiteY5" fmla="*/ 27878 h 412596"/>
                <a:gd name="connsiteX6" fmla="*/ 100361 w 546410"/>
                <a:gd name="connsiteY6" fmla="*/ 0 h 412596"/>
                <a:gd name="connsiteX7" fmla="*/ 44605 w 546410"/>
                <a:gd name="connsiteY7" fmla="*/ 11152 h 412596"/>
                <a:gd name="connsiteX8" fmla="*/ 44605 w 546410"/>
                <a:gd name="connsiteY8" fmla="*/ 11152 h 412596"/>
                <a:gd name="connsiteX9" fmla="*/ 0 w 546410"/>
                <a:gd name="connsiteY9" fmla="*/ 55756 h 412596"/>
                <a:gd name="connsiteX10" fmla="*/ 50180 w 546410"/>
                <a:gd name="connsiteY10" fmla="*/ 117088 h 412596"/>
                <a:gd name="connsiteX11" fmla="*/ 111512 w 546410"/>
                <a:gd name="connsiteY11" fmla="*/ 178420 h 412596"/>
                <a:gd name="connsiteX12" fmla="*/ 189571 w 546410"/>
                <a:gd name="connsiteY12" fmla="*/ 245327 h 412596"/>
                <a:gd name="connsiteX13" fmla="*/ 267629 w 546410"/>
                <a:gd name="connsiteY13" fmla="*/ 312235 h 412596"/>
                <a:gd name="connsiteX14" fmla="*/ 317810 w 546410"/>
                <a:gd name="connsiteY14" fmla="*/ 367991 h 412596"/>
                <a:gd name="connsiteX15" fmla="*/ 423746 w 546410"/>
                <a:gd name="connsiteY15" fmla="*/ 412596 h 412596"/>
                <a:gd name="connsiteX16" fmla="*/ 546410 w 546410"/>
                <a:gd name="connsiteY16" fmla="*/ 412596 h 412596"/>
                <a:gd name="connsiteX17" fmla="*/ 496229 w 546410"/>
                <a:gd name="connsiteY17" fmla="*/ 223025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410" h="412596">
                  <a:moveTo>
                    <a:pt x="496229" y="223025"/>
                  </a:moveTo>
                  <a:lnTo>
                    <a:pt x="429322" y="172844"/>
                  </a:lnTo>
                  <a:lnTo>
                    <a:pt x="367990" y="133815"/>
                  </a:lnTo>
                  <a:lnTo>
                    <a:pt x="301083" y="89210"/>
                  </a:lnTo>
                  <a:lnTo>
                    <a:pt x="217449" y="55756"/>
                  </a:lnTo>
                  <a:lnTo>
                    <a:pt x="139390" y="27878"/>
                  </a:lnTo>
                  <a:lnTo>
                    <a:pt x="100361" y="0"/>
                  </a:lnTo>
                  <a:lnTo>
                    <a:pt x="44605" y="11152"/>
                  </a:lnTo>
                  <a:lnTo>
                    <a:pt x="44605" y="11152"/>
                  </a:lnTo>
                  <a:lnTo>
                    <a:pt x="0" y="55756"/>
                  </a:lnTo>
                  <a:lnTo>
                    <a:pt x="50180" y="117088"/>
                  </a:lnTo>
                  <a:lnTo>
                    <a:pt x="111512" y="178420"/>
                  </a:lnTo>
                  <a:lnTo>
                    <a:pt x="189571" y="245327"/>
                  </a:lnTo>
                  <a:lnTo>
                    <a:pt x="267629" y="312235"/>
                  </a:lnTo>
                  <a:lnTo>
                    <a:pt x="317810" y="367991"/>
                  </a:lnTo>
                  <a:lnTo>
                    <a:pt x="423746" y="412596"/>
                  </a:lnTo>
                  <a:lnTo>
                    <a:pt x="546410" y="412596"/>
                  </a:lnTo>
                  <a:lnTo>
                    <a:pt x="496229" y="22302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9" name="Freeform 35">
              <a:extLst>
                <a:ext uri="{FF2B5EF4-FFF2-40B4-BE49-F238E27FC236}">
                  <a16:creationId xmlns:a16="http://schemas.microsoft.com/office/drawing/2014/main" id="{A989BC3E-63EB-5D86-CD0E-E37784A42C1D}"/>
                </a:ext>
              </a:extLst>
            </p:cNvPr>
            <p:cNvSpPr/>
            <p:nvPr/>
          </p:nvSpPr>
          <p:spPr>
            <a:xfrm>
              <a:off x="2670717" y="2771078"/>
              <a:ext cx="217449" cy="223024"/>
            </a:xfrm>
            <a:custGeom>
              <a:avLst/>
              <a:gdLst>
                <a:gd name="connsiteX0" fmla="*/ 83634 w 217449"/>
                <a:gd name="connsiteY0" fmla="*/ 0 h 223024"/>
                <a:gd name="connsiteX1" fmla="*/ 27878 w 217449"/>
                <a:gd name="connsiteY1" fmla="*/ 16727 h 223024"/>
                <a:gd name="connsiteX2" fmla="*/ 0 w 217449"/>
                <a:gd name="connsiteY2" fmla="*/ 33454 h 223024"/>
                <a:gd name="connsiteX3" fmla="*/ 22303 w 217449"/>
                <a:gd name="connsiteY3" fmla="*/ 89210 h 223024"/>
                <a:gd name="connsiteX4" fmla="*/ 22303 w 217449"/>
                <a:gd name="connsiteY4" fmla="*/ 89210 h 223024"/>
                <a:gd name="connsiteX5" fmla="*/ 33454 w 217449"/>
                <a:gd name="connsiteY5" fmla="*/ 189571 h 223024"/>
                <a:gd name="connsiteX6" fmla="*/ 44605 w 217449"/>
                <a:gd name="connsiteY6" fmla="*/ 223024 h 223024"/>
                <a:gd name="connsiteX7" fmla="*/ 150542 w 217449"/>
                <a:gd name="connsiteY7" fmla="*/ 189571 h 223024"/>
                <a:gd name="connsiteX8" fmla="*/ 217449 w 217449"/>
                <a:gd name="connsiteY8" fmla="*/ 172844 h 223024"/>
                <a:gd name="connsiteX9" fmla="*/ 172844 w 217449"/>
                <a:gd name="connsiteY9" fmla="*/ 27878 h 223024"/>
                <a:gd name="connsiteX10" fmla="*/ 83634 w 217449"/>
                <a:gd name="connsiteY10" fmla="*/ 0 h 22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7449" h="223024">
                  <a:moveTo>
                    <a:pt x="83634" y="0"/>
                  </a:moveTo>
                  <a:lnTo>
                    <a:pt x="27878" y="16727"/>
                  </a:lnTo>
                  <a:lnTo>
                    <a:pt x="0" y="33454"/>
                  </a:lnTo>
                  <a:lnTo>
                    <a:pt x="22303" y="89210"/>
                  </a:lnTo>
                  <a:lnTo>
                    <a:pt x="22303" y="89210"/>
                  </a:lnTo>
                  <a:lnTo>
                    <a:pt x="33454" y="189571"/>
                  </a:lnTo>
                  <a:lnTo>
                    <a:pt x="44605" y="223024"/>
                  </a:lnTo>
                  <a:lnTo>
                    <a:pt x="150542" y="189571"/>
                  </a:lnTo>
                  <a:lnTo>
                    <a:pt x="217449" y="172844"/>
                  </a:lnTo>
                  <a:lnTo>
                    <a:pt x="172844" y="27878"/>
                  </a:lnTo>
                  <a:lnTo>
                    <a:pt x="83634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0" name="Freeform 36">
              <a:extLst>
                <a:ext uri="{FF2B5EF4-FFF2-40B4-BE49-F238E27FC236}">
                  <a16:creationId xmlns:a16="http://schemas.microsoft.com/office/drawing/2014/main" id="{6035AC0A-C446-5B20-CCC3-D7E22DFDD934}"/>
                </a:ext>
              </a:extLst>
            </p:cNvPr>
            <p:cNvSpPr/>
            <p:nvPr/>
          </p:nvSpPr>
          <p:spPr>
            <a:xfrm>
              <a:off x="2174488" y="2743200"/>
              <a:ext cx="602166" cy="100361"/>
            </a:xfrm>
            <a:custGeom>
              <a:avLst/>
              <a:gdLst>
                <a:gd name="connsiteX0" fmla="*/ 546410 w 602166"/>
                <a:gd name="connsiteY0" fmla="*/ 39029 h 100361"/>
                <a:gd name="connsiteX1" fmla="*/ 446049 w 602166"/>
                <a:gd name="connsiteY1" fmla="*/ 22302 h 100361"/>
                <a:gd name="connsiteX2" fmla="*/ 317810 w 602166"/>
                <a:gd name="connsiteY2" fmla="*/ 0 h 100361"/>
                <a:gd name="connsiteX3" fmla="*/ 239751 w 602166"/>
                <a:gd name="connsiteY3" fmla="*/ 0 h 100361"/>
                <a:gd name="connsiteX4" fmla="*/ 156117 w 602166"/>
                <a:gd name="connsiteY4" fmla="*/ 0 h 100361"/>
                <a:gd name="connsiteX5" fmla="*/ 61332 w 602166"/>
                <a:gd name="connsiteY5" fmla="*/ 0 h 100361"/>
                <a:gd name="connsiteX6" fmla="*/ 11151 w 602166"/>
                <a:gd name="connsiteY6" fmla="*/ 22302 h 100361"/>
                <a:gd name="connsiteX7" fmla="*/ 0 w 602166"/>
                <a:gd name="connsiteY7" fmla="*/ 39029 h 100361"/>
                <a:gd name="connsiteX8" fmla="*/ 27878 w 602166"/>
                <a:gd name="connsiteY8" fmla="*/ 78059 h 100361"/>
                <a:gd name="connsiteX9" fmla="*/ 133814 w 602166"/>
                <a:gd name="connsiteY9" fmla="*/ 94785 h 100361"/>
                <a:gd name="connsiteX10" fmla="*/ 239751 w 602166"/>
                <a:gd name="connsiteY10" fmla="*/ 89210 h 100361"/>
                <a:gd name="connsiteX11" fmla="*/ 390292 w 602166"/>
                <a:gd name="connsiteY11" fmla="*/ 94785 h 100361"/>
                <a:gd name="connsiteX12" fmla="*/ 518532 w 602166"/>
                <a:gd name="connsiteY12" fmla="*/ 100361 h 100361"/>
                <a:gd name="connsiteX13" fmla="*/ 602166 w 602166"/>
                <a:gd name="connsiteY13" fmla="*/ 94785 h 100361"/>
                <a:gd name="connsiteX14" fmla="*/ 546410 w 602166"/>
                <a:gd name="connsiteY14" fmla="*/ 39029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2166" h="100361">
                  <a:moveTo>
                    <a:pt x="546410" y="39029"/>
                  </a:moveTo>
                  <a:lnTo>
                    <a:pt x="446049" y="22302"/>
                  </a:lnTo>
                  <a:lnTo>
                    <a:pt x="317810" y="0"/>
                  </a:lnTo>
                  <a:lnTo>
                    <a:pt x="239751" y="0"/>
                  </a:lnTo>
                  <a:lnTo>
                    <a:pt x="156117" y="0"/>
                  </a:lnTo>
                  <a:lnTo>
                    <a:pt x="61332" y="0"/>
                  </a:lnTo>
                  <a:lnTo>
                    <a:pt x="11151" y="22302"/>
                  </a:lnTo>
                  <a:lnTo>
                    <a:pt x="0" y="39029"/>
                  </a:lnTo>
                  <a:lnTo>
                    <a:pt x="27878" y="78059"/>
                  </a:lnTo>
                  <a:lnTo>
                    <a:pt x="133814" y="94785"/>
                  </a:lnTo>
                  <a:lnTo>
                    <a:pt x="239751" y="89210"/>
                  </a:lnTo>
                  <a:lnTo>
                    <a:pt x="390292" y="94785"/>
                  </a:lnTo>
                  <a:lnTo>
                    <a:pt x="518532" y="100361"/>
                  </a:lnTo>
                  <a:lnTo>
                    <a:pt x="602166" y="94785"/>
                  </a:lnTo>
                  <a:lnTo>
                    <a:pt x="546410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1" name="Freeform 37">
              <a:extLst>
                <a:ext uri="{FF2B5EF4-FFF2-40B4-BE49-F238E27FC236}">
                  <a16:creationId xmlns:a16="http://schemas.microsoft.com/office/drawing/2014/main" id="{BD33FFC8-9A44-F83E-B312-7757E1208ED7}"/>
                </a:ext>
              </a:extLst>
            </p:cNvPr>
            <p:cNvSpPr/>
            <p:nvPr/>
          </p:nvSpPr>
          <p:spPr>
            <a:xfrm>
              <a:off x="2124307" y="2810107"/>
              <a:ext cx="696952" cy="172844"/>
            </a:xfrm>
            <a:custGeom>
              <a:avLst/>
              <a:gdLst>
                <a:gd name="connsiteX0" fmla="*/ 429322 w 696952"/>
                <a:gd name="connsiteY0" fmla="*/ 22303 h 172844"/>
                <a:gd name="connsiteX1" fmla="*/ 278781 w 696952"/>
                <a:gd name="connsiteY1" fmla="*/ 33454 h 172844"/>
                <a:gd name="connsiteX2" fmla="*/ 195147 w 696952"/>
                <a:gd name="connsiteY2" fmla="*/ 50181 h 172844"/>
                <a:gd name="connsiteX3" fmla="*/ 122664 w 696952"/>
                <a:gd name="connsiteY3" fmla="*/ 66908 h 172844"/>
                <a:gd name="connsiteX4" fmla="*/ 61332 w 696952"/>
                <a:gd name="connsiteY4" fmla="*/ 78059 h 172844"/>
                <a:gd name="connsiteX5" fmla="*/ 5576 w 696952"/>
                <a:gd name="connsiteY5" fmla="*/ 111513 h 172844"/>
                <a:gd name="connsiteX6" fmla="*/ 0 w 696952"/>
                <a:gd name="connsiteY6" fmla="*/ 128239 h 172844"/>
                <a:gd name="connsiteX7" fmla="*/ 55756 w 696952"/>
                <a:gd name="connsiteY7" fmla="*/ 172844 h 172844"/>
                <a:gd name="connsiteX8" fmla="*/ 234176 w 696952"/>
                <a:gd name="connsiteY8" fmla="*/ 156117 h 172844"/>
                <a:gd name="connsiteX9" fmla="*/ 367991 w 696952"/>
                <a:gd name="connsiteY9" fmla="*/ 144966 h 172844"/>
                <a:gd name="connsiteX10" fmla="*/ 501805 w 696952"/>
                <a:gd name="connsiteY10" fmla="*/ 117088 h 172844"/>
                <a:gd name="connsiteX11" fmla="*/ 646771 w 696952"/>
                <a:gd name="connsiteY11" fmla="*/ 66908 h 172844"/>
                <a:gd name="connsiteX12" fmla="*/ 696952 w 696952"/>
                <a:gd name="connsiteY12" fmla="*/ 27878 h 172844"/>
                <a:gd name="connsiteX13" fmla="*/ 485078 w 696952"/>
                <a:gd name="connsiteY13" fmla="*/ 0 h 172844"/>
                <a:gd name="connsiteX14" fmla="*/ 429322 w 696952"/>
                <a:gd name="connsiteY14" fmla="*/ 22303 h 17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6952" h="172844">
                  <a:moveTo>
                    <a:pt x="429322" y="22303"/>
                  </a:moveTo>
                  <a:lnTo>
                    <a:pt x="278781" y="33454"/>
                  </a:lnTo>
                  <a:lnTo>
                    <a:pt x="195147" y="50181"/>
                  </a:lnTo>
                  <a:lnTo>
                    <a:pt x="122664" y="66908"/>
                  </a:lnTo>
                  <a:lnTo>
                    <a:pt x="61332" y="78059"/>
                  </a:lnTo>
                  <a:lnTo>
                    <a:pt x="5576" y="111513"/>
                  </a:lnTo>
                  <a:lnTo>
                    <a:pt x="0" y="128239"/>
                  </a:lnTo>
                  <a:lnTo>
                    <a:pt x="55756" y="172844"/>
                  </a:lnTo>
                  <a:lnTo>
                    <a:pt x="234176" y="156117"/>
                  </a:lnTo>
                  <a:lnTo>
                    <a:pt x="367991" y="144966"/>
                  </a:lnTo>
                  <a:lnTo>
                    <a:pt x="501805" y="117088"/>
                  </a:lnTo>
                  <a:lnTo>
                    <a:pt x="646771" y="66908"/>
                  </a:lnTo>
                  <a:lnTo>
                    <a:pt x="696952" y="27878"/>
                  </a:lnTo>
                  <a:lnTo>
                    <a:pt x="485078" y="0"/>
                  </a:lnTo>
                  <a:lnTo>
                    <a:pt x="429322" y="22303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2" name="Freeform 38">
              <a:extLst>
                <a:ext uri="{FF2B5EF4-FFF2-40B4-BE49-F238E27FC236}">
                  <a16:creationId xmlns:a16="http://schemas.microsoft.com/office/drawing/2014/main" id="{537C7AC0-4DAB-3543-E057-B8BBCBA67883}"/>
                </a:ext>
              </a:extLst>
            </p:cNvPr>
            <p:cNvSpPr/>
            <p:nvPr/>
          </p:nvSpPr>
          <p:spPr>
            <a:xfrm>
              <a:off x="2258122" y="2854712"/>
              <a:ext cx="585439" cy="256478"/>
            </a:xfrm>
            <a:custGeom>
              <a:avLst/>
              <a:gdLst>
                <a:gd name="connsiteX0" fmla="*/ 289932 w 585439"/>
                <a:gd name="connsiteY0" fmla="*/ 66908 h 256478"/>
                <a:gd name="connsiteX1" fmla="*/ 167268 w 585439"/>
                <a:gd name="connsiteY1" fmla="*/ 133815 h 256478"/>
                <a:gd name="connsiteX2" fmla="*/ 100361 w 585439"/>
                <a:gd name="connsiteY2" fmla="*/ 156117 h 256478"/>
                <a:gd name="connsiteX3" fmla="*/ 44605 w 585439"/>
                <a:gd name="connsiteY3" fmla="*/ 183995 h 256478"/>
                <a:gd name="connsiteX4" fmla="*/ 44605 w 585439"/>
                <a:gd name="connsiteY4" fmla="*/ 183995 h 256478"/>
                <a:gd name="connsiteX5" fmla="*/ 0 w 585439"/>
                <a:gd name="connsiteY5" fmla="*/ 228600 h 256478"/>
                <a:gd name="connsiteX6" fmla="*/ 11151 w 585439"/>
                <a:gd name="connsiteY6" fmla="*/ 256478 h 256478"/>
                <a:gd name="connsiteX7" fmla="*/ 133815 w 585439"/>
                <a:gd name="connsiteY7" fmla="*/ 239751 h 256478"/>
                <a:gd name="connsiteX8" fmla="*/ 245327 w 585439"/>
                <a:gd name="connsiteY8" fmla="*/ 195147 h 256478"/>
                <a:gd name="connsiteX9" fmla="*/ 390293 w 585439"/>
                <a:gd name="connsiteY9" fmla="*/ 133815 h 256478"/>
                <a:gd name="connsiteX10" fmla="*/ 585439 w 585439"/>
                <a:gd name="connsiteY10" fmla="*/ 33454 h 256478"/>
                <a:gd name="connsiteX11" fmla="*/ 423746 w 585439"/>
                <a:gd name="connsiteY11" fmla="*/ 0 h 256478"/>
                <a:gd name="connsiteX12" fmla="*/ 289932 w 585439"/>
                <a:gd name="connsiteY12" fmla="*/ 66908 h 25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5439" h="256478">
                  <a:moveTo>
                    <a:pt x="289932" y="66908"/>
                  </a:moveTo>
                  <a:lnTo>
                    <a:pt x="167268" y="133815"/>
                  </a:lnTo>
                  <a:lnTo>
                    <a:pt x="100361" y="156117"/>
                  </a:lnTo>
                  <a:lnTo>
                    <a:pt x="44605" y="183995"/>
                  </a:lnTo>
                  <a:lnTo>
                    <a:pt x="44605" y="183995"/>
                  </a:lnTo>
                  <a:lnTo>
                    <a:pt x="0" y="228600"/>
                  </a:lnTo>
                  <a:lnTo>
                    <a:pt x="11151" y="256478"/>
                  </a:lnTo>
                  <a:lnTo>
                    <a:pt x="133815" y="239751"/>
                  </a:lnTo>
                  <a:lnTo>
                    <a:pt x="245327" y="195147"/>
                  </a:lnTo>
                  <a:lnTo>
                    <a:pt x="390293" y="133815"/>
                  </a:lnTo>
                  <a:lnTo>
                    <a:pt x="585439" y="33454"/>
                  </a:lnTo>
                  <a:lnTo>
                    <a:pt x="423746" y="0"/>
                  </a:lnTo>
                  <a:lnTo>
                    <a:pt x="289932" y="66908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3" name="Freeform 39">
              <a:extLst>
                <a:ext uri="{FF2B5EF4-FFF2-40B4-BE49-F238E27FC236}">
                  <a16:creationId xmlns:a16="http://schemas.microsoft.com/office/drawing/2014/main" id="{F72A03D1-E7B8-8362-4682-7AF9CCE59474}"/>
                </a:ext>
              </a:extLst>
            </p:cNvPr>
            <p:cNvSpPr/>
            <p:nvPr/>
          </p:nvSpPr>
          <p:spPr>
            <a:xfrm>
              <a:off x="5222543" y="887104"/>
              <a:ext cx="159224" cy="300251"/>
            </a:xfrm>
            <a:custGeom>
              <a:avLst/>
              <a:gdLst>
                <a:gd name="connsiteX0" fmla="*/ 0 w 159224"/>
                <a:gd name="connsiteY0" fmla="*/ 300251 h 300251"/>
                <a:gd name="connsiteX1" fmla="*/ 36394 w 159224"/>
                <a:gd name="connsiteY1" fmla="*/ 227463 h 300251"/>
                <a:gd name="connsiteX2" fmla="*/ 63690 w 159224"/>
                <a:gd name="connsiteY2" fmla="*/ 209266 h 300251"/>
                <a:gd name="connsiteX3" fmla="*/ 63690 w 159224"/>
                <a:gd name="connsiteY3" fmla="*/ 154675 h 300251"/>
                <a:gd name="connsiteX4" fmla="*/ 68239 w 159224"/>
                <a:gd name="connsiteY4" fmla="*/ 95535 h 300251"/>
                <a:gd name="connsiteX5" fmla="*/ 90985 w 159224"/>
                <a:gd name="connsiteY5" fmla="*/ 18197 h 300251"/>
                <a:gd name="connsiteX6" fmla="*/ 113732 w 159224"/>
                <a:gd name="connsiteY6" fmla="*/ 4550 h 300251"/>
                <a:gd name="connsiteX7" fmla="*/ 113732 w 159224"/>
                <a:gd name="connsiteY7" fmla="*/ 4550 h 300251"/>
                <a:gd name="connsiteX8" fmla="*/ 159224 w 159224"/>
                <a:gd name="connsiteY8" fmla="*/ 0 h 300251"/>
                <a:gd name="connsiteX9" fmla="*/ 131929 w 159224"/>
                <a:gd name="connsiteY9" fmla="*/ 22747 h 300251"/>
                <a:gd name="connsiteX10" fmla="*/ 104633 w 159224"/>
                <a:gd name="connsiteY10" fmla="*/ 36395 h 300251"/>
                <a:gd name="connsiteX11" fmla="*/ 104633 w 159224"/>
                <a:gd name="connsiteY11" fmla="*/ 36395 h 300251"/>
                <a:gd name="connsiteX12" fmla="*/ 81887 w 159224"/>
                <a:gd name="connsiteY12" fmla="*/ 141027 h 300251"/>
                <a:gd name="connsiteX13" fmla="*/ 90985 w 159224"/>
                <a:gd name="connsiteY13" fmla="*/ 191069 h 300251"/>
                <a:gd name="connsiteX14" fmla="*/ 100084 w 159224"/>
                <a:gd name="connsiteY14" fmla="*/ 241111 h 300251"/>
                <a:gd name="connsiteX15" fmla="*/ 145576 w 159224"/>
                <a:gd name="connsiteY15" fmla="*/ 272956 h 300251"/>
                <a:gd name="connsiteX16" fmla="*/ 0 w 159224"/>
                <a:gd name="connsiteY16" fmla="*/ 300251 h 30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9224" h="300251">
                  <a:moveTo>
                    <a:pt x="0" y="300251"/>
                  </a:moveTo>
                  <a:lnTo>
                    <a:pt x="36394" y="227463"/>
                  </a:lnTo>
                  <a:lnTo>
                    <a:pt x="63690" y="209266"/>
                  </a:lnTo>
                  <a:lnTo>
                    <a:pt x="63690" y="154675"/>
                  </a:lnTo>
                  <a:lnTo>
                    <a:pt x="68239" y="95535"/>
                  </a:lnTo>
                  <a:lnTo>
                    <a:pt x="90985" y="18197"/>
                  </a:lnTo>
                  <a:lnTo>
                    <a:pt x="113732" y="4550"/>
                  </a:lnTo>
                  <a:lnTo>
                    <a:pt x="113732" y="4550"/>
                  </a:lnTo>
                  <a:lnTo>
                    <a:pt x="159224" y="0"/>
                  </a:lnTo>
                  <a:lnTo>
                    <a:pt x="131929" y="22747"/>
                  </a:lnTo>
                  <a:lnTo>
                    <a:pt x="104633" y="36395"/>
                  </a:lnTo>
                  <a:lnTo>
                    <a:pt x="104633" y="36395"/>
                  </a:lnTo>
                  <a:lnTo>
                    <a:pt x="81887" y="141027"/>
                  </a:lnTo>
                  <a:lnTo>
                    <a:pt x="90985" y="191069"/>
                  </a:lnTo>
                  <a:lnTo>
                    <a:pt x="100084" y="241111"/>
                  </a:lnTo>
                  <a:lnTo>
                    <a:pt x="145576" y="272956"/>
                  </a:lnTo>
                  <a:lnTo>
                    <a:pt x="0" y="300251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4" name="Freeform 40">
              <a:extLst>
                <a:ext uri="{FF2B5EF4-FFF2-40B4-BE49-F238E27FC236}">
                  <a16:creationId xmlns:a16="http://schemas.microsoft.com/office/drawing/2014/main" id="{851B0469-0BD1-87F2-56AD-387D5841DCFE}"/>
                </a:ext>
              </a:extLst>
            </p:cNvPr>
            <p:cNvSpPr/>
            <p:nvPr/>
          </p:nvSpPr>
          <p:spPr>
            <a:xfrm>
              <a:off x="5550090" y="1191904"/>
              <a:ext cx="263856" cy="163774"/>
            </a:xfrm>
            <a:custGeom>
              <a:avLst/>
              <a:gdLst>
                <a:gd name="connsiteX0" fmla="*/ 54591 w 263856"/>
                <a:gd name="connsiteY0" fmla="*/ 95535 h 163774"/>
                <a:gd name="connsiteX1" fmla="*/ 100083 w 263856"/>
                <a:gd name="connsiteY1" fmla="*/ 104633 h 163774"/>
                <a:gd name="connsiteX2" fmla="*/ 159223 w 263856"/>
                <a:gd name="connsiteY2" fmla="*/ 81887 h 163774"/>
                <a:gd name="connsiteX3" fmla="*/ 200167 w 263856"/>
                <a:gd name="connsiteY3" fmla="*/ 59141 h 163774"/>
                <a:gd name="connsiteX4" fmla="*/ 259307 w 263856"/>
                <a:gd name="connsiteY4" fmla="*/ 22747 h 163774"/>
                <a:gd name="connsiteX5" fmla="*/ 259307 w 263856"/>
                <a:gd name="connsiteY5" fmla="*/ 0 h 163774"/>
                <a:gd name="connsiteX6" fmla="*/ 263856 w 263856"/>
                <a:gd name="connsiteY6" fmla="*/ 40944 h 163774"/>
                <a:gd name="connsiteX7" fmla="*/ 200167 w 263856"/>
                <a:gd name="connsiteY7" fmla="*/ 86436 h 163774"/>
                <a:gd name="connsiteX8" fmla="*/ 154674 w 263856"/>
                <a:gd name="connsiteY8" fmla="*/ 113732 h 163774"/>
                <a:gd name="connsiteX9" fmla="*/ 113731 w 263856"/>
                <a:gd name="connsiteY9" fmla="*/ 136478 h 163774"/>
                <a:gd name="connsiteX10" fmla="*/ 77337 w 263856"/>
                <a:gd name="connsiteY10" fmla="*/ 154675 h 163774"/>
                <a:gd name="connsiteX11" fmla="*/ 31844 w 263856"/>
                <a:gd name="connsiteY11" fmla="*/ 163774 h 163774"/>
                <a:gd name="connsiteX12" fmla="*/ 0 w 263856"/>
                <a:gd name="connsiteY12" fmla="*/ 122830 h 163774"/>
                <a:gd name="connsiteX13" fmla="*/ 54591 w 263856"/>
                <a:gd name="connsiteY13" fmla="*/ 95535 h 16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856" h="163774">
                  <a:moveTo>
                    <a:pt x="54591" y="95535"/>
                  </a:moveTo>
                  <a:lnTo>
                    <a:pt x="100083" y="104633"/>
                  </a:lnTo>
                  <a:lnTo>
                    <a:pt x="159223" y="81887"/>
                  </a:lnTo>
                  <a:lnTo>
                    <a:pt x="200167" y="59141"/>
                  </a:lnTo>
                  <a:lnTo>
                    <a:pt x="259307" y="22747"/>
                  </a:lnTo>
                  <a:lnTo>
                    <a:pt x="259307" y="0"/>
                  </a:lnTo>
                  <a:lnTo>
                    <a:pt x="263856" y="40944"/>
                  </a:lnTo>
                  <a:lnTo>
                    <a:pt x="200167" y="86436"/>
                  </a:lnTo>
                  <a:lnTo>
                    <a:pt x="154674" y="113732"/>
                  </a:lnTo>
                  <a:lnTo>
                    <a:pt x="113731" y="136478"/>
                  </a:lnTo>
                  <a:lnTo>
                    <a:pt x="77337" y="154675"/>
                  </a:lnTo>
                  <a:lnTo>
                    <a:pt x="31844" y="163774"/>
                  </a:lnTo>
                  <a:lnTo>
                    <a:pt x="0" y="122830"/>
                  </a:lnTo>
                  <a:lnTo>
                    <a:pt x="54591" y="9553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DF2E9D4-B8A6-4F24-BCDF-FF8A8AE6E41A}"/>
                </a:ext>
              </a:extLst>
            </p:cNvPr>
            <p:cNvCxnSpPr>
              <a:endCxn id="179" idx="6"/>
            </p:cNvCxnSpPr>
            <p:nvPr/>
          </p:nvCxnSpPr>
          <p:spPr>
            <a:xfrm>
              <a:off x="4913194" y="1081668"/>
              <a:ext cx="88128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4CAA368F-043D-B625-2C9E-58886153E223}"/>
                </a:ext>
              </a:extLst>
            </p:cNvPr>
            <p:cNvCxnSpPr>
              <a:endCxn id="179" idx="6"/>
            </p:cNvCxnSpPr>
            <p:nvPr/>
          </p:nvCxnSpPr>
          <p:spPr>
            <a:xfrm>
              <a:off x="4885899" y="1081668"/>
              <a:ext cx="115423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9F7B629B-596E-B1DE-4F2B-A85A7822AF4A}"/>
                </a:ext>
              </a:extLst>
            </p:cNvPr>
            <p:cNvCxnSpPr>
              <a:endCxn id="179" idx="6"/>
            </p:cNvCxnSpPr>
            <p:nvPr/>
          </p:nvCxnSpPr>
          <p:spPr>
            <a:xfrm>
              <a:off x="4811751" y="1187355"/>
              <a:ext cx="189571" cy="24557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0CEF72CE-E904-4BCE-A6E3-9FF0FDAFE20C}"/>
                </a:ext>
              </a:extLst>
            </p:cNvPr>
            <p:cNvCxnSpPr>
              <a:endCxn id="179" idx="18"/>
            </p:cNvCxnSpPr>
            <p:nvPr/>
          </p:nvCxnSpPr>
          <p:spPr>
            <a:xfrm flipH="1">
              <a:off x="5491976" y="1410629"/>
              <a:ext cx="285576" cy="2230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15C54E58-4521-7CD4-7DDB-D803E11686F0}"/>
                </a:ext>
              </a:extLst>
            </p:cNvPr>
            <p:cNvCxnSpPr>
              <a:endCxn id="179" idx="18"/>
            </p:cNvCxnSpPr>
            <p:nvPr/>
          </p:nvCxnSpPr>
          <p:spPr>
            <a:xfrm flipH="1">
              <a:off x="5491976" y="1555595"/>
              <a:ext cx="290125" cy="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6479A2D9-37B4-DC73-0EE7-EE2AFF91A220}"/>
                </a:ext>
              </a:extLst>
            </p:cNvPr>
            <p:cNvCxnSpPr>
              <a:endCxn id="179" idx="18"/>
            </p:cNvCxnSpPr>
            <p:nvPr/>
          </p:nvCxnSpPr>
          <p:spPr>
            <a:xfrm flipH="1">
              <a:off x="5491976" y="1633654"/>
              <a:ext cx="285576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9822BCCF-A516-A259-0F8A-493FA93BF3EC}"/>
                </a:ext>
              </a:extLst>
            </p:cNvPr>
            <p:cNvCxnSpPr>
              <a:endCxn id="179" idx="18"/>
            </p:cNvCxnSpPr>
            <p:nvPr/>
          </p:nvCxnSpPr>
          <p:spPr>
            <a:xfrm flipH="1">
              <a:off x="5491976" y="1501254"/>
              <a:ext cx="253731" cy="13240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88F8C16-56EA-6326-D16B-72D3894410E2}"/>
                </a:ext>
              </a:extLst>
            </p:cNvPr>
            <p:cNvCxnSpPr>
              <a:endCxn id="179" idx="24"/>
            </p:cNvCxnSpPr>
            <p:nvPr/>
          </p:nvCxnSpPr>
          <p:spPr>
            <a:xfrm flipH="1">
              <a:off x="5497551" y="1751463"/>
              <a:ext cx="316395" cy="13309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0368EC2-AC7E-7005-5CA9-B571AFE18214}"/>
                </a:ext>
              </a:extLst>
            </p:cNvPr>
            <p:cNvCxnSpPr>
              <a:endCxn id="179" idx="24"/>
            </p:cNvCxnSpPr>
            <p:nvPr/>
          </p:nvCxnSpPr>
          <p:spPr>
            <a:xfrm flipH="1">
              <a:off x="5497551" y="1815152"/>
              <a:ext cx="316395" cy="6940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6705631-287E-3946-8113-999D611D21C8}"/>
                </a:ext>
              </a:extLst>
            </p:cNvPr>
            <p:cNvCxnSpPr>
              <a:endCxn id="179" idx="24"/>
            </p:cNvCxnSpPr>
            <p:nvPr/>
          </p:nvCxnSpPr>
          <p:spPr>
            <a:xfrm flipH="1" flipV="1">
              <a:off x="5497551" y="1884556"/>
              <a:ext cx="316395" cy="3345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D8E144B-205E-0BDA-930E-72D3F4FEDBDB}"/>
                </a:ext>
              </a:extLst>
            </p:cNvPr>
            <p:cNvCxnSpPr>
              <a:endCxn id="179" idx="24"/>
            </p:cNvCxnSpPr>
            <p:nvPr/>
          </p:nvCxnSpPr>
          <p:spPr>
            <a:xfrm flipH="1">
              <a:off x="5497551" y="1884556"/>
              <a:ext cx="316395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1AC4EB8-AA0C-5B0A-94EE-9C534F15182F}"/>
                </a:ext>
              </a:extLst>
            </p:cNvPr>
            <p:cNvCxnSpPr>
              <a:endCxn id="179" idx="2"/>
            </p:cNvCxnSpPr>
            <p:nvPr/>
          </p:nvCxnSpPr>
          <p:spPr>
            <a:xfrm>
              <a:off x="4608394" y="1155510"/>
              <a:ext cx="259113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1DD3E62E-14C0-219C-EB83-06F149E33105}"/>
                </a:ext>
              </a:extLst>
            </p:cNvPr>
            <p:cNvCxnSpPr>
              <a:endCxn id="179" idx="2"/>
            </p:cNvCxnSpPr>
            <p:nvPr/>
          </p:nvCxnSpPr>
          <p:spPr>
            <a:xfrm>
              <a:off x="4767146" y="1155510"/>
              <a:ext cx="100361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5A96286-06E9-2783-D437-B4EE267726C1}"/>
                </a:ext>
              </a:extLst>
            </p:cNvPr>
            <p:cNvCxnSpPr>
              <a:endCxn id="179" idx="2"/>
            </p:cNvCxnSpPr>
            <p:nvPr/>
          </p:nvCxnSpPr>
          <p:spPr>
            <a:xfrm>
              <a:off x="4566424" y="1319284"/>
              <a:ext cx="301083" cy="21400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A33E8D7-9AD6-2674-6E5E-D1BAEA7E857B}"/>
                </a:ext>
              </a:extLst>
            </p:cNvPr>
            <p:cNvCxnSpPr>
              <a:endCxn id="179" idx="2"/>
            </p:cNvCxnSpPr>
            <p:nvPr/>
          </p:nvCxnSpPr>
          <p:spPr>
            <a:xfrm>
              <a:off x="4493941" y="1410629"/>
              <a:ext cx="373566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C80828A4-8CFA-80D1-DD75-728B01FA8AC3}"/>
                </a:ext>
              </a:extLst>
            </p:cNvPr>
            <p:cNvCxnSpPr>
              <a:endCxn id="179" idx="2"/>
            </p:cNvCxnSpPr>
            <p:nvPr/>
          </p:nvCxnSpPr>
          <p:spPr>
            <a:xfrm>
              <a:off x="4493941" y="1355678"/>
              <a:ext cx="373566" cy="17761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3E4F72EE-A2F8-B526-161B-1DA5AD19695C}"/>
                </a:ext>
              </a:extLst>
            </p:cNvPr>
            <p:cNvCxnSpPr>
              <a:endCxn id="179" idx="40"/>
            </p:cNvCxnSpPr>
            <p:nvPr/>
          </p:nvCxnSpPr>
          <p:spPr>
            <a:xfrm>
              <a:off x="4394579" y="1633654"/>
              <a:ext cx="383719" cy="613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86CEDAA-3BCE-F982-08DB-D92EF3EFBE74}"/>
                </a:ext>
              </a:extLst>
            </p:cNvPr>
            <p:cNvCxnSpPr>
              <a:cxnSpLocks/>
              <a:endCxn id="179" idx="40"/>
            </p:cNvCxnSpPr>
            <p:nvPr/>
          </p:nvCxnSpPr>
          <p:spPr>
            <a:xfrm>
              <a:off x="4394579" y="1694985"/>
              <a:ext cx="383719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3A770DEA-523B-3E86-824D-CD0365BDDB40}"/>
                </a:ext>
              </a:extLst>
            </p:cNvPr>
            <p:cNvCxnSpPr>
              <a:endCxn id="179" idx="40"/>
            </p:cNvCxnSpPr>
            <p:nvPr/>
          </p:nvCxnSpPr>
          <p:spPr>
            <a:xfrm flipV="1">
              <a:off x="4493941" y="1694985"/>
              <a:ext cx="284357" cy="12016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E762909-64BE-69E1-F203-EE28D860D6E8}"/>
                </a:ext>
              </a:extLst>
            </p:cNvPr>
            <p:cNvCxnSpPr>
              <a:endCxn id="179" idx="40"/>
            </p:cNvCxnSpPr>
            <p:nvPr/>
          </p:nvCxnSpPr>
          <p:spPr>
            <a:xfrm flipV="1">
              <a:off x="4426424" y="1694985"/>
              <a:ext cx="351874" cy="5647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13C8635-9E3E-9672-8710-4D75EF659F5D}"/>
                </a:ext>
              </a:extLst>
            </p:cNvPr>
            <p:cNvCxnSpPr>
              <a:endCxn id="180" idx="4"/>
            </p:cNvCxnSpPr>
            <p:nvPr/>
          </p:nvCxnSpPr>
          <p:spPr>
            <a:xfrm>
              <a:off x="4394579" y="1884556"/>
              <a:ext cx="305660" cy="150542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CDEAD1EE-1BDD-97C6-6F10-3C0793E59D81}"/>
                </a:ext>
              </a:extLst>
            </p:cNvPr>
            <p:cNvCxnSpPr>
              <a:endCxn id="180" idx="4"/>
            </p:cNvCxnSpPr>
            <p:nvPr/>
          </p:nvCxnSpPr>
          <p:spPr>
            <a:xfrm>
              <a:off x="4426424" y="1992573"/>
              <a:ext cx="273815" cy="425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35F5368-9D05-2540-0A17-42DFC8697198}"/>
                </a:ext>
              </a:extLst>
            </p:cNvPr>
            <p:cNvCxnSpPr/>
            <p:nvPr/>
          </p:nvCxnSpPr>
          <p:spPr>
            <a:xfrm>
              <a:off x="4394579" y="1918010"/>
              <a:ext cx="305660" cy="1170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1225551-6A45-61C4-5D61-9F776F18FC48}"/>
                </a:ext>
              </a:extLst>
            </p:cNvPr>
            <p:cNvCxnSpPr>
              <a:endCxn id="181" idx="4"/>
            </p:cNvCxnSpPr>
            <p:nvPr/>
          </p:nvCxnSpPr>
          <p:spPr>
            <a:xfrm>
              <a:off x="4339988" y="1992573"/>
              <a:ext cx="198558" cy="2209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8F890F9-C7F9-DC54-7C23-6A51528F1D16}"/>
                </a:ext>
              </a:extLst>
            </p:cNvPr>
            <p:cNvCxnSpPr>
              <a:endCxn id="181" idx="4"/>
            </p:cNvCxnSpPr>
            <p:nvPr/>
          </p:nvCxnSpPr>
          <p:spPr>
            <a:xfrm>
              <a:off x="4209585" y="2035098"/>
              <a:ext cx="328961" cy="17841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B04DC110-9F43-AFEB-EBC7-6A277AF15FBF}"/>
                </a:ext>
              </a:extLst>
            </p:cNvPr>
            <p:cNvCxnSpPr>
              <a:endCxn id="181" idx="4"/>
            </p:cNvCxnSpPr>
            <p:nvPr/>
          </p:nvCxnSpPr>
          <p:spPr>
            <a:xfrm>
              <a:off x="4209585" y="2113156"/>
              <a:ext cx="328961" cy="10036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38F3CFF-805A-71E2-3F54-1968D9C39239}"/>
                </a:ext>
              </a:extLst>
            </p:cNvPr>
            <p:cNvCxnSpPr>
              <a:endCxn id="181" idx="4"/>
            </p:cNvCxnSpPr>
            <p:nvPr/>
          </p:nvCxnSpPr>
          <p:spPr>
            <a:xfrm>
              <a:off x="4339988" y="2213517"/>
              <a:ext cx="198558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2A3E9685-C120-BE36-34AE-50A971F4BEC2}"/>
                </a:ext>
              </a:extLst>
            </p:cNvPr>
            <p:cNvCxnSpPr>
              <a:endCxn id="182" idx="5"/>
            </p:cNvCxnSpPr>
            <p:nvPr/>
          </p:nvCxnSpPr>
          <p:spPr>
            <a:xfrm>
              <a:off x="3986561" y="2352907"/>
              <a:ext cx="317810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0F935DEA-0D65-BFD6-C65B-5EBB4020B105}"/>
                </a:ext>
              </a:extLst>
            </p:cNvPr>
            <p:cNvCxnSpPr>
              <a:endCxn id="182" idx="5"/>
            </p:cNvCxnSpPr>
            <p:nvPr/>
          </p:nvCxnSpPr>
          <p:spPr>
            <a:xfrm flipV="1">
              <a:off x="4026090" y="2475571"/>
              <a:ext cx="278281" cy="3345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2461D00-2D70-D66E-7401-157DEE90E90B}"/>
                </a:ext>
              </a:extLst>
            </p:cNvPr>
            <p:cNvCxnSpPr>
              <a:endCxn id="183" idx="3"/>
            </p:cNvCxnSpPr>
            <p:nvPr/>
          </p:nvCxnSpPr>
          <p:spPr>
            <a:xfrm>
              <a:off x="3858322" y="2475571"/>
              <a:ext cx="245327" cy="12266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56AB5A-372B-5F9C-71D6-D4D83CE78498}"/>
                </a:ext>
              </a:extLst>
            </p:cNvPr>
            <p:cNvCxnSpPr/>
            <p:nvPr/>
          </p:nvCxnSpPr>
          <p:spPr>
            <a:xfrm>
              <a:off x="3858322" y="2559205"/>
              <a:ext cx="240556" cy="4460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05BF4C9-734B-451E-B8DB-037A2672BCDC}"/>
                </a:ext>
              </a:extLst>
            </p:cNvPr>
            <p:cNvCxnSpPr>
              <a:endCxn id="184" idx="3"/>
            </p:cNvCxnSpPr>
            <p:nvPr/>
          </p:nvCxnSpPr>
          <p:spPr>
            <a:xfrm>
              <a:off x="3625755" y="2559205"/>
              <a:ext cx="182386" cy="13939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56CBDE38-AD6A-E58B-286E-2EE301EC0829}"/>
                </a:ext>
              </a:extLst>
            </p:cNvPr>
            <p:cNvCxnSpPr>
              <a:cxnSpLocks/>
              <a:endCxn id="184" idx="3"/>
            </p:cNvCxnSpPr>
            <p:nvPr/>
          </p:nvCxnSpPr>
          <p:spPr>
            <a:xfrm>
              <a:off x="3685478" y="2656764"/>
              <a:ext cx="122663" cy="418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4C6FC37-4ADC-16A9-81FA-3B990B7D550A}"/>
                </a:ext>
              </a:extLst>
            </p:cNvPr>
            <p:cNvCxnSpPr>
              <a:endCxn id="185" idx="4"/>
            </p:cNvCxnSpPr>
            <p:nvPr/>
          </p:nvCxnSpPr>
          <p:spPr>
            <a:xfrm>
              <a:off x="3367668" y="2598234"/>
              <a:ext cx="83634" cy="1728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EEF0B945-93E6-D9C4-E7A6-0DDC1BACB6C8}"/>
                </a:ext>
              </a:extLst>
            </p:cNvPr>
            <p:cNvCxnSpPr>
              <a:cxnSpLocks/>
              <a:endCxn id="185" idx="4"/>
            </p:cNvCxnSpPr>
            <p:nvPr/>
          </p:nvCxnSpPr>
          <p:spPr>
            <a:xfrm>
              <a:off x="3451302" y="2656764"/>
              <a:ext cx="0" cy="11431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71C84988-3FA6-6A5C-03CE-88FF9EF66B1C}"/>
                </a:ext>
              </a:extLst>
            </p:cNvPr>
            <p:cNvCxnSpPr>
              <a:endCxn id="179" idx="26"/>
            </p:cNvCxnSpPr>
            <p:nvPr/>
          </p:nvCxnSpPr>
          <p:spPr>
            <a:xfrm flipH="1">
              <a:off x="5419493" y="1992573"/>
              <a:ext cx="267074" cy="3694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BED25236-322D-9D7D-E970-037CB54AC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7261" y="2035098"/>
              <a:ext cx="259306" cy="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72AA88B-0C82-16BD-9C6A-A97A83ED51D7}"/>
                </a:ext>
              </a:extLst>
            </p:cNvPr>
            <p:cNvCxnSpPr/>
            <p:nvPr/>
          </p:nvCxnSpPr>
          <p:spPr>
            <a:xfrm flipH="1" flipV="1">
              <a:off x="5419493" y="2029522"/>
              <a:ext cx="267074" cy="4948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79D54FDA-58B8-5759-7123-1DF5A8F24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7261" y="2029523"/>
              <a:ext cx="318446" cy="12682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6458C5BB-C715-D982-EAF4-9D160136CE71}"/>
                </a:ext>
              </a:extLst>
            </p:cNvPr>
            <p:cNvCxnSpPr>
              <a:cxnSpLocks/>
              <a:stCxn id="179" idx="26"/>
            </p:cNvCxnSpPr>
            <p:nvPr/>
          </p:nvCxnSpPr>
          <p:spPr>
            <a:xfrm>
              <a:off x="5419493" y="2029522"/>
              <a:ext cx="267074" cy="13137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01CA92C9-FEC8-4CC9-70E3-76AD12D34A81}"/>
                </a:ext>
              </a:extLst>
            </p:cNvPr>
            <p:cNvCxnSpPr/>
            <p:nvPr/>
          </p:nvCxnSpPr>
          <p:spPr>
            <a:xfrm>
              <a:off x="5419493" y="2029522"/>
              <a:ext cx="267074" cy="18399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55DB8CA6-E8DC-BB57-B628-A562D7898780}"/>
                </a:ext>
              </a:extLst>
            </p:cNvPr>
            <p:cNvCxnSpPr>
              <a:stCxn id="180" idx="15"/>
            </p:cNvCxnSpPr>
            <p:nvPr/>
          </p:nvCxnSpPr>
          <p:spPr>
            <a:xfrm>
              <a:off x="5090532" y="2302727"/>
              <a:ext cx="213898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B0B9E7DE-4E9E-104C-01F0-658E043ADE7B}"/>
                </a:ext>
              </a:extLst>
            </p:cNvPr>
            <p:cNvCxnSpPr>
              <a:cxnSpLocks/>
              <a:stCxn id="180" idx="15"/>
            </p:cNvCxnSpPr>
            <p:nvPr/>
          </p:nvCxnSpPr>
          <p:spPr>
            <a:xfrm>
              <a:off x="5090532" y="2302727"/>
              <a:ext cx="291235" cy="35403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B5974D1-748D-DF3F-CE2F-94251F9F8C7C}"/>
                </a:ext>
              </a:extLst>
            </p:cNvPr>
            <p:cNvCxnSpPr>
              <a:endCxn id="180" idx="15"/>
            </p:cNvCxnSpPr>
            <p:nvPr/>
          </p:nvCxnSpPr>
          <p:spPr>
            <a:xfrm flipH="1" flipV="1">
              <a:off x="5090532" y="2302727"/>
              <a:ext cx="291235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692A4FC9-E3DF-D2AE-E9B6-24C7FF3EC6EB}"/>
                </a:ext>
              </a:extLst>
            </p:cNvPr>
            <p:cNvCxnSpPr>
              <a:endCxn id="181" idx="13"/>
            </p:cNvCxnSpPr>
            <p:nvPr/>
          </p:nvCxnSpPr>
          <p:spPr>
            <a:xfrm flipH="1" flipV="1">
              <a:off x="4900961" y="2575932"/>
              <a:ext cx="284356" cy="23417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4615502B-DD8A-EEAA-0638-1E119BED9F12}"/>
                </a:ext>
              </a:extLst>
            </p:cNvPr>
            <p:cNvCxnSpPr>
              <a:cxnSpLocks/>
              <a:endCxn id="181" idx="13"/>
            </p:cNvCxnSpPr>
            <p:nvPr/>
          </p:nvCxnSpPr>
          <p:spPr>
            <a:xfrm flipH="1" flipV="1">
              <a:off x="4900961" y="2575932"/>
              <a:ext cx="228602" cy="3456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B189749-430B-ADCC-9EE5-CC4DD3796FC1}"/>
                </a:ext>
              </a:extLst>
            </p:cNvPr>
            <p:cNvCxnSpPr>
              <a:cxnSpLocks/>
              <a:endCxn id="181" idx="13"/>
            </p:cNvCxnSpPr>
            <p:nvPr/>
          </p:nvCxnSpPr>
          <p:spPr>
            <a:xfrm flipH="1" flipV="1">
              <a:off x="4900961" y="2575932"/>
              <a:ext cx="189572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AE1A97D-3575-C44F-128E-378E3FB4752A}"/>
                </a:ext>
              </a:extLst>
            </p:cNvPr>
            <p:cNvCxnSpPr>
              <a:endCxn id="182" idx="14"/>
            </p:cNvCxnSpPr>
            <p:nvPr/>
          </p:nvCxnSpPr>
          <p:spPr>
            <a:xfrm flipH="1" flipV="1">
              <a:off x="4689088" y="2826834"/>
              <a:ext cx="224106" cy="28435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014588B8-4657-A103-E69C-EFC900FB69A9}"/>
                </a:ext>
              </a:extLst>
            </p:cNvPr>
            <p:cNvCxnSpPr>
              <a:cxnSpLocks/>
              <a:endCxn id="182" idx="14"/>
            </p:cNvCxnSpPr>
            <p:nvPr/>
          </p:nvCxnSpPr>
          <p:spPr>
            <a:xfrm flipH="1" flipV="1">
              <a:off x="4689088" y="2826834"/>
              <a:ext cx="196812" cy="16727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C305D974-2A3C-29E5-9135-32A50BDBD28A}"/>
                </a:ext>
              </a:extLst>
            </p:cNvPr>
            <p:cNvCxnSpPr/>
            <p:nvPr/>
          </p:nvCxnSpPr>
          <p:spPr>
            <a:xfrm>
              <a:off x="4695690" y="2826834"/>
              <a:ext cx="144716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067380F-23D1-4B75-5C33-F84FB0094C4F}"/>
                </a:ext>
              </a:extLst>
            </p:cNvPr>
            <p:cNvCxnSpPr>
              <a:cxnSpLocks/>
              <a:stCxn id="183" idx="13"/>
            </p:cNvCxnSpPr>
            <p:nvPr/>
          </p:nvCxnSpPr>
          <p:spPr>
            <a:xfrm>
              <a:off x="4293220" y="3061010"/>
              <a:ext cx="46768" cy="25539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57EE8E2-E8E2-F9D8-AC95-78518DB269C3}"/>
                </a:ext>
              </a:extLst>
            </p:cNvPr>
            <p:cNvCxnSpPr/>
            <p:nvPr/>
          </p:nvCxnSpPr>
          <p:spPr>
            <a:xfrm flipH="1">
              <a:off x="4287644" y="3061010"/>
              <a:ext cx="16727" cy="1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F416DE3E-9AE3-1A8E-EEE2-65192845DDC0}"/>
                </a:ext>
              </a:extLst>
            </p:cNvPr>
            <p:cNvCxnSpPr>
              <a:cxnSpLocks/>
              <a:stCxn id="184" idx="13"/>
            </p:cNvCxnSpPr>
            <p:nvPr/>
          </p:nvCxnSpPr>
          <p:spPr>
            <a:xfrm>
              <a:off x="3908502" y="3189249"/>
              <a:ext cx="35701" cy="23975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8406E8C-3FD5-B9FB-F1C9-3631BB778B16}"/>
                </a:ext>
              </a:extLst>
            </p:cNvPr>
            <p:cNvCxnSpPr>
              <a:cxnSpLocks/>
              <a:stCxn id="184" idx="13"/>
            </p:cNvCxnSpPr>
            <p:nvPr/>
          </p:nvCxnSpPr>
          <p:spPr>
            <a:xfrm>
              <a:off x="3908502" y="3189249"/>
              <a:ext cx="58895" cy="16292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DDC80CEA-BFC0-3D1B-C5FA-F1F559E590E7}"/>
                </a:ext>
              </a:extLst>
            </p:cNvPr>
            <p:cNvCxnSpPr>
              <a:stCxn id="185" idx="12"/>
            </p:cNvCxnSpPr>
            <p:nvPr/>
          </p:nvCxnSpPr>
          <p:spPr>
            <a:xfrm flipH="1">
              <a:off x="3243618" y="3200400"/>
              <a:ext cx="185382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4A04E6A7-3BA2-B882-F779-15F3880781EA}"/>
                </a:ext>
              </a:extLst>
            </p:cNvPr>
            <p:cNvCxnSpPr>
              <a:stCxn id="185" idx="12"/>
            </p:cNvCxnSpPr>
            <p:nvPr/>
          </p:nvCxnSpPr>
          <p:spPr>
            <a:xfrm flipH="1">
              <a:off x="3298209" y="3200400"/>
              <a:ext cx="130791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DC65BC16-334E-2D6B-EFFD-1FCA69E443B2}"/>
              </a:ext>
            </a:extLst>
          </p:cNvPr>
          <p:cNvGrpSpPr>
            <a:grpSpLocks noChangeAspect="1"/>
          </p:cNvGrpSpPr>
          <p:nvPr/>
        </p:nvGrpSpPr>
        <p:grpSpPr>
          <a:xfrm rot="16370379" flipH="1" flipV="1">
            <a:off x="9473155" y="5687315"/>
            <a:ext cx="757895" cy="522131"/>
            <a:chOff x="2124307" y="887104"/>
            <a:chExt cx="3689639" cy="2541896"/>
          </a:xfrm>
          <a:solidFill>
            <a:srgbClr val="1A0D00"/>
          </a:solidFill>
        </p:grpSpPr>
        <p:sp>
          <p:nvSpPr>
            <p:cNvPr id="252" name="Freeform 24">
              <a:extLst>
                <a:ext uri="{FF2B5EF4-FFF2-40B4-BE49-F238E27FC236}">
                  <a16:creationId xmlns:a16="http://schemas.microsoft.com/office/drawing/2014/main" id="{B370725D-D1C9-79E2-6F08-E9C73D8FEE93}"/>
                </a:ext>
              </a:extLst>
            </p:cNvPr>
            <p:cNvSpPr/>
            <p:nvPr/>
          </p:nvSpPr>
          <p:spPr>
            <a:xfrm>
              <a:off x="5129561" y="1081668"/>
              <a:ext cx="490654" cy="473927"/>
            </a:xfrm>
            <a:custGeom>
              <a:avLst/>
              <a:gdLst>
                <a:gd name="connsiteX0" fmla="*/ 61332 w 490654"/>
                <a:gd name="connsiteY0" fmla="*/ 334537 h 473927"/>
                <a:gd name="connsiteX1" fmla="*/ 16727 w 490654"/>
                <a:gd name="connsiteY1" fmla="*/ 295508 h 473927"/>
                <a:gd name="connsiteX2" fmla="*/ 0 w 490654"/>
                <a:gd name="connsiteY2" fmla="*/ 267630 h 473927"/>
                <a:gd name="connsiteX3" fmla="*/ 0 w 490654"/>
                <a:gd name="connsiteY3" fmla="*/ 267630 h 473927"/>
                <a:gd name="connsiteX4" fmla="*/ 5576 w 490654"/>
                <a:gd name="connsiteY4" fmla="*/ 189571 h 473927"/>
                <a:gd name="connsiteX5" fmla="*/ 5576 w 490654"/>
                <a:gd name="connsiteY5" fmla="*/ 189571 h 473927"/>
                <a:gd name="connsiteX6" fmla="*/ 72483 w 490654"/>
                <a:gd name="connsiteY6" fmla="*/ 111512 h 473927"/>
                <a:gd name="connsiteX7" fmla="*/ 111512 w 490654"/>
                <a:gd name="connsiteY7" fmla="*/ 83634 h 473927"/>
                <a:gd name="connsiteX8" fmla="*/ 200722 w 490654"/>
                <a:gd name="connsiteY8" fmla="*/ 22303 h 473927"/>
                <a:gd name="connsiteX9" fmla="*/ 245327 w 490654"/>
                <a:gd name="connsiteY9" fmla="*/ 0 h 473927"/>
                <a:gd name="connsiteX10" fmla="*/ 306659 w 490654"/>
                <a:gd name="connsiteY10" fmla="*/ 5576 h 473927"/>
                <a:gd name="connsiteX11" fmla="*/ 367990 w 490654"/>
                <a:gd name="connsiteY11" fmla="*/ 22303 h 473927"/>
                <a:gd name="connsiteX12" fmla="*/ 423746 w 490654"/>
                <a:gd name="connsiteY12" fmla="*/ 50181 h 473927"/>
                <a:gd name="connsiteX13" fmla="*/ 451624 w 490654"/>
                <a:gd name="connsiteY13" fmla="*/ 78059 h 473927"/>
                <a:gd name="connsiteX14" fmla="*/ 485078 w 490654"/>
                <a:gd name="connsiteY14" fmla="*/ 133815 h 473927"/>
                <a:gd name="connsiteX15" fmla="*/ 490654 w 490654"/>
                <a:gd name="connsiteY15" fmla="*/ 189571 h 473927"/>
                <a:gd name="connsiteX16" fmla="*/ 490654 w 490654"/>
                <a:gd name="connsiteY16" fmla="*/ 189571 h 473927"/>
                <a:gd name="connsiteX17" fmla="*/ 473927 w 490654"/>
                <a:gd name="connsiteY17" fmla="*/ 301083 h 473927"/>
                <a:gd name="connsiteX18" fmla="*/ 462776 w 490654"/>
                <a:gd name="connsiteY18" fmla="*/ 345688 h 473927"/>
                <a:gd name="connsiteX19" fmla="*/ 462776 w 490654"/>
                <a:gd name="connsiteY19" fmla="*/ 395869 h 473927"/>
                <a:gd name="connsiteX20" fmla="*/ 462776 w 490654"/>
                <a:gd name="connsiteY20" fmla="*/ 395869 h 473927"/>
                <a:gd name="connsiteX21" fmla="*/ 401444 w 490654"/>
                <a:gd name="connsiteY21" fmla="*/ 457200 h 473927"/>
                <a:gd name="connsiteX22" fmla="*/ 401444 w 490654"/>
                <a:gd name="connsiteY22" fmla="*/ 457200 h 473927"/>
                <a:gd name="connsiteX23" fmla="*/ 306659 w 490654"/>
                <a:gd name="connsiteY23" fmla="*/ 473927 h 473927"/>
                <a:gd name="connsiteX24" fmla="*/ 250902 w 490654"/>
                <a:gd name="connsiteY24" fmla="*/ 462776 h 473927"/>
                <a:gd name="connsiteX25" fmla="*/ 195146 w 490654"/>
                <a:gd name="connsiteY25" fmla="*/ 440473 h 473927"/>
                <a:gd name="connsiteX26" fmla="*/ 133815 w 490654"/>
                <a:gd name="connsiteY26" fmla="*/ 401444 h 473927"/>
                <a:gd name="connsiteX27" fmla="*/ 94785 w 490654"/>
                <a:gd name="connsiteY27" fmla="*/ 373566 h 473927"/>
                <a:gd name="connsiteX28" fmla="*/ 61332 w 490654"/>
                <a:gd name="connsiteY28" fmla="*/ 334537 h 473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90654" h="473927">
                  <a:moveTo>
                    <a:pt x="61332" y="334537"/>
                  </a:moveTo>
                  <a:lnTo>
                    <a:pt x="16727" y="295508"/>
                  </a:lnTo>
                  <a:lnTo>
                    <a:pt x="0" y="267630"/>
                  </a:lnTo>
                  <a:lnTo>
                    <a:pt x="0" y="267630"/>
                  </a:lnTo>
                  <a:lnTo>
                    <a:pt x="5576" y="189571"/>
                  </a:lnTo>
                  <a:lnTo>
                    <a:pt x="5576" y="189571"/>
                  </a:lnTo>
                  <a:lnTo>
                    <a:pt x="72483" y="111512"/>
                  </a:lnTo>
                  <a:lnTo>
                    <a:pt x="111512" y="83634"/>
                  </a:lnTo>
                  <a:lnTo>
                    <a:pt x="200722" y="22303"/>
                  </a:lnTo>
                  <a:lnTo>
                    <a:pt x="245327" y="0"/>
                  </a:lnTo>
                  <a:lnTo>
                    <a:pt x="306659" y="5576"/>
                  </a:lnTo>
                  <a:lnTo>
                    <a:pt x="367990" y="22303"/>
                  </a:lnTo>
                  <a:lnTo>
                    <a:pt x="423746" y="50181"/>
                  </a:lnTo>
                  <a:lnTo>
                    <a:pt x="451624" y="78059"/>
                  </a:lnTo>
                  <a:lnTo>
                    <a:pt x="485078" y="133815"/>
                  </a:lnTo>
                  <a:lnTo>
                    <a:pt x="490654" y="189571"/>
                  </a:lnTo>
                  <a:lnTo>
                    <a:pt x="490654" y="189571"/>
                  </a:lnTo>
                  <a:lnTo>
                    <a:pt x="473927" y="301083"/>
                  </a:lnTo>
                  <a:lnTo>
                    <a:pt x="462776" y="345688"/>
                  </a:lnTo>
                  <a:lnTo>
                    <a:pt x="462776" y="395869"/>
                  </a:lnTo>
                  <a:lnTo>
                    <a:pt x="462776" y="395869"/>
                  </a:lnTo>
                  <a:lnTo>
                    <a:pt x="401444" y="457200"/>
                  </a:lnTo>
                  <a:lnTo>
                    <a:pt x="401444" y="457200"/>
                  </a:lnTo>
                  <a:lnTo>
                    <a:pt x="306659" y="473927"/>
                  </a:lnTo>
                  <a:lnTo>
                    <a:pt x="250902" y="462776"/>
                  </a:lnTo>
                  <a:lnTo>
                    <a:pt x="195146" y="440473"/>
                  </a:lnTo>
                  <a:lnTo>
                    <a:pt x="133815" y="401444"/>
                  </a:lnTo>
                  <a:lnTo>
                    <a:pt x="94785" y="373566"/>
                  </a:lnTo>
                  <a:lnTo>
                    <a:pt x="61332" y="3345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3" name="Freeform 25">
              <a:extLst>
                <a:ext uri="{FF2B5EF4-FFF2-40B4-BE49-F238E27FC236}">
                  <a16:creationId xmlns:a16="http://schemas.microsoft.com/office/drawing/2014/main" id="{683041F1-3107-3904-D096-2B1F26AF1C14}"/>
                </a:ext>
              </a:extLst>
            </p:cNvPr>
            <p:cNvSpPr/>
            <p:nvPr/>
          </p:nvSpPr>
          <p:spPr>
            <a:xfrm>
              <a:off x="4767146" y="1410629"/>
              <a:ext cx="758283" cy="713678"/>
            </a:xfrm>
            <a:custGeom>
              <a:avLst/>
              <a:gdLst>
                <a:gd name="connsiteX0" fmla="*/ 44605 w 758283"/>
                <a:gd name="connsiteY0" fmla="*/ 234176 h 713678"/>
                <a:gd name="connsiteX1" fmla="*/ 61332 w 758283"/>
                <a:gd name="connsiteY1" fmla="*/ 183995 h 713678"/>
                <a:gd name="connsiteX2" fmla="*/ 100361 w 758283"/>
                <a:gd name="connsiteY2" fmla="*/ 122664 h 713678"/>
                <a:gd name="connsiteX3" fmla="*/ 139391 w 758283"/>
                <a:gd name="connsiteY3" fmla="*/ 83634 h 713678"/>
                <a:gd name="connsiteX4" fmla="*/ 156117 w 758283"/>
                <a:gd name="connsiteY4" fmla="*/ 72483 h 713678"/>
                <a:gd name="connsiteX5" fmla="*/ 156117 w 758283"/>
                <a:gd name="connsiteY5" fmla="*/ 72483 h 713678"/>
                <a:gd name="connsiteX6" fmla="*/ 234176 w 758283"/>
                <a:gd name="connsiteY6" fmla="*/ 22303 h 713678"/>
                <a:gd name="connsiteX7" fmla="*/ 234176 w 758283"/>
                <a:gd name="connsiteY7" fmla="*/ 22303 h 713678"/>
                <a:gd name="connsiteX8" fmla="*/ 306659 w 758283"/>
                <a:gd name="connsiteY8" fmla="*/ 0 h 713678"/>
                <a:gd name="connsiteX9" fmla="*/ 306659 w 758283"/>
                <a:gd name="connsiteY9" fmla="*/ 0 h 713678"/>
                <a:gd name="connsiteX10" fmla="*/ 401444 w 758283"/>
                <a:gd name="connsiteY10" fmla="*/ 16727 h 713678"/>
                <a:gd name="connsiteX11" fmla="*/ 429322 w 758283"/>
                <a:gd name="connsiteY11" fmla="*/ 33454 h 713678"/>
                <a:gd name="connsiteX12" fmla="*/ 479503 w 758283"/>
                <a:gd name="connsiteY12" fmla="*/ 66908 h 713678"/>
                <a:gd name="connsiteX13" fmla="*/ 524108 w 758283"/>
                <a:gd name="connsiteY13" fmla="*/ 100361 h 713678"/>
                <a:gd name="connsiteX14" fmla="*/ 524108 w 758283"/>
                <a:gd name="connsiteY14" fmla="*/ 100361 h 713678"/>
                <a:gd name="connsiteX15" fmla="*/ 607742 w 758283"/>
                <a:gd name="connsiteY15" fmla="*/ 139391 h 713678"/>
                <a:gd name="connsiteX16" fmla="*/ 607742 w 758283"/>
                <a:gd name="connsiteY16" fmla="*/ 139391 h 713678"/>
                <a:gd name="connsiteX17" fmla="*/ 691376 w 758283"/>
                <a:gd name="connsiteY17" fmla="*/ 189571 h 713678"/>
                <a:gd name="connsiteX18" fmla="*/ 724830 w 758283"/>
                <a:gd name="connsiteY18" fmla="*/ 223025 h 713678"/>
                <a:gd name="connsiteX19" fmla="*/ 758283 w 758283"/>
                <a:gd name="connsiteY19" fmla="*/ 267630 h 713678"/>
                <a:gd name="connsiteX20" fmla="*/ 758283 w 758283"/>
                <a:gd name="connsiteY20" fmla="*/ 267630 h 713678"/>
                <a:gd name="connsiteX21" fmla="*/ 752708 w 758283"/>
                <a:gd name="connsiteY21" fmla="*/ 356839 h 713678"/>
                <a:gd name="connsiteX22" fmla="*/ 752708 w 758283"/>
                <a:gd name="connsiteY22" fmla="*/ 407020 h 713678"/>
                <a:gd name="connsiteX23" fmla="*/ 752708 w 758283"/>
                <a:gd name="connsiteY23" fmla="*/ 407020 h 713678"/>
                <a:gd name="connsiteX24" fmla="*/ 730405 w 758283"/>
                <a:gd name="connsiteY24" fmla="*/ 473927 h 713678"/>
                <a:gd name="connsiteX25" fmla="*/ 691376 w 758283"/>
                <a:gd name="connsiteY25" fmla="*/ 551986 h 713678"/>
                <a:gd name="connsiteX26" fmla="*/ 652347 w 758283"/>
                <a:gd name="connsiteY26" fmla="*/ 618893 h 713678"/>
                <a:gd name="connsiteX27" fmla="*/ 624469 w 758283"/>
                <a:gd name="connsiteY27" fmla="*/ 663498 h 713678"/>
                <a:gd name="connsiteX28" fmla="*/ 557561 w 758283"/>
                <a:gd name="connsiteY28" fmla="*/ 685800 h 713678"/>
                <a:gd name="connsiteX29" fmla="*/ 490654 w 758283"/>
                <a:gd name="connsiteY29" fmla="*/ 696951 h 713678"/>
                <a:gd name="connsiteX30" fmla="*/ 434898 w 758283"/>
                <a:gd name="connsiteY30" fmla="*/ 713678 h 713678"/>
                <a:gd name="connsiteX31" fmla="*/ 434898 w 758283"/>
                <a:gd name="connsiteY31" fmla="*/ 713678 h 713678"/>
                <a:gd name="connsiteX32" fmla="*/ 312234 w 758283"/>
                <a:gd name="connsiteY32" fmla="*/ 657922 h 713678"/>
                <a:gd name="connsiteX33" fmla="*/ 256478 w 758283"/>
                <a:gd name="connsiteY33" fmla="*/ 624469 h 713678"/>
                <a:gd name="connsiteX34" fmla="*/ 183995 w 758283"/>
                <a:gd name="connsiteY34" fmla="*/ 596591 h 713678"/>
                <a:gd name="connsiteX35" fmla="*/ 122664 w 758283"/>
                <a:gd name="connsiteY35" fmla="*/ 563137 h 713678"/>
                <a:gd name="connsiteX36" fmla="*/ 61332 w 758283"/>
                <a:gd name="connsiteY36" fmla="*/ 524108 h 713678"/>
                <a:gd name="connsiteX37" fmla="*/ 33454 w 758283"/>
                <a:gd name="connsiteY37" fmla="*/ 496230 h 713678"/>
                <a:gd name="connsiteX38" fmla="*/ 11152 w 758283"/>
                <a:gd name="connsiteY38" fmla="*/ 434898 h 713678"/>
                <a:gd name="connsiteX39" fmla="*/ 0 w 758283"/>
                <a:gd name="connsiteY39" fmla="*/ 367991 h 713678"/>
                <a:gd name="connsiteX40" fmla="*/ 11152 w 758283"/>
                <a:gd name="connsiteY40" fmla="*/ 284356 h 713678"/>
                <a:gd name="connsiteX41" fmla="*/ 44605 w 758283"/>
                <a:gd name="connsiteY41" fmla="*/ 234176 h 71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758283" h="713678">
                  <a:moveTo>
                    <a:pt x="44605" y="234176"/>
                  </a:moveTo>
                  <a:lnTo>
                    <a:pt x="61332" y="183995"/>
                  </a:lnTo>
                  <a:lnTo>
                    <a:pt x="100361" y="122664"/>
                  </a:lnTo>
                  <a:lnTo>
                    <a:pt x="139391" y="83634"/>
                  </a:lnTo>
                  <a:lnTo>
                    <a:pt x="156117" y="72483"/>
                  </a:lnTo>
                  <a:lnTo>
                    <a:pt x="156117" y="72483"/>
                  </a:lnTo>
                  <a:lnTo>
                    <a:pt x="234176" y="22303"/>
                  </a:lnTo>
                  <a:lnTo>
                    <a:pt x="234176" y="22303"/>
                  </a:lnTo>
                  <a:lnTo>
                    <a:pt x="306659" y="0"/>
                  </a:lnTo>
                  <a:lnTo>
                    <a:pt x="306659" y="0"/>
                  </a:lnTo>
                  <a:lnTo>
                    <a:pt x="401444" y="16727"/>
                  </a:lnTo>
                  <a:lnTo>
                    <a:pt x="429322" y="33454"/>
                  </a:lnTo>
                  <a:lnTo>
                    <a:pt x="479503" y="66908"/>
                  </a:lnTo>
                  <a:lnTo>
                    <a:pt x="524108" y="100361"/>
                  </a:lnTo>
                  <a:lnTo>
                    <a:pt x="524108" y="100361"/>
                  </a:lnTo>
                  <a:lnTo>
                    <a:pt x="607742" y="139391"/>
                  </a:lnTo>
                  <a:lnTo>
                    <a:pt x="607742" y="139391"/>
                  </a:lnTo>
                  <a:lnTo>
                    <a:pt x="691376" y="189571"/>
                  </a:lnTo>
                  <a:lnTo>
                    <a:pt x="724830" y="223025"/>
                  </a:lnTo>
                  <a:lnTo>
                    <a:pt x="758283" y="267630"/>
                  </a:lnTo>
                  <a:lnTo>
                    <a:pt x="758283" y="267630"/>
                  </a:lnTo>
                  <a:lnTo>
                    <a:pt x="752708" y="356839"/>
                  </a:lnTo>
                  <a:lnTo>
                    <a:pt x="752708" y="407020"/>
                  </a:lnTo>
                  <a:lnTo>
                    <a:pt x="752708" y="407020"/>
                  </a:lnTo>
                  <a:lnTo>
                    <a:pt x="730405" y="473927"/>
                  </a:lnTo>
                  <a:lnTo>
                    <a:pt x="691376" y="551986"/>
                  </a:lnTo>
                  <a:lnTo>
                    <a:pt x="652347" y="618893"/>
                  </a:lnTo>
                  <a:lnTo>
                    <a:pt x="624469" y="663498"/>
                  </a:lnTo>
                  <a:lnTo>
                    <a:pt x="557561" y="685800"/>
                  </a:lnTo>
                  <a:lnTo>
                    <a:pt x="490654" y="696951"/>
                  </a:lnTo>
                  <a:lnTo>
                    <a:pt x="434898" y="713678"/>
                  </a:lnTo>
                  <a:lnTo>
                    <a:pt x="434898" y="713678"/>
                  </a:lnTo>
                  <a:lnTo>
                    <a:pt x="312234" y="657922"/>
                  </a:lnTo>
                  <a:lnTo>
                    <a:pt x="256478" y="624469"/>
                  </a:lnTo>
                  <a:lnTo>
                    <a:pt x="183995" y="596591"/>
                  </a:lnTo>
                  <a:lnTo>
                    <a:pt x="122664" y="563137"/>
                  </a:lnTo>
                  <a:lnTo>
                    <a:pt x="61332" y="524108"/>
                  </a:lnTo>
                  <a:lnTo>
                    <a:pt x="33454" y="496230"/>
                  </a:lnTo>
                  <a:lnTo>
                    <a:pt x="11152" y="434898"/>
                  </a:lnTo>
                  <a:lnTo>
                    <a:pt x="0" y="367991"/>
                  </a:lnTo>
                  <a:lnTo>
                    <a:pt x="11152" y="284356"/>
                  </a:lnTo>
                  <a:lnTo>
                    <a:pt x="44605" y="23417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4" name="Freeform 26">
              <a:extLst>
                <a:ext uri="{FF2B5EF4-FFF2-40B4-BE49-F238E27FC236}">
                  <a16:creationId xmlns:a16="http://schemas.microsoft.com/office/drawing/2014/main" id="{E27AD644-2842-9D75-78AE-46F4534AC0B2}"/>
                </a:ext>
              </a:extLst>
            </p:cNvPr>
            <p:cNvSpPr/>
            <p:nvPr/>
          </p:nvSpPr>
          <p:spPr>
            <a:xfrm>
              <a:off x="4683512" y="1918010"/>
              <a:ext cx="501805" cy="451624"/>
            </a:xfrm>
            <a:custGeom>
              <a:avLst/>
              <a:gdLst>
                <a:gd name="connsiteX0" fmla="*/ 128239 w 501805"/>
                <a:gd name="connsiteY0" fmla="*/ 0 h 451624"/>
                <a:gd name="connsiteX1" fmla="*/ 111512 w 501805"/>
                <a:gd name="connsiteY1" fmla="*/ 55756 h 451624"/>
                <a:gd name="connsiteX2" fmla="*/ 66908 w 501805"/>
                <a:gd name="connsiteY2" fmla="*/ 72483 h 451624"/>
                <a:gd name="connsiteX3" fmla="*/ 66908 w 501805"/>
                <a:gd name="connsiteY3" fmla="*/ 72483 h 451624"/>
                <a:gd name="connsiteX4" fmla="*/ 16727 w 501805"/>
                <a:gd name="connsiteY4" fmla="*/ 117088 h 451624"/>
                <a:gd name="connsiteX5" fmla="*/ 22303 w 501805"/>
                <a:gd name="connsiteY5" fmla="*/ 144966 h 451624"/>
                <a:gd name="connsiteX6" fmla="*/ 27878 w 501805"/>
                <a:gd name="connsiteY6" fmla="*/ 167268 h 451624"/>
                <a:gd name="connsiteX7" fmla="*/ 0 w 501805"/>
                <a:gd name="connsiteY7" fmla="*/ 195146 h 451624"/>
                <a:gd name="connsiteX8" fmla="*/ 0 w 501805"/>
                <a:gd name="connsiteY8" fmla="*/ 195146 h 451624"/>
                <a:gd name="connsiteX9" fmla="*/ 55756 w 501805"/>
                <a:gd name="connsiteY9" fmla="*/ 289931 h 451624"/>
                <a:gd name="connsiteX10" fmla="*/ 122664 w 501805"/>
                <a:gd name="connsiteY10" fmla="*/ 312234 h 451624"/>
                <a:gd name="connsiteX11" fmla="*/ 206298 w 501805"/>
                <a:gd name="connsiteY11" fmla="*/ 379141 h 451624"/>
                <a:gd name="connsiteX12" fmla="*/ 262054 w 501805"/>
                <a:gd name="connsiteY12" fmla="*/ 423746 h 451624"/>
                <a:gd name="connsiteX13" fmla="*/ 312234 w 501805"/>
                <a:gd name="connsiteY13" fmla="*/ 451624 h 451624"/>
                <a:gd name="connsiteX14" fmla="*/ 373566 w 501805"/>
                <a:gd name="connsiteY14" fmla="*/ 412595 h 451624"/>
                <a:gd name="connsiteX15" fmla="*/ 407020 w 501805"/>
                <a:gd name="connsiteY15" fmla="*/ 384717 h 451624"/>
                <a:gd name="connsiteX16" fmla="*/ 446049 w 501805"/>
                <a:gd name="connsiteY16" fmla="*/ 306658 h 451624"/>
                <a:gd name="connsiteX17" fmla="*/ 496229 w 501805"/>
                <a:gd name="connsiteY17" fmla="*/ 250902 h 451624"/>
                <a:gd name="connsiteX18" fmla="*/ 501805 w 501805"/>
                <a:gd name="connsiteY18" fmla="*/ 200722 h 451624"/>
                <a:gd name="connsiteX19" fmla="*/ 457200 w 501805"/>
                <a:gd name="connsiteY19" fmla="*/ 139390 h 451624"/>
                <a:gd name="connsiteX20" fmla="*/ 289932 w 501805"/>
                <a:gd name="connsiteY20" fmla="*/ 50180 h 451624"/>
                <a:gd name="connsiteX21" fmla="*/ 128239 w 501805"/>
                <a:gd name="connsiteY21" fmla="*/ 0 h 45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1805" h="451624">
                  <a:moveTo>
                    <a:pt x="128239" y="0"/>
                  </a:moveTo>
                  <a:lnTo>
                    <a:pt x="111512" y="55756"/>
                  </a:lnTo>
                  <a:lnTo>
                    <a:pt x="66908" y="72483"/>
                  </a:lnTo>
                  <a:lnTo>
                    <a:pt x="66908" y="72483"/>
                  </a:lnTo>
                  <a:lnTo>
                    <a:pt x="16727" y="117088"/>
                  </a:lnTo>
                  <a:lnTo>
                    <a:pt x="22303" y="144966"/>
                  </a:lnTo>
                  <a:lnTo>
                    <a:pt x="27878" y="167268"/>
                  </a:lnTo>
                  <a:lnTo>
                    <a:pt x="0" y="195146"/>
                  </a:lnTo>
                  <a:lnTo>
                    <a:pt x="0" y="195146"/>
                  </a:lnTo>
                  <a:lnTo>
                    <a:pt x="55756" y="289931"/>
                  </a:lnTo>
                  <a:lnTo>
                    <a:pt x="122664" y="312234"/>
                  </a:lnTo>
                  <a:lnTo>
                    <a:pt x="206298" y="379141"/>
                  </a:lnTo>
                  <a:lnTo>
                    <a:pt x="262054" y="423746"/>
                  </a:lnTo>
                  <a:lnTo>
                    <a:pt x="312234" y="451624"/>
                  </a:lnTo>
                  <a:lnTo>
                    <a:pt x="373566" y="412595"/>
                  </a:lnTo>
                  <a:lnTo>
                    <a:pt x="407020" y="384717"/>
                  </a:lnTo>
                  <a:lnTo>
                    <a:pt x="446049" y="306658"/>
                  </a:lnTo>
                  <a:lnTo>
                    <a:pt x="496229" y="250902"/>
                  </a:lnTo>
                  <a:lnTo>
                    <a:pt x="501805" y="200722"/>
                  </a:lnTo>
                  <a:lnTo>
                    <a:pt x="457200" y="139390"/>
                  </a:lnTo>
                  <a:lnTo>
                    <a:pt x="289932" y="50180"/>
                  </a:lnTo>
                  <a:lnTo>
                    <a:pt x="128239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5" name="Freeform 27">
              <a:extLst>
                <a:ext uri="{FF2B5EF4-FFF2-40B4-BE49-F238E27FC236}">
                  <a16:creationId xmlns:a16="http://schemas.microsoft.com/office/drawing/2014/main" id="{BE13C500-3D64-9815-E27A-AA53DF038EC8}"/>
                </a:ext>
              </a:extLst>
            </p:cNvPr>
            <p:cNvSpPr/>
            <p:nvPr/>
          </p:nvSpPr>
          <p:spPr>
            <a:xfrm>
              <a:off x="4493941" y="2113156"/>
              <a:ext cx="551986" cy="490654"/>
            </a:xfrm>
            <a:custGeom>
              <a:avLst/>
              <a:gdLst>
                <a:gd name="connsiteX0" fmla="*/ 200722 w 551986"/>
                <a:gd name="connsiteY0" fmla="*/ 0 h 490654"/>
                <a:gd name="connsiteX1" fmla="*/ 178420 w 551986"/>
                <a:gd name="connsiteY1" fmla="*/ 50181 h 490654"/>
                <a:gd name="connsiteX2" fmla="*/ 117088 w 551986"/>
                <a:gd name="connsiteY2" fmla="*/ 61332 h 490654"/>
                <a:gd name="connsiteX3" fmla="*/ 72483 w 551986"/>
                <a:gd name="connsiteY3" fmla="*/ 83634 h 490654"/>
                <a:gd name="connsiteX4" fmla="*/ 44605 w 551986"/>
                <a:gd name="connsiteY4" fmla="*/ 100361 h 490654"/>
                <a:gd name="connsiteX5" fmla="*/ 39030 w 551986"/>
                <a:gd name="connsiteY5" fmla="*/ 150542 h 490654"/>
                <a:gd name="connsiteX6" fmla="*/ 16727 w 551986"/>
                <a:gd name="connsiteY6" fmla="*/ 228600 h 490654"/>
                <a:gd name="connsiteX7" fmla="*/ 0 w 551986"/>
                <a:gd name="connsiteY7" fmla="*/ 262054 h 490654"/>
                <a:gd name="connsiteX8" fmla="*/ 61332 w 551986"/>
                <a:gd name="connsiteY8" fmla="*/ 317810 h 490654"/>
                <a:gd name="connsiteX9" fmla="*/ 122664 w 551986"/>
                <a:gd name="connsiteY9" fmla="*/ 379142 h 490654"/>
                <a:gd name="connsiteX10" fmla="*/ 200722 w 551986"/>
                <a:gd name="connsiteY10" fmla="*/ 429322 h 490654"/>
                <a:gd name="connsiteX11" fmla="*/ 245327 w 551986"/>
                <a:gd name="connsiteY11" fmla="*/ 457200 h 490654"/>
                <a:gd name="connsiteX12" fmla="*/ 295508 w 551986"/>
                <a:gd name="connsiteY12" fmla="*/ 490654 h 490654"/>
                <a:gd name="connsiteX13" fmla="*/ 407020 w 551986"/>
                <a:gd name="connsiteY13" fmla="*/ 462776 h 490654"/>
                <a:gd name="connsiteX14" fmla="*/ 457200 w 551986"/>
                <a:gd name="connsiteY14" fmla="*/ 367990 h 490654"/>
                <a:gd name="connsiteX15" fmla="*/ 501805 w 551986"/>
                <a:gd name="connsiteY15" fmla="*/ 284356 h 490654"/>
                <a:gd name="connsiteX16" fmla="*/ 551986 w 551986"/>
                <a:gd name="connsiteY16" fmla="*/ 200722 h 490654"/>
                <a:gd name="connsiteX17" fmla="*/ 418171 w 551986"/>
                <a:gd name="connsiteY17" fmla="*/ 61332 h 490654"/>
                <a:gd name="connsiteX18" fmla="*/ 200722 w 551986"/>
                <a:gd name="connsiteY18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1986" h="490654">
                  <a:moveTo>
                    <a:pt x="200722" y="0"/>
                  </a:moveTo>
                  <a:lnTo>
                    <a:pt x="178420" y="50181"/>
                  </a:lnTo>
                  <a:lnTo>
                    <a:pt x="117088" y="61332"/>
                  </a:lnTo>
                  <a:lnTo>
                    <a:pt x="72483" y="83634"/>
                  </a:lnTo>
                  <a:lnTo>
                    <a:pt x="44605" y="100361"/>
                  </a:lnTo>
                  <a:lnTo>
                    <a:pt x="39030" y="150542"/>
                  </a:lnTo>
                  <a:lnTo>
                    <a:pt x="16727" y="228600"/>
                  </a:lnTo>
                  <a:lnTo>
                    <a:pt x="0" y="262054"/>
                  </a:lnTo>
                  <a:lnTo>
                    <a:pt x="61332" y="317810"/>
                  </a:lnTo>
                  <a:lnTo>
                    <a:pt x="122664" y="379142"/>
                  </a:lnTo>
                  <a:lnTo>
                    <a:pt x="200722" y="429322"/>
                  </a:lnTo>
                  <a:lnTo>
                    <a:pt x="245327" y="457200"/>
                  </a:lnTo>
                  <a:lnTo>
                    <a:pt x="295508" y="490654"/>
                  </a:lnTo>
                  <a:lnTo>
                    <a:pt x="407020" y="462776"/>
                  </a:lnTo>
                  <a:lnTo>
                    <a:pt x="457200" y="367990"/>
                  </a:lnTo>
                  <a:lnTo>
                    <a:pt x="501805" y="284356"/>
                  </a:lnTo>
                  <a:lnTo>
                    <a:pt x="551986" y="200722"/>
                  </a:lnTo>
                  <a:lnTo>
                    <a:pt x="418171" y="61332"/>
                  </a:lnTo>
                  <a:lnTo>
                    <a:pt x="200722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6" name="Freeform 28">
              <a:extLst>
                <a:ext uri="{FF2B5EF4-FFF2-40B4-BE49-F238E27FC236}">
                  <a16:creationId xmlns:a16="http://schemas.microsoft.com/office/drawing/2014/main" id="{ABF3F664-9008-F16B-7E38-860B2EF86CBE}"/>
                </a:ext>
              </a:extLst>
            </p:cNvPr>
            <p:cNvSpPr/>
            <p:nvPr/>
          </p:nvSpPr>
          <p:spPr>
            <a:xfrm>
              <a:off x="4287644" y="2352907"/>
              <a:ext cx="524107" cy="490654"/>
            </a:xfrm>
            <a:custGeom>
              <a:avLst/>
              <a:gdLst>
                <a:gd name="connsiteX0" fmla="*/ 228600 w 524107"/>
                <a:gd name="connsiteY0" fmla="*/ 0 h 490654"/>
                <a:gd name="connsiteX1" fmla="*/ 167268 w 524107"/>
                <a:gd name="connsiteY1" fmla="*/ 22303 h 490654"/>
                <a:gd name="connsiteX2" fmla="*/ 167268 w 524107"/>
                <a:gd name="connsiteY2" fmla="*/ 22303 h 490654"/>
                <a:gd name="connsiteX3" fmla="*/ 72483 w 524107"/>
                <a:gd name="connsiteY3" fmla="*/ 55756 h 490654"/>
                <a:gd name="connsiteX4" fmla="*/ 50180 w 524107"/>
                <a:gd name="connsiteY4" fmla="*/ 83634 h 490654"/>
                <a:gd name="connsiteX5" fmla="*/ 16727 w 524107"/>
                <a:gd name="connsiteY5" fmla="*/ 122664 h 490654"/>
                <a:gd name="connsiteX6" fmla="*/ 0 w 524107"/>
                <a:gd name="connsiteY6" fmla="*/ 183995 h 490654"/>
                <a:gd name="connsiteX7" fmla="*/ 0 w 524107"/>
                <a:gd name="connsiteY7" fmla="*/ 183995 h 490654"/>
                <a:gd name="connsiteX8" fmla="*/ 55756 w 524107"/>
                <a:gd name="connsiteY8" fmla="*/ 289932 h 490654"/>
                <a:gd name="connsiteX9" fmla="*/ 100361 w 524107"/>
                <a:gd name="connsiteY9" fmla="*/ 340113 h 490654"/>
                <a:gd name="connsiteX10" fmla="*/ 133815 w 524107"/>
                <a:gd name="connsiteY10" fmla="*/ 401444 h 490654"/>
                <a:gd name="connsiteX11" fmla="*/ 189571 w 524107"/>
                <a:gd name="connsiteY11" fmla="*/ 446049 h 490654"/>
                <a:gd name="connsiteX12" fmla="*/ 273205 w 524107"/>
                <a:gd name="connsiteY12" fmla="*/ 473927 h 490654"/>
                <a:gd name="connsiteX13" fmla="*/ 345688 w 524107"/>
                <a:gd name="connsiteY13" fmla="*/ 490654 h 490654"/>
                <a:gd name="connsiteX14" fmla="*/ 401444 w 524107"/>
                <a:gd name="connsiteY14" fmla="*/ 473927 h 490654"/>
                <a:gd name="connsiteX15" fmla="*/ 457200 w 524107"/>
                <a:gd name="connsiteY15" fmla="*/ 362415 h 490654"/>
                <a:gd name="connsiteX16" fmla="*/ 507380 w 524107"/>
                <a:gd name="connsiteY16" fmla="*/ 278781 h 490654"/>
                <a:gd name="connsiteX17" fmla="*/ 524107 w 524107"/>
                <a:gd name="connsiteY17" fmla="*/ 195147 h 490654"/>
                <a:gd name="connsiteX18" fmla="*/ 423746 w 524107"/>
                <a:gd name="connsiteY18" fmla="*/ 66908 h 490654"/>
                <a:gd name="connsiteX19" fmla="*/ 323385 w 524107"/>
                <a:gd name="connsiteY19" fmla="*/ 5576 h 490654"/>
                <a:gd name="connsiteX20" fmla="*/ 228600 w 524107"/>
                <a:gd name="connsiteY20" fmla="*/ 0 h 490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24107" h="490654">
                  <a:moveTo>
                    <a:pt x="228600" y="0"/>
                  </a:moveTo>
                  <a:lnTo>
                    <a:pt x="167268" y="22303"/>
                  </a:lnTo>
                  <a:lnTo>
                    <a:pt x="167268" y="22303"/>
                  </a:lnTo>
                  <a:lnTo>
                    <a:pt x="72483" y="55756"/>
                  </a:lnTo>
                  <a:lnTo>
                    <a:pt x="50180" y="83634"/>
                  </a:lnTo>
                  <a:lnTo>
                    <a:pt x="16727" y="122664"/>
                  </a:lnTo>
                  <a:lnTo>
                    <a:pt x="0" y="183995"/>
                  </a:lnTo>
                  <a:lnTo>
                    <a:pt x="0" y="183995"/>
                  </a:lnTo>
                  <a:lnTo>
                    <a:pt x="55756" y="289932"/>
                  </a:lnTo>
                  <a:lnTo>
                    <a:pt x="100361" y="340113"/>
                  </a:lnTo>
                  <a:lnTo>
                    <a:pt x="133815" y="401444"/>
                  </a:lnTo>
                  <a:lnTo>
                    <a:pt x="189571" y="446049"/>
                  </a:lnTo>
                  <a:lnTo>
                    <a:pt x="273205" y="473927"/>
                  </a:lnTo>
                  <a:lnTo>
                    <a:pt x="345688" y="490654"/>
                  </a:lnTo>
                  <a:lnTo>
                    <a:pt x="401444" y="473927"/>
                  </a:lnTo>
                  <a:lnTo>
                    <a:pt x="457200" y="362415"/>
                  </a:lnTo>
                  <a:lnTo>
                    <a:pt x="507380" y="278781"/>
                  </a:lnTo>
                  <a:lnTo>
                    <a:pt x="524107" y="195147"/>
                  </a:lnTo>
                  <a:lnTo>
                    <a:pt x="423746" y="66908"/>
                  </a:lnTo>
                  <a:lnTo>
                    <a:pt x="323385" y="5576"/>
                  </a:lnTo>
                  <a:lnTo>
                    <a:pt x="228600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7" name="Freeform 29">
              <a:extLst>
                <a:ext uri="{FF2B5EF4-FFF2-40B4-BE49-F238E27FC236}">
                  <a16:creationId xmlns:a16="http://schemas.microsoft.com/office/drawing/2014/main" id="{99EC795F-77F2-9CB3-6858-45E966AE3C33}"/>
                </a:ext>
              </a:extLst>
            </p:cNvPr>
            <p:cNvSpPr/>
            <p:nvPr/>
          </p:nvSpPr>
          <p:spPr>
            <a:xfrm>
              <a:off x="3986561" y="2559205"/>
              <a:ext cx="579863" cy="501805"/>
            </a:xfrm>
            <a:custGeom>
              <a:avLst/>
              <a:gdLst>
                <a:gd name="connsiteX0" fmla="*/ 323385 w 579863"/>
                <a:gd name="connsiteY0" fmla="*/ 0 h 501805"/>
                <a:gd name="connsiteX1" fmla="*/ 262054 w 579863"/>
                <a:gd name="connsiteY1" fmla="*/ 5575 h 501805"/>
                <a:gd name="connsiteX2" fmla="*/ 161693 w 579863"/>
                <a:gd name="connsiteY2" fmla="*/ 11151 h 501805"/>
                <a:gd name="connsiteX3" fmla="*/ 117088 w 579863"/>
                <a:gd name="connsiteY3" fmla="*/ 39029 h 501805"/>
                <a:gd name="connsiteX4" fmla="*/ 72483 w 579863"/>
                <a:gd name="connsiteY4" fmla="*/ 66907 h 501805"/>
                <a:gd name="connsiteX5" fmla="*/ 16727 w 579863"/>
                <a:gd name="connsiteY5" fmla="*/ 117088 h 501805"/>
                <a:gd name="connsiteX6" fmla="*/ 0 w 579863"/>
                <a:gd name="connsiteY6" fmla="*/ 133815 h 501805"/>
                <a:gd name="connsiteX7" fmla="*/ 27878 w 579863"/>
                <a:gd name="connsiteY7" fmla="*/ 195146 h 501805"/>
                <a:gd name="connsiteX8" fmla="*/ 66907 w 579863"/>
                <a:gd name="connsiteY8" fmla="*/ 267629 h 501805"/>
                <a:gd name="connsiteX9" fmla="*/ 94785 w 579863"/>
                <a:gd name="connsiteY9" fmla="*/ 356839 h 501805"/>
                <a:gd name="connsiteX10" fmla="*/ 117088 w 579863"/>
                <a:gd name="connsiteY10" fmla="*/ 446049 h 501805"/>
                <a:gd name="connsiteX11" fmla="*/ 144966 w 579863"/>
                <a:gd name="connsiteY11" fmla="*/ 496229 h 501805"/>
                <a:gd name="connsiteX12" fmla="*/ 228600 w 579863"/>
                <a:gd name="connsiteY12" fmla="*/ 496229 h 501805"/>
                <a:gd name="connsiteX13" fmla="*/ 306659 w 579863"/>
                <a:gd name="connsiteY13" fmla="*/ 501805 h 501805"/>
                <a:gd name="connsiteX14" fmla="*/ 395868 w 579863"/>
                <a:gd name="connsiteY14" fmla="*/ 451624 h 501805"/>
                <a:gd name="connsiteX15" fmla="*/ 485078 w 579863"/>
                <a:gd name="connsiteY15" fmla="*/ 379141 h 501805"/>
                <a:gd name="connsiteX16" fmla="*/ 507380 w 579863"/>
                <a:gd name="connsiteY16" fmla="*/ 328961 h 501805"/>
                <a:gd name="connsiteX17" fmla="*/ 557561 w 579863"/>
                <a:gd name="connsiteY17" fmla="*/ 323385 h 501805"/>
                <a:gd name="connsiteX18" fmla="*/ 579863 w 579863"/>
                <a:gd name="connsiteY18" fmla="*/ 262054 h 501805"/>
                <a:gd name="connsiteX19" fmla="*/ 579863 w 579863"/>
                <a:gd name="connsiteY19" fmla="*/ 111512 h 501805"/>
                <a:gd name="connsiteX20" fmla="*/ 418171 w 579863"/>
                <a:gd name="connsiteY20" fmla="*/ 22302 h 501805"/>
                <a:gd name="connsiteX21" fmla="*/ 323385 w 579863"/>
                <a:gd name="connsiteY21" fmla="*/ 0 h 501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9863" h="501805">
                  <a:moveTo>
                    <a:pt x="323385" y="0"/>
                  </a:moveTo>
                  <a:lnTo>
                    <a:pt x="262054" y="5575"/>
                  </a:lnTo>
                  <a:lnTo>
                    <a:pt x="161693" y="11151"/>
                  </a:lnTo>
                  <a:lnTo>
                    <a:pt x="117088" y="39029"/>
                  </a:lnTo>
                  <a:lnTo>
                    <a:pt x="72483" y="66907"/>
                  </a:lnTo>
                  <a:lnTo>
                    <a:pt x="16727" y="117088"/>
                  </a:lnTo>
                  <a:lnTo>
                    <a:pt x="0" y="133815"/>
                  </a:lnTo>
                  <a:lnTo>
                    <a:pt x="27878" y="195146"/>
                  </a:lnTo>
                  <a:lnTo>
                    <a:pt x="66907" y="267629"/>
                  </a:lnTo>
                  <a:lnTo>
                    <a:pt x="94785" y="356839"/>
                  </a:lnTo>
                  <a:lnTo>
                    <a:pt x="117088" y="446049"/>
                  </a:lnTo>
                  <a:lnTo>
                    <a:pt x="144966" y="496229"/>
                  </a:lnTo>
                  <a:lnTo>
                    <a:pt x="228600" y="496229"/>
                  </a:lnTo>
                  <a:lnTo>
                    <a:pt x="306659" y="501805"/>
                  </a:lnTo>
                  <a:lnTo>
                    <a:pt x="395868" y="451624"/>
                  </a:lnTo>
                  <a:lnTo>
                    <a:pt x="485078" y="379141"/>
                  </a:lnTo>
                  <a:lnTo>
                    <a:pt x="507380" y="328961"/>
                  </a:lnTo>
                  <a:lnTo>
                    <a:pt x="557561" y="323385"/>
                  </a:lnTo>
                  <a:lnTo>
                    <a:pt x="579863" y="262054"/>
                  </a:lnTo>
                  <a:lnTo>
                    <a:pt x="579863" y="111512"/>
                  </a:lnTo>
                  <a:lnTo>
                    <a:pt x="418171" y="22302"/>
                  </a:lnTo>
                  <a:lnTo>
                    <a:pt x="323385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8" name="Freeform 30">
              <a:extLst>
                <a:ext uri="{FF2B5EF4-FFF2-40B4-BE49-F238E27FC236}">
                  <a16:creationId xmlns:a16="http://schemas.microsoft.com/office/drawing/2014/main" id="{F020CC8A-323F-1DD7-BDCA-61598AAFA417}"/>
                </a:ext>
              </a:extLst>
            </p:cNvPr>
            <p:cNvSpPr/>
            <p:nvPr/>
          </p:nvSpPr>
          <p:spPr>
            <a:xfrm>
              <a:off x="3685478" y="2693020"/>
              <a:ext cx="524107" cy="496229"/>
            </a:xfrm>
            <a:custGeom>
              <a:avLst/>
              <a:gdLst>
                <a:gd name="connsiteX0" fmla="*/ 345688 w 524107"/>
                <a:gd name="connsiteY0" fmla="*/ 16726 h 496229"/>
                <a:gd name="connsiteX1" fmla="*/ 273205 w 524107"/>
                <a:gd name="connsiteY1" fmla="*/ 16726 h 496229"/>
                <a:gd name="connsiteX2" fmla="*/ 189571 w 524107"/>
                <a:gd name="connsiteY2" fmla="*/ 0 h 496229"/>
                <a:gd name="connsiteX3" fmla="*/ 122663 w 524107"/>
                <a:gd name="connsiteY3" fmla="*/ 5575 h 496229"/>
                <a:gd name="connsiteX4" fmla="*/ 89210 w 524107"/>
                <a:gd name="connsiteY4" fmla="*/ 27878 h 496229"/>
                <a:gd name="connsiteX5" fmla="*/ 89210 w 524107"/>
                <a:gd name="connsiteY5" fmla="*/ 27878 h 496229"/>
                <a:gd name="connsiteX6" fmla="*/ 27878 w 524107"/>
                <a:gd name="connsiteY6" fmla="*/ 66907 h 496229"/>
                <a:gd name="connsiteX7" fmla="*/ 0 w 524107"/>
                <a:gd name="connsiteY7" fmla="*/ 100360 h 496229"/>
                <a:gd name="connsiteX8" fmla="*/ 0 w 524107"/>
                <a:gd name="connsiteY8" fmla="*/ 167268 h 496229"/>
                <a:gd name="connsiteX9" fmla="*/ 22302 w 524107"/>
                <a:gd name="connsiteY9" fmla="*/ 284356 h 496229"/>
                <a:gd name="connsiteX10" fmla="*/ 50181 w 524107"/>
                <a:gd name="connsiteY10" fmla="*/ 407019 h 496229"/>
                <a:gd name="connsiteX11" fmla="*/ 89210 w 524107"/>
                <a:gd name="connsiteY11" fmla="*/ 440473 h 496229"/>
                <a:gd name="connsiteX12" fmla="*/ 156117 w 524107"/>
                <a:gd name="connsiteY12" fmla="*/ 473926 h 496229"/>
                <a:gd name="connsiteX13" fmla="*/ 223024 w 524107"/>
                <a:gd name="connsiteY13" fmla="*/ 496229 h 496229"/>
                <a:gd name="connsiteX14" fmla="*/ 345688 w 524107"/>
                <a:gd name="connsiteY14" fmla="*/ 446048 h 496229"/>
                <a:gd name="connsiteX15" fmla="*/ 434898 w 524107"/>
                <a:gd name="connsiteY15" fmla="*/ 395868 h 496229"/>
                <a:gd name="connsiteX16" fmla="*/ 507381 w 524107"/>
                <a:gd name="connsiteY16" fmla="*/ 323385 h 496229"/>
                <a:gd name="connsiteX17" fmla="*/ 524107 w 524107"/>
                <a:gd name="connsiteY17" fmla="*/ 139390 h 496229"/>
                <a:gd name="connsiteX18" fmla="*/ 401444 w 524107"/>
                <a:gd name="connsiteY18" fmla="*/ 50180 h 496229"/>
                <a:gd name="connsiteX19" fmla="*/ 345688 w 524107"/>
                <a:gd name="connsiteY19" fmla="*/ 16726 h 496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4107" h="496229">
                  <a:moveTo>
                    <a:pt x="345688" y="16726"/>
                  </a:moveTo>
                  <a:lnTo>
                    <a:pt x="273205" y="16726"/>
                  </a:lnTo>
                  <a:lnTo>
                    <a:pt x="189571" y="0"/>
                  </a:lnTo>
                  <a:lnTo>
                    <a:pt x="122663" y="5575"/>
                  </a:lnTo>
                  <a:lnTo>
                    <a:pt x="89210" y="27878"/>
                  </a:lnTo>
                  <a:lnTo>
                    <a:pt x="89210" y="27878"/>
                  </a:lnTo>
                  <a:lnTo>
                    <a:pt x="27878" y="66907"/>
                  </a:lnTo>
                  <a:lnTo>
                    <a:pt x="0" y="100360"/>
                  </a:lnTo>
                  <a:lnTo>
                    <a:pt x="0" y="167268"/>
                  </a:lnTo>
                  <a:lnTo>
                    <a:pt x="22302" y="284356"/>
                  </a:lnTo>
                  <a:lnTo>
                    <a:pt x="50181" y="407019"/>
                  </a:lnTo>
                  <a:lnTo>
                    <a:pt x="89210" y="440473"/>
                  </a:lnTo>
                  <a:lnTo>
                    <a:pt x="156117" y="473926"/>
                  </a:lnTo>
                  <a:lnTo>
                    <a:pt x="223024" y="496229"/>
                  </a:lnTo>
                  <a:lnTo>
                    <a:pt x="345688" y="446048"/>
                  </a:lnTo>
                  <a:lnTo>
                    <a:pt x="434898" y="395868"/>
                  </a:lnTo>
                  <a:lnTo>
                    <a:pt x="507381" y="323385"/>
                  </a:lnTo>
                  <a:lnTo>
                    <a:pt x="524107" y="139390"/>
                  </a:lnTo>
                  <a:lnTo>
                    <a:pt x="401444" y="50180"/>
                  </a:lnTo>
                  <a:lnTo>
                    <a:pt x="345688" y="16726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9" name="Freeform 31">
              <a:extLst>
                <a:ext uri="{FF2B5EF4-FFF2-40B4-BE49-F238E27FC236}">
                  <a16:creationId xmlns:a16="http://schemas.microsoft.com/office/drawing/2014/main" id="{4B7A591A-D1FA-408E-F29D-4147230D13F1}"/>
                </a:ext>
              </a:extLst>
            </p:cNvPr>
            <p:cNvSpPr/>
            <p:nvPr/>
          </p:nvSpPr>
          <p:spPr>
            <a:xfrm>
              <a:off x="3367668" y="2771078"/>
              <a:ext cx="490654" cy="434898"/>
            </a:xfrm>
            <a:custGeom>
              <a:avLst/>
              <a:gdLst>
                <a:gd name="connsiteX0" fmla="*/ 345688 w 490654"/>
                <a:gd name="connsiteY0" fmla="*/ 39029 h 434898"/>
                <a:gd name="connsiteX1" fmla="*/ 278781 w 490654"/>
                <a:gd name="connsiteY1" fmla="*/ 16727 h 434898"/>
                <a:gd name="connsiteX2" fmla="*/ 206298 w 490654"/>
                <a:gd name="connsiteY2" fmla="*/ 0 h 434898"/>
                <a:gd name="connsiteX3" fmla="*/ 139391 w 490654"/>
                <a:gd name="connsiteY3" fmla="*/ 0 h 434898"/>
                <a:gd name="connsiteX4" fmla="*/ 83634 w 490654"/>
                <a:gd name="connsiteY4" fmla="*/ 0 h 434898"/>
                <a:gd name="connsiteX5" fmla="*/ 39030 w 490654"/>
                <a:gd name="connsiteY5" fmla="*/ 16727 h 434898"/>
                <a:gd name="connsiteX6" fmla="*/ 22303 w 490654"/>
                <a:gd name="connsiteY6" fmla="*/ 44605 h 434898"/>
                <a:gd name="connsiteX7" fmla="*/ 22303 w 490654"/>
                <a:gd name="connsiteY7" fmla="*/ 44605 h 434898"/>
                <a:gd name="connsiteX8" fmla="*/ 0 w 490654"/>
                <a:gd name="connsiteY8" fmla="*/ 167268 h 434898"/>
                <a:gd name="connsiteX9" fmla="*/ 0 w 490654"/>
                <a:gd name="connsiteY9" fmla="*/ 256478 h 434898"/>
                <a:gd name="connsiteX10" fmla="*/ 5576 w 490654"/>
                <a:gd name="connsiteY10" fmla="*/ 351263 h 434898"/>
                <a:gd name="connsiteX11" fmla="*/ 5576 w 490654"/>
                <a:gd name="connsiteY11" fmla="*/ 351263 h 434898"/>
                <a:gd name="connsiteX12" fmla="*/ 61332 w 490654"/>
                <a:gd name="connsiteY12" fmla="*/ 429322 h 434898"/>
                <a:gd name="connsiteX13" fmla="*/ 122664 w 490654"/>
                <a:gd name="connsiteY13" fmla="*/ 434898 h 434898"/>
                <a:gd name="connsiteX14" fmla="*/ 228600 w 490654"/>
                <a:gd name="connsiteY14" fmla="*/ 434898 h 434898"/>
                <a:gd name="connsiteX15" fmla="*/ 362415 w 490654"/>
                <a:gd name="connsiteY15" fmla="*/ 407020 h 434898"/>
                <a:gd name="connsiteX16" fmla="*/ 446049 w 490654"/>
                <a:gd name="connsiteY16" fmla="*/ 379142 h 434898"/>
                <a:gd name="connsiteX17" fmla="*/ 490654 w 490654"/>
                <a:gd name="connsiteY17" fmla="*/ 323385 h 434898"/>
                <a:gd name="connsiteX18" fmla="*/ 418171 w 490654"/>
                <a:gd name="connsiteY18" fmla="*/ 167268 h 434898"/>
                <a:gd name="connsiteX19" fmla="*/ 345688 w 490654"/>
                <a:gd name="connsiteY19" fmla="*/ 39029 h 43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0654" h="434898">
                  <a:moveTo>
                    <a:pt x="345688" y="39029"/>
                  </a:moveTo>
                  <a:lnTo>
                    <a:pt x="278781" y="16727"/>
                  </a:lnTo>
                  <a:lnTo>
                    <a:pt x="206298" y="0"/>
                  </a:lnTo>
                  <a:lnTo>
                    <a:pt x="139391" y="0"/>
                  </a:lnTo>
                  <a:lnTo>
                    <a:pt x="83634" y="0"/>
                  </a:lnTo>
                  <a:lnTo>
                    <a:pt x="39030" y="16727"/>
                  </a:lnTo>
                  <a:lnTo>
                    <a:pt x="22303" y="44605"/>
                  </a:lnTo>
                  <a:lnTo>
                    <a:pt x="22303" y="44605"/>
                  </a:lnTo>
                  <a:lnTo>
                    <a:pt x="0" y="167268"/>
                  </a:lnTo>
                  <a:lnTo>
                    <a:pt x="0" y="256478"/>
                  </a:lnTo>
                  <a:lnTo>
                    <a:pt x="5576" y="351263"/>
                  </a:lnTo>
                  <a:lnTo>
                    <a:pt x="5576" y="351263"/>
                  </a:lnTo>
                  <a:lnTo>
                    <a:pt x="61332" y="429322"/>
                  </a:lnTo>
                  <a:lnTo>
                    <a:pt x="122664" y="434898"/>
                  </a:lnTo>
                  <a:lnTo>
                    <a:pt x="228600" y="434898"/>
                  </a:lnTo>
                  <a:lnTo>
                    <a:pt x="362415" y="407020"/>
                  </a:lnTo>
                  <a:lnTo>
                    <a:pt x="446049" y="379142"/>
                  </a:lnTo>
                  <a:lnTo>
                    <a:pt x="490654" y="323385"/>
                  </a:lnTo>
                  <a:lnTo>
                    <a:pt x="418171" y="167268"/>
                  </a:lnTo>
                  <a:lnTo>
                    <a:pt x="345688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0" name="Freeform 32">
              <a:extLst>
                <a:ext uri="{FF2B5EF4-FFF2-40B4-BE49-F238E27FC236}">
                  <a16:creationId xmlns:a16="http://schemas.microsoft.com/office/drawing/2014/main" id="{85102784-480B-CB17-2499-F74D73F232C6}"/>
                </a:ext>
              </a:extLst>
            </p:cNvPr>
            <p:cNvSpPr/>
            <p:nvPr/>
          </p:nvSpPr>
          <p:spPr>
            <a:xfrm>
              <a:off x="3061010" y="2743200"/>
              <a:ext cx="395868" cy="429322"/>
            </a:xfrm>
            <a:custGeom>
              <a:avLst/>
              <a:gdLst>
                <a:gd name="connsiteX0" fmla="*/ 345688 w 395868"/>
                <a:gd name="connsiteY0" fmla="*/ 105937 h 429322"/>
                <a:gd name="connsiteX1" fmla="*/ 301083 w 395868"/>
                <a:gd name="connsiteY1" fmla="*/ 55756 h 429322"/>
                <a:gd name="connsiteX2" fmla="*/ 228600 w 395868"/>
                <a:gd name="connsiteY2" fmla="*/ 33454 h 429322"/>
                <a:gd name="connsiteX3" fmla="*/ 133814 w 395868"/>
                <a:gd name="connsiteY3" fmla="*/ 0 h 429322"/>
                <a:gd name="connsiteX4" fmla="*/ 50180 w 395868"/>
                <a:gd name="connsiteY4" fmla="*/ 0 h 429322"/>
                <a:gd name="connsiteX5" fmla="*/ 33453 w 395868"/>
                <a:gd name="connsiteY5" fmla="*/ 66907 h 429322"/>
                <a:gd name="connsiteX6" fmla="*/ 22302 w 395868"/>
                <a:gd name="connsiteY6" fmla="*/ 122663 h 429322"/>
                <a:gd name="connsiteX7" fmla="*/ 11151 w 395868"/>
                <a:gd name="connsiteY7" fmla="*/ 178420 h 429322"/>
                <a:gd name="connsiteX8" fmla="*/ 0 w 395868"/>
                <a:gd name="connsiteY8" fmla="*/ 256478 h 429322"/>
                <a:gd name="connsiteX9" fmla="*/ 0 w 395868"/>
                <a:gd name="connsiteY9" fmla="*/ 340112 h 429322"/>
                <a:gd name="connsiteX10" fmla="*/ 44605 w 395868"/>
                <a:gd name="connsiteY10" fmla="*/ 379141 h 429322"/>
                <a:gd name="connsiteX11" fmla="*/ 161692 w 395868"/>
                <a:gd name="connsiteY11" fmla="*/ 412595 h 429322"/>
                <a:gd name="connsiteX12" fmla="*/ 245327 w 395868"/>
                <a:gd name="connsiteY12" fmla="*/ 429322 h 429322"/>
                <a:gd name="connsiteX13" fmla="*/ 267629 w 395868"/>
                <a:gd name="connsiteY13" fmla="*/ 418171 h 429322"/>
                <a:gd name="connsiteX14" fmla="*/ 267629 w 395868"/>
                <a:gd name="connsiteY14" fmla="*/ 418171 h 429322"/>
                <a:gd name="connsiteX15" fmla="*/ 273205 w 395868"/>
                <a:gd name="connsiteY15" fmla="*/ 351263 h 429322"/>
                <a:gd name="connsiteX16" fmla="*/ 345688 w 395868"/>
                <a:gd name="connsiteY16" fmla="*/ 351263 h 429322"/>
                <a:gd name="connsiteX17" fmla="*/ 395868 w 395868"/>
                <a:gd name="connsiteY17" fmla="*/ 211873 h 429322"/>
                <a:gd name="connsiteX18" fmla="*/ 345688 w 395868"/>
                <a:gd name="connsiteY18" fmla="*/ 105937 h 42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5868" h="429322">
                  <a:moveTo>
                    <a:pt x="345688" y="105937"/>
                  </a:moveTo>
                  <a:lnTo>
                    <a:pt x="301083" y="55756"/>
                  </a:lnTo>
                  <a:lnTo>
                    <a:pt x="228600" y="33454"/>
                  </a:lnTo>
                  <a:lnTo>
                    <a:pt x="133814" y="0"/>
                  </a:lnTo>
                  <a:lnTo>
                    <a:pt x="50180" y="0"/>
                  </a:lnTo>
                  <a:lnTo>
                    <a:pt x="33453" y="66907"/>
                  </a:lnTo>
                  <a:lnTo>
                    <a:pt x="22302" y="122663"/>
                  </a:lnTo>
                  <a:lnTo>
                    <a:pt x="11151" y="178420"/>
                  </a:lnTo>
                  <a:lnTo>
                    <a:pt x="0" y="256478"/>
                  </a:lnTo>
                  <a:lnTo>
                    <a:pt x="0" y="340112"/>
                  </a:lnTo>
                  <a:lnTo>
                    <a:pt x="44605" y="379141"/>
                  </a:lnTo>
                  <a:lnTo>
                    <a:pt x="161692" y="412595"/>
                  </a:lnTo>
                  <a:lnTo>
                    <a:pt x="245327" y="429322"/>
                  </a:lnTo>
                  <a:lnTo>
                    <a:pt x="267629" y="418171"/>
                  </a:lnTo>
                  <a:lnTo>
                    <a:pt x="267629" y="418171"/>
                  </a:lnTo>
                  <a:lnTo>
                    <a:pt x="273205" y="351263"/>
                  </a:lnTo>
                  <a:lnTo>
                    <a:pt x="345688" y="351263"/>
                  </a:lnTo>
                  <a:lnTo>
                    <a:pt x="395868" y="211873"/>
                  </a:lnTo>
                  <a:lnTo>
                    <a:pt x="345688" y="105937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1" name="Freeform 33">
              <a:extLst>
                <a:ext uri="{FF2B5EF4-FFF2-40B4-BE49-F238E27FC236}">
                  <a16:creationId xmlns:a16="http://schemas.microsoft.com/office/drawing/2014/main" id="{E56673A3-4607-3C89-162A-92C751DB32F1}"/>
                </a:ext>
              </a:extLst>
            </p:cNvPr>
            <p:cNvSpPr/>
            <p:nvPr/>
          </p:nvSpPr>
          <p:spPr>
            <a:xfrm>
              <a:off x="2837985" y="2709746"/>
              <a:ext cx="367991" cy="356839"/>
            </a:xfrm>
            <a:custGeom>
              <a:avLst/>
              <a:gdLst>
                <a:gd name="connsiteX0" fmla="*/ 289932 w 367991"/>
                <a:gd name="connsiteY0" fmla="*/ 61332 h 356839"/>
                <a:gd name="connsiteX1" fmla="*/ 228600 w 367991"/>
                <a:gd name="connsiteY1" fmla="*/ 27878 h 356839"/>
                <a:gd name="connsiteX2" fmla="*/ 167269 w 367991"/>
                <a:gd name="connsiteY2" fmla="*/ 0 h 356839"/>
                <a:gd name="connsiteX3" fmla="*/ 167269 w 367991"/>
                <a:gd name="connsiteY3" fmla="*/ 0 h 356839"/>
                <a:gd name="connsiteX4" fmla="*/ 89210 w 367991"/>
                <a:gd name="connsiteY4" fmla="*/ 33454 h 356839"/>
                <a:gd name="connsiteX5" fmla="*/ 55756 w 367991"/>
                <a:gd name="connsiteY5" fmla="*/ 78059 h 356839"/>
                <a:gd name="connsiteX6" fmla="*/ 16727 w 367991"/>
                <a:gd name="connsiteY6" fmla="*/ 139391 h 356839"/>
                <a:gd name="connsiteX7" fmla="*/ 0 w 367991"/>
                <a:gd name="connsiteY7" fmla="*/ 200722 h 356839"/>
                <a:gd name="connsiteX8" fmla="*/ 22303 w 367991"/>
                <a:gd name="connsiteY8" fmla="*/ 273205 h 356839"/>
                <a:gd name="connsiteX9" fmla="*/ 78059 w 367991"/>
                <a:gd name="connsiteY9" fmla="*/ 312234 h 356839"/>
                <a:gd name="connsiteX10" fmla="*/ 161693 w 367991"/>
                <a:gd name="connsiteY10" fmla="*/ 328961 h 356839"/>
                <a:gd name="connsiteX11" fmla="*/ 234176 w 367991"/>
                <a:gd name="connsiteY11" fmla="*/ 356839 h 356839"/>
                <a:gd name="connsiteX12" fmla="*/ 323386 w 367991"/>
                <a:gd name="connsiteY12" fmla="*/ 356839 h 356839"/>
                <a:gd name="connsiteX13" fmla="*/ 367991 w 367991"/>
                <a:gd name="connsiteY13" fmla="*/ 200722 h 356839"/>
                <a:gd name="connsiteX14" fmla="*/ 289932 w 367991"/>
                <a:gd name="connsiteY14" fmla="*/ 61332 h 35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7991" h="356839">
                  <a:moveTo>
                    <a:pt x="289932" y="61332"/>
                  </a:moveTo>
                  <a:lnTo>
                    <a:pt x="228600" y="27878"/>
                  </a:lnTo>
                  <a:lnTo>
                    <a:pt x="167269" y="0"/>
                  </a:lnTo>
                  <a:lnTo>
                    <a:pt x="167269" y="0"/>
                  </a:lnTo>
                  <a:lnTo>
                    <a:pt x="89210" y="33454"/>
                  </a:lnTo>
                  <a:lnTo>
                    <a:pt x="55756" y="78059"/>
                  </a:lnTo>
                  <a:lnTo>
                    <a:pt x="16727" y="139391"/>
                  </a:lnTo>
                  <a:lnTo>
                    <a:pt x="0" y="200722"/>
                  </a:lnTo>
                  <a:lnTo>
                    <a:pt x="22303" y="273205"/>
                  </a:lnTo>
                  <a:lnTo>
                    <a:pt x="78059" y="312234"/>
                  </a:lnTo>
                  <a:lnTo>
                    <a:pt x="161693" y="328961"/>
                  </a:lnTo>
                  <a:lnTo>
                    <a:pt x="234176" y="356839"/>
                  </a:lnTo>
                  <a:lnTo>
                    <a:pt x="323386" y="356839"/>
                  </a:lnTo>
                  <a:lnTo>
                    <a:pt x="367991" y="200722"/>
                  </a:lnTo>
                  <a:lnTo>
                    <a:pt x="289932" y="61332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2" name="Freeform 34">
              <a:extLst>
                <a:ext uri="{FF2B5EF4-FFF2-40B4-BE49-F238E27FC236}">
                  <a16:creationId xmlns:a16="http://schemas.microsoft.com/office/drawing/2014/main" id="{A8508E8B-09C7-C979-81E5-1642DD0D1AA1}"/>
                </a:ext>
              </a:extLst>
            </p:cNvPr>
            <p:cNvSpPr/>
            <p:nvPr/>
          </p:nvSpPr>
          <p:spPr>
            <a:xfrm>
              <a:off x="2514600" y="2509024"/>
              <a:ext cx="546410" cy="412596"/>
            </a:xfrm>
            <a:custGeom>
              <a:avLst/>
              <a:gdLst>
                <a:gd name="connsiteX0" fmla="*/ 496229 w 546410"/>
                <a:gd name="connsiteY0" fmla="*/ 223025 h 412596"/>
                <a:gd name="connsiteX1" fmla="*/ 429322 w 546410"/>
                <a:gd name="connsiteY1" fmla="*/ 172844 h 412596"/>
                <a:gd name="connsiteX2" fmla="*/ 367990 w 546410"/>
                <a:gd name="connsiteY2" fmla="*/ 133815 h 412596"/>
                <a:gd name="connsiteX3" fmla="*/ 301083 w 546410"/>
                <a:gd name="connsiteY3" fmla="*/ 89210 h 412596"/>
                <a:gd name="connsiteX4" fmla="*/ 217449 w 546410"/>
                <a:gd name="connsiteY4" fmla="*/ 55756 h 412596"/>
                <a:gd name="connsiteX5" fmla="*/ 139390 w 546410"/>
                <a:gd name="connsiteY5" fmla="*/ 27878 h 412596"/>
                <a:gd name="connsiteX6" fmla="*/ 100361 w 546410"/>
                <a:gd name="connsiteY6" fmla="*/ 0 h 412596"/>
                <a:gd name="connsiteX7" fmla="*/ 44605 w 546410"/>
                <a:gd name="connsiteY7" fmla="*/ 11152 h 412596"/>
                <a:gd name="connsiteX8" fmla="*/ 44605 w 546410"/>
                <a:gd name="connsiteY8" fmla="*/ 11152 h 412596"/>
                <a:gd name="connsiteX9" fmla="*/ 0 w 546410"/>
                <a:gd name="connsiteY9" fmla="*/ 55756 h 412596"/>
                <a:gd name="connsiteX10" fmla="*/ 50180 w 546410"/>
                <a:gd name="connsiteY10" fmla="*/ 117088 h 412596"/>
                <a:gd name="connsiteX11" fmla="*/ 111512 w 546410"/>
                <a:gd name="connsiteY11" fmla="*/ 178420 h 412596"/>
                <a:gd name="connsiteX12" fmla="*/ 189571 w 546410"/>
                <a:gd name="connsiteY12" fmla="*/ 245327 h 412596"/>
                <a:gd name="connsiteX13" fmla="*/ 267629 w 546410"/>
                <a:gd name="connsiteY13" fmla="*/ 312235 h 412596"/>
                <a:gd name="connsiteX14" fmla="*/ 317810 w 546410"/>
                <a:gd name="connsiteY14" fmla="*/ 367991 h 412596"/>
                <a:gd name="connsiteX15" fmla="*/ 423746 w 546410"/>
                <a:gd name="connsiteY15" fmla="*/ 412596 h 412596"/>
                <a:gd name="connsiteX16" fmla="*/ 546410 w 546410"/>
                <a:gd name="connsiteY16" fmla="*/ 412596 h 412596"/>
                <a:gd name="connsiteX17" fmla="*/ 496229 w 546410"/>
                <a:gd name="connsiteY17" fmla="*/ 223025 h 41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6410" h="412596">
                  <a:moveTo>
                    <a:pt x="496229" y="223025"/>
                  </a:moveTo>
                  <a:lnTo>
                    <a:pt x="429322" y="172844"/>
                  </a:lnTo>
                  <a:lnTo>
                    <a:pt x="367990" y="133815"/>
                  </a:lnTo>
                  <a:lnTo>
                    <a:pt x="301083" y="89210"/>
                  </a:lnTo>
                  <a:lnTo>
                    <a:pt x="217449" y="55756"/>
                  </a:lnTo>
                  <a:lnTo>
                    <a:pt x="139390" y="27878"/>
                  </a:lnTo>
                  <a:lnTo>
                    <a:pt x="100361" y="0"/>
                  </a:lnTo>
                  <a:lnTo>
                    <a:pt x="44605" y="11152"/>
                  </a:lnTo>
                  <a:lnTo>
                    <a:pt x="44605" y="11152"/>
                  </a:lnTo>
                  <a:lnTo>
                    <a:pt x="0" y="55756"/>
                  </a:lnTo>
                  <a:lnTo>
                    <a:pt x="50180" y="117088"/>
                  </a:lnTo>
                  <a:lnTo>
                    <a:pt x="111512" y="178420"/>
                  </a:lnTo>
                  <a:lnTo>
                    <a:pt x="189571" y="245327"/>
                  </a:lnTo>
                  <a:lnTo>
                    <a:pt x="267629" y="312235"/>
                  </a:lnTo>
                  <a:lnTo>
                    <a:pt x="317810" y="367991"/>
                  </a:lnTo>
                  <a:lnTo>
                    <a:pt x="423746" y="412596"/>
                  </a:lnTo>
                  <a:lnTo>
                    <a:pt x="546410" y="412596"/>
                  </a:lnTo>
                  <a:lnTo>
                    <a:pt x="496229" y="22302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3" name="Freeform 35">
              <a:extLst>
                <a:ext uri="{FF2B5EF4-FFF2-40B4-BE49-F238E27FC236}">
                  <a16:creationId xmlns:a16="http://schemas.microsoft.com/office/drawing/2014/main" id="{5D4DB0E5-E9E4-7F1D-F3A0-70C925F9CCA6}"/>
                </a:ext>
              </a:extLst>
            </p:cNvPr>
            <p:cNvSpPr/>
            <p:nvPr/>
          </p:nvSpPr>
          <p:spPr>
            <a:xfrm>
              <a:off x="2670717" y="2771078"/>
              <a:ext cx="217449" cy="223024"/>
            </a:xfrm>
            <a:custGeom>
              <a:avLst/>
              <a:gdLst>
                <a:gd name="connsiteX0" fmla="*/ 83634 w 217449"/>
                <a:gd name="connsiteY0" fmla="*/ 0 h 223024"/>
                <a:gd name="connsiteX1" fmla="*/ 27878 w 217449"/>
                <a:gd name="connsiteY1" fmla="*/ 16727 h 223024"/>
                <a:gd name="connsiteX2" fmla="*/ 0 w 217449"/>
                <a:gd name="connsiteY2" fmla="*/ 33454 h 223024"/>
                <a:gd name="connsiteX3" fmla="*/ 22303 w 217449"/>
                <a:gd name="connsiteY3" fmla="*/ 89210 h 223024"/>
                <a:gd name="connsiteX4" fmla="*/ 22303 w 217449"/>
                <a:gd name="connsiteY4" fmla="*/ 89210 h 223024"/>
                <a:gd name="connsiteX5" fmla="*/ 33454 w 217449"/>
                <a:gd name="connsiteY5" fmla="*/ 189571 h 223024"/>
                <a:gd name="connsiteX6" fmla="*/ 44605 w 217449"/>
                <a:gd name="connsiteY6" fmla="*/ 223024 h 223024"/>
                <a:gd name="connsiteX7" fmla="*/ 150542 w 217449"/>
                <a:gd name="connsiteY7" fmla="*/ 189571 h 223024"/>
                <a:gd name="connsiteX8" fmla="*/ 217449 w 217449"/>
                <a:gd name="connsiteY8" fmla="*/ 172844 h 223024"/>
                <a:gd name="connsiteX9" fmla="*/ 172844 w 217449"/>
                <a:gd name="connsiteY9" fmla="*/ 27878 h 223024"/>
                <a:gd name="connsiteX10" fmla="*/ 83634 w 217449"/>
                <a:gd name="connsiteY10" fmla="*/ 0 h 223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7449" h="223024">
                  <a:moveTo>
                    <a:pt x="83634" y="0"/>
                  </a:moveTo>
                  <a:lnTo>
                    <a:pt x="27878" y="16727"/>
                  </a:lnTo>
                  <a:lnTo>
                    <a:pt x="0" y="33454"/>
                  </a:lnTo>
                  <a:lnTo>
                    <a:pt x="22303" y="89210"/>
                  </a:lnTo>
                  <a:lnTo>
                    <a:pt x="22303" y="89210"/>
                  </a:lnTo>
                  <a:lnTo>
                    <a:pt x="33454" y="189571"/>
                  </a:lnTo>
                  <a:lnTo>
                    <a:pt x="44605" y="223024"/>
                  </a:lnTo>
                  <a:lnTo>
                    <a:pt x="150542" y="189571"/>
                  </a:lnTo>
                  <a:lnTo>
                    <a:pt x="217449" y="172844"/>
                  </a:lnTo>
                  <a:lnTo>
                    <a:pt x="172844" y="27878"/>
                  </a:lnTo>
                  <a:lnTo>
                    <a:pt x="83634" y="0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4" name="Freeform 36">
              <a:extLst>
                <a:ext uri="{FF2B5EF4-FFF2-40B4-BE49-F238E27FC236}">
                  <a16:creationId xmlns:a16="http://schemas.microsoft.com/office/drawing/2014/main" id="{565C4F7C-A459-F703-2DAD-7623272C4E59}"/>
                </a:ext>
              </a:extLst>
            </p:cNvPr>
            <p:cNvSpPr/>
            <p:nvPr/>
          </p:nvSpPr>
          <p:spPr>
            <a:xfrm>
              <a:off x="2174488" y="2743200"/>
              <a:ext cx="602166" cy="100361"/>
            </a:xfrm>
            <a:custGeom>
              <a:avLst/>
              <a:gdLst>
                <a:gd name="connsiteX0" fmla="*/ 546410 w 602166"/>
                <a:gd name="connsiteY0" fmla="*/ 39029 h 100361"/>
                <a:gd name="connsiteX1" fmla="*/ 446049 w 602166"/>
                <a:gd name="connsiteY1" fmla="*/ 22302 h 100361"/>
                <a:gd name="connsiteX2" fmla="*/ 317810 w 602166"/>
                <a:gd name="connsiteY2" fmla="*/ 0 h 100361"/>
                <a:gd name="connsiteX3" fmla="*/ 239751 w 602166"/>
                <a:gd name="connsiteY3" fmla="*/ 0 h 100361"/>
                <a:gd name="connsiteX4" fmla="*/ 156117 w 602166"/>
                <a:gd name="connsiteY4" fmla="*/ 0 h 100361"/>
                <a:gd name="connsiteX5" fmla="*/ 61332 w 602166"/>
                <a:gd name="connsiteY5" fmla="*/ 0 h 100361"/>
                <a:gd name="connsiteX6" fmla="*/ 11151 w 602166"/>
                <a:gd name="connsiteY6" fmla="*/ 22302 h 100361"/>
                <a:gd name="connsiteX7" fmla="*/ 0 w 602166"/>
                <a:gd name="connsiteY7" fmla="*/ 39029 h 100361"/>
                <a:gd name="connsiteX8" fmla="*/ 27878 w 602166"/>
                <a:gd name="connsiteY8" fmla="*/ 78059 h 100361"/>
                <a:gd name="connsiteX9" fmla="*/ 133814 w 602166"/>
                <a:gd name="connsiteY9" fmla="*/ 94785 h 100361"/>
                <a:gd name="connsiteX10" fmla="*/ 239751 w 602166"/>
                <a:gd name="connsiteY10" fmla="*/ 89210 h 100361"/>
                <a:gd name="connsiteX11" fmla="*/ 390292 w 602166"/>
                <a:gd name="connsiteY11" fmla="*/ 94785 h 100361"/>
                <a:gd name="connsiteX12" fmla="*/ 518532 w 602166"/>
                <a:gd name="connsiteY12" fmla="*/ 100361 h 100361"/>
                <a:gd name="connsiteX13" fmla="*/ 602166 w 602166"/>
                <a:gd name="connsiteY13" fmla="*/ 94785 h 100361"/>
                <a:gd name="connsiteX14" fmla="*/ 546410 w 602166"/>
                <a:gd name="connsiteY14" fmla="*/ 39029 h 10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2166" h="100361">
                  <a:moveTo>
                    <a:pt x="546410" y="39029"/>
                  </a:moveTo>
                  <a:lnTo>
                    <a:pt x="446049" y="22302"/>
                  </a:lnTo>
                  <a:lnTo>
                    <a:pt x="317810" y="0"/>
                  </a:lnTo>
                  <a:lnTo>
                    <a:pt x="239751" y="0"/>
                  </a:lnTo>
                  <a:lnTo>
                    <a:pt x="156117" y="0"/>
                  </a:lnTo>
                  <a:lnTo>
                    <a:pt x="61332" y="0"/>
                  </a:lnTo>
                  <a:lnTo>
                    <a:pt x="11151" y="22302"/>
                  </a:lnTo>
                  <a:lnTo>
                    <a:pt x="0" y="39029"/>
                  </a:lnTo>
                  <a:lnTo>
                    <a:pt x="27878" y="78059"/>
                  </a:lnTo>
                  <a:lnTo>
                    <a:pt x="133814" y="94785"/>
                  </a:lnTo>
                  <a:lnTo>
                    <a:pt x="239751" y="89210"/>
                  </a:lnTo>
                  <a:lnTo>
                    <a:pt x="390292" y="94785"/>
                  </a:lnTo>
                  <a:lnTo>
                    <a:pt x="518532" y="100361"/>
                  </a:lnTo>
                  <a:lnTo>
                    <a:pt x="602166" y="94785"/>
                  </a:lnTo>
                  <a:lnTo>
                    <a:pt x="546410" y="39029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5" name="Freeform 37">
              <a:extLst>
                <a:ext uri="{FF2B5EF4-FFF2-40B4-BE49-F238E27FC236}">
                  <a16:creationId xmlns:a16="http://schemas.microsoft.com/office/drawing/2014/main" id="{FF2EDA1A-9868-00CA-1106-03C90F210326}"/>
                </a:ext>
              </a:extLst>
            </p:cNvPr>
            <p:cNvSpPr/>
            <p:nvPr/>
          </p:nvSpPr>
          <p:spPr>
            <a:xfrm>
              <a:off x="2124307" y="2810107"/>
              <a:ext cx="696952" cy="172844"/>
            </a:xfrm>
            <a:custGeom>
              <a:avLst/>
              <a:gdLst>
                <a:gd name="connsiteX0" fmla="*/ 429322 w 696952"/>
                <a:gd name="connsiteY0" fmla="*/ 22303 h 172844"/>
                <a:gd name="connsiteX1" fmla="*/ 278781 w 696952"/>
                <a:gd name="connsiteY1" fmla="*/ 33454 h 172844"/>
                <a:gd name="connsiteX2" fmla="*/ 195147 w 696952"/>
                <a:gd name="connsiteY2" fmla="*/ 50181 h 172844"/>
                <a:gd name="connsiteX3" fmla="*/ 122664 w 696952"/>
                <a:gd name="connsiteY3" fmla="*/ 66908 h 172844"/>
                <a:gd name="connsiteX4" fmla="*/ 61332 w 696952"/>
                <a:gd name="connsiteY4" fmla="*/ 78059 h 172844"/>
                <a:gd name="connsiteX5" fmla="*/ 5576 w 696952"/>
                <a:gd name="connsiteY5" fmla="*/ 111513 h 172844"/>
                <a:gd name="connsiteX6" fmla="*/ 0 w 696952"/>
                <a:gd name="connsiteY6" fmla="*/ 128239 h 172844"/>
                <a:gd name="connsiteX7" fmla="*/ 55756 w 696952"/>
                <a:gd name="connsiteY7" fmla="*/ 172844 h 172844"/>
                <a:gd name="connsiteX8" fmla="*/ 234176 w 696952"/>
                <a:gd name="connsiteY8" fmla="*/ 156117 h 172844"/>
                <a:gd name="connsiteX9" fmla="*/ 367991 w 696952"/>
                <a:gd name="connsiteY9" fmla="*/ 144966 h 172844"/>
                <a:gd name="connsiteX10" fmla="*/ 501805 w 696952"/>
                <a:gd name="connsiteY10" fmla="*/ 117088 h 172844"/>
                <a:gd name="connsiteX11" fmla="*/ 646771 w 696952"/>
                <a:gd name="connsiteY11" fmla="*/ 66908 h 172844"/>
                <a:gd name="connsiteX12" fmla="*/ 696952 w 696952"/>
                <a:gd name="connsiteY12" fmla="*/ 27878 h 172844"/>
                <a:gd name="connsiteX13" fmla="*/ 485078 w 696952"/>
                <a:gd name="connsiteY13" fmla="*/ 0 h 172844"/>
                <a:gd name="connsiteX14" fmla="*/ 429322 w 696952"/>
                <a:gd name="connsiteY14" fmla="*/ 22303 h 17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6952" h="172844">
                  <a:moveTo>
                    <a:pt x="429322" y="22303"/>
                  </a:moveTo>
                  <a:lnTo>
                    <a:pt x="278781" y="33454"/>
                  </a:lnTo>
                  <a:lnTo>
                    <a:pt x="195147" y="50181"/>
                  </a:lnTo>
                  <a:lnTo>
                    <a:pt x="122664" y="66908"/>
                  </a:lnTo>
                  <a:lnTo>
                    <a:pt x="61332" y="78059"/>
                  </a:lnTo>
                  <a:lnTo>
                    <a:pt x="5576" y="111513"/>
                  </a:lnTo>
                  <a:lnTo>
                    <a:pt x="0" y="128239"/>
                  </a:lnTo>
                  <a:lnTo>
                    <a:pt x="55756" y="172844"/>
                  </a:lnTo>
                  <a:lnTo>
                    <a:pt x="234176" y="156117"/>
                  </a:lnTo>
                  <a:lnTo>
                    <a:pt x="367991" y="144966"/>
                  </a:lnTo>
                  <a:lnTo>
                    <a:pt x="501805" y="117088"/>
                  </a:lnTo>
                  <a:lnTo>
                    <a:pt x="646771" y="66908"/>
                  </a:lnTo>
                  <a:lnTo>
                    <a:pt x="696952" y="27878"/>
                  </a:lnTo>
                  <a:lnTo>
                    <a:pt x="485078" y="0"/>
                  </a:lnTo>
                  <a:lnTo>
                    <a:pt x="429322" y="22303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6" name="Freeform 38">
              <a:extLst>
                <a:ext uri="{FF2B5EF4-FFF2-40B4-BE49-F238E27FC236}">
                  <a16:creationId xmlns:a16="http://schemas.microsoft.com/office/drawing/2014/main" id="{7BC4A511-0B45-D006-8FE0-AA85B5BE09E8}"/>
                </a:ext>
              </a:extLst>
            </p:cNvPr>
            <p:cNvSpPr/>
            <p:nvPr/>
          </p:nvSpPr>
          <p:spPr>
            <a:xfrm>
              <a:off x="2258122" y="2854712"/>
              <a:ext cx="585439" cy="256478"/>
            </a:xfrm>
            <a:custGeom>
              <a:avLst/>
              <a:gdLst>
                <a:gd name="connsiteX0" fmla="*/ 289932 w 585439"/>
                <a:gd name="connsiteY0" fmla="*/ 66908 h 256478"/>
                <a:gd name="connsiteX1" fmla="*/ 167268 w 585439"/>
                <a:gd name="connsiteY1" fmla="*/ 133815 h 256478"/>
                <a:gd name="connsiteX2" fmla="*/ 100361 w 585439"/>
                <a:gd name="connsiteY2" fmla="*/ 156117 h 256478"/>
                <a:gd name="connsiteX3" fmla="*/ 44605 w 585439"/>
                <a:gd name="connsiteY3" fmla="*/ 183995 h 256478"/>
                <a:gd name="connsiteX4" fmla="*/ 44605 w 585439"/>
                <a:gd name="connsiteY4" fmla="*/ 183995 h 256478"/>
                <a:gd name="connsiteX5" fmla="*/ 0 w 585439"/>
                <a:gd name="connsiteY5" fmla="*/ 228600 h 256478"/>
                <a:gd name="connsiteX6" fmla="*/ 11151 w 585439"/>
                <a:gd name="connsiteY6" fmla="*/ 256478 h 256478"/>
                <a:gd name="connsiteX7" fmla="*/ 133815 w 585439"/>
                <a:gd name="connsiteY7" fmla="*/ 239751 h 256478"/>
                <a:gd name="connsiteX8" fmla="*/ 245327 w 585439"/>
                <a:gd name="connsiteY8" fmla="*/ 195147 h 256478"/>
                <a:gd name="connsiteX9" fmla="*/ 390293 w 585439"/>
                <a:gd name="connsiteY9" fmla="*/ 133815 h 256478"/>
                <a:gd name="connsiteX10" fmla="*/ 585439 w 585439"/>
                <a:gd name="connsiteY10" fmla="*/ 33454 h 256478"/>
                <a:gd name="connsiteX11" fmla="*/ 423746 w 585439"/>
                <a:gd name="connsiteY11" fmla="*/ 0 h 256478"/>
                <a:gd name="connsiteX12" fmla="*/ 289932 w 585439"/>
                <a:gd name="connsiteY12" fmla="*/ 66908 h 25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5439" h="256478">
                  <a:moveTo>
                    <a:pt x="289932" y="66908"/>
                  </a:moveTo>
                  <a:lnTo>
                    <a:pt x="167268" y="133815"/>
                  </a:lnTo>
                  <a:lnTo>
                    <a:pt x="100361" y="156117"/>
                  </a:lnTo>
                  <a:lnTo>
                    <a:pt x="44605" y="183995"/>
                  </a:lnTo>
                  <a:lnTo>
                    <a:pt x="44605" y="183995"/>
                  </a:lnTo>
                  <a:lnTo>
                    <a:pt x="0" y="228600"/>
                  </a:lnTo>
                  <a:lnTo>
                    <a:pt x="11151" y="256478"/>
                  </a:lnTo>
                  <a:lnTo>
                    <a:pt x="133815" y="239751"/>
                  </a:lnTo>
                  <a:lnTo>
                    <a:pt x="245327" y="195147"/>
                  </a:lnTo>
                  <a:lnTo>
                    <a:pt x="390293" y="133815"/>
                  </a:lnTo>
                  <a:lnTo>
                    <a:pt x="585439" y="33454"/>
                  </a:lnTo>
                  <a:lnTo>
                    <a:pt x="423746" y="0"/>
                  </a:lnTo>
                  <a:lnTo>
                    <a:pt x="289932" y="66908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7" name="Freeform 39">
              <a:extLst>
                <a:ext uri="{FF2B5EF4-FFF2-40B4-BE49-F238E27FC236}">
                  <a16:creationId xmlns:a16="http://schemas.microsoft.com/office/drawing/2014/main" id="{4FEA670F-71AF-B77C-A919-5741FAD8719D}"/>
                </a:ext>
              </a:extLst>
            </p:cNvPr>
            <p:cNvSpPr/>
            <p:nvPr/>
          </p:nvSpPr>
          <p:spPr>
            <a:xfrm>
              <a:off x="5222543" y="887104"/>
              <a:ext cx="159224" cy="300251"/>
            </a:xfrm>
            <a:custGeom>
              <a:avLst/>
              <a:gdLst>
                <a:gd name="connsiteX0" fmla="*/ 0 w 159224"/>
                <a:gd name="connsiteY0" fmla="*/ 300251 h 300251"/>
                <a:gd name="connsiteX1" fmla="*/ 36394 w 159224"/>
                <a:gd name="connsiteY1" fmla="*/ 227463 h 300251"/>
                <a:gd name="connsiteX2" fmla="*/ 63690 w 159224"/>
                <a:gd name="connsiteY2" fmla="*/ 209266 h 300251"/>
                <a:gd name="connsiteX3" fmla="*/ 63690 w 159224"/>
                <a:gd name="connsiteY3" fmla="*/ 154675 h 300251"/>
                <a:gd name="connsiteX4" fmla="*/ 68239 w 159224"/>
                <a:gd name="connsiteY4" fmla="*/ 95535 h 300251"/>
                <a:gd name="connsiteX5" fmla="*/ 90985 w 159224"/>
                <a:gd name="connsiteY5" fmla="*/ 18197 h 300251"/>
                <a:gd name="connsiteX6" fmla="*/ 113732 w 159224"/>
                <a:gd name="connsiteY6" fmla="*/ 4550 h 300251"/>
                <a:gd name="connsiteX7" fmla="*/ 113732 w 159224"/>
                <a:gd name="connsiteY7" fmla="*/ 4550 h 300251"/>
                <a:gd name="connsiteX8" fmla="*/ 159224 w 159224"/>
                <a:gd name="connsiteY8" fmla="*/ 0 h 300251"/>
                <a:gd name="connsiteX9" fmla="*/ 131929 w 159224"/>
                <a:gd name="connsiteY9" fmla="*/ 22747 h 300251"/>
                <a:gd name="connsiteX10" fmla="*/ 104633 w 159224"/>
                <a:gd name="connsiteY10" fmla="*/ 36395 h 300251"/>
                <a:gd name="connsiteX11" fmla="*/ 104633 w 159224"/>
                <a:gd name="connsiteY11" fmla="*/ 36395 h 300251"/>
                <a:gd name="connsiteX12" fmla="*/ 81887 w 159224"/>
                <a:gd name="connsiteY12" fmla="*/ 141027 h 300251"/>
                <a:gd name="connsiteX13" fmla="*/ 90985 w 159224"/>
                <a:gd name="connsiteY13" fmla="*/ 191069 h 300251"/>
                <a:gd name="connsiteX14" fmla="*/ 100084 w 159224"/>
                <a:gd name="connsiteY14" fmla="*/ 241111 h 300251"/>
                <a:gd name="connsiteX15" fmla="*/ 145576 w 159224"/>
                <a:gd name="connsiteY15" fmla="*/ 272956 h 300251"/>
                <a:gd name="connsiteX16" fmla="*/ 0 w 159224"/>
                <a:gd name="connsiteY16" fmla="*/ 300251 h 300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9224" h="300251">
                  <a:moveTo>
                    <a:pt x="0" y="300251"/>
                  </a:moveTo>
                  <a:lnTo>
                    <a:pt x="36394" y="227463"/>
                  </a:lnTo>
                  <a:lnTo>
                    <a:pt x="63690" y="209266"/>
                  </a:lnTo>
                  <a:lnTo>
                    <a:pt x="63690" y="154675"/>
                  </a:lnTo>
                  <a:lnTo>
                    <a:pt x="68239" y="95535"/>
                  </a:lnTo>
                  <a:lnTo>
                    <a:pt x="90985" y="18197"/>
                  </a:lnTo>
                  <a:lnTo>
                    <a:pt x="113732" y="4550"/>
                  </a:lnTo>
                  <a:lnTo>
                    <a:pt x="113732" y="4550"/>
                  </a:lnTo>
                  <a:lnTo>
                    <a:pt x="159224" y="0"/>
                  </a:lnTo>
                  <a:lnTo>
                    <a:pt x="131929" y="22747"/>
                  </a:lnTo>
                  <a:lnTo>
                    <a:pt x="104633" y="36395"/>
                  </a:lnTo>
                  <a:lnTo>
                    <a:pt x="104633" y="36395"/>
                  </a:lnTo>
                  <a:lnTo>
                    <a:pt x="81887" y="141027"/>
                  </a:lnTo>
                  <a:lnTo>
                    <a:pt x="90985" y="191069"/>
                  </a:lnTo>
                  <a:lnTo>
                    <a:pt x="100084" y="241111"/>
                  </a:lnTo>
                  <a:lnTo>
                    <a:pt x="145576" y="272956"/>
                  </a:lnTo>
                  <a:lnTo>
                    <a:pt x="0" y="300251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8" name="Freeform 40">
              <a:extLst>
                <a:ext uri="{FF2B5EF4-FFF2-40B4-BE49-F238E27FC236}">
                  <a16:creationId xmlns:a16="http://schemas.microsoft.com/office/drawing/2014/main" id="{5F6E0D67-DE16-1D27-081C-541ABA03243A}"/>
                </a:ext>
              </a:extLst>
            </p:cNvPr>
            <p:cNvSpPr/>
            <p:nvPr/>
          </p:nvSpPr>
          <p:spPr>
            <a:xfrm>
              <a:off x="5550090" y="1191904"/>
              <a:ext cx="263856" cy="163774"/>
            </a:xfrm>
            <a:custGeom>
              <a:avLst/>
              <a:gdLst>
                <a:gd name="connsiteX0" fmla="*/ 54591 w 263856"/>
                <a:gd name="connsiteY0" fmla="*/ 95535 h 163774"/>
                <a:gd name="connsiteX1" fmla="*/ 100083 w 263856"/>
                <a:gd name="connsiteY1" fmla="*/ 104633 h 163774"/>
                <a:gd name="connsiteX2" fmla="*/ 159223 w 263856"/>
                <a:gd name="connsiteY2" fmla="*/ 81887 h 163774"/>
                <a:gd name="connsiteX3" fmla="*/ 200167 w 263856"/>
                <a:gd name="connsiteY3" fmla="*/ 59141 h 163774"/>
                <a:gd name="connsiteX4" fmla="*/ 259307 w 263856"/>
                <a:gd name="connsiteY4" fmla="*/ 22747 h 163774"/>
                <a:gd name="connsiteX5" fmla="*/ 259307 w 263856"/>
                <a:gd name="connsiteY5" fmla="*/ 0 h 163774"/>
                <a:gd name="connsiteX6" fmla="*/ 263856 w 263856"/>
                <a:gd name="connsiteY6" fmla="*/ 40944 h 163774"/>
                <a:gd name="connsiteX7" fmla="*/ 200167 w 263856"/>
                <a:gd name="connsiteY7" fmla="*/ 86436 h 163774"/>
                <a:gd name="connsiteX8" fmla="*/ 154674 w 263856"/>
                <a:gd name="connsiteY8" fmla="*/ 113732 h 163774"/>
                <a:gd name="connsiteX9" fmla="*/ 113731 w 263856"/>
                <a:gd name="connsiteY9" fmla="*/ 136478 h 163774"/>
                <a:gd name="connsiteX10" fmla="*/ 77337 w 263856"/>
                <a:gd name="connsiteY10" fmla="*/ 154675 h 163774"/>
                <a:gd name="connsiteX11" fmla="*/ 31844 w 263856"/>
                <a:gd name="connsiteY11" fmla="*/ 163774 h 163774"/>
                <a:gd name="connsiteX12" fmla="*/ 0 w 263856"/>
                <a:gd name="connsiteY12" fmla="*/ 122830 h 163774"/>
                <a:gd name="connsiteX13" fmla="*/ 54591 w 263856"/>
                <a:gd name="connsiteY13" fmla="*/ 95535 h 163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3856" h="163774">
                  <a:moveTo>
                    <a:pt x="54591" y="95535"/>
                  </a:moveTo>
                  <a:lnTo>
                    <a:pt x="100083" y="104633"/>
                  </a:lnTo>
                  <a:lnTo>
                    <a:pt x="159223" y="81887"/>
                  </a:lnTo>
                  <a:lnTo>
                    <a:pt x="200167" y="59141"/>
                  </a:lnTo>
                  <a:lnTo>
                    <a:pt x="259307" y="22747"/>
                  </a:lnTo>
                  <a:lnTo>
                    <a:pt x="259307" y="0"/>
                  </a:lnTo>
                  <a:lnTo>
                    <a:pt x="263856" y="40944"/>
                  </a:lnTo>
                  <a:lnTo>
                    <a:pt x="200167" y="86436"/>
                  </a:lnTo>
                  <a:lnTo>
                    <a:pt x="154674" y="113732"/>
                  </a:lnTo>
                  <a:lnTo>
                    <a:pt x="113731" y="136478"/>
                  </a:lnTo>
                  <a:lnTo>
                    <a:pt x="77337" y="154675"/>
                  </a:lnTo>
                  <a:lnTo>
                    <a:pt x="31844" y="163774"/>
                  </a:lnTo>
                  <a:lnTo>
                    <a:pt x="0" y="122830"/>
                  </a:lnTo>
                  <a:lnTo>
                    <a:pt x="54591" y="95535"/>
                  </a:lnTo>
                  <a:close/>
                </a:path>
              </a:pathLst>
            </a:custGeom>
            <a:grpFill/>
            <a:ln w="3175">
              <a:solidFill>
                <a:srgbClr val="1A0D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825C3F63-90BD-442B-9DF9-200B4A5E47CD}"/>
                </a:ext>
              </a:extLst>
            </p:cNvPr>
            <p:cNvCxnSpPr>
              <a:endCxn id="253" idx="6"/>
            </p:cNvCxnSpPr>
            <p:nvPr/>
          </p:nvCxnSpPr>
          <p:spPr>
            <a:xfrm>
              <a:off x="4913194" y="1081668"/>
              <a:ext cx="88128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3DA8A574-90AA-A95E-F0BC-369043E4CF83}"/>
                </a:ext>
              </a:extLst>
            </p:cNvPr>
            <p:cNvCxnSpPr>
              <a:endCxn id="253" idx="6"/>
            </p:cNvCxnSpPr>
            <p:nvPr/>
          </p:nvCxnSpPr>
          <p:spPr>
            <a:xfrm>
              <a:off x="4885899" y="1081668"/>
              <a:ext cx="115423" cy="3512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7B83604A-13D9-6DDD-2EFD-73D4A4E122D4}"/>
                </a:ext>
              </a:extLst>
            </p:cNvPr>
            <p:cNvCxnSpPr>
              <a:endCxn id="253" idx="6"/>
            </p:cNvCxnSpPr>
            <p:nvPr/>
          </p:nvCxnSpPr>
          <p:spPr>
            <a:xfrm>
              <a:off x="4811751" y="1187355"/>
              <a:ext cx="189571" cy="24557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C606284E-F5B7-D917-0278-2A32F449341E}"/>
                </a:ext>
              </a:extLst>
            </p:cNvPr>
            <p:cNvCxnSpPr>
              <a:endCxn id="253" idx="18"/>
            </p:cNvCxnSpPr>
            <p:nvPr/>
          </p:nvCxnSpPr>
          <p:spPr>
            <a:xfrm flipH="1">
              <a:off x="5491976" y="1410629"/>
              <a:ext cx="285576" cy="2230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FE2D3E2-C132-4C6E-70A6-58019FC8C1D0}"/>
                </a:ext>
              </a:extLst>
            </p:cNvPr>
            <p:cNvCxnSpPr>
              <a:endCxn id="253" idx="18"/>
            </p:cNvCxnSpPr>
            <p:nvPr/>
          </p:nvCxnSpPr>
          <p:spPr>
            <a:xfrm flipH="1">
              <a:off x="5491976" y="1555595"/>
              <a:ext cx="290125" cy="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B453945C-5928-AA05-23B2-D3101A0B07D6}"/>
                </a:ext>
              </a:extLst>
            </p:cNvPr>
            <p:cNvCxnSpPr>
              <a:endCxn id="253" idx="18"/>
            </p:cNvCxnSpPr>
            <p:nvPr/>
          </p:nvCxnSpPr>
          <p:spPr>
            <a:xfrm flipH="1">
              <a:off x="5491976" y="1633654"/>
              <a:ext cx="285576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D5727A9C-CA3F-A715-7422-0A0EB840AD64}"/>
                </a:ext>
              </a:extLst>
            </p:cNvPr>
            <p:cNvCxnSpPr>
              <a:endCxn id="253" idx="18"/>
            </p:cNvCxnSpPr>
            <p:nvPr/>
          </p:nvCxnSpPr>
          <p:spPr>
            <a:xfrm flipH="1">
              <a:off x="5491976" y="1501254"/>
              <a:ext cx="253731" cy="13240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6CF6F8E7-1392-69B7-F36E-1CF1C806E51D}"/>
                </a:ext>
              </a:extLst>
            </p:cNvPr>
            <p:cNvCxnSpPr>
              <a:endCxn id="253" idx="24"/>
            </p:cNvCxnSpPr>
            <p:nvPr/>
          </p:nvCxnSpPr>
          <p:spPr>
            <a:xfrm flipH="1">
              <a:off x="5497551" y="1751463"/>
              <a:ext cx="316395" cy="13309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0B7D73DD-1C93-AA86-D85A-F438E83D6335}"/>
                </a:ext>
              </a:extLst>
            </p:cNvPr>
            <p:cNvCxnSpPr>
              <a:endCxn id="253" idx="24"/>
            </p:cNvCxnSpPr>
            <p:nvPr/>
          </p:nvCxnSpPr>
          <p:spPr>
            <a:xfrm flipH="1">
              <a:off x="5497551" y="1815152"/>
              <a:ext cx="316395" cy="6940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42214911-C2D4-A914-8B74-34B5B318DC2E}"/>
                </a:ext>
              </a:extLst>
            </p:cNvPr>
            <p:cNvCxnSpPr>
              <a:endCxn id="253" idx="24"/>
            </p:cNvCxnSpPr>
            <p:nvPr/>
          </p:nvCxnSpPr>
          <p:spPr>
            <a:xfrm flipH="1" flipV="1">
              <a:off x="5497551" y="1884556"/>
              <a:ext cx="316395" cy="3345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7D5DBF20-25E9-70BC-BD0B-17FDE6E21A54}"/>
                </a:ext>
              </a:extLst>
            </p:cNvPr>
            <p:cNvCxnSpPr>
              <a:endCxn id="253" idx="24"/>
            </p:cNvCxnSpPr>
            <p:nvPr/>
          </p:nvCxnSpPr>
          <p:spPr>
            <a:xfrm flipH="1">
              <a:off x="5497551" y="1884556"/>
              <a:ext cx="316395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4F89F7C7-E4D1-9245-8A18-E242FFBFA33E}"/>
                </a:ext>
              </a:extLst>
            </p:cNvPr>
            <p:cNvCxnSpPr>
              <a:endCxn id="253" idx="2"/>
            </p:cNvCxnSpPr>
            <p:nvPr/>
          </p:nvCxnSpPr>
          <p:spPr>
            <a:xfrm>
              <a:off x="4608394" y="1155510"/>
              <a:ext cx="259113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ED82869B-BBA3-024D-55FF-2B7879234936}"/>
                </a:ext>
              </a:extLst>
            </p:cNvPr>
            <p:cNvCxnSpPr>
              <a:endCxn id="253" idx="2"/>
            </p:cNvCxnSpPr>
            <p:nvPr/>
          </p:nvCxnSpPr>
          <p:spPr>
            <a:xfrm>
              <a:off x="4767146" y="1155510"/>
              <a:ext cx="100361" cy="37778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C7E2EA16-33A3-AEA8-A921-0DE286418F43}"/>
                </a:ext>
              </a:extLst>
            </p:cNvPr>
            <p:cNvCxnSpPr>
              <a:endCxn id="253" idx="2"/>
            </p:cNvCxnSpPr>
            <p:nvPr/>
          </p:nvCxnSpPr>
          <p:spPr>
            <a:xfrm>
              <a:off x="4566424" y="1319284"/>
              <a:ext cx="301083" cy="21400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2CD9FC63-A961-6782-88A5-850FCAC1DBB7}"/>
                </a:ext>
              </a:extLst>
            </p:cNvPr>
            <p:cNvCxnSpPr>
              <a:endCxn id="253" idx="2"/>
            </p:cNvCxnSpPr>
            <p:nvPr/>
          </p:nvCxnSpPr>
          <p:spPr>
            <a:xfrm>
              <a:off x="4493941" y="1410629"/>
              <a:ext cx="373566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0153C4D8-11FB-2609-DCDE-25A78665C547}"/>
                </a:ext>
              </a:extLst>
            </p:cNvPr>
            <p:cNvCxnSpPr>
              <a:endCxn id="253" idx="2"/>
            </p:cNvCxnSpPr>
            <p:nvPr/>
          </p:nvCxnSpPr>
          <p:spPr>
            <a:xfrm>
              <a:off x="4493941" y="1355678"/>
              <a:ext cx="373566" cy="17761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EF30E703-70C9-5931-CB59-CABFA95FE1A7}"/>
                </a:ext>
              </a:extLst>
            </p:cNvPr>
            <p:cNvCxnSpPr>
              <a:endCxn id="253" idx="40"/>
            </p:cNvCxnSpPr>
            <p:nvPr/>
          </p:nvCxnSpPr>
          <p:spPr>
            <a:xfrm>
              <a:off x="4394579" y="1633654"/>
              <a:ext cx="383719" cy="613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9DF57AF3-0B1C-0385-02EE-7C8D42B17D82}"/>
                </a:ext>
              </a:extLst>
            </p:cNvPr>
            <p:cNvCxnSpPr>
              <a:cxnSpLocks/>
              <a:endCxn id="253" idx="40"/>
            </p:cNvCxnSpPr>
            <p:nvPr/>
          </p:nvCxnSpPr>
          <p:spPr>
            <a:xfrm>
              <a:off x="4394579" y="1694985"/>
              <a:ext cx="383719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693BD359-D94E-84FB-6D77-FEFD4FBE1AF4}"/>
                </a:ext>
              </a:extLst>
            </p:cNvPr>
            <p:cNvCxnSpPr>
              <a:endCxn id="253" idx="40"/>
            </p:cNvCxnSpPr>
            <p:nvPr/>
          </p:nvCxnSpPr>
          <p:spPr>
            <a:xfrm flipV="1">
              <a:off x="4493941" y="1694985"/>
              <a:ext cx="284357" cy="12016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8D932B43-3616-DFD2-B1D0-0CF2C015FB09}"/>
                </a:ext>
              </a:extLst>
            </p:cNvPr>
            <p:cNvCxnSpPr>
              <a:endCxn id="253" idx="40"/>
            </p:cNvCxnSpPr>
            <p:nvPr/>
          </p:nvCxnSpPr>
          <p:spPr>
            <a:xfrm flipV="1">
              <a:off x="4426424" y="1694985"/>
              <a:ext cx="351874" cy="5647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F457CAFB-AE90-1F2D-44AB-4650EC014860}"/>
                </a:ext>
              </a:extLst>
            </p:cNvPr>
            <p:cNvCxnSpPr>
              <a:endCxn id="254" idx="4"/>
            </p:cNvCxnSpPr>
            <p:nvPr/>
          </p:nvCxnSpPr>
          <p:spPr>
            <a:xfrm>
              <a:off x="4394579" y="1884556"/>
              <a:ext cx="305660" cy="150542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06B49FE6-526F-7364-6DAE-BE6862631A98}"/>
                </a:ext>
              </a:extLst>
            </p:cNvPr>
            <p:cNvCxnSpPr>
              <a:endCxn id="254" idx="4"/>
            </p:cNvCxnSpPr>
            <p:nvPr/>
          </p:nvCxnSpPr>
          <p:spPr>
            <a:xfrm>
              <a:off x="4426424" y="1992573"/>
              <a:ext cx="273815" cy="4252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79F89E11-1A80-B1C4-B594-63C86D8645DF}"/>
                </a:ext>
              </a:extLst>
            </p:cNvPr>
            <p:cNvCxnSpPr/>
            <p:nvPr/>
          </p:nvCxnSpPr>
          <p:spPr>
            <a:xfrm>
              <a:off x="4394579" y="1918010"/>
              <a:ext cx="305660" cy="1170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DD10878D-496A-38A2-FEBE-3FE7F332385E}"/>
                </a:ext>
              </a:extLst>
            </p:cNvPr>
            <p:cNvCxnSpPr>
              <a:endCxn id="255" idx="4"/>
            </p:cNvCxnSpPr>
            <p:nvPr/>
          </p:nvCxnSpPr>
          <p:spPr>
            <a:xfrm>
              <a:off x="4339988" y="1992573"/>
              <a:ext cx="198558" cy="2209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EF965267-31CF-BB47-F129-2EEBBD392665}"/>
                </a:ext>
              </a:extLst>
            </p:cNvPr>
            <p:cNvCxnSpPr>
              <a:endCxn id="255" idx="4"/>
            </p:cNvCxnSpPr>
            <p:nvPr/>
          </p:nvCxnSpPr>
          <p:spPr>
            <a:xfrm>
              <a:off x="4209585" y="2035098"/>
              <a:ext cx="328961" cy="17841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C7446BBB-AB5D-0B8B-5640-16DF7DD38FA2}"/>
                </a:ext>
              </a:extLst>
            </p:cNvPr>
            <p:cNvCxnSpPr>
              <a:endCxn id="255" idx="4"/>
            </p:cNvCxnSpPr>
            <p:nvPr/>
          </p:nvCxnSpPr>
          <p:spPr>
            <a:xfrm>
              <a:off x="4209585" y="2113156"/>
              <a:ext cx="328961" cy="10036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FF03D7C-1273-2BFA-7A27-AB554C6F9AB6}"/>
                </a:ext>
              </a:extLst>
            </p:cNvPr>
            <p:cNvCxnSpPr>
              <a:endCxn id="255" idx="4"/>
            </p:cNvCxnSpPr>
            <p:nvPr/>
          </p:nvCxnSpPr>
          <p:spPr>
            <a:xfrm>
              <a:off x="4339988" y="2213517"/>
              <a:ext cx="198558" cy="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1B6F9183-3D0E-7D22-3848-06D77B7F75B8}"/>
                </a:ext>
              </a:extLst>
            </p:cNvPr>
            <p:cNvCxnSpPr>
              <a:endCxn id="256" idx="5"/>
            </p:cNvCxnSpPr>
            <p:nvPr/>
          </p:nvCxnSpPr>
          <p:spPr>
            <a:xfrm>
              <a:off x="3986561" y="2352907"/>
              <a:ext cx="317810" cy="12266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774BA93-32E3-1850-6354-EBD9C01D8F6C}"/>
                </a:ext>
              </a:extLst>
            </p:cNvPr>
            <p:cNvCxnSpPr>
              <a:endCxn id="256" idx="5"/>
            </p:cNvCxnSpPr>
            <p:nvPr/>
          </p:nvCxnSpPr>
          <p:spPr>
            <a:xfrm flipV="1">
              <a:off x="4026090" y="2475571"/>
              <a:ext cx="278281" cy="3345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CB9B6D-16BE-AF9A-6311-7E7E2ACBB75C}"/>
                </a:ext>
              </a:extLst>
            </p:cNvPr>
            <p:cNvCxnSpPr>
              <a:endCxn id="257" idx="3"/>
            </p:cNvCxnSpPr>
            <p:nvPr/>
          </p:nvCxnSpPr>
          <p:spPr>
            <a:xfrm>
              <a:off x="3858322" y="2475571"/>
              <a:ext cx="245327" cy="12266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D2FBA769-D5B1-BFF9-8B82-082B987701CE}"/>
                </a:ext>
              </a:extLst>
            </p:cNvPr>
            <p:cNvCxnSpPr/>
            <p:nvPr/>
          </p:nvCxnSpPr>
          <p:spPr>
            <a:xfrm>
              <a:off x="3858322" y="2559205"/>
              <a:ext cx="240556" cy="4460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E94889E8-D90D-74CD-7E0F-8C1B66972E1B}"/>
                </a:ext>
              </a:extLst>
            </p:cNvPr>
            <p:cNvCxnSpPr>
              <a:endCxn id="258" idx="3"/>
            </p:cNvCxnSpPr>
            <p:nvPr/>
          </p:nvCxnSpPr>
          <p:spPr>
            <a:xfrm>
              <a:off x="3625755" y="2559205"/>
              <a:ext cx="182386" cy="13939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90C6D5D9-F16E-2E37-36F6-67B3C2EE3830}"/>
                </a:ext>
              </a:extLst>
            </p:cNvPr>
            <p:cNvCxnSpPr>
              <a:cxnSpLocks/>
              <a:endCxn id="258" idx="3"/>
            </p:cNvCxnSpPr>
            <p:nvPr/>
          </p:nvCxnSpPr>
          <p:spPr>
            <a:xfrm>
              <a:off x="3685478" y="2656764"/>
              <a:ext cx="122663" cy="4183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735111CD-CEB0-7DA7-0D19-73E71F9455A7}"/>
                </a:ext>
              </a:extLst>
            </p:cNvPr>
            <p:cNvCxnSpPr>
              <a:endCxn id="259" idx="4"/>
            </p:cNvCxnSpPr>
            <p:nvPr/>
          </p:nvCxnSpPr>
          <p:spPr>
            <a:xfrm>
              <a:off x="3367668" y="2598234"/>
              <a:ext cx="83634" cy="17284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C7BF12AC-04A3-EBB7-562D-48CEA54A6391}"/>
                </a:ext>
              </a:extLst>
            </p:cNvPr>
            <p:cNvCxnSpPr>
              <a:cxnSpLocks/>
              <a:endCxn id="259" idx="4"/>
            </p:cNvCxnSpPr>
            <p:nvPr/>
          </p:nvCxnSpPr>
          <p:spPr>
            <a:xfrm>
              <a:off x="3451302" y="2656764"/>
              <a:ext cx="0" cy="11431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61DC5F6B-2753-C030-9ABD-5EC434FB170D}"/>
                </a:ext>
              </a:extLst>
            </p:cNvPr>
            <p:cNvCxnSpPr>
              <a:endCxn id="253" idx="26"/>
            </p:cNvCxnSpPr>
            <p:nvPr/>
          </p:nvCxnSpPr>
          <p:spPr>
            <a:xfrm flipH="1">
              <a:off x="5419493" y="1992573"/>
              <a:ext cx="267074" cy="3694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2D0ACE03-B5A7-D28B-44E6-8AFD0D818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7261" y="2035098"/>
              <a:ext cx="259306" cy="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5BDF26A-7BFA-9699-F941-9CEA08719B70}"/>
                </a:ext>
              </a:extLst>
            </p:cNvPr>
            <p:cNvCxnSpPr/>
            <p:nvPr/>
          </p:nvCxnSpPr>
          <p:spPr>
            <a:xfrm flipH="1" flipV="1">
              <a:off x="5419493" y="2029522"/>
              <a:ext cx="267074" cy="4948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303C0177-927E-94C4-0E77-4175AF645B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7261" y="2029523"/>
              <a:ext cx="318446" cy="126823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7C56C0BC-3742-1D1D-336A-F39C633DFFA9}"/>
                </a:ext>
              </a:extLst>
            </p:cNvPr>
            <p:cNvCxnSpPr>
              <a:cxnSpLocks/>
              <a:stCxn id="253" idx="26"/>
            </p:cNvCxnSpPr>
            <p:nvPr/>
          </p:nvCxnSpPr>
          <p:spPr>
            <a:xfrm>
              <a:off x="5419493" y="2029522"/>
              <a:ext cx="267074" cy="131374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D56A1169-6F92-285E-4886-68579C7BE085}"/>
                </a:ext>
              </a:extLst>
            </p:cNvPr>
            <p:cNvCxnSpPr/>
            <p:nvPr/>
          </p:nvCxnSpPr>
          <p:spPr>
            <a:xfrm>
              <a:off x="5419493" y="2029522"/>
              <a:ext cx="267074" cy="18399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6CDC1461-0C3A-D44B-4013-AD54272AE758}"/>
                </a:ext>
              </a:extLst>
            </p:cNvPr>
            <p:cNvCxnSpPr>
              <a:stCxn id="254" idx="15"/>
            </p:cNvCxnSpPr>
            <p:nvPr/>
          </p:nvCxnSpPr>
          <p:spPr>
            <a:xfrm>
              <a:off x="5090532" y="2302727"/>
              <a:ext cx="213898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F355442F-822B-C8BD-8419-5AA26B449F4B}"/>
                </a:ext>
              </a:extLst>
            </p:cNvPr>
            <p:cNvCxnSpPr>
              <a:cxnSpLocks/>
              <a:stCxn id="254" idx="15"/>
            </p:cNvCxnSpPr>
            <p:nvPr/>
          </p:nvCxnSpPr>
          <p:spPr>
            <a:xfrm>
              <a:off x="5090532" y="2302727"/>
              <a:ext cx="291235" cy="35403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FD05A169-2C98-408C-913E-B173C4116D6F}"/>
                </a:ext>
              </a:extLst>
            </p:cNvPr>
            <p:cNvCxnSpPr>
              <a:endCxn id="254" idx="15"/>
            </p:cNvCxnSpPr>
            <p:nvPr/>
          </p:nvCxnSpPr>
          <p:spPr>
            <a:xfrm flipH="1" flipV="1">
              <a:off x="5090532" y="2302727"/>
              <a:ext cx="291235" cy="295507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D4C159B0-D2C4-1EE9-AC1E-974DA011817A}"/>
                </a:ext>
              </a:extLst>
            </p:cNvPr>
            <p:cNvCxnSpPr>
              <a:endCxn id="255" idx="13"/>
            </p:cNvCxnSpPr>
            <p:nvPr/>
          </p:nvCxnSpPr>
          <p:spPr>
            <a:xfrm flipH="1" flipV="1">
              <a:off x="4900961" y="2575932"/>
              <a:ext cx="284356" cy="234175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62E2F1B6-0EA7-706F-5F1F-C14B2B84D86F}"/>
                </a:ext>
              </a:extLst>
            </p:cNvPr>
            <p:cNvCxnSpPr>
              <a:cxnSpLocks/>
              <a:endCxn id="255" idx="13"/>
            </p:cNvCxnSpPr>
            <p:nvPr/>
          </p:nvCxnSpPr>
          <p:spPr>
            <a:xfrm flipH="1" flipV="1">
              <a:off x="4900961" y="2575932"/>
              <a:ext cx="228602" cy="345688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797C0788-D5F6-9288-AEAD-30AA61499E23}"/>
                </a:ext>
              </a:extLst>
            </p:cNvPr>
            <p:cNvCxnSpPr>
              <a:cxnSpLocks/>
              <a:endCxn id="255" idx="13"/>
            </p:cNvCxnSpPr>
            <p:nvPr/>
          </p:nvCxnSpPr>
          <p:spPr>
            <a:xfrm flipH="1" flipV="1">
              <a:off x="4900961" y="2575932"/>
              <a:ext cx="189572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38231B11-BE4E-E381-8BFA-BCF4C1C3264A}"/>
                </a:ext>
              </a:extLst>
            </p:cNvPr>
            <p:cNvCxnSpPr>
              <a:endCxn id="256" idx="14"/>
            </p:cNvCxnSpPr>
            <p:nvPr/>
          </p:nvCxnSpPr>
          <p:spPr>
            <a:xfrm flipH="1" flipV="1">
              <a:off x="4689088" y="2826834"/>
              <a:ext cx="224106" cy="28435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2726D622-AFBC-E483-192D-2E024E3F24E9}"/>
                </a:ext>
              </a:extLst>
            </p:cNvPr>
            <p:cNvCxnSpPr>
              <a:cxnSpLocks/>
              <a:endCxn id="256" idx="14"/>
            </p:cNvCxnSpPr>
            <p:nvPr/>
          </p:nvCxnSpPr>
          <p:spPr>
            <a:xfrm flipH="1" flipV="1">
              <a:off x="4689088" y="2826834"/>
              <a:ext cx="196812" cy="167270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B0707E19-B2ED-14AA-6D3E-A5BF9AE25B63}"/>
                </a:ext>
              </a:extLst>
            </p:cNvPr>
            <p:cNvCxnSpPr/>
            <p:nvPr/>
          </p:nvCxnSpPr>
          <p:spPr>
            <a:xfrm>
              <a:off x="4695690" y="2826834"/>
              <a:ext cx="144716" cy="23417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AD93DC4-6738-2C43-FA7D-15CDB763CC0C}"/>
                </a:ext>
              </a:extLst>
            </p:cNvPr>
            <p:cNvCxnSpPr>
              <a:cxnSpLocks/>
              <a:stCxn id="257" idx="13"/>
            </p:cNvCxnSpPr>
            <p:nvPr/>
          </p:nvCxnSpPr>
          <p:spPr>
            <a:xfrm>
              <a:off x="4293220" y="3061010"/>
              <a:ext cx="46768" cy="25539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AF471FFB-2CD3-3CEB-2081-FCA179BA95BD}"/>
                </a:ext>
              </a:extLst>
            </p:cNvPr>
            <p:cNvCxnSpPr/>
            <p:nvPr/>
          </p:nvCxnSpPr>
          <p:spPr>
            <a:xfrm flipH="1">
              <a:off x="4287644" y="3061010"/>
              <a:ext cx="16727" cy="178059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43D9A8D5-A069-DB8C-BF32-6875747E3217}"/>
                </a:ext>
              </a:extLst>
            </p:cNvPr>
            <p:cNvCxnSpPr>
              <a:cxnSpLocks/>
              <a:stCxn id="258" idx="13"/>
            </p:cNvCxnSpPr>
            <p:nvPr/>
          </p:nvCxnSpPr>
          <p:spPr>
            <a:xfrm>
              <a:off x="3908502" y="3189249"/>
              <a:ext cx="35701" cy="239751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728D74FB-8C57-3F09-3159-866EF8DE93CC}"/>
                </a:ext>
              </a:extLst>
            </p:cNvPr>
            <p:cNvCxnSpPr>
              <a:cxnSpLocks/>
              <a:stCxn id="258" idx="13"/>
            </p:cNvCxnSpPr>
            <p:nvPr/>
          </p:nvCxnSpPr>
          <p:spPr>
            <a:xfrm>
              <a:off x="3908502" y="3189249"/>
              <a:ext cx="58895" cy="16292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77008FA-9BD8-77CD-40DB-9C04017D9F90}"/>
                </a:ext>
              </a:extLst>
            </p:cNvPr>
            <p:cNvCxnSpPr>
              <a:stCxn id="259" idx="12"/>
            </p:cNvCxnSpPr>
            <p:nvPr/>
          </p:nvCxnSpPr>
          <p:spPr>
            <a:xfrm flipH="1">
              <a:off x="3243618" y="3200400"/>
              <a:ext cx="185382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E8488BB3-5A4C-42D4-4372-37367960050A}"/>
                </a:ext>
              </a:extLst>
            </p:cNvPr>
            <p:cNvCxnSpPr>
              <a:stCxn id="259" idx="12"/>
            </p:cNvCxnSpPr>
            <p:nvPr/>
          </p:nvCxnSpPr>
          <p:spPr>
            <a:xfrm flipH="1">
              <a:off x="3298209" y="3200400"/>
              <a:ext cx="130791" cy="116006"/>
            </a:xfrm>
            <a:prstGeom prst="line">
              <a:avLst/>
            </a:prstGeom>
            <a:grpFill/>
            <a:ln w="3175">
              <a:solidFill>
                <a:srgbClr val="1A0D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19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F1BA-4F8E-D765-187E-CC62BB05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19D2D19-1781-B4B6-9A3F-EDF65EC81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144" y="1571626"/>
            <a:ext cx="4074438" cy="46434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B4D554-669A-A4B9-690F-0F12988AC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36EE2-162F-4C5C-EC9B-6BD7D8615F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Interpreting KM Curves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Steep = higher death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Flat = better survival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Tick marks = censored observations</a:t>
            </a:r>
          </a:p>
          <a:p>
            <a:pPr marL="0" indent="0">
              <a:buNone/>
            </a:pPr>
            <a:r>
              <a:rPr lang="en-US" b="1" dirty="0"/>
              <a:t>Median survival time</a:t>
            </a:r>
            <a:r>
              <a:rPr lang="en-US" dirty="0"/>
              <a:t>:</a:t>
            </a:r>
          </a:p>
          <a:p>
            <a:r>
              <a:rPr lang="en-US" i="1" dirty="0"/>
              <a:t>t </a:t>
            </a:r>
            <a:r>
              <a:rPr lang="en-US" dirty="0"/>
              <a:t>at which 50 % of population is expected to </a:t>
            </a:r>
            <a:r>
              <a:rPr lang="en-US" i="1" dirty="0"/>
              <a:t>not have experienced the event yet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A4F635-AFDF-D478-9DFA-C82D209D8DA9}"/>
              </a:ext>
            </a:extLst>
          </p:cNvPr>
          <p:cNvCxnSpPr>
            <a:cxnSpLocks/>
          </p:cNvCxnSpPr>
          <p:nvPr/>
        </p:nvCxnSpPr>
        <p:spPr>
          <a:xfrm flipV="1">
            <a:off x="8515350" y="3603893"/>
            <a:ext cx="0" cy="186345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BA10DE-D98E-4D38-A136-2284DF5E2484}"/>
              </a:ext>
            </a:extLst>
          </p:cNvPr>
          <p:cNvCxnSpPr>
            <a:cxnSpLocks/>
          </p:cNvCxnSpPr>
          <p:nvPr/>
        </p:nvCxnSpPr>
        <p:spPr>
          <a:xfrm flipV="1">
            <a:off x="7245341" y="3603893"/>
            <a:ext cx="1270009" cy="1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0243933-9EE2-D63B-2DF9-A0C2A2BC5BD6}"/>
              </a:ext>
            </a:extLst>
          </p:cNvPr>
          <p:cNvSpPr txBox="1"/>
          <p:nvPr/>
        </p:nvSpPr>
        <p:spPr>
          <a:xfrm>
            <a:off x="6717355" y="3373061"/>
            <a:ext cx="45934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2400" cap="all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50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5C62D3-90E8-4809-8367-89A2B7193F52}"/>
              </a:ext>
            </a:extLst>
          </p:cNvPr>
          <p:cNvSpPr txBox="1"/>
          <p:nvPr/>
        </p:nvSpPr>
        <p:spPr>
          <a:xfrm>
            <a:off x="7069242" y="5896422"/>
            <a:ext cx="333205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Median survival = 8 time units</a:t>
            </a:r>
          </a:p>
        </p:txBody>
      </p:sp>
    </p:spTree>
    <p:extLst>
      <p:ext uri="{BB962C8B-B14F-4D97-AF65-F5344CB8AC3E}">
        <p14:creationId xmlns:p14="http://schemas.microsoft.com/office/powerpoint/2010/main" val="136228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37DF-5C63-6F1B-25F2-CD75FE0FE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Kaplan-Meier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84419-652C-D3A8-F24B-B0DBDC497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250596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</a:t>
            </a:r>
            <a:r>
              <a:rPr lang="en-US" dirty="0"/>
              <a:t>: Insecticide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Compare survival under 0.5% vs. 1.0% permethrin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Green line drops faster</a:t>
            </a:r>
            <a:br>
              <a:rPr lang="en-US" dirty="0"/>
            </a:b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higher mortality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A879282-940D-7541-5FA8-2860F7ECE9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44658" y="1690688"/>
            <a:ext cx="3818132" cy="435133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7AFC256-970A-F68D-304A-F9C3F9AD4F3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024"/>
          <a:stretch/>
        </p:blipFill>
        <p:spPr>
          <a:xfrm>
            <a:off x="1243265" y="5135897"/>
            <a:ext cx="735239" cy="736342"/>
          </a:xfrm>
          <a:prstGeom prst="rect">
            <a:avLst/>
          </a:prstGeom>
        </p:spPr>
      </p:pic>
      <p:pic>
        <p:nvPicPr>
          <p:cNvPr id="13" name="Graphic 12" descr="Danger with solid fill">
            <a:extLst>
              <a:ext uri="{FF2B5EF4-FFF2-40B4-BE49-F238E27FC236}">
                <a16:creationId xmlns:a16="http://schemas.microsoft.com/office/drawing/2014/main" id="{F782ADB2-4973-26EB-2786-D45BDA368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9674" y="5575548"/>
            <a:ext cx="399082" cy="399082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34DE496-4986-83BC-3B8C-D13E8EEFB48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7977"/>
          <a:stretch/>
        </p:blipFill>
        <p:spPr>
          <a:xfrm>
            <a:off x="1851518" y="4965462"/>
            <a:ext cx="767452" cy="690933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E624E9A-2ED0-7814-2872-7A8BE19EB0D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7977"/>
          <a:stretch/>
        </p:blipFill>
        <p:spPr>
          <a:xfrm>
            <a:off x="4826066" y="4965462"/>
            <a:ext cx="767452" cy="690933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2D82623-D11C-17A2-979D-06E94B64EDA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0024"/>
          <a:stretch/>
        </p:blipFill>
        <p:spPr>
          <a:xfrm>
            <a:off x="4227386" y="5371263"/>
            <a:ext cx="735239" cy="736342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7EB0026-6DA2-ADE2-CAE2-2A66E5169F8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b="20024"/>
          <a:stretch/>
        </p:blipFill>
        <p:spPr>
          <a:xfrm>
            <a:off x="3918511" y="5003092"/>
            <a:ext cx="735239" cy="736342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718D998-1063-B519-1237-8ED909B1A95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b="27977"/>
          <a:stretch/>
        </p:blipFill>
        <p:spPr>
          <a:xfrm rot="10800000">
            <a:off x="9997175" y="4898789"/>
            <a:ext cx="938830" cy="8452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33630F4-3540-1A56-4B05-BF4B27A78C99}"/>
              </a:ext>
            </a:extLst>
          </p:cNvPr>
          <p:cNvSpPr txBox="1"/>
          <p:nvPr/>
        </p:nvSpPr>
        <p:spPr>
          <a:xfrm>
            <a:off x="749221" y="4417691"/>
            <a:ext cx="2098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  <a:latin typeface="Bahnschrift SemiBold Condensed" panose="020B0502040204020203" pitchFamily="34" charset="0"/>
              </a:rPr>
              <a:t>0.5% Permethrin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7860EE-EA76-A969-9600-E5BB6DCDA454}"/>
              </a:ext>
            </a:extLst>
          </p:cNvPr>
          <p:cNvSpPr txBox="1"/>
          <p:nvPr/>
        </p:nvSpPr>
        <p:spPr>
          <a:xfrm>
            <a:off x="3726320" y="4429256"/>
            <a:ext cx="2098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Bahnschrift SemiBold Condensed" panose="020B0502040204020203" pitchFamily="34" charset="0"/>
              </a:rPr>
              <a:t>1.0% Permethrin</a:t>
            </a:r>
          </a:p>
        </p:txBody>
      </p:sp>
      <p:pic>
        <p:nvPicPr>
          <p:cNvPr id="17" name="Graphic 16" descr="Danger with solid fill">
            <a:extLst>
              <a:ext uri="{FF2B5EF4-FFF2-40B4-BE49-F238E27FC236}">
                <a16:creationId xmlns:a16="http://schemas.microsoft.com/office/drawing/2014/main" id="{28818494-7F4F-4075-C89C-179183ED97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86518" y="5524438"/>
            <a:ext cx="399082" cy="3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84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B4E4-7696-80D3-D87A-7951722D0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F241-6F55-A6EA-C954-E484DADD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Comparing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421D6-B944-D9D1-C9B9-B8C7CDF845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Plot KM curves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Resistant vs. susceptible strains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Field vs. lab mosquitoes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environmental conditions</a:t>
            </a:r>
          </a:p>
          <a:p>
            <a:pPr marL="0" indent="0">
              <a:buNone/>
            </a:pPr>
            <a:r>
              <a:rPr lang="en-US" dirty="0"/>
              <a:t>But is the difference statistically significant?</a:t>
            </a:r>
          </a:p>
          <a:p>
            <a:pPr marL="0" indent="0">
              <a:buNone/>
            </a:pPr>
            <a:r>
              <a:rPr lang="en-US" b="1" dirty="0">
                <a:sym typeface="Wingdings" panose="05000000000000000000" pitchFamily="2" charset="2"/>
              </a:rPr>
              <a:t> </a:t>
            </a:r>
            <a:r>
              <a:rPr lang="en-US" b="1" dirty="0"/>
              <a:t>Log-rank 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one variable </a:t>
            </a:r>
            <a:r>
              <a:rPr lang="en-US" dirty="0"/>
              <a:t>at a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not estimate </a:t>
            </a:r>
            <a:r>
              <a:rPr lang="en-US" b="1" dirty="0"/>
              <a:t>effect size </a:t>
            </a:r>
            <a:r>
              <a:rPr lang="en-US" dirty="0"/>
              <a:t>or </a:t>
            </a:r>
            <a:r>
              <a:rPr lang="en-US" b="1" dirty="0"/>
              <a:t>adjust for other factors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3" name="Arrow: Left-Right 32">
            <a:extLst>
              <a:ext uri="{FF2B5EF4-FFF2-40B4-BE49-F238E27FC236}">
                <a16:creationId xmlns:a16="http://schemas.microsoft.com/office/drawing/2014/main" id="{CF3AFC88-456B-7284-7C03-A37BA94CA843}"/>
              </a:ext>
            </a:extLst>
          </p:cNvPr>
          <p:cNvSpPr/>
          <p:nvPr/>
        </p:nvSpPr>
        <p:spPr>
          <a:xfrm>
            <a:off x="8686662" y="2129861"/>
            <a:ext cx="981075" cy="32381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B8BF6DD-D9CD-8642-A63A-5081B24E9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62" y="1677852"/>
            <a:ext cx="1600200" cy="2066925"/>
          </a:xfrm>
          <a:prstGeom prst="rect">
            <a:avLst/>
          </a:prstGeom>
        </p:spPr>
      </p:pic>
      <p:pic>
        <p:nvPicPr>
          <p:cNvPr id="37" name="Content Placeholder 36">
            <a:extLst>
              <a:ext uri="{FF2B5EF4-FFF2-40B4-BE49-F238E27FC236}">
                <a16:creationId xmlns:a16="http://schemas.microsoft.com/office/drawing/2014/main" id="{C4683F0E-0BA6-72F0-E726-85654838D5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883237" y="1677852"/>
            <a:ext cx="1600200" cy="206692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8E3F5D4-D736-26EA-7607-62C93936E853}"/>
              </a:ext>
            </a:extLst>
          </p:cNvPr>
          <p:cNvSpPr txBox="1"/>
          <p:nvPr/>
        </p:nvSpPr>
        <p:spPr>
          <a:xfrm>
            <a:off x="6666574" y="1203624"/>
            <a:ext cx="2098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5"/>
                </a:solidFill>
                <a:latin typeface="Bahnschrift SemiBold Condensed" panose="020B0502040204020203" pitchFamily="34" charset="0"/>
              </a:rPr>
              <a:t>0.5% Permethrin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B74F7D-4C6F-A112-4082-856410260E9E}"/>
              </a:ext>
            </a:extLst>
          </p:cNvPr>
          <p:cNvGrpSpPr/>
          <p:nvPr/>
        </p:nvGrpSpPr>
        <p:grpSpPr>
          <a:xfrm>
            <a:off x="6775425" y="3892458"/>
            <a:ext cx="4987630" cy="1047055"/>
            <a:chOff x="6835585" y="4133093"/>
            <a:chExt cx="4987630" cy="104705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F663144-493D-573D-25E1-1D8D88567B38}"/>
                </a:ext>
              </a:extLst>
            </p:cNvPr>
            <p:cNvGrpSpPr/>
            <p:nvPr/>
          </p:nvGrpSpPr>
          <p:grpSpPr>
            <a:xfrm>
              <a:off x="6835585" y="4303528"/>
              <a:ext cx="4001837" cy="838733"/>
              <a:chOff x="6835585" y="4303528"/>
              <a:chExt cx="4001837" cy="838733"/>
            </a:xfrm>
          </p:grpSpPr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8026856E-CAB5-D580-FF29-130E94FD83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0024"/>
              <a:stretch/>
            </p:blipFill>
            <p:spPr>
              <a:xfrm>
                <a:off x="7039176" y="4303528"/>
                <a:ext cx="735239" cy="736342"/>
              </a:xfrm>
              <a:prstGeom prst="rect">
                <a:avLst/>
              </a:prstGeom>
            </p:spPr>
          </p:pic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93F8BD3-F68B-14DA-1A21-D8014103EC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414" y="4790319"/>
                <a:ext cx="3063008" cy="0"/>
              </a:xfrm>
              <a:prstGeom prst="line">
                <a:avLst/>
              </a:prstGeom>
              <a:ln w="50800" cap="flat">
                <a:solidFill>
                  <a:schemeClr val="accent5"/>
                </a:solidFill>
                <a:miter lim="800000"/>
                <a:headEnd type="diamond"/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Graphic 11" descr="Danger with solid fill">
                <a:extLst>
                  <a:ext uri="{FF2B5EF4-FFF2-40B4-BE49-F238E27FC236}">
                    <a16:creationId xmlns:a16="http://schemas.microsoft.com/office/drawing/2014/main" id="{28ED79E8-35B1-8CEF-53DF-CC3C7AE63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835585" y="4743179"/>
                <a:ext cx="399082" cy="399082"/>
              </a:xfrm>
              <a:prstGeom prst="rect">
                <a:avLst/>
              </a:prstGeom>
            </p:spPr>
          </p:pic>
        </p:grp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B157361-DC46-AFF6-C93C-05701AF2CE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b="27977"/>
            <a:stretch/>
          </p:blipFill>
          <p:spPr>
            <a:xfrm rot="10800000">
              <a:off x="10884385" y="4334924"/>
              <a:ext cx="938830" cy="845224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DFF5D11F-D287-AC20-35B5-D7D505C5E1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b="27977"/>
            <a:stretch/>
          </p:blipFill>
          <p:spPr>
            <a:xfrm>
              <a:off x="7647429" y="4133093"/>
              <a:ext cx="767452" cy="690933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F56B29F-4F99-B4D0-4F26-8150DDDC21DA}"/>
              </a:ext>
            </a:extLst>
          </p:cNvPr>
          <p:cNvSpPr txBox="1"/>
          <p:nvPr/>
        </p:nvSpPr>
        <p:spPr>
          <a:xfrm>
            <a:off x="9643673" y="1215189"/>
            <a:ext cx="2098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Bahnschrift SemiBold Condensed" panose="020B0502040204020203" pitchFamily="34" charset="0"/>
              </a:rPr>
              <a:t>1.0% Permethrin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FE61B90-CEFB-432E-7A0D-5A09EC4C19FE}"/>
              </a:ext>
            </a:extLst>
          </p:cNvPr>
          <p:cNvGrpSpPr/>
          <p:nvPr/>
        </p:nvGrpSpPr>
        <p:grpSpPr>
          <a:xfrm>
            <a:off x="6775425" y="5141508"/>
            <a:ext cx="4987630" cy="1244534"/>
            <a:chOff x="6835585" y="5382143"/>
            <a:chExt cx="4987630" cy="1244534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EC28737-F783-BB17-5022-41AE35D83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b="27977"/>
            <a:stretch/>
          </p:blipFill>
          <p:spPr>
            <a:xfrm>
              <a:off x="7637856" y="5382143"/>
              <a:ext cx="767452" cy="690933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1D96A97-AC30-7723-6842-EDEF99600385}"/>
                </a:ext>
              </a:extLst>
            </p:cNvPr>
            <p:cNvGrpSpPr/>
            <p:nvPr/>
          </p:nvGrpSpPr>
          <p:grpSpPr>
            <a:xfrm>
              <a:off x="6835585" y="5787944"/>
              <a:ext cx="4001837" cy="838733"/>
              <a:chOff x="6835585" y="5701012"/>
              <a:chExt cx="4001837" cy="838733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1860003-B569-D515-A8A9-61AD0785A0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414" y="5990471"/>
                <a:ext cx="3063008" cy="0"/>
              </a:xfrm>
              <a:prstGeom prst="line">
                <a:avLst/>
              </a:prstGeom>
              <a:ln w="50800" cap="flat">
                <a:solidFill>
                  <a:schemeClr val="accent6"/>
                </a:solidFill>
                <a:miter lim="800000"/>
                <a:headEnd type="diamond"/>
                <a:tailEnd type="diamon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62143FC6-560D-0B6A-18A9-7C0A3C4C70A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 b="20024"/>
              <a:stretch/>
            </p:blipFill>
            <p:spPr>
              <a:xfrm>
                <a:off x="7039176" y="5701012"/>
                <a:ext cx="735239" cy="736342"/>
              </a:xfrm>
              <a:prstGeom prst="rect">
                <a:avLst/>
              </a:prstGeom>
            </p:spPr>
          </p:pic>
          <p:pic>
            <p:nvPicPr>
              <p:cNvPr id="21" name="Graphic 20" descr="Danger with solid fill">
                <a:extLst>
                  <a:ext uri="{FF2B5EF4-FFF2-40B4-BE49-F238E27FC236}">
                    <a16:creationId xmlns:a16="http://schemas.microsoft.com/office/drawing/2014/main" id="{8B9A34B6-92A3-FC3F-8EAE-941E6AD67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835585" y="6140663"/>
                <a:ext cx="399082" cy="399082"/>
              </a:xfrm>
              <a:prstGeom prst="rect">
                <a:avLst/>
              </a:prstGeom>
            </p:spPr>
          </p:pic>
        </p:grp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65CB1C26-3AFB-71C1-F3B4-DB8AC0F577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b="27977"/>
            <a:stretch/>
          </p:blipFill>
          <p:spPr>
            <a:xfrm rot="10800000">
              <a:off x="10884385" y="5654791"/>
              <a:ext cx="938830" cy="845224"/>
            </a:xfrm>
            <a:prstGeom prst="rect">
              <a:avLst/>
            </a:prstGeom>
          </p:spPr>
        </p:pic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97B93C3-6847-6FC2-9DC4-F8076DAE01AA}"/>
              </a:ext>
            </a:extLst>
          </p:cNvPr>
          <p:cNvCxnSpPr>
            <a:cxnSpLocks/>
          </p:cNvCxnSpPr>
          <p:nvPr/>
        </p:nvCxnSpPr>
        <p:spPr>
          <a:xfrm>
            <a:off x="9251265" y="4873364"/>
            <a:ext cx="0" cy="61361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Question Mark with solid fill">
            <a:extLst>
              <a:ext uri="{FF2B5EF4-FFF2-40B4-BE49-F238E27FC236}">
                <a16:creationId xmlns:a16="http://schemas.microsoft.com/office/drawing/2014/main" id="{5FE9B362-4019-145C-0051-6D5E02806E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24858" y="4848628"/>
            <a:ext cx="638346" cy="638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7291EA-9ACB-3E6A-6BA1-FFE76908F169}"/>
              </a:ext>
            </a:extLst>
          </p:cNvPr>
          <p:cNvSpPr txBox="1"/>
          <p:nvPr/>
        </p:nvSpPr>
        <p:spPr>
          <a:xfrm>
            <a:off x="8710726" y="2524518"/>
            <a:ext cx="965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cap="all" dirty="0">
                <a:solidFill>
                  <a:schemeClr val="tx2"/>
                </a:solidFill>
                <a:latin typeface="Bahnschrift SemiBold Condensed" panose="020B0502040204020203" pitchFamily="34" charset="0"/>
              </a:rPr>
              <a:t>Log-Rank Test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53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CF7473-35F0-3031-2C19-67579C24A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957F2C4-EB56-B0C3-5B02-F95C72B3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5273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estimates how variables affect the </a:t>
            </a:r>
            <a:r>
              <a:rPr lang="en-US" b="1" dirty="0"/>
              <a:t>hazard</a:t>
            </a:r>
            <a:r>
              <a:rPr lang="en-US" dirty="0"/>
              <a:t> – or risk of event – </a:t>
            </a:r>
            <a:r>
              <a:rPr lang="en-US" b="1" dirty="0"/>
              <a:t>over time</a:t>
            </a:r>
            <a:r>
              <a:rPr lang="en-US" dirty="0"/>
              <a:t>.</a:t>
            </a:r>
          </a:p>
          <a:p>
            <a:r>
              <a:rPr lang="en-US" dirty="0"/>
              <a:t>Allows for censored data</a:t>
            </a:r>
          </a:p>
          <a:p>
            <a:r>
              <a:rPr lang="en-US" dirty="0"/>
              <a:t>Multiple predictors possible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DA57A7-9793-97C9-0EEA-11DC0941024C}"/>
              </a:ext>
            </a:extLst>
          </p:cNvPr>
          <p:cNvSpPr txBox="1"/>
          <p:nvPr/>
        </p:nvSpPr>
        <p:spPr>
          <a:xfrm>
            <a:off x="6853004" y="1229023"/>
            <a:ext cx="32855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aka </a:t>
            </a:r>
            <a:r>
              <a:rPr lang="en-US" sz="2400" b="1" dirty="0"/>
              <a:t>Cox Regression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BE8D651-2B91-9BE0-F8D5-21E412B2AC48}"/>
              </a:ext>
            </a:extLst>
          </p:cNvPr>
          <p:cNvGrpSpPr/>
          <p:nvPr/>
        </p:nvGrpSpPr>
        <p:grpSpPr>
          <a:xfrm>
            <a:off x="5982962" y="2230759"/>
            <a:ext cx="5713063" cy="4293186"/>
            <a:chOff x="5982962" y="2230759"/>
            <a:chExt cx="5713063" cy="429318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53F146-471E-8C41-8CFA-000D8BEBBB96}"/>
                </a:ext>
              </a:extLst>
            </p:cNvPr>
            <p:cNvGrpSpPr/>
            <p:nvPr/>
          </p:nvGrpSpPr>
          <p:grpSpPr>
            <a:xfrm>
              <a:off x="5982962" y="3513945"/>
              <a:ext cx="1877738" cy="2020702"/>
              <a:chOff x="5896677" y="4303528"/>
              <a:chExt cx="1877738" cy="2020702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ED565AB-AC67-8DA4-8922-60D79EF44480}"/>
                  </a:ext>
                </a:extLst>
              </p:cNvPr>
              <p:cNvGrpSpPr/>
              <p:nvPr/>
            </p:nvGrpSpPr>
            <p:grpSpPr>
              <a:xfrm>
                <a:off x="6835585" y="4303528"/>
                <a:ext cx="938830" cy="838733"/>
                <a:chOff x="6835585" y="4303528"/>
                <a:chExt cx="938830" cy="838733"/>
              </a:xfrm>
            </p:grpSpPr>
            <p:pic>
              <p:nvPicPr>
                <p:cNvPr id="9" name="Graphic 8">
                  <a:extLst>
                    <a:ext uri="{FF2B5EF4-FFF2-40B4-BE49-F238E27FC236}">
                      <a16:creationId xmlns:a16="http://schemas.microsoft.com/office/drawing/2014/main" id="{798CB573-8FB9-3F2F-6334-0ED9C294B4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 b="20024"/>
                <a:stretch/>
              </p:blipFill>
              <p:spPr>
                <a:xfrm>
                  <a:off x="7039176" y="4303528"/>
                  <a:ext cx="735239" cy="736342"/>
                </a:xfrm>
                <a:prstGeom prst="rect">
                  <a:avLst/>
                </a:prstGeom>
              </p:spPr>
            </p:pic>
            <p:pic>
              <p:nvPicPr>
                <p:cNvPr id="11" name="Graphic 10" descr="Danger with solid fill">
                  <a:extLst>
                    <a:ext uri="{FF2B5EF4-FFF2-40B4-BE49-F238E27FC236}">
                      <a16:creationId xmlns:a16="http://schemas.microsoft.com/office/drawing/2014/main" id="{75376825-E449-A422-416B-987E99EBE1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35585" y="4743179"/>
                  <a:ext cx="399082" cy="399082"/>
                </a:xfrm>
                <a:prstGeom prst="rect">
                  <a:avLst/>
                </a:prstGeom>
              </p:spPr>
            </p:pic>
          </p:grpSp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9EF2A3B5-7794-FBDD-F632-64B0101C4E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>
                <a:off x="5896677" y="4824026"/>
                <a:ext cx="1666348" cy="1500204"/>
              </a:xfrm>
              <a:prstGeom prst="rect">
                <a:avLst/>
              </a:prstGeom>
            </p:spPr>
          </p:pic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0262ECC-2C1A-25A4-6A83-A10EF16E1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5051" y="4628560"/>
              <a:ext cx="1906820" cy="0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8B9271-DF17-E1BC-233F-CE68F723FD15}"/>
                </a:ext>
              </a:extLst>
            </p:cNvPr>
            <p:cNvGrpSpPr/>
            <p:nvPr/>
          </p:nvGrpSpPr>
          <p:grpSpPr>
            <a:xfrm flipH="1">
              <a:off x="9876353" y="3640352"/>
              <a:ext cx="1819672" cy="1680613"/>
              <a:chOff x="6835585" y="4303528"/>
              <a:chExt cx="1819672" cy="1680613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5EF7CD3-0B36-729C-6609-C560D916CF9D}"/>
                  </a:ext>
                </a:extLst>
              </p:cNvPr>
              <p:cNvGrpSpPr/>
              <p:nvPr/>
            </p:nvGrpSpPr>
            <p:grpSpPr>
              <a:xfrm>
                <a:off x="6835585" y="4303528"/>
                <a:ext cx="938830" cy="838733"/>
                <a:chOff x="6835585" y="4303528"/>
                <a:chExt cx="938830" cy="838733"/>
              </a:xfrm>
            </p:grpSpPr>
            <p:pic>
              <p:nvPicPr>
                <p:cNvPr id="16" name="Graphic 15">
                  <a:extLst>
                    <a:ext uri="{FF2B5EF4-FFF2-40B4-BE49-F238E27FC236}">
                      <a16:creationId xmlns:a16="http://schemas.microsoft.com/office/drawing/2014/main" id="{FDE8F3D8-68BA-4CBA-7183-F88F7393F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rcRect b="20024"/>
                <a:stretch/>
              </p:blipFill>
              <p:spPr>
                <a:xfrm>
                  <a:off x="7039176" y="4303528"/>
                  <a:ext cx="735239" cy="736342"/>
                </a:xfrm>
                <a:prstGeom prst="rect">
                  <a:avLst/>
                </a:prstGeom>
              </p:spPr>
            </p:pic>
            <p:pic>
              <p:nvPicPr>
                <p:cNvPr id="17" name="Graphic 16" descr="Danger with solid fill">
                  <a:extLst>
                    <a:ext uri="{FF2B5EF4-FFF2-40B4-BE49-F238E27FC236}">
                      <a16:creationId xmlns:a16="http://schemas.microsoft.com/office/drawing/2014/main" id="{922BD227-C3AE-401C-2EC3-A0C516427E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35585" y="4743179"/>
                  <a:ext cx="399082" cy="399082"/>
                </a:xfrm>
                <a:prstGeom prst="rect">
                  <a:avLst/>
                </a:prstGeom>
              </p:spPr>
            </p:pic>
          </p:grpSp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8F7A14AF-F866-6D0F-629D-C242A2F72B2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b="27977"/>
              <a:stretch/>
            </p:blipFill>
            <p:spPr>
              <a:xfrm flipH="1">
                <a:off x="7197466" y="4671699"/>
                <a:ext cx="1457791" cy="1312442"/>
              </a:xfrm>
              <a:prstGeom prst="rect">
                <a:avLst/>
              </a:prstGeom>
            </p:spPr>
          </p:pic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BAD90D6-7446-2571-DFD1-C73231D3C62F}"/>
                </a:ext>
              </a:extLst>
            </p:cNvPr>
            <p:cNvGrpSpPr/>
            <p:nvPr/>
          </p:nvGrpSpPr>
          <p:grpSpPr>
            <a:xfrm>
              <a:off x="9656658" y="5667217"/>
              <a:ext cx="716508" cy="738539"/>
              <a:chOff x="8324610" y="1905178"/>
              <a:chExt cx="1338165" cy="1379310"/>
            </a:xfrm>
          </p:grpSpPr>
          <p:pic>
            <p:nvPicPr>
              <p:cNvPr id="30" name="Graphic 29" descr="Candy with solid fill">
                <a:extLst>
                  <a:ext uri="{FF2B5EF4-FFF2-40B4-BE49-F238E27FC236}">
                    <a16:creationId xmlns:a16="http://schemas.microsoft.com/office/drawing/2014/main" id="{14F0369E-C59A-37B3-4FC6-CD3ACFEF2D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861978" y="2483691"/>
                <a:ext cx="800797" cy="800797"/>
              </a:xfrm>
              <a:prstGeom prst="rect">
                <a:avLst/>
              </a:prstGeom>
            </p:spPr>
          </p:pic>
          <p:pic>
            <p:nvPicPr>
              <p:cNvPr id="32" name="Graphic 31" descr="Apple with solid fill">
                <a:extLst>
                  <a:ext uri="{FF2B5EF4-FFF2-40B4-BE49-F238E27FC236}">
                    <a16:creationId xmlns:a16="http://schemas.microsoft.com/office/drawing/2014/main" id="{A68AFF13-630A-354C-9F98-D18204FAD1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833984" y="1905178"/>
                <a:ext cx="673635" cy="673635"/>
              </a:xfrm>
              <a:prstGeom prst="rect">
                <a:avLst/>
              </a:prstGeom>
            </p:spPr>
          </p:pic>
          <p:pic>
            <p:nvPicPr>
              <p:cNvPr id="34" name="Graphic 33" descr="Chocolate with solid fill">
                <a:extLst>
                  <a:ext uri="{FF2B5EF4-FFF2-40B4-BE49-F238E27FC236}">
                    <a16:creationId xmlns:a16="http://schemas.microsoft.com/office/drawing/2014/main" id="{9AE5A779-6CD6-D249-9CF4-C4ED4C818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8324610" y="2297329"/>
                <a:ext cx="618646" cy="618646"/>
              </a:xfrm>
              <a:prstGeom prst="rect">
                <a:avLst/>
              </a:prstGeom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452D0E3-B424-7CAB-34B3-8E145E061CDE}"/>
                </a:ext>
              </a:extLst>
            </p:cNvPr>
            <p:cNvGrpSpPr/>
            <p:nvPr/>
          </p:nvGrpSpPr>
          <p:grpSpPr>
            <a:xfrm>
              <a:off x="10271553" y="2551740"/>
              <a:ext cx="735239" cy="848111"/>
              <a:chOff x="9674616" y="2026491"/>
              <a:chExt cx="1350060" cy="1557318"/>
            </a:xfrm>
          </p:grpSpPr>
          <p:pic>
            <p:nvPicPr>
              <p:cNvPr id="36" name="Graphic 35" descr="Male with solid fill">
                <a:extLst>
                  <a:ext uri="{FF2B5EF4-FFF2-40B4-BE49-F238E27FC236}">
                    <a16:creationId xmlns:a16="http://schemas.microsoft.com/office/drawing/2014/main" id="{F38D7008-6776-1834-EB31-9EA6CAB1B6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0110276" y="202649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8" name="Graphic 37" descr="Female with solid fill">
                <a:extLst>
                  <a:ext uri="{FF2B5EF4-FFF2-40B4-BE49-F238E27FC236}">
                    <a16:creationId xmlns:a16="http://schemas.microsoft.com/office/drawing/2014/main" id="{DF623E2E-788D-31E5-2958-6DB85C0ED3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674616" y="2669409"/>
                <a:ext cx="914400" cy="914400"/>
              </a:xfrm>
              <a:prstGeom prst="rect">
                <a:avLst/>
              </a:prstGeom>
            </p:spPr>
          </p:pic>
        </p:grpSp>
        <p:pic>
          <p:nvPicPr>
            <p:cNvPr id="40" name="Graphic 39" descr="Man with cane with solid fill">
              <a:extLst>
                <a:ext uri="{FF2B5EF4-FFF2-40B4-BE49-F238E27FC236}">
                  <a16:creationId xmlns:a16="http://schemas.microsoft.com/office/drawing/2014/main" id="{EF80265A-E130-70A0-1E7F-3EA112A344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79128" y="5558042"/>
              <a:ext cx="666823" cy="666823"/>
            </a:xfrm>
            <a:prstGeom prst="rect">
              <a:avLst/>
            </a:prstGeom>
          </p:spPr>
        </p:pic>
        <p:pic>
          <p:nvPicPr>
            <p:cNvPr id="42" name="Graphic 41" descr="DNA with solid fill">
              <a:extLst>
                <a:ext uri="{FF2B5EF4-FFF2-40B4-BE49-F238E27FC236}">
                  <a16:creationId xmlns:a16="http://schemas.microsoft.com/office/drawing/2014/main" id="{07098CC8-B72A-70F0-0ED6-824D83F3A8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441742" y="5931400"/>
              <a:ext cx="592545" cy="592545"/>
            </a:xfrm>
            <a:prstGeom prst="rect">
              <a:avLst/>
            </a:prstGeom>
          </p:spPr>
        </p:pic>
        <p:pic>
          <p:nvPicPr>
            <p:cNvPr id="46" name="Graphic 45" descr="Power Plant with solid fill">
              <a:extLst>
                <a:ext uri="{FF2B5EF4-FFF2-40B4-BE49-F238E27FC236}">
                  <a16:creationId xmlns:a16="http://schemas.microsoft.com/office/drawing/2014/main" id="{F80AA046-DBF5-560D-D6B8-67DF01EA8A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179198" y="2392980"/>
              <a:ext cx="592545" cy="592545"/>
            </a:xfrm>
            <a:prstGeom prst="rect">
              <a:avLst/>
            </a:prstGeom>
          </p:spPr>
        </p:pic>
        <p:pic>
          <p:nvPicPr>
            <p:cNvPr id="52" name="Graphic 51" descr="Partial sun with solid fill">
              <a:extLst>
                <a:ext uri="{FF2B5EF4-FFF2-40B4-BE49-F238E27FC236}">
                  <a16:creationId xmlns:a16="http://schemas.microsoft.com/office/drawing/2014/main" id="{F5931FAE-8FBF-416C-D5EF-B9E3F2DF9B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384078" y="2253502"/>
              <a:ext cx="630834" cy="630834"/>
            </a:xfrm>
            <a:prstGeom prst="rect">
              <a:avLst/>
            </a:prstGeom>
          </p:spPr>
        </p:pic>
        <p:pic>
          <p:nvPicPr>
            <p:cNvPr id="54" name="Graphic 53" descr="Stethoscope with solid fill">
              <a:extLst>
                <a:ext uri="{FF2B5EF4-FFF2-40B4-BE49-F238E27FC236}">
                  <a16:creationId xmlns:a16="http://schemas.microsoft.com/office/drawing/2014/main" id="{B5977603-706F-5FF4-1167-E8B93F175B3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293169" y="2230759"/>
              <a:ext cx="638821" cy="638821"/>
            </a:xfrm>
            <a:prstGeom prst="rect">
              <a:avLst/>
            </a:prstGeom>
          </p:spPr>
        </p:pic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2B30D80-8856-34C7-93AB-60D871D51FD5}"/>
                </a:ext>
              </a:extLst>
            </p:cNvPr>
            <p:cNvCxnSpPr/>
            <p:nvPr/>
          </p:nvCxnSpPr>
          <p:spPr>
            <a:xfrm>
              <a:off x="7915051" y="3049720"/>
              <a:ext cx="449296" cy="10895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1C789BA-280D-D4D4-9889-1A39586C5523}"/>
                </a:ext>
              </a:extLst>
            </p:cNvPr>
            <p:cNvCxnSpPr>
              <a:cxnSpLocks/>
            </p:cNvCxnSpPr>
            <p:nvPr/>
          </p:nvCxnSpPr>
          <p:spPr>
            <a:xfrm>
              <a:off x="8612579" y="2985525"/>
              <a:ext cx="146410" cy="11537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68DC62A-612D-E567-3DCA-2BDC8CA43671}"/>
                </a:ext>
              </a:extLst>
            </p:cNvPr>
            <p:cNvCxnSpPr/>
            <p:nvPr/>
          </p:nvCxnSpPr>
          <p:spPr>
            <a:xfrm flipH="1">
              <a:off x="9083842" y="2985525"/>
              <a:ext cx="450300" cy="11537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0CEB1F0-B913-B508-5148-4EFF6903BB2A}"/>
                </a:ext>
              </a:extLst>
            </p:cNvPr>
            <p:cNvCxnSpPr/>
            <p:nvPr/>
          </p:nvCxnSpPr>
          <p:spPr>
            <a:xfrm flipH="1">
              <a:off x="9479678" y="3399851"/>
              <a:ext cx="791875" cy="7793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9829B14-B4E5-1769-9605-44C77419F405}"/>
                </a:ext>
              </a:extLst>
            </p:cNvPr>
            <p:cNvCxnSpPr/>
            <p:nvPr/>
          </p:nvCxnSpPr>
          <p:spPr>
            <a:xfrm flipV="1">
              <a:off x="7906484" y="4867824"/>
              <a:ext cx="494705" cy="6808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AA52655-5AEC-F217-8688-A7879AAA0D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8989" y="4867824"/>
              <a:ext cx="0" cy="8979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2C2A746-578A-1623-F2A6-AFA8D03B4609}"/>
                </a:ext>
              </a:extLst>
            </p:cNvPr>
            <p:cNvCxnSpPr/>
            <p:nvPr/>
          </p:nvCxnSpPr>
          <p:spPr>
            <a:xfrm flipH="1" flipV="1">
              <a:off x="9193113" y="4867824"/>
              <a:ext cx="463099" cy="666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571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614B9A8F-FA68-982D-D8F2-EBCC62523E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83965" y="1652026"/>
            <a:ext cx="6025469" cy="466281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FA06111-7459-FBEC-15C8-C59F72B1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C0B3A62-5698-33FE-3B76-607C9FF94E5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4598504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Hazard</a:t>
                </a:r>
                <a:r>
                  <a:rPr lang="en-US" dirty="0"/>
                  <a:t>: probability of the </a:t>
                </a:r>
                <a:r>
                  <a:rPr lang="en-US" b="1" dirty="0"/>
                  <a:t>event</a:t>
                </a:r>
                <a:r>
                  <a:rPr lang="en-US" dirty="0"/>
                  <a:t> occurring at </a:t>
                </a:r>
                <a:r>
                  <a:rPr lang="en-US" b="1" dirty="0"/>
                  <a:t>a specific time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b="1" dirty="0">
                    <a:solidFill>
                      <a:schemeClr val="accent2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(t) ≥ 0</a:t>
                </a:r>
                <a:r>
                  <a:rPr lang="en-US" b="1" dirty="0">
                    <a:solidFill>
                      <a:schemeClr val="accent2"/>
                    </a:solidFill>
                  </a:rPr>
                  <a:t>, so hazard can never be negative!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Cumulative Hazard</a:t>
                </a:r>
                <a:r>
                  <a:rPr lang="en-US" dirty="0"/>
                  <a:t>: hazard a subject has accumulated over time up to time </a:t>
                </a:r>
                <a:r>
                  <a:rPr lang="en-US" i="1" dirty="0"/>
                  <a:t>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 </a:t>
                </a:r>
                <a:r>
                  <a:rPr lang="en-US" b="1" dirty="0">
                    <a:solidFill>
                      <a:schemeClr val="accent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(t) </a:t>
                </a:r>
                <a:r>
                  <a:rPr lang="en-US" b="1" dirty="0">
                    <a:solidFill>
                      <a:schemeClr val="accent1"/>
                    </a:solidFill>
                  </a:rPr>
                  <a:t>can never decrease over time!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FC0B3A62-5698-33FE-3B76-607C9FF94E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4598504" cy="4351338"/>
              </a:xfrm>
              <a:blipFill>
                <a:blip r:embed="rId4"/>
                <a:stretch>
                  <a:fillRect l="-2387" t="-2801" r="-3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7B4106-3010-6D82-A071-38594122DCF3}"/>
                  </a:ext>
                </a:extLst>
              </p:cNvPr>
              <p:cNvSpPr txBox="1"/>
              <p:nvPr/>
            </p:nvSpPr>
            <p:spPr>
              <a:xfrm>
                <a:off x="7031845" y="1931069"/>
                <a:ext cx="2122092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7B4106-3010-6D82-A071-38594122D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845" y="1931069"/>
                <a:ext cx="2122092" cy="733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87BDD7-83B6-8213-B179-7DC21A3B2C2C}"/>
                  </a:ext>
                </a:extLst>
              </p:cNvPr>
              <p:cNvSpPr txBox="1"/>
              <p:nvPr/>
            </p:nvSpPr>
            <p:spPr>
              <a:xfrm>
                <a:off x="7031845" y="4560356"/>
                <a:ext cx="2357293" cy="780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𝑑𝑢</m:t>
                          </m:r>
                        </m:e>
                      </m:nary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F87BDD7-83B6-8213-B179-7DC21A3B2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845" y="4560356"/>
                <a:ext cx="2357293" cy="780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9073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6DA6-F0F4-30F0-D5AE-4B008456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44CB-0346-BFEA-BF10-B2C4C2CE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1126D-61A7-F532-53D5-CAE2E1FF78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Multivariate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 multiple variables: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Insecticide dose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Mosquito strain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Temperature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or sex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 for confounding effects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92E70-CDA5-EB03-F37F-65036300E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52600" y="5262563"/>
            <a:ext cx="4559968" cy="1648326"/>
          </a:xfrm>
        </p:spPr>
        <p:txBody>
          <a:bodyPr/>
          <a:lstStyle/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Univariate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one variable at a time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(e.g., insecticide dose only)</a:t>
            </a:r>
          </a:p>
          <a:p>
            <a:pPr marL="342900" marR="0" lvl="0" indent="-342900">
              <a:lnSpc>
                <a:spcPct val="100000"/>
              </a:lnSpc>
              <a:spcBef>
                <a:spcPts val="0"/>
              </a:spcBef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Multivariate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multiple variables at once (e.g., dose + strain + age)</a:t>
            </a:r>
          </a:p>
        </p:txBody>
      </p:sp>
      <p:pic>
        <p:nvPicPr>
          <p:cNvPr id="9" name="Graphic 8" descr="Information with solid fill">
            <a:extLst>
              <a:ext uri="{FF2B5EF4-FFF2-40B4-BE49-F238E27FC236}">
                <a16:creationId xmlns:a16="http://schemas.microsoft.com/office/drawing/2014/main" id="{7D2AD30A-7217-80AC-6DD7-604CD6101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291389"/>
            <a:ext cx="914400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D80813C-1AAE-DD0A-1AF9-4DD44001F6EA}"/>
              </a:ext>
            </a:extLst>
          </p:cNvPr>
          <p:cNvGrpSpPr/>
          <p:nvPr/>
        </p:nvGrpSpPr>
        <p:grpSpPr>
          <a:xfrm>
            <a:off x="7026236" y="1690688"/>
            <a:ext cx="4473948" cy="2441488"/>
            <a:chOff x="6633777" y="1654538"/>
            <a:chExt cx="4473948" cy="2441488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3847DCD-125C-85DE-9C52-BC53AB3844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b="27977"/>
            <a:stretch/>
          </p:blipFill>
          <p:spPr>
            <a:xfrm>
              <a:off x="9728061" y="2980101"/>
              <a:ext cx="1189962" cy="1071317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A539B30-0223-A7C9-847C-2743E033E9AC}"/>
                </a:ext>
              </a:extLst>
            </p:cNvPr>
            <p:cNvCxnSpPr>
              <a:cxnSpLocks/>
            </p:cNvCxnSpPr>
            <p:nvPr/>
          </p:nvCxnSpPr>
          <p:spPr>
            <a:xfrm>
              <a:off x="7715070" y="4096026"/>
              <a:ext cx="2728136" cy="0"/>
            </a:xfrm>
            <a:prstGeom prst="line">
              <a:avLst/>
            </a:prstGeom>
            <a:ln w="50800" cap="flat">
              <a:solidFill>
                <a:schemeClr val="accent6"/>
              </a:solidFill>
              <a:miter lim="800000"/>
              <a:headEnd type="none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8" name="Graphic 47" descr="Man with cane with solid fill">
              <a:extLst>
                <a:ext uri="{FF2B5EF4-FFF2-40B4-BE49-F238E27FC236}">
                  <a16:creationId xmlns:a16="http://schemas.microsoft.com/office/drawing/2014/main" id="{11988352-FAD7-C80E-97B7-BA45F64B5A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58860" y="1654538"/>
              <a:ext cx="666823" cy="666823"/>
            </a:xfrm>
            <a:prstGeom prst="rect">
              <a:avLst/>
            </a:prstGeom>
          </p:spPr>
        </p:pic>
        <p:pic>
          <p:nvPicPr>
            <p:cNvPr id="49" name="Graphic 48" descr="DNA with solid fill">
              <a:extLst>
                <a:ext uri="{FF2B5EF4-FFF2-40B4-BE49-F238E27FC236}">
                  <a16:creationId xmlns:a16="http://schemas.microsoft.com/office/drawing/2014/main" id="{3CDB0810-90DC-83C7-AEF4-EF5561C39D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2885" y="1715855"/>
              <a:ext cx="604840" cy="604840"/>
            </a:xfrm>
            <a:prstGeom prst="rect">
              <a:avLst/>
            </a:prstGeom>
          </p:spPr>
        </p:pic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DEE33070-5886-3569-0DF4-45EE47748F94}"/>
                </a:ext>
              </a:extLst>
            </p:cNvPr>
            <p:cNvCxnSpPr>
              <a:cxnSpLocks/>
            </p:cNvCxnSpPr>
            <p:nvPr/>
          </p:nvCxnSpPr>
          <p:spPr>
            <a:xfrm>
              <a:off x="9238099" y="3232777"/>
              <a:ext cx="46299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11CE120E-8C8B-B8EB-0259-CFCFFB78BEDF}"/>
                </a:ext>
              </a:extLst>
            </p:cNvPr>
            <p:cNvCxnSpPr>
              <a:cxnSpLocks/>
            </p:cNvCxnSpPr>
            <p:nvPr/>
          </p:nvCxnSpPr>
          <p:spPr>
            <a:xfrm>
              <a:off x="9701090" y="2456164"/>
              <a:ext cx="255142" cy="5376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Graphic 51" descr="Female with solid fill">
              <a:extLst>
                <a:ext uri="{FF2B5EF4-FFF2-40B4-BE49-F238E27FC236}">
                  <a16:creationId xmlns:a16="http://schemas.microsoft.com/office/drawing/2014/main" id="{D8364879-DEFF-281D-E6D9-7E8CF8A8DF5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65269" y="1925005"/>
              <a:ext cx="497980" cy="497980"/>
            </a:xfrm>
            <a:prstGeom prst="rect">
              <a:avLst/>
            </a:prstGeom>
          </p:spPr>
        </p:pic>
        <p:pic>
          <p:nvPicPr>
            <p:cNvPr id="53" name="Graphic 52" descr="Chocolate with solid fill">
              <a:extLst>
                <a:ext uri="{FF2B5EF4-FFF2-40B4-BE49-F238E27FC236}">
                  <a16:creationId xmlns:a16="http://schemas.microsoft.com/office/drawing/2014/main" id="{AC4590A6-B493-8B59-6CB4-82DC364A95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84433" y="2941128"/>
              <a:ext cx="494705" cy="494705"/>
            </a:xfrm>
            <a:prstGeom prst="rect">
              <a:avLst/>
            </a:prstGeom>
          </p:spPr>
        </p:pic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960C1C6-CEAD-2E70-B37C-9FC08A7DD7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3290" y="2455695"/>
              <a:ext cx="323874" cy="49629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D633800-40D5-74BB-406B-1266AB8B64DA}"/>
                </a:ext>
              </a:extLst>
            </p:cNvPr>
            <p:cNvCxnSpPr/>
            <p:nvPr/>
          </p:nvCxnSpPr>
          <p:spPr>
            <a:xfrm>
              <a:off x="8763249" y="2321361"/>
              <a:ext cx="1062434" cy="7566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F10082-EF9D-2081-8AFE-23DA75CF4F04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77" y="4096026"/>
              <a:ext cx="973009" cy="0"/>
            </a:xfrm>
            <a:prstGeom prst="line">
              <a:avLst/>
            </a:prstGeom>
            <a:ln w="50800" cap="flat">
              <a:solidFill>
                <a:schemeClr val="accent6"/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015CDF5A-D8D6-F4CA-B632-530B8474E2FE}"/>
              </a:ext>
            </a:extLst>
          </p:cNvPr>
          <p:cNvSpPr txBox="1"/>
          <p:nvPr/>
        </p:nvSpPr>
        <p:spPr>
          <a:xfrm>
            <a:off x="7090629" y="4372465"/>
            <a:ext cx="4136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cap="all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</a:rPr>
              <a:t>Covariate:</a:t>
            </a:r>
            <a:r>
              <a:rPr lang="en-US" sz="2400" cap="all" dirty="0">
                <a:latin typeface="Bahnschrift SemiBold Condensed" panose="020B0502040204020203" pitchFamily="34" charset="0"/>
              </a:rPr>
              <a:t> any factor that may influence the </a:t>
            </a:r>
            <a:r>
              <a:rPr lang="en-US" sz="2400" cap="all" dirty="0">
                <a:solidFill>
                  <a:srgbClr val="E97132"/>
                </a:solidFill>
                <a:latin typeface="Bahnschrift SemiBold Condensed" panose="020B0502040204020203" pitchFamily="34" charset="0"/>
              </a:rPr>
              <a:t>hazard</a:t>
            </a:r>
            <a:r>
              <a:rPr lang="en-US" sz="2400" cap="all" dirty="0">
                <a:latin typeface="Bahnschrift SemiBold Condensed" panose="020B0502040204020203" pitchFamily="34" charset="0"/>
              </a:rPr>
              <a:t> function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4255885-F245-F39F-7540-E6276A9E99A7}"/>
              </a:ext>
            </a:extLst>
          </p:cNvPr>
          <p:cNvSpPr txBox="1"/>
          <p:nvPr/>
        </p:nvSpPr>
        <p:spPr>
          <a:xfrm>
            <a:off x="7090629" y="5371120"/>
            <a:ext cx="4136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Bahnschrift SemiBold Condensed" panose="020B0502040204020203" pitchFamily="34" charset="0"/>
              </a:rPr>
              <a:t>Hazard rate = probability of event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AEE6FC-8BD3-39CB-EBBA-86A2A4FF124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7977"/>
          <a:stretch/>
        </p:blipFill>
        <p:spPr>
          <a:xfrm rot="10800000">
            <a:off x="9279312" y="5710416"/>
            <a:ext cx="938830" cy="84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65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E894-6EED-5EBD-63C3-EC5194A6E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2226DF-6835-5264-641D-88425B0DB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5997DDF-892A-B920-1D21-FC695B16C3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  <a:tabLst>
                    <a:tab pos="1201738" algn="l"/>
                  </a:tabLst>
                </a:pPr>
                <a:r>
                  <a:rPr lang="en-US" dirty="0"/>
                  <a:t>expressed by </a:t>
                </a:r>
                <a:r>
                  <a:rPr lang="en-US" b="1" dirty="0"/>
                  <a:t>hazard function:</a:t>
                </a:r>
              </a:p>
              <a:p>
                <a:pPr marL="0" indent="0">
                  <a:buNone/>
                  <a:tabLst>
                    <a:tab pos="120173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tabLst>
                    <a:tab pos="1201738" algn="l"/>
                  </a:tabLst>
                </a:pPr>
                <a:r>
                  <a:rPr lang="en-US" sz="2000" dirty="0"/>
                  <a:t>where:</a:t>
                </a:r>
              </a:p>
              <a:p>
                <a:pPr marL="0" indent="0">
                  <a:spcBef>
                    <a:spcPts val="0"/>
                  </a:spcBef>
                  <a:buNone/>
                  <a:tabLst>
                    <a:tab pos="1201738" algn="l"/>
                  </a:tabLst>
                </a:pP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…	</a:t>
                </a:r>
                <a:r>
                  <a:rPr lang="en-US" sz="2000" dirty="0">
                    <a:ea typeface="Cambria Math" panose="02040503050406030204" pitchFamily="18" charset="0"/>
                  </a:rPr>
                  <a:t>survival time</a:t>
                </a:r>
              </a:p>
              <a:p>
                <a:pPr marL="0" indent="0">
                  <a:spcBef>
                    <a:spcPts val="0"/>
                  </a:spcBef>
                  <a:buNone/>
                  <a:tabLst>
                    <a:tab pos="1201738" algn="l"/>
                  </a:tabLst>
                </a:pP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sz="20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…	</a:t>
                </a:r>
                <a:r>
                  <a:rPr lang="en-US" sz="2000" dirty="0">
                    <a:ea typeface="Cambria Math" panose="02040503050406030204" pitchFamily="18" charset="0"/>
                  </a:rPr>
                  <a:t>baseline hazard</a:t>
                </a:r>
              </a:p>
              <a:p>
                <a:pPr marL="0" indent="0">
                  <a:spcBef>
                    <a:spcPts val="0"/>
                  </a:spcBef>
                  <a:buNone/>
                  <a:tabLst>
                    <a:tab pos="1201738" algn="l"/>
                  </a:tabLst>
                </a:pP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…	</a:t>
                </a:r>
                <a:r>
                  <a:rPr lang="en-US" sz="2000" dirty="0"/>
                  <a:t>hazard function determined by a set of covariates (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0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X</a:t>
                </a:r>
                <a:r>
                  <a:rPr lang="en-US" sz="20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r>
                  <a:rPr lang="en-US" sz="2000" dirty="0"/>
                  <a:t>,…)</a:t>
                </a:r>
              </a:p>
              <a:p>
                <a:pPr marL="0" indent="0">
                  <a:spcBef>
                    <a:spcPts val="0"/>
                  </a:spcBef>
                  <a:buNone/>
                  <a:tabLst>
                    <a:tab pos="1201738" algn="l"/>
                  </a:tabLst>
                </a:pPr>
                <a14:m>
                  <m:oMath xmlns:m="http://schemas.openxmlformats.org/officeDocument/2006/math">
                    <m:r>
                      <a:rPr lang="de-DE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…	</a:t>
                </a:r>
                <a:r>
                  <a:rPr lang="en-US" sz="2000" dirty="0"/>
                  <a:t>effect size of covariates</a:t>
                </a:r>
              </a:p>
              <a:p>
                <a:pPr marL="0" indent="0">
                  <a:buNone/>
                  <a:tabLst>
                    <a:tab pos="1201738" algn="l"/>
                  </a:tabLst>
                </a:pPr>
                <a:endParaRPr lang="en-US" sz="24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  <a:tabLst>
                    <a:tab pos="1201738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𝑎𝑔𝑒</m:t>
                      </m:r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)×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DE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𝑎𝑔𝑒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𝑎𝑔𝑒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  <a:tabLst>
                    <a:tab pos="1201738" algn="l"/>
                  </a:tabLst>
                </a:pPr>
                <a:endParaRPr lang="en-US" sz="24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E5997DDF-892A-B920-1D21-FC695B16C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86E5AE4-F88B-3BBC-B860-CE0336130406}"/>
              </a:ext>
            </a:extLst>
          </p:cNvPr>
          <p:cNvSpPr txBox="1"/>
          <p:nvPr/>
        </p:nvSpPr>
        <p:spPr>
          <a:xfrm>
            <a:off x="9122952" y="5160553"/>
            <a:ext cx="2429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age</a:t>
            </a:r>
            <a:r>
              <a:rPr lang="en-US" sz="2400" dirty="0"/>
              <a:t> at beginning of observation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F52534F-017A-DE2C-15CD-1310D52F29CF}"/>
              </a:ext>
            </a:extLst>
          </p:cNvPr>
          <p:cNvCxnSpPr>
            <a:cxnSpLocks/>
          </p:cNvCxnSpPr>
          <p:nvPr/>
        </p:nvCxnSpPr>
        <p:spPr>
          <a:xfrm flipH="1" flipV="1">
            <a:off x="8378687" y="5055120"/>
            <a:ext cx="744265" cy="52093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625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57209-3DFA-F21A-A10D-67C3A363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4D275-C1B9-EA01-F954-36F25589C6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output: </a:t>
            </a:r>
            <a:r>
              <a:rPr lang="en-US" b="1" dirty="0">
                <a:solidFill>
                  <a:schemeClr val="accent2"/>
                </a:solidFill>
              </a:rPr>
              <a:t>Coefficients </a:t>
            </a:r>
            <a:r>
              <a:rPr lang="en-US" b="1" i="1" dirty="0">
                <a:solidFill>
                  <a:schemeClr val="accent2"/>
                </a:solidFill>
              </a:rPr>
              <a:t>β</a:t>
            </a:r>
          </a:p>
          <a:p>
            <a:pPr marL="0" indent="0">
              <a:buNone/>
            </a:pPr>
            <a:r>
              <a:rPr lang="en-US" i="1" dirty="0"/>
              <a:t>β </a:t>
            </a:r>
            <a:r>
              <a:rPr lang="en-US" dirty="0"/>
              <a:t>indicate </a:t>
            </a:r>
            <a:r>
              <a:rPr lang="en-US" b="1" dirty="0"/>
              <a:t>log hazard radio</a:t>
            </a:r>
            <a:r>
              <a:rPr lang="en-US" dirty="0"/>
              <a:t>, </a:t>
            </a:r>
            <a:r>
              <a:rPr lang="en-US" i="1" dirty="0"/>
              <a:t>assuming all other covariates remain constant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i="1" dirty="0"/>
              <a:t>β </a:t>
            </a:r>
            <a:r>
              <a:rPr lang="en-US" dirty="0"/>
              <a:t>= 0.2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ym typeface="Wingdings" panose="05000000000000000000" pitchFamily="2" charset="2"/>
              </a:rPr>
              <a:t>20% increase </a:t>
            </a:r>
            <a:r>
              <a:rPr lang="en-US" dirty="0">
                <a:sym typeface="Wingdings" panose="05000000000000000000" pitchFamily="2" charset="2"/>
              </a:rPr>
              <a:t>in the </a:t>
            </a:r>
            <a:r>
              <a:rPr lang="en-US" b="1" dirty="0">
                <a:sym typeface="Wingdings" panose="05000000000000000000" pitchFamily="2" charset="2"/>
              </a:rPr>
              <a:t>log hazard </a:t>
            </a:r>
            <a:r>
              <a:rPr lang="en-US" dirty="0">
                <a:sym typeface="Wingdings" panose="05000000000000000000" pitchFamily="2" charset="2"/>
              </a:rPr>
              <a:t>of the event per </a:t>
            </a:r>
            <a:r>
              <a:rPr lang="en-US" b="1" dirty="0">
                <a:sym typeface="Wingdings" panose="05000000000000000000" pitchFamily="2" charset="2"/>
              </a:rPr>
              <a:t>one-unit increase </a:t>
            </a:r>
            <a:r>
              <a:rPr lang="en-US" dirty="0">
                <a:sym typeface="Wingdings" panose="05000000000000000000" pitchFamily="2" charset="2"/>
              </a:rPr>
              <a:t>of covariate</a:t>
            </a:r>
            <a:endParaRPr lang="en-US" dirty="0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3A66B7FE-2C30-D9D6-01E3-9BD817860C66}"/>
              </a:ext>
            </a:extLst>
          </p:cNvPr>
          <p:cNvSpPr/>
          <p:nvPr/>
        </p:nvSpPr>
        <p:spPr>
          <a:xfrm>
            <a:off x="7028506" y="2221942"/>
            <a:ext cx="4323706" cy="3917093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3038">
              <a:spcAft>
                <a:spcPts val="1200"/>
              </a:spcAft>
            </a:pPr>
            <a:r>
              <a:rPr lang="en-US" sz="2400" b="1" dirty="0"/>
              <a:t>β &gt; 0: increased</a:t>
            </a:r>
            <a:r>
              <a:rPr lang="en-US" sz="2400" dirty="0"/>
              <a:t> log hazard</a:t>
            </a:r>
            <a:br>
              <a:rPr lang="en-US" sz="2400" dirty="0"/>
            </a:b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higher risk</a:t>
            </a:r>
          </a:p>
          <a:p>
            <a:pPr marL="173038">
              <a:spcAft>
                <a:spcPts val="1200"/>
              </a:spcAft>
            </a:pPr>
            <a:r>
              <a:rPr lang="en-US" sz="2400" b="1" dirty="0"/>
              <a:t>β &lt; 0: decreased </a:t>
            </a:r>
            <a:r>
              <a:rPr lang="en-US" sz="2400" dirty="0"/>
              <a:t>log hazard</a:t>
            </a:r>
            <a:br>
              <a:rPr lang="en-US" sz="2400" dirty="0"/>
            </a:b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lower risk</a:t>
            </a:r>
          </a:p>
          <a:p>
            <a:pPr marL="173038">
              <a:spcAft>
                <a:spcPts val="1200"/>
              </a:spcAft>
              <a:tabLst>
                <a:tab pos="173038" algn="l"/>
              </a:tabLst>
            </a:pPr>
            <a:r>
              <a:rPr lang="en-US" sz="2400" b="1" dirty="0"/>
              <a:t>β ~ 0</a:t>
            </a:r>
            <a:r>
              <a:rPr lang="en-US" sz="2400" dirty="0"/>
              <a:t>: </a:t>
            </a:r>
            <a:r>
              <a:rPr lang="en-US" sz="2400" b="1" dirty="0"/>
              <a:t>no difference </a:t>
            </a:r>
            <a:r>
              <a:rPr lang="en-US" sz="2400" dirty="0"/>
              <a:t>in hazard</a:t>
            </a:r>
            <a:br>
              <a:rPr lang="en-US" sz="2400" dirty="0"/>
            </a:b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variable has no/very little effect on survival time</a:t>
            </a:r>
          </a:p>
        </p:txBody>
      </p:sp>
    </p:spTree>
    <p:extLst>
      <p:ext uri="{BB962C8B-B14F-4D97-AF65-F5344CB8AC3E}">
        <p14:creationId xmlns:p14="http://schemas.microsoft.com/office/powerpoint/2010/main" val="2789303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C853-5084-7297-D9DD-2B8032F7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2B97D-ACB2-1EAF-F455-009A23D6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48CDE-97EA-E0F3-CF84-7ED9E5339A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Model output: </a:t>
            </a:r>
            <a:r>
              <a:rPr lang="en-US" b="1" dirty="0">
                <a:solidFill>
                  <a:schemeClr val="accent2"/>
                </a:solidFill>
              </a:rPr>
              <a:t>hazard e</a:t>
            </a:r>
            <a:r>
              <a:rPr lang="en-US" b="1" i="1" baseline="30000" dirty="0">
                <a:solidFill>
                  <a:schemeClr val="accent2"/>
                </a:solidFill>
              </a:rPr>
              <a:t>β</a:t>
            </a:r>
            <a:endParaRPr lang="en-US" dirty="0"/>
          </a:p>
          <a:p>
            <a:r>
              <a:rPr lang="en-US" dirty="0"/>
              <a:t>exponentiated form of the coefficient</a:t>
            </a:r>
          </a:p>
          <a:p>
            <a:r>
              <a:rPr lang="en-US" b="1" dirty="0"/>
              <a:t>Relative change in hazard </a:t>
            </a:r>
            <a:r>
              <a:rPr lang="en-US" dirty="0"/>
              <a:t>of event for a </a:t>
            </a:r>
            <a:r>
              <a:rPr lang="en-US" b="1" dirty="0"/>
              <a:t>one-unit change </a:t>
            </a:r>
            <a:r>
              <a:rPr lang="en-US" dirty="0"/>
              <a:t>in covariate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1E99F64-38BA-568C-38AE-5448E8FD56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Hazard ratio</a:t>
                </a:r>
                <a:r>
                  <a:rPr lang="en-US" dirty="0"/>
                  <a:t>: hazard for a group relative to the hazard for the reference group: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1E99F64-38BA-568C-38AE-5448E8FD5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471" t="-2381" r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26B335C1-CCC0-7B6A-28C6-0FFB6E4506AC}"/>
              </a:ext>
            </a:extLst>
          </p:cNvPr>
          <p:cNvSpPr/>
          <p:nvPr/>
        </p:nvSpPr>
        <p:spPr>
          <a:xfrm>
            <a:off x="6746569" y="4162695"/>
            <a:ext cx="4032861" cy="243744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lvl="1">
              <a:spcAft>
                <a:spcPts val="1200"/>
              </a:spcAft>
            </a:pPr>
            <a:r>
              <a:rPr lang="en-US" sz="2400" b="1" dirty="0"/>
              <a:t>HR &gt; 1:</a:t>
            </a:r>
            <a:r>
              <a:rPr lang="en-US" sz="2400" dirty="0"/>
              <a:t> </a:t>
            </a:r>
            <a:r>
              <a:rPr lang="en-US" sz="2400" b="1" dirty="0"/>
              <a:t>increased</a:t>
            </a:r>
            <a:r>
              <a:rPr lang="en-US" sz="2400" dirty="0"/>
              <a:t> hazard</a:t>
            </a:r>
          </a:p>
          <a:p>
            <a:pPr marL="228600" lvl="1">
              <a:spcAft>
                <a:spcPts val="1200"/>
              </a:spcAft>
            </a:pPr>
            <a:r>
              <a:rPr lang="en-US" sz="2400" b="1" dirty="0"/>
              <a:t>HR &lt; 1:</a:t>
            </a:r>
            <a:r>
              <a:rPr lang="en-US" sz="2400" dirty="0"/>
              <a:t> </a:t>
            </a:r>
            <a:r>
              <a:rPr lang="en-US" sz="2400" b="1" dirty="0"/>
              <a:t>decreased</a:t>
            </a:r>
            <a:r>
              <a:rPr lang="en-US" sz="2400" dirty="0"/>
              <a:t> hazard.</a:t>
            </a:r>
          </a:p>
          <a:p>
            <a:pPr marL="228600" lvl="1">
              <a:spcAft>
                <a:spcPts val="1200"/>
              </a:spcAft>
            </a:pPr>
            <a:r>
              <a:rPr lang="en-US" sz="2400" b="1" dirty="0"/>
              <a:t>HR = 1:</a:t>
            </a:r>
            <a:r>
              <a:rPr lang="en-US" sz="2400" dirty="0"/>
              <a:t> </a:t>
            </a:r>
            <a:r>
              <a:rPr lang="en-US" sz="2400" b="1" dirty="0"/>
              <a:t>no change</a:t>
            </a:r>
            <a:r>
              <a:rPr lang="en-US" sz="2400" dirty="0"/>
              <a:t> in the hazard</a:t>
            </a:r>
          </a:p>
        </p:txBody>
      </p:sp>
    </p:spTree>
    <p:extLst>
      <p:ext uri="{BB962C8B-B14F-4D97-AF65-F5344CB8AC3E}">
        <p14:creationId xmlns:p14="http://schemas.microsoft.com/office/powerpoint/2010/main" val="3197744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0E7D-692C-F192-07BD-5CD858D2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PH Model – Output Interpretation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6A9C5-1F57-4DDE-C661-1C0EE9CC0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0352" y="5305774"/>
            <a:ext cx="4721478" cy="69356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HR = 1.8 for 1% vs. 0.5% permethrin</a:t>
            </a:r>
          </a:p>
          <a:p>
            <a:pPr marL="0" indent="0">
              <a:buNone/>
            </a:pPr>
            <a:r>
              <a:rPr lang="en-US" dirty="0"/>
              <a:t>→ 80% higher risk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812833B-46C0-9849-A2C5-163EE0C1F1AA}"/>
              </a:ext>
            </a:extLst>
          </p:cNvPr>
          <p:cNvGrpSpPr/>
          <p:nvPr/>
        </p:nvGrpSpPr>
        <p:grpSpPr>
          <a:xfrm>
            <a:off x="6168800" y="6086109"/>
            <a:ext cx="1150519" cy="616212"/>
            <a:chOff x="10156444" y="3209222"/>
            <a:chExt cx="1565983" cy="838733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A0170DF-F1F4-32FB-EFC4-C96B397575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0024"/>
            <a:stretch/>
          </p:blipFill>
          <p:spPr>
            <a:xfrm>
              <a:off x="10360035" y="3209222"/>
              <a:ext cx="735239" cy="736342"/>
            </a:xfrm>
            <a:prstGeom prst="rect">
              <a:avLst/>
            </a:prstGeom>
          </p:spPr>
        </p:pic>
        <p:pic>
          <p:nvPicPr>
            <p:cNvPr id="8" name="Graphic 7" descr="Danger with solid fill">
              <a:extLst>
                <a:ext uri="{FF2B5EF4-FFF2-40B4-BE49-F238E27FC236}">
                  <a16:creationId xmlns:a16="http://schemas.microsoft.com/office/drawing/2014/main" id="{6B718A37-2C44-4BD2-B003-0D5CF502ED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56444" y="3648873"/>
              <a:ext cx="399082" cy="399082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EB7388-295B-A494-9851-0C5BDE72F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27977"/>
            <a:stretch/>
          </p:blipFill>
          <p:spPr>
            <a:xfrm>
              <a:off x="10954975" y="3303406"/>
              <a:ext cx="767452" cy="69093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A011D1-CE71-6D87-4777-6F3EE942E9C7}"/>
              </a:ext>
            </a:extLst>
          </p:cNvPr>
          <p:cNvGrpSpPr/>
          <p:nvPr/>
        </p:nvGrpSpPr>
        <p:grpSpPr>
          <a:xfrm>
            <a:off x="7491234" y="5305774"/>
            <a:ext cx="1327592" cy="839125"/>
            <a:chOff x="10048170" y="955634"/>
            <a:chExt cx="1807000" cy="1142143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81E4932-6A96-9ED4-7240-9FD45ABCBA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27977"/>
            <a:stretch/>
          </p:blipFill>
          <p:spPr>
            <a:xfrm>
              <a:off x="11087718" y="955634"/>
              <a:ext cx="767452" cy="690933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B6814FBB-10F8-B8B2-5F44-16F1A5AD04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20024"/>
            <a:stretch/>
          </p:blipFill>
          <p:spPr>
            <a:xfrm>
              <a:off x="10489038" y="1361435"/>
              <a:ext cx="735239" cy="736342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9D25C238-422E-8A93-4280-3CAD81868F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b="20024"/>
            <a:stretch/>
          </p:blipFill>
          <p:spPr>
            <a:xfrm>
              <a:off x="10180163" y="993264"/>
              <a:ext cx="735239" cy="736342"/>
            </a:xfrm>
            <a:prstGeom prst="rect">
              <a:avLst/>
            </a:prstGeom>
          </p:spPr>
        </p:pic>
        <p:pic>
          <p:nvPicPr>
            <p:cNvPr id="17" name="Graphic 16" descr="Danger with solid fill">
              <a:extLst>
                <a:ext uri="{FF2B5EF4-FFF2-40B4-BE49-F238E27FC236}">
                  <a16:creationId xmlns:a16="http://schemas.microsoft.com/office/drawing/2014/main" id="{7A23DBA4-3DA1-ACBC-FA5A-27F291280B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048170" y="1514610"/>
              <a:ext cx="399082" cy="399082"/>
            </a:xfrm>
            <a:prstGeom prst="rect">
              <a:avLst/>
            </a:prstGeom>
          </p:spPr>
        </p:pic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7D75ECB-5FAB-B0E1-95BC-7EEF7C3B2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345146"/>
              </p:ext>
            </p:extLst>
          </p:nvPr>
        </p:nvGraphicFramePr>
        <p:xfrm>
          <a:off x="1300214" y="2309600"/>
          <a:ext cx="9593160" cy="2560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40291">
                  <a:extLst>
                    <a:ext uri="{9D8B030D-6E8A-4147-A177-3AD203B41FA5}">
                      <a16:colId xmlns:a16="http://schemas.microsoft.com/office/drawing/2014/main" val="3012472611"/>
                    </a:ext>
                  </a:extLst>
                </a:gridCol>
                <a:gridCol w="1759227">
                  <a:extLst>
                    <a:ext uri="{9D8B030D-6E8A-4147-A177-3AD203B41FA5}">
                      <a16:colId xmlns:a16="http://schemas.microsoft.com/office/drawing/2014/main" val="290450295"/>
                    </a:ext>
                  </a:extLst>
                </a:gridCol>
                <a:gridCol w="2226365">
                  <a:extLst>
                    <a:ext uri="{9D8B030D-6E8A-4147-A177-3AD203B41FA5}">
                      <a16:colId xmlns:a16="http://schemas.microsoft.com/office/drawing/2014/main" val="940581467"/>
                    </a:ext>
                  </a:extLst>
                </a:gridCol>
                <a:gridCol w="516835">
                  <a:extLst>
                    <a:ext uri="{9D8B030D-6E8A-4147-A177-3AD203B41FA5}">
                      <a16:colId xmlns:a16="http://schemas.microsoft.com/office/drawing/2014/main" val="1454142879"/>
                    </a:ext>
                  </a:extLst>
                </a:gridCol>
                <a:gridCol w="2450442">
                  <a:extLst>
                    <a:ext uri="{9D8B030D-6E8A-4147-A177-3AD203B41FA5}">
                      <a16:colId xmlns:a16="http://schemas.microsoft.com/office/drawing/2014/main" val="149929847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2000" cap="all" baseline="0" dirty="0"/>
                        <a:t>Covariate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all" baseline="0" dirty="0"/>
                        <a:t>Coefficient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all" baseline="0" dirty="0"/>
                        <a:t>Hazard Ratio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cap="all" baseline="0" dirty="0"/>
                        <a:t>Interpretation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77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solidFill>
                            <a:schemeClr val="accent6"/>
                          </a:solidFill>
                        </a:rPr>
                        <a:t>Insecticide_dose</a:t>
                      </a:r>
                      <a:endParaRPr lang="en-US" sz="2000" b="1" dirty="0">
                        <a:solidFill>
                          <a:schemeClr val="accent6"/>
                        </a:solidFill>
                      </a:endParaRPr>
                    </a:p>
                    <a:p>
                      <a:r>
                        <a:rPr lang="en-US" sz="1800" dirty="0"/>
                        <a:t>0.5%, 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0.588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&gt;1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 3" panose="05040102010807070707" pitchFamily="18" charset="2"/>
                        <a:buChar char="Ç"/>
                      </a:pPr>
                      <a:r>
                        <a:rPr lang="en-US" sz="2000" cap="all" baseline="0" dirty="0"/>
                        <a:t>Risk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59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4"/>
                          </a:solidFill>
                        </a:rPr>
                        <a:t>sex</a:t>
                      </a:r>
                    </a:p>
                    <a:p>
                      <a:r>
                        <a:rPr lang="en-US" sz="1800" dirty="0"/>
                        <a:t>0 if male, 1 if 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0.0183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&lt;1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 3" panose="05040102010807070707" pitchFamily="18" charset="2"/>
                        <a:buChar char="È"/>
                        <a:tabLst/>
                        <a:defRPr/>
                      </a:pPr>
                      <a:r>
                        <a:rPr lang="en-US" sz="2000" cap="all" baseline="0" dirty="0" err="1"/>
                        <a:t>rISK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06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accent2"/>
                          </a:solidFill>
                        </a:rPr>
                        <a:t>strain</a:t>
                      </a:r>
                    </a:p>
                    <a:p>
                      <a:r>
                        <a:rPr lang="en-US" sz="1800" dirty="0"/>
                        <a:t>Vero, Palm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1.01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~1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cap="all" baseline="0" dirty="0"/>
                        <a:t>— </a:t>
                      </a:r>
                      <a:r>
                        <a:rPr lang="en-US" sz="2000" cap="all" baseline="0" dirty="0" err="1"/>
                        <a:t>rISK</a:t>
                      </a:r>
                      <a:endParaRPr lang="en-US" sz="2000" cap="all" baseline="0" dirty="0">
                        <a:latin typeface="Bahnschrift SemiBold SemiConden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651023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AD601A70-1D13-09D3-3C49-374FB1423511}"/>
              </a:ext>
            </a:extLst>
          </p:cNvPr>
          <p:cNvGrpSpPr/>
          <p:nvPr/>
        </p:nvGrpSpPr>
        <p:grpSpPr>
          <a:xfrm>
            <a:off x="8225358" y="5433772"/>
            <a:ext cx="3588734" cy="1164446"/>
            <a:chOff x="6633777" y="2705905"/>
            <a:chExt cx="4284246" cy="1390121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85EA327-DB07-5744-C710-ED008FC993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27977"/>
            <a:stretch/>
          </p:blipFill>
          <p:spPr>
            <a:xfrm>
              <a:off x="9728061" y="2980101"/>
              <a:ext cx="1189962" cy="1071317"/>
            </a:xfrm>
            <a:prstGeom prst="rect">
              <a:avLst/>
            </a:prstGeom>
          </p:spPr>
        </p:pic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884F2C2-3368-1D30-D491-C249A44406EA}"/>
                </a:ext>
              </a:extLst>
            </p:cNvPr>
            <p:cNvCxnSpPr>
              <a:cxnSpLocks/>
            </p:cNvCxnSpPr>
            <p:nvPr/>
          </p:nvCxnSpPr>
          <p:spPr>
            <a:xfrm>
              <a:off x="7715070" y="4096026"/>
              <a:ext cx="2728136" cy="0"/>
            </a:xfrm>
            <a:prstGeom prst="line">
              <a:avLst/>
            </a:prstGeom>
            <a:ln w="50800" cap="flat">
              <a:solidFill>
                <a:schemeClr val="tx1"/>
              </a:solidFill>
              <a:miter lim="800000"/>
              <a:headEnd type="none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Graphic 24" descr="DNA with solid fill">
              <a:extLst>
                <a:ext uri="{FF2B5EF4-FFF2-40B4-BE49-F238E27FC236}">
                  <a16:creationId xmlns:a16="http://schemas.microsoft.com/office/drawing/2014/main" id="{84D24688-143D-6FE3-5CCA-40018C095C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58917" y="3245246"/>
              <a:ext cx="604840" cy="604840"/>
            </a:xfrm>
            <a:prstGeom prst="rect">
              <a:avLst/>
            </a:prstGeom>
          </p:spPr>
        </p:pic>
        <p:pic>
          <p:nvPicPr>
            <p:cNvPr id="28" name="Graphic 27" descr="Female with solid fill">
              <a:extLst>
                <a:ext uri="{FF2B5EF4-FFF2-40B4-BE49-F238E27FC236}">
                  <a16:creationId xmlns:a16="http://schemas.microsoft.com/office/drawing/2014/main" id="{2D6FB892-84D6-D33B-41AB-CDD57F09DC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932845" y="2705905"/>
              <a:ext cx="497980" cy="497980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05956E2-3637-02D1-2F91-64914DDB1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3757" y="3519556"/>
              <a:ext cx="672632" cy="281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049A389-9413-23AC-062D-8FB1A30DE5D8}"/>
                </a:ext>
              </a:extLst>
            </p:cNvPr>
            <p:cNvCxnSpPr>
              <a:cxnSpLocks/>
            </p:cNvCxnSpPr>
            <p:nvPr/>
          </p:nvCxnSpPr>
          <p:spPr>
            <a:xfrm>
              <a:off x="9449357" y="3049664"/>
              <a:ext cx="387032" cy="18901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BC5340-9171-B838-4AAE-8AC40A2DA72A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77" y="4096026"/>
              <a:ext cx="973009" cy="0"/>
            </a:xfrm>
            <a:prstGeom prst="line">
              <a:avLst/>
            </a:prstGeom>
            <a:ln w="50800" cap="flat">
              <a:solidFill>
                <a:schemeClr val="tx1"/>
              </a:solidFill>
              <a:prstDash val="dash"/>
              <a:miter lim="800000"/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Graphic 37" descr="Information with solid fill">
            <a:extLst>
              <a:ext uri="{FF2B5EF4-FFF2-40B4-BE49-F238E27FC236}">
                <a16:creationId xmlns:a16="http://schemas.microsoft.com/office/drawing/2014/main" id="{1AEC773A-AF25-4F74-EC09-F74C35437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8451" y="515572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17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1B42-FFA1-072F-B5C5-92409528B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D2EF-8A9E-9061-53C7-B55F37394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Cox Proportional Hazard Model Assumptions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16DDB7-3B32-A019-DEC2-BB55B0762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79EEF-5E59-0B69-54E1-BF78A070E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7580578" cy="3684588"/>
          </a:xfrm>
        </p:spPr>
        <p:txBody>
          <a:bodyPr/>
          <a:lstStyle/>
          <a:p>
            <a:r>
              <a:rPr lang="en-US" b="1" dirty="0"/>
              <a:t>Non-informative censoring</a:t>
            </a:r>
          </a:p>
          <a:p>
            <a:r>
              <a:rPr lang="en-US" b="1" dirty="0"/>
              <a:t>Proportional hazards</a:t>
            </a:r>
          </a:p>
          <a:p>
            <a:r>
              <a:rPr lang="en-US" b="1" dirty="0"/>
              <a:t>Linearity </a:t>
            </a:r>
            <a:r>
              <a:rPr lang="en-US" dirty="0"/>
              <a:t>of continuous covariates</a:t>
            </a:r>
            <a:br>
              <a:rPr lang="en-US" dirty="0"/>
            </a:br>
            <a:r>
              <a:rPr lang="en-US" dirty="0"/>
              <a:t>i.e., effect of a covariate is constant over time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3DBBCD8-D744-DAD9-5E69-3D0838347D56}"/>
              </a:ext>
            </a:extLst>
          </p:cNvPr>
          <p:cNvGrpSpPr/>
          <p:nvPr/>
        </p:nvGrpSpPr>
        <p:grpSpPr>
          <a:xfrm>
            <a:off x="2108126" y="4466071"/>
            <a:ext cx="7621522" cy="2026804"/>
            <a:chOff x="1750317" y="4686877"/>
            <a:chExt cx="7621522" cy="202680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ED0BC0D7-D7BA-9C81-84F4-8D9DD8220F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7977"/>
            <a:stretch/>
          </p:blipFill>
          <p:spPr>
            <a:xfrm>
              <a:off x="1750317" y="4686877"/>
              <a:ext cx="875656" cy="788349"/>
            </a:xfrm>
            <a:prstGeom prst="rect">
              <a:avLst/>
            </a:prstGeom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DF3CB72-A851-6399-50A1-144A244C7035}"/>
                </a:ext>
              </a:extLst>
            </p:cNvPr>
            <p:cNvGrpSpPr/>
            <p:nvPr/>
          </p:nvGrpSpPr>
          <p:grpSpPr>
            <a:xfrm>
              <a:off x="1939155" y="5855207"/>
              <a:ext cx="497980" cy="855519"/>
              <a:chOff x="1939155" y="5855207"/>
              <a:chExt cx="497980" cy="855519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3507C1A-9B33-5CD8-3847-2371906D67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8145" y="5855207"/>
                <a:ext cx="0" cy="33445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Graphic 12" descr="Female with solid fill">
                <a:extLst>
                  <a:ext uri="{FF2B5EF4-FFF2-40B4-BE49-F238E27FC236}">
                    <a16:creationId xmlns:a16="http://schemas.microsoft.com/office/drawing/2014/main" id="{71614933-DA3E-4508-A278-FCE1635E9E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39155" y="6212746"/>
                <a:ext cx="497980" cy="497980"/>
              </a:xfrm>
              <a:prstGeom prst="rect">
                <a:avLst/>
              </a:prstGeom>
            </p:spPr>
          </p:pic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4955C3F-28A9-FCF3-965A-DFEA26CB7C67}"/>
                </a:ext>
              </a:extLst>
            </p:cNvPr>
            <p:cNvGrpSpPr/>
            <p:nvPr/>
          </p:nvGrpSpPr>
          <p:grpSpPr>
            <a:xfrm flipH="1">
              <a:off x="2188145" y="5679021"/>
              <a:ext cx="6391181" cy="65795"/>
              <a:chOff x="6628671" y="5072735"/>
              <a:chExt cx="3809429" cy="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31AE9AB-F312-DCAB-60E8-39C19A135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9964" y="5072735"/>
                <a:ext cx="2728136" cy="0"/>
              </a:xfrm>
              <a:prstGeom prst="line">
                <a:avLst/>
              </a:prstGeom>
              <a:ln w="50800" cap="flat">
                <a:solidFill>
                  <a:schemeClr val="tx1"/>
                </a:solidFill>
                <a:miter lim="800000"/>
                <a:headEnd type="none"/>
                <a:tail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513B083-88A9-FD71-28BC-8D95B4AF0F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28671" y="5072735"/>
                <a:ext cx="973009" cy="0"/>
              </a:xfrm>
              <a:prstGeom prst="line">
                <a:avLst/>
              </a:prstGeom>
              <a:ln w="50800" cap="flat">
                <a:solidFill>
                  <a:schemeClr val="tx1"/>
                </a:solidFill>
                <a:prstDash val="dash"/>
                <a:miter lim="800000"/>
                <a:headEnd type="non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7ADB7C1-F29D-BE5E-7BA6-001275B9E2FE}"/>
                </a:ext>
              </a:extLst>
            </p:cNvPr>
            <p:cNvGrpSpPr/>
            <p:nvPr/>
          </p:nvGrpSpPr>
          <p:grpSpPr>
            <a:xfrm>
              <a:off x="2839238" y="5849996"/>
              <a:ext cx="497980" cy="855519"/>
              <a:chOff x="1939155" y="5855207"/>
              <a:chExt cx="497980" cy="855519"/>
            </a:xfrm>
          </p:grpSpPr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886940E-4931-7565-DB5B-3E70C5275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8145" y="5855207"/>
                <a:ext cx="0" cy="33445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" name="Graphic 26" descr="Female with solid fill">
                <a:extLst>
                  <a:ext uri="{FF2B5EF4-FFF2-40B4-BE49-F238E27FC236}">
                    <a16:creationId xmlns:a16="http://schemas.microsoft.com/office/drawing/2014/main" id="{E0B52F12-3333-1AFF-FD29-A87B065EA6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39155" y="6212746"/>
                <a:ext cx="497980" cy="497980"/>
              </a:xfrm>
              <a:prstGeom prst="rect">
                <a:avLst/>
              </a:prstGeom>
            </p:spPr>
          </p:pic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BC5ECA6-C429-EC05-30A7-8D58C7A2DF10}"/>
                </a:ext>
              </a:extLst>
            </p:cNvPr>
            <p:cNvGrpSpPr/>
            <p:nvPr/>
          </p:nvGrpSpPr>
          <p:grpSpPr>
            <a:xfrm>
              <a:off x="3739321" y="5858162"/>
              <a:ext cx="497980" cy="855519"/>
              <a:chOff x="1939155" y="5855207"/>
              <a:chExt cx="497980" cy="855519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35C0C16-E173-9EB7-3903-8AD5C6D1B4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8145" y="5855207"/>
                <a:ext cx="0" cy="33445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Graphic 29" descr="Female with solid fill">
                <a:extLst>
                  <a:ext uri="{FF2B5EF4-FFF2-40B4-BE49-F238E27FC236}">
                    <a16:creationId xmlns:a16="http://schemas.microsoft.com/office/drawing/2014/main" id="{E9AEAC8E-CE7D-72CB-2382-ED665C39D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39155" y="6212746"/>
                <a:ext cx="497980" cy="497980"/>
              </a:xfrm>
              <a:prstGeom prst="rect">
                <a:avLst/>
              </a:prstGeom>
            </p:spPr>
          </p:pic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41B495C-F595-3A09-7440-7B23A947A3BD}"/>
                </a:ext>
              </a:extLst>
            </p:cNvPr>
            <p:cNvGrpSpPr/>
            <p:nvPr/>
          </p:nvGrpSpPr>
          <p:grpSpPr>
            <a:xfrm>
              <a:off x="4639403" y="5849996"/>
              <a:ext cx="497980" cy="855519"/>
              <a:chOff x="1939155" y="5855207"/>
              <a:chExt cx="497980" cy="855519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08C2F2B1-F64C-B257-C386-2756881398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88145" y="5855207"/>
                <a:ext cx="0" cy="33445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3" name="Graphic 32" descr="Female with solid fill">
                <a:extLst>
                  <a:ext uri="{FF2B5EF4-FFF2-40B4-BE49-F238E27FC236}">
                    <a16:creationId xmlns:a16="http://schemas.microsoft.com/office/drawing/2014/main" id="{EAFCE701-DFBB-75AD-67F9-4DD73AB1D0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939155" y="6212746"/>
                <a:ext cx="497980" cy="497980"/>
              </a:xfrm>
              <a:prstGeom prst="rect">
                <a:avLst/>
              </a:prstGeom>
            </p:spPr>
          </p:pic>
        </p:grpSp>
        <p:sp>
          <p:nvSpPr>
            <p:cNvPr id="34" name="Equals 33">
              <a:extLst>
                <a:ext uri="{FF2B5EF4-FFF2-40B4-BE49-F238E27FC236}">
                  <a16:creationId xmlns:a16="http://schemas.microsoft.com/office/drawing/2014/main" id="{2E4CE0A9-216C-9713-6FC9-1A77E7B5ECC0}"/>
                </a:ext>
              </a:extLst>
            </p:cNvPr>
            <p:cNvSpPr/>
            <p:nvPr/>
          </p:nvSpPr>
          <p:spPr>
            <a:xfrm>
              <a:off x="2476954" y="5982507"/>
              <a:ext cx="322464" cy="216092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Equals 34">
              <a:extLst>
                <a:ext uri="{FF2B5EF4-FFF2-40B4-BE49-F238E27FC236}">
                  <a16:creationId xmlns:a16="http://schemas.microsoft.com/office/drawing/2014/main" id="{DA517EFE-77DB-58D0-9402-639CC5ED611D}"/>
                </a:ext>
              </a:extLst>
            </p:cNvPr>
            <p:cNvSpPr/>
            <p:nvPr/>
          </p:nvSpPr>
          <p:spPr>
            <a:xfrm>
              <a:off x="3377037" y="5976526"/>
              <a:ext cx="322464" cy="216092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Equals 35">
              <a:extLst>
                <a:ext uri="{FF2B5EF4-FFF2-40B4-BE49-F238E27FC236}">
                  <a16:creationId xmlns:a16="http://schemas.microsoft.com/office/drawing/2014/main" id="{C0305DA9-E277-5637-27E1-AB8C3597CDA4}"/>
                </a:ext>
              </a:extLst>
            </p:cNvPr>
            <p:cNvSpPr/>
            <p:nvPr/>
          </p:nvSpPr>
          <p:spPr>
            <a:xfrm>
              <a:off x="4277120" y="5976526"/>
              <a:ext cx="322464" cy="216092"/>
            </a:xfrm>
            <a:prstGeom prst="mathEqual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13EA02C-1E87-13C3-F69D-623D72DA1037}"/>
                </a:ext>
              </a:extLst>
            </p:cNvPr>
            <p:cNvSpPr txBox="1"/>
            <p:nvPr/>
          </p:nvSpPr>
          <p:spPr>
            <a:xfrm>
              <a:off x="5235377" y="5861758"/>
              <a:ext cx="41364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Bahnschrift SemiBold Condensed" panose="020B0502040204020203" pitchFamily="34" charset="0"/>
                </a:rPr>
                <a:t>Proportional Hazard Assumptions: effect of a covariable does not change over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8284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8027-23E4-2353-400F-F46906D1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Analysis – Final Considerations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C81A02-29BC-0EAE-1957-655F8B77E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Censored data are common in ecological studies – make sure they’re accounted for.</a:t>
            </a:r>
          </a:p>
          <a:p>
            <a:r>
              <a:rPr lang="en-US" dirty="0"/>
              <a:t>Kaplan-Meier curves are visual, but log-rank and Cox regression provide statistical rigor.</a:t>
            </a:r>
          </a:p>
          <a:p>
            <a:r>
              <a:rPr lang="en-US" dirty="0"/>
              <a:t>Check assumptions! Choose other methods for time-to-event analysis if necessary, e.g.</a:t>
            </a:r>
          </a:p>
          <a:p>
            <a:pPr lvl="1"/>
            <a:r>
              <a:rPr lang="en-US" dirty="0"/>
              <a:t>Restricted mean survival time (RMST)</a:t>
            </a:r>
          </a:p>
          <a:p>
            <a:pPr lvl="1"/>
            <a:r>
              <a:rPr lang="en-US" dirty="0"/>
              <a:t>Accelerated Failure Time (AFT) regression models</a:t>
            </a:r>
          </a:p>
          <a:p>
            <a:pPr lvl="1"/>
            <a:r>
              <a:rPr lang="en-US" dirty="0"/>
              <a:t>Parametric survival models</a:t>
            </a:r>
            <a:br>
              <a:rPr lang="en-US" dirty="0"/>
            </a:br>
            <a:r>
              <a:rPr lang="en-US" dirty="0"/>
              <a:t>(see e.g., overview of </a:t>
            </a:r>
            <a:r>
              <a:rPr lang="en-US" dirty="0">
                <a:hlinkClick r:id="rId3"/>
              </a:rPr>
              <a:t>Parametric Survival Modeling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197377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46A5-0291-31C9-FAE6-1037ACF2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66079EA-CABC-8CF9-0C91-FDCC7C6CA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705" y="893723"/>
            <a:ext cx="9844585" cy="1519238"/>
          </a:xfrm>
        </p:spPr>
        <p:txBody>
          <a:bodyPr/>
          <a:lstStyle/>
          <a:p>
            <a:pPr algn="ctr"/>
            <a:r>
              <a:rPr lang="en-US" sz="5400" dirty="0"/>
              <a:t>Worked Example</a:t>
            </a:r>
            <a:br>
              <a:rPr lang="en-US" dirty="0"/>
            </a:br>
            <a:r>
              <a:rPr lang="en-US" sz="3200" dirty="0"/>
              <a:t>Kaplan-Meier Survival Curves &amp; Cox PH Models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FEBE62-10E6-0595-4225-253801B6E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2" b="38100"/>
          <a:stretch>
            <a:fillRect/>
          </a:stretch>
        </p:blipFill>
        <p:spPr>
          <a:xfrm>
            <a:off x="9614941" y="3205162"/>
            <a:ext cx="2806698" cy="36528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DA9B7E-C457-FEB8-AAEB-2B94A12835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39" b="31867"/>
          <a:stretch>
            <a:fillRect/>
          </a:stretch>
        </p:blipFill>
        <p:spPr>
          <a:xfrm flipH="1">
            <a:off x="0" y="4359276"/>
            <a:ext cx="3213100" cy="2582772"/>
          </a:xfrm>
          <a:prstGeom prst="rect">
            <a:avLst/>
          </a:prstGeom>
        </p:spPr>
      </p:pic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50966B0F-5ED8-E668-00C2-238695832D95}"/>
              </a:ext>
            </a:extLst>
          </p:cNvPr>
          <p:cNvSpPr/>
          <p:nvPr/>
        </p:nvSpPr>
        <p:spPr>
          <a:xfrm>
            <a:off x="2286000" y="3782848"/>
            <a:ext cx="1854200" cy="933448"/>
          </a:xfrm>
          <a:prstGeom prst="wedgeEllipseCallout">
            <a:avLst>
              <a:gd name="adj1" fmla="val -49197"/>
              <a:gd name="adj2" fmla="val 8725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Kowalski, analysis!</a:t>
            </a:r>
          </a:p>
        </p:txBody>
      </p:sp>
      <p:pic>
        <p:nvPicPr>
          <p:cNvPr id="6" name="Picture 5" descr="QR Code Image">
            <a:extLst>
              <a:ext uri="{FF2B5EF4-FFF2-40B4-BE49-F238E27FC236}">
                <a16:creationId xmlns:a16="http://schemas.microsoft.com/office/drawing/2014/main" id="{CB64F22F-777B-082C-5A01-D00468CE4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858" y="2909137"/>
            <a:ext cx="2900278" cy="2900278"/>
          </a:xfrm>
          <a:prstGeom prst="rect">
            <a:avLst/>
          </a:prstGeom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DA919300-2E47-F0FB-C2BE-CB4043283A90}"/>
              </a:ext>
            </a:extLst>
          </p:cNvPr>
          <p:cNvSpPr/>
          <p:nvPr/>
        </p:nvSpPr>
        <p:spPr>
          <a:xfrm>
            <a:off x="7940842" y="2605882"/>
            <a:ext cx="2411992" cy="1519238"/>
          </a:xfrm>
          <a:prstGeom prst="wedgeEllipseCallout">
            <a:avLst>
              <a:gd name="adj1" fmla="val 51526"/>
              <a:gd name="adj2" fmla="val 709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Remember to download the data and code, Skipper!</a:t>
            </a:r>
          </a:p>
        </p:txBody>
      </p:sp>
    </p:spTree>
    <p:extLst>
      <p:ext uri="{BB962C8B-B14F-4D97-AF65-F5344CB8AC3E}">
        <p14:creationId xmlns:p14="http://schemas.microsoft.com/office/powerpoint/2010/main" val="503051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8F42-8D1C-EE18-FBAF-AAA2B99E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		Before we get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D26F-DB60-5C59-FA54-CC8EC8119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753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structure for survival analysis</a:t>
            </a:r>
          </a:p>
          <a:p>
            <a:r>
              <a:rPr lang="en-US" b="1" dirty="0"/>
              <a:t>single row per subject</a:t>
            </a:r>
          </a:p>
          <a:p>
            <a:r>
              <a:rPr lang="en-US" dirty="0"/>
              <a:t>single </a:t>
            </a:r>
            <a:r>
              <a:rPr lang="en-US" b="1" dirty="0"/>
              <a:t>time</a:t>
            </a:r>
            <a:r>
              <a:rPr lang="en-US" dirty="0"/>
              <a:t> variable measuring T time to event</a:t>
            </a:r>
            <a:br>
              <a:rPr lang="en-US" dirty="0"/>
            </a:br>
            <a:r>
              <a:rPr lang="en-US" dirty="0"/>
              <a:t>(or censoring time, time of last observation)</a:t>
            </a:r>
          </a:p>
          <a:p>
            <a:r>
              <a:rPr lang="en-US" dirty="0"/>
              <a:t>a </a:t>
            </a:r>
            <a:r>
              <a:rPr lang="en-US" b="1" dirty="0"/>
              <a:t>status</a:t>
            </a:r>
            <a:r>
              <a:rPr lang="en-US" dirty="0"/>
              <a:t> variable coding whether the subject experienced the event or not (censored)</a:t>
            </a:r>
          </a:p>
          <a:p>
            <a:r>
              <a:rPr lang="en-US" dirty="0"/>
              <a:t>variables for </a:t>
            </a:r>
            <a:r>
              <a:rPr lang="en-US" b="1" dirty="0"/>
              <a:t>covariates</a:t>
            </a:r>
            <a:br>
              <a:rPr lang="en-US" dirty="0"/>
            </a:br>
            <a:r>
              <a:rPr lang="en-US" dirty="0"/>
              <a:t>assumed to be time-constant in this structure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E8447FB-6A25-7FAA-2F58-50C36534E4BA}"/>
              </a:ext>
            </a:extLst>
          </p:cNvPr>
          <p:cNvGrpSpPr/>
          <p:nvPr/>
        </p:nvGrpSpPr>
        <p:grpSpPr>
          <a:xfrm>
            <a:off x="8975972" y="1690688"/>
            <a:ext cx="2845938" cy="4562375"/>
            <a:chOff x="9104376" y="1027906"/>
            <a:chExt cx="2249424" cy="456237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122B412-F3FA-369A-CFE9-4602465C71DF}"/>
                </a:ext>
              </a:extLst>
            </p:cNvPr>
            <p:cNvSpPr/>
            <p:nvPr/>
          </p:nvSpPr>
          <p:spPr>
            <a:xfrm>
              <a:off x="9420380" y="3220442"/>
              <a:ext cx="1248944" cy="2053637"/>
            </a:xfrm>
            <a:custGeom>
              <a:avLst/>
              <a:gdLst>
                <a:gd name="connsiteX0" fmla="*/ 133544 w 1248944"/>
                <a:gd name="connsiteY0" fmla="*/ 0 h 2053637"/>
                <a:gd name="connsiteX1" fmla="*/ 1248944 w 1248944"/>
                <a:gd name="connsiteY1" fmla="*/ 1984184 h 2053637"/>
                <a:gd name="connsiteX2" fmla="*/ 44522 w 1248944"/>
                <a:gd name="connsiteY2" fmla="*/ 2052988 h 2053637"/>
                <a:gd name="connsiteX3" fmla="*/ 33168 w 1248944"/>
                <a:gd name="connsiteY3" fmla="*/ 2053637 h 2053637"/>
                <a:gd name="connsiteX4" fmla="*/ 9521 w 1248944"/>
                <a:gd name="connsiteY4" fmla="*/ 2043842 h 2053637"/>
                <a:gd name="connsiteX5" fmla="*/ 0 w 1248944"/>
                <a:gd name="connsiteY5" fmla="*/ 2020855 h 2053637"/>
                <a:gd name="connsiteX6" fmla="*/ 873 w 1248944"/>
                <a:gd name="connsiteY6" fmla="*/ 2007640 h 205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8944" h="2053637">
                  <a:moveTo>
                    <a:pt x="133544" y="0"/>
                  </a:moveTo>
                  <a:lnTo>
                    <a:pt x="1248944" y="1984184"/>
                  </a:lnTo>
                  <a:lnTo>
                    <a:pt x="44522" y="2052988"/>
                  </a:lnTo>
                  <a:lnTo>
                    <a:pt x="33168" y="2053637"/>
                  </a:lnTo>
                  <a:lnTo>
                    <a:pt x="9521" y="2043842"/>
                  </a:lnTo>
                  <a:lnTo>
                    <a:pt x="0" y="2020855"/>
                  </a:lnTo>
                  <a:lnTo>
                    <a:pt x="873" y="20076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dist="520700" dir="8100000" algn="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AF9F576-7027-8E0F-21BA-3A327A789084}"/>
                </a:ext>
              </a:extLst>
            </p:cNvPr>
            <p:cNvSpPr/>
            <p:nvPr/>
          </p:nvSpPr>
          <p:spPr>
            <a:xfrm>
              <a:off x="9153201" y="4641144"/>
              <a:ext cx="1333189" cy="911654"/>
            </a:xfrm>
            <a:custGeom>
              <a:avLst/>
              <a:gdLst>
                <a:gd name="connsiteX0" fmla="*/ 0 w 1333189"/>
                <a:gd name="connsiteY0" fmla="*/ 0 h 911654"/>
                <a:gd name="connsiteX1" fmla="*/ 1333189 w 1333189"/>
                <a:gd name="connsiteY1" fmla="*/ 0 h 911654"/>
                <a:gd name="connsiteX2" fmla="*/ 1333189 w 1333189"/>
                <a:gd name="connsiteY2" fmla="*/ 911654 h 911654"/>
                <a:gd name="connsiteX3" fmla="*/ 1086117 w 1333189"/>
                <a:gd name="connsiteY3" fmla="*/ 911402 h 911654"/>
                <a:gd name="connsiteX4" fmla="*/ 131110 w 1333189"/>
                <a:gd name="connsiteY4" fmla="*/ 755417 h 911654"/>
                <a:gd name="connsiteX5" fmla="*/ 1940 w 1333189"/>
                <a:gd name="connsiteY5" fmla="*/ 57392 h 911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3189" h="911654">
                  <a:moveTo>
                    <a:pt x="0" y="0"/>
                  </a:moveTo>
                  <a:lnTo>
                    <a:pt x="1333189" y="0"/>
                  </a:lnTo>
                  <a:lnTo>
                    <a:pt x="1333189" y="911654"/>
                  </a:lnTo>
                  <a:lnTo>
                    <a:pt x="1086117" y="911402"/>
                  </a:lnTo>
                  <a:cubicBezTo>
                    <a:pt x="746349" y="890363"/>
                    <a:pt x="637565" y="893137"/>
                    <a:pt x="131110" y="755417"/>
                  </a:cubicBezTo>
                  <a:cubicBezTo>
                    <a:pt x="90864" y="573107"/>
                    <a:pt x="19625" y="332455"/>
                    <a:pt x="1940" y="5739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C8DBE52E-F3FA-68C0-B64A-2971E38A1A7E}"/>
                </a:ext>
              </a:extLst>
            </p:cNvPr>
            <p:cNvSpPr/>
            <p:nvPr/>
          </p:nvSpPr>
          <p:spPr>
            <a:xfrm>
              <a:off x="9108858" y="1027906"/>
              <a:ext cx="2244942" cy="4562375"/>
            </a:xfrm>
            <a:custGeom>
              <a:avLst/>
              <a:gdLst>
                <a:gd name="connsiteX0" fmla="*/ 0 w 2242687"/>
                <a:gd name="connsiteY0" fmla="*/ 0 h 4562375"/>
                <a:gd name="connsiteX1" fmla="*/ 2242687 w 2242687"/>
                <a:gd name="connsiteY1" fmla="*/ 0 h 4562375"/>
                <a:gd name="connsiteX2" fmla="*/ 2242687 w 2242687"/>
                <a:gd name="connsiteY2" fmla="*/ 4562375 h 4562375"/>
                <a:gd name="connsiteX3" fmla="*/ 0 w 2242687"/>
                <a:gd name="connsiteY3" fmla="*/ 4562375 h 4562375"/>
                <a:gd name="connsiteX4" fmla="*/ 0 w 2242687"/>
                <a:gd name="connsiteY4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2255 w 2244942"/>
                <a:gd name="connsiteY3" fmla="*/ 4562375 h 4562375"/>
                <a:gd name="connsiteX4" fmla="*/ 0 w 2244942"/>
                <a:gd name="connsiteY4" fmla="*/ 3587266 h 4562375"/>
                <a:gd name="connsiteX5" fmla="*/ 2255 w 2244942"/>
                <a:gd name="connsiteY5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2255 w 2244942"/>
                <a:gd name="connsiteY4" fmla="*/ 4562375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  <a:gd name="connsiteX0" fmla="*/ 2255 w 2244942"/>
                <a:gd name="connsiteY0" fmla="*/ 0 h 4562375"/>
                <a:gd name="connsiteX1" fmla="*/ 2244942 w 2244942"/>
                <a:gd name="connsiteY1" fmla="*/ 0 h 4562375"/>
                <a:gd name="connsiteX2" fmla="*/ 2244942 w 2244942"/>
                <a:gd name="connsiteY2" fmla="*/ 4562375 h 4562375"/>
                <a:gd name="connsiteX3" fmla="*/ 1088231 w 2244942"/>
                <a:gd name="connsiteY3" fmla="*/ 4561197 h 4562375"/>
                <a:gd name="connsiteX4" fmla="*/ 133224 w 2244942"/>
                <a:gd name="connsiteY4" fmla="*/ 4405212 h 4562375"/>
                <a:gd name="connsiteX5" fmla="*/ 0 w 2244942"/>
                <a:gd name="connsiteY5" fmla="*/ 3587266 h 4562375"/>
                <a:gd name="connsiteX6" fmla="*/ 2255 w 2244942"/>
                <a:gd name="connsiteY6" fmla="*/ 0 h 4562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4942" h="4562375">
                  <a:moveTo>
                    <a:pt x="2255" y="0"/>
                  </a:moveTo>
                  <a:lnTo>
                    <a:pt x="2244942" y="0"/>
                  </a:lnTo>
                  <a:lnTo>
                    <a:pt x="2244942" y="4562375"/>
                  </a:lnTo>
                  <a:lnTo>
                    <a:pt x="1088231" y="4561197"/>
                  </a:lnTo>
                  <a:cubicBezTo>
                    <a:pt x="748463" y="4540158"/>
                    <a:pt x="639679" y="4542932"/>
                    <a:pt x="133224" y="4405212"/>
                  </a:cubicBezTo>
                  <a:cubicBezTo>
                    <a:pt x="87228" y="4196857"/>
                    <a:pt x="752" y="3912302"/>
                    <a:pt x="0" y="3587266"/>
                  </a:cubicBezTo>
                  <a:cubicBezTo>
                    <a:pt x="752" y="2391511"/>
                    <a:pt x="1503" y="1195755"/>
                    <a:pt x="2255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3B6B54A-EB6E-FA31-5FDA-3ACB75A4EF7C}"/>
                </a:ext>
              </a:extLst>
            </p:cNvPr>
            <p:cNvSpPr/>
            <p:nvPr/>
          </p:nvSpPr>
          <p:spPr>
            <a:xfrm>
              <a:off x="9104376" y="1027906"/>
              <a:ext cx="2249424" cy="963601"/>
            </a:xfrm>
            <a:custGeom>
              <a:avLst/>
              <a:gdLst>
                <a:gd name="connsiteX0" fmla="*/ 546 w 2243233"/>
                <a:gd name="connsiteY0" fmla="*/ 0 h 868495"/>
                <a:gd name="connsiteX1" fmla="*/ 2243233 w 2243233"/>
                <a:gd name="connsiteY1" fmla="*/ 0 h 868495"/>
                <a:gd name="connsiteX2" fmla="*/ 2243233 w 2243233"/>
                <a:gd name="connsiteY2" fmla="*/ 868495 h 868495"/>
                <a:gd name="connsiteX3" fmla="*/ 0 w 2243233"/>
                <a:gd name="connsiteY3" fmla="*/ 868495 h 868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43233" h="868495">
                  <a:moveTo>
                    <a:pt x="546" y="0"/>
                  </a:moveTo>
                  <a:lnTo>
                    <a:pt x="2243233" y="0"/>
                  </a:lnTo>
                  <a:lnTo>
                    <a:pt x="2243233" y="868495"/>
                  </a:lnTo>
                  <a:lnTo>
                    <a:pt x="0" y="86849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538D013-2C9F-12FE-F011-728191B1E15A}"/>
                </a:ext>
              </a:extLst>
            </p:cNvPr>
            <p:cNvGrpSpPr/>
            <p:nvPr/>
          </p:nvGrpSpPr>
          <p:grpSpPr>
            <a:xfrm>
              <a:off x="9363710" y="2225290"/>
              <a:ext cx="1727673" cy="2767480"/>
              <a:chOff x="1091727" y="2623740"/>
              <a:chExt cx="1727673" cy="2767480"/>
            </a:xfrm>
          </p:grpSpPr>
          <p:sp>
            <p:nvSpPr>
              <p:cNvPr id="12" name="TextBox 47">
                <a:extLst>
                  <a:ext uri="{FF2B5EF4-FFF2-40B4-BE49-F238E27FC236}">
                    <a16:creationId xmlns:a16="http://schemas.microsoft.com/office/drawing/2014/main" id="{85F388F2-EFD3-A8F9-36A4-E9178DB6E206}"/>
                  </a:ext>
                </a:extLst>
              </p:cNvPr>
              <p:cNvSpPr txBox="1"/>
              <p:nvPr/>
            </p:nvSpPr>
            <p:spPr>
              <a:xfrm>
                <a:off x="1091727" y="2623740"/>
                <a:ext cx="1727673" cy="461665"/>
              </a:xfrm>
              <a:prstGeom prst="rect">
                <a:avLst/>
              </a:prstGeom>
              <a:noFill/>
            </p:spPr>
            <p:txBody>
              <a:bodyPr wrap="square" lIns="0" rIns="0" rtlCol="0" anchor="b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b="1" dirty="0"/>
                  <a:t>Variables</a:t>
                </a:r>
              </a:p>
            </p:txBody>
          </p:sp>
          <p:sp>
            <p:nvSpPr>
              <p:cNvPr id="13" name="TextBox 48">
                <a:extLst>
                  <a:ext uri="{FF2B5EF4-FFF2-40B4-BE49-F238E27FC236}">
                    <a16:creationId xmlns:a16="http://schemas.microsoft.com/office/drawing/2014/main" id="{E354CB03-C9E4-D305-54D5-71058F32057A}"/>
                  </a:ext>
                </a:extLst>
              </p:cNvPr>
              <p:cNvSpPr txBox="1"/>
              <p:nvPr/>
            </p:nvSpPr>
            <p:spPr>
              <a:xfrm>
                <a:off x="1096312" y="3082896"/>
                <a:ext cx="1723088" cy="2308324"/>
              </a:xfrm>
              <a:prstGeom prst="rect">
                <a:avLst/>
              </a:prstGeom>
              <a:noFill/>
            </p:spPr>
            <p:txBody>
              <a:bodyPr wrap="square" lIns="0" rIns="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D81A7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time</a:t>
                </a:r>
                <a:r>
                  <a:rPr lang="en-US" dirty="0"/>
                  <a:t> survival or censoring time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D81A70"/>
                    </a:solidFill>
                  </a:rPr>
                  <a:t>Status</a:t>
                </a:r>
                <a:br>
                  <a:rPr lang="en-US" b="1" dirty="0">
                    <a:solidFill>
                      <a:srgbClr val="D81A70"/>
                    </a:solidFill>
                  </a:rPr>
                </a:br>
                <a:r>
                  <a:rPr lang="en-US" dirty="0"/>
                  <a:t>0 = censored,</a:t>
                </a:r>
                <a:br>
                  <a:rPr lang="en-US" dirty="0"/>
                </a:br>
                <a:r>
                  <a:rPr lang="en-US" dirty="0"/>
                  <a:t>1 = event </a:t>
                </a:r>
                <a:r>
                  <a:rPr lang="en-US" b="1" dirty="0"/>
                  <a:t>OR</a:t>
                </a:r>
                <a:br>
                  <a:rPr lang="en-US" dirty="0"/>
                </a:br>
                <a:r>
                  <a:rPr lang="en-US" dirty="0"/>
                  <a:t>1 = censored,</a:t>
                </a:r>
                <a:br>
                  <a:rPr lang="en-US" dirty="0"/>
                </a:br>
                <a:r>
                  <a:rPr lang="en-US" dirty="0"/>
                  <a:t>2 = event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D81A70"/>
                    </a:solidFill>
                  </a:rPr>
                  <a:t>x</a:t>
                </a:r>
                <a:r>
                  <a:rPr lang="en-US" dirty="0"/>
                  <a:t> covariates</a:t>
                </a:r>
              </a:p>
            </p:txBody>
          </p:sp>
        </p:grpSp>
        <p:pic>
          <p:nvPicPr>
            <p:cNvPr id="11" name="Graphic 10" descr="Lights On with solid fill">
              <a:extLst>
                <a:ext uri="{FF2B5EF4-FFF2-40B4-BE49-F238E27FC236}">
                  <a16:creationId xmlns:a16="http://schemas.microsoft.com/office/drawing/2014/main" id="{2628A2BB-8B59-D1F7-5376-E94CD2B2038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938451" y="1143946"/>
              <a:ext cx="578192" cy="731520"/>
            </a:xfrm>
            <a:prstGeom prst="rect">
              <a:avLst/>
            </a:prstGeom>
          </p:spPr>
        </p:pic>
      </p:grpSp>
      <p:pic>
        <p:nvPicPr>
          <p:cNvPr id="14" name="Picture 13" descr="A blue and grey logo&#10;&#10;AI-generated content may be incorrect.">
            <a:extLst>
              <a:ext uri="{FF2B5EF4-FFF2-40B4-BE49-F238E27FC236}">
                <a16:creationId xmlns:a16="http://schemas.microsoft.com/office/drawing/2014/main" id="{F7A7E7E6-29A7-7395-3B1C-1C811897E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188"/>
            <a:ext cx="1593980" cy="123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308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319A-A9F3-C581-EA0B-5B52446B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Format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5A5F51F-9BD8-13A9-5CAC-BC88E3705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06" y="1798451"/>
            <a:ext cx="10373442" cy="132556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B3C29A-4DF0-3628-8162-CA2FE3D40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06" y="2528639"/>
            <a:ext cx="5570973" cy="40462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A82F4F-65EE-9D6C-D376-270B03E5B17E}"/>
              </a:ext>
            </a:extLst>
          </p:cNvPr>
          <p:cNvSpPr txBox="1"/>
          <p:nvPr/>
        </p:nvSpPr>
        <p:spPr>
          <a:xfrm>
            <a:off x="870398" y="3733987"/>
            <a:ext cx="3351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time</a:t>
            </a:r>
            <a:r>
              <a:rPr lang="en-US" sz="2400" dirty="0"/>
              <a:t>: </a:t>
            </a:r>
            <a:r>
              <a:rPr lang="en-US" sz="2400" dirty="0" err="1"/>
              <a:t>t_val</a:t>
            </a:r>
            <a:endParaRPr lang="en-US" sz="2400" dirty="0"/>
          </a:p>
          <a:p>
            <a:r>
              <a:rPr lang="en-US" sz="2400" b="1" dirty="0"/>
              <a:t>status</a:t>
            </a:r>
            <a:r>
              <a:rPr lang="en-US" sz="2400" dirty="0"/>
              <a:t>: status</a:t>
            </a:r>
            <a:br>
              <a:rPr lang="en-US" sz="2400" dirty="0"/>
            </a:br>
            <a:r>
              <a:rPr lang="en-US" sz="2400" dirty="0"/>
              <a:t>(0 = censored,1 = event)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298F9B-78B7-05C3-0E46-E60A08ED766C}"/>
              </a:ext>
            </a:extLst>
          </p:cNvPr>
          <p:cNvSpPr/>
          <p:nvPr/>
        </p:nvSpPr>
        <p:spPr>
          <a:xfrm>
            <a:off x="8058150" y="1818359"/>
            <a:ext cx="666803" cy="487859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D8E97CC-841E-8B3D-6CCE-C9D160401EF8}"/>
              </a:ext>
            </a:extLst>
          </p:cNvPr>
          <p:cNvSpPr/>
          <p:nvPr/>
        </p:nvSpPr>
        <p:spPr>
          <a:xfrm>
            <a:off x="114067" y="2033543"/>
            <a:ext cx="442748" cy="33575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1E4388-A9FB-3C3B-3A58-EC17AB5B4E6E}"/>
              </a:ext>
            </a:extLst>
          </p:cNvPr>
          <p:cNvSpPr/>
          <p:nvPr/>
        </p:nvSpPr>
        <p:spPr>
          <a:xfrm>
            <a:off x="4386386" y="2852134"/>
            <a:ext cx="5857875" cy="2816722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48F8CEE4-2E27-3121-B534-7B255E2312EF}"/>
              </a:ext>
            </a:extLst>
          </p:cNvPr>
          <p:cNvSpPr/>
          <p:nvPr/>
        </p:nvSpPr>
        <p:spPr>
          <a:xfrm>
            <a:off x="8136731" y="1189143"/>
            <a:ext cx="3314856" cy="2725631"/>
          </a:xfrm>
          <a:prstGeom prst="arc">
            <a:avLst>
              <a:gd name="adj1" fmla="val 12816881"/>
              <a:gd name="adj2" fmla="val 4036113"/>
            </a:avLst>
          </a:prstGeom>
          <a:ln w="5715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74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9234-BA3F-0EE9-F7DA-BC436836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moth&#10;&#10;AI-generated content may be incorrect.">
            <a:extLst>
              <a:ext uri="{FF2B5EF4-FFF2-40B4-BE49-F238E27FC236}">
                <a16:creationId xmlns:a16="http://schemas.microsoft.com/office/drawing/2014/main" id="{F14CB40C-4A3C-3C2C-F166-728FB565A8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089" y="2108198"/>
            <a:ext cx="3131911" cy="3131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67BAD-EDB9-4C47-9FB7-96A9FA59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i="1" dirty="0"/>
              <a:t>Helicoverpa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431AB-64B1-0868-29C8-06A7A5803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Scenario</a:t>
            </a:r>
            <a:r>
              <a:rPr lang="en-US" dirty="0"/>
              <a:t>: </a:t>
            </a:r>
            <a:r>
              <a:rPr lang="en-US" i="1" dirty="0"/>
              <a:t>Helicoverpa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feeding on insecticide-treated plant material. Survival was assessed daily. Insecticide residue determined after experiment was terminated.</a:t>
            </a:r>
          </a:p>
          <a:p>
            <a:pPr marL="0" indent="0">
              <a:buNone/>
            </a:pPr>
            <a:r>
              <a:rPr lang="en-US" b="1" dirty="0"/>
              <a:t>Data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population</a:t>
            </a:r>
            <a:r>
              <a:rPr lang="en-US" dirty="0"/>
              <a:t>: Florida, Texas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time</a:t>
            </a:r>
            <a:r>
              <a:rPr lang="en-US" dirty="0"/>
              <a:t>: Survival time in days until event or censoring.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status</a:t>
            </a:r>
            <a:r>
              <a:rPr lang="en-US" dirty="0"/>
              <a:t>: 0 = censored, 1 = event (death)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residue</a:t>
            </a:r>
            <a:r>
              <a:rPr lang="en-US" dirty="0"/>
              <a:t>: Insecticide residue (mg/cm²) on the plant material.</a:t>
            </a:r>
          </a:p>
        </p:txBody>
      </p:sp>
      <p:pic>
        <p:nvPicPr>
          <p:cNvPr id="7" name="Picture 6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DAB9F220-A8F4-6ADB-AC70-5BB270ED57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0075">
            <a:off x="649514" y="4709194"/>
            <a:ext cx="2804403" cy="38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86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24FC-3392-4EDC-3EB0-657BCB9D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- Getting started</a:t>
            </a:r>
          </a:p>
        </p:txBody>
      </p:sp>
      <p:pic>
        <p:nvPicPr>
          <p:cNvPr id="4" name="Picture 3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8D38A6F5-D517-A863-61D3-A85A01DC5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92739">
            <a:off x="10577286" y="-407041"/>
            <a:ext cx="2804403" cy="38286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CB03F2-8C87-031F-2511-FC1421EA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625"/>
            <a:ext cx="9304714" cy="301453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168F768-2752-0F07-A14C-0228555874B8}"/>
              </a:ext>
            </a:extLst>
          </p:cNvPr>
          <p:cNvGrpSpPr/>
          <p:nvPr/>
        </p:nvGrpSpPr>
        <p:grpSpPr>
          <a:xfrm>
            <a:off x="88900" y="6101522"/>
            <a:ext cx="3142422" cy="652963"/>
            <a:chOff x="88900" y="6101522"/>
            <a:chExt cx="3142422" cy="65296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2CF330A-A5DB-4182-48DA-7655F2DD0CF9}"/>
                </a:ext>
              </a:extLst>
            </p:cNvPr>
            <p:cNvSpPr txBox="1"/>
            <p:nvPr/>
          </p:nvSpPr>
          <p:spPr>
            <a:xfrm>
              <a:off x="736600" y="6231265"/>
              <a:ext cx="24947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 Code: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Section #1</a:t>
              </a:r>
            </a:p>
          </p:txBody>
        </p:sp>
        <p:pic>
          <p:nvPicPr>
            <p:cNvPr id="11" name="Graphic 10" descr="Programmer male with solid fill">
              <a:extLst>
                <a:ext uri="{FF2B5EF4-FFF2-40B4-BE49-F238E27FC236}">
                  <a16:creationId xmlns:a16="http://schemas.microsoft.com/office/drawing/2014/main" id="{E6D3364C-46A4-77D8-C9A2-AE97775096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00" y="6101522"/>
              <a:ext cx="6477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9784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A0231-7251-2D67-4A92-3374DB7C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46A85-A0BE-E3ED-854F-F96831DC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- Getting started</a:t>
            </a:r>
          </a:p>
        </p:txBody>
      </p:sp>
      <p:pic>
        <p:nvPicPr>
          <p:cNvPr id="4" name="Picture 3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E1AFF68A-769B-254C-A10C-4C3B4602A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92739">
            <a:off x="10577286" y="-407041"/>
            <a:ext cx="2804403" cy="3828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5B2E79-3D16-EE95-5100-507092B7C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9755"/>
          <a:stretch/>
        </p:blipFill>
        <p:spPr>
          <a:xfrm>
            <a:off x="838200" y="1789670"/>
            <a:ext cx="9304714" cy="2191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FD2095-3A4C-B73A-D008-87AF623747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90" b="20984"/>
          <a:stretch/>
        </p:blipFill>
        <p:spPr>
          <a:xfrm>
            <a:off x="1034142" y="3429000"/>
            <a:ext cx="9304714" cy="3429000"/>
          </a:xfrm>
          <a:prstGeom prst="rect">
            <a:avLst/>
          </a:prstGeom>
        </p:spPr>
      </p:pic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02697F7F-446C-F0D7-077A-EFB5A1AF7181}"/>
              </a:ext>
            </a:extLst>
          </p:cNvPr>
          <p:cNvSpPr/>
          <p:nvPr/>
        </p:nvSpPr>
        <p:spPr>
          <a:xfrm>
            <a:off x="8330146" y="3843463"/>
            <a:ext cx="2827712" cy="2709985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time</a:t>
            </a:r>
            <a:r>
              <a:rPr lang="en-US" sz="2000" dirty="0"/>
              <a:t>: Survival time in </a:t>
            </a:r>
            <a:r>
              <a:rPr lang="en-US" sz="2000" b="1" dirty="0"/>
              <a:t>days</a:t>
            </a:r>
            <a:r>
              <a:rPr lang="en-US" sz="2000" dirty="0"/>
              <a:t> until event or censoring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status</a:t>
            </a:r>
            <a:r>
              <a:rPr lang="en-US" sz="2000" dirty="0"/>
              <a:t>: 0 = censored, 1 = event (death)</a:t>
            </a:r>
          </a:p>
        </p:txBody>
      </p:sp>
    </p:spTree>
    <p:extLst>
      <p:ext uri="{BB962C8B-B14F-4D97-AF65-F5344CB8AC3E}">
        <p14:creationId xmlns:p14="http://schemas.microsoft.com/office/powerpoint/2010/main" val="2219610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EF826-ACD6-DB74-896A-3202153C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EDC8-B927-BFFB-319C-BCFCAC4A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Survival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EF42-02D2-59F4-2A96-F9D05013A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Surv</a:t>
            </a:r>
            <a:r>
              <a:rPr lang="en-US" b="1" dirty="0"/>
              <a:t>() </a:t>
            </a:r>
            <a:r>
              <a:rPr lang="en-US" dirty="0"/>
              <a:t>function from ‘survival’ package</a:t>
            </a:r>
          </a:p>
          <a:p>
            <a:r>
              <a:rPr lang="en-US" dirty="0"/>
              <a:t>Creates a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</a:t>
            </a:r>
            <a:r>
              <a:rPr lang="en-US" dirty="0"/>
              <a:t> object with time-to-event data.</a:t>
            </a:r>
          </a:p>
          <a:p>
            <a:r>
              <a:rPr lang="en-US" dirty="0"/>
              <a:t>Basic structure: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(time, event)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D28F91-1267-AA26-AEFE-6E5A352CEC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766"/>
          <a:stretch/>
        </p:blipFill>
        <p:spPr>
          <a:xfrm>
            <a:off x="698369" y="3670158"/>
            <a:ext cx="5397631" cy="8183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AEC1C-AB15-B91F-9E19-6EB7A488C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286" y="4536382"/>
            <a:ext cx="9354856" cy="2067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293F6-827C-D8DF-DB1D-CE80071C5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766"/>
          <a:stretch/>
        </p:blipFill>
        <p:spPr>
          <a:xfrm>
            <a:off x="6235831" y="3650614"/>
            <a:ext cx="5397631" cy="8183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116F1F-2696-A04C-35CE-CF20508F7688}"/>
              </a:ext>
            </a:extLst>
          </p:cNvPr>
          <p:cNvCxnSpPr/>
          <p:nvPr/>
        </p:nvCxnSpPr>
        <p:spPr>
          <a:xfrm flipH="1">
            <a:off x="3135086" y="3280229"/>
            <a:ext cx="1799771" cy="5515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9F38C42-B39F-7678-E368-D1F9A060D18A}"/>
              </a:ext>
            </a:extLst>
          </p:cNvPr>
          <p:cNvCxnSpPr>
            <a:cxnSpLocks/>
          </p:cNvCxnSpPr>
          <p:nvPr/>
        </p:nvCxnSpPr>
        <p:spPr>
          <a:xfrm>
            <a:off x="5074688" y="3280229"/>
            <a:ext cx="2021115" cy="57390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0D9D70-1E30-8082-D301-6051F2A83507}"/>
              </a:ext>
            </a:extLst>
          </p:cNvPr>
          <p:cNvCxnSpPr/>
          <p:nvPr/>
        </p:nvCxnSpPr>
        <p:spPr>
          <a:xfrm flipH="1">
            <a:off x="5181600" y="3280229"/>
            <a:ext cx="1054231" cy="57390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325BEB-253B-4A52-1E15-840D38D59119}"/>
              </a:ext>
            </a:extLst>
          </p:cNvPr>
          <p:cNvCxnSpPr>
            <a:cxnSpLocks/>
          </p:cNvCxnSpPr>
          <p:nvPr/>
        </p:nvCxnSpPr>
        <p:spPr>
          <a:xfrm>
            <a:off x="6333541" y="3281603"/>
            <a:ext cx="1692859" cy="57253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8A49A76-A557-B52E-310F-ABB93C0C451D}"/>
              </a:ext>
            </a:extLst>
          </p:cNvPr>
          <p:cNvSpPr txBox="1"/>
          <p:nvPr/>
        </p:nvSpPr>
        <p:spPr>
          <a:xfrm>
            <a:off x="651360" y="4689669"/>
            <a:ext cx="21877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Censored observations are marked with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+</a:t>
            </a: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20F55681-7635-D0BF-1DC3-27E1394F397E}"/>
              </a:ext>
            </a:extLst>
          </p:cNvPr>
          <p:cNvSpPr/>
          <p:nvPr/>
        </p:nvSpPr>
        <p:spPr>
          <a:xfrm rot="13475858">
            <a:off x="2143469" y="5523642"/>
            <a:ext cx="1411190" cy="707873"/>
          </a:xfrm>
          <a:prstGeom prst="arc">
            <a:avLst>
              <a:gd name="adj1" fmla="val 10688584"/>
              <a:gd name="adj2" fmla="val 20075255"/>
            </a:avLst>
          </a:prstGeom>
          <a:ln w="3810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6D91D1-F45A-2FEE-BF9A-66277E1A78EC}"/>
              </a:ext>
            </a:extLst>
          </p:cNvPr>
          <p:cNvGrpSpPr/>
          <p:nvPr/>
        </p:nvGrpSpPr>
        <p:grpSpPr>
          <a:xfrm>
            <a:off x="88900" y="6101522"/>
            <a:ext cx="3142422" cy="652963"/>
            <a:chOff x="88900" y="6101522"/>
            <a:chExt cx="3142422" cy="6529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4A95D2-D58D-9406-0ED1-A712496125B7}"/>
                </a:ext>
              </a:extLst>
            </p:cNvPr>
            <p:cNvSpPr txBox="1"/>
            <p:nvPr/>
          </p:nvSpPr>
          <p:spPr>
            <a:xfrm>
              <a:off x="736600" y="6231265"/>
              <a:ext cx="24947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 Code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Section: #2</a:t>
              </a:r>
            </a:p>
          </p:txBody>
        </p:sp>
        <p:pic>
          <p:nvPicPr>
            <p:cNvPr id="6" name="Graphic 5" descr="Programmer male with solid fill">
              <a:extLst>
                <a:ext uri="{FF2B5EF4-FFF2-40B4-BE49-F238E27FC236}">
                  <a16:creationId xmlns:a16="http://schemas.microsoft.com/office/drawing/2014/main" id="{40427CE7-4F2E-5365-B2B6-4FA765B81C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00" y="6101522"/>
              <a:ext cx="6477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4133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D93BB-A50C-5F72-495C-91BC1C122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6C45249F-8341-C458-1AA4-C165E97D8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91" b="48007"/>
          <a:stretch/>
        </p:blipFill>
        <p:spPr>
          <a:xfrm>
            <a:off x="838200" y="5037138"/>
            <a:ext cx="9913324" cy="18208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FB4B66-7EB0-D273-48C2-91A9CEDC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KM survival curves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43F592-58C9-4E57-55BC-EDEB518FDE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776"/>
          <a:stretch/>
        </p:blipFill>
        <p:spPr>
          <a:xfrm>
            <a:off x="838200" y="3429000"/>
            <a:ext cx="9913324" cy="14879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35CDCD-3302-E1BD-A9E3-FE2DD4645A88}"/>
              </a:ext>
            </a:extLst>
          </p:cNvPr>
          <p:cNvSpPr txBox="1"/>
          <p:nvPr/>
        </p:nvSpPr>
        <p:spPr>
          <a:xfrm>
            <a:off x="9340010" y="5741176"/>
            <a:ext cx="2628140" cy="10156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One line for each timepoint for which events were recorded</a:t>
            </a:r>
            <a:endParaRPr lang="en-US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E5017E-BE4E-E173-C68C-310708D707A3}"/>
              </a:ext>
            </a:extLst>
          </p:cNvPr>
          <p:cNvCxnSpPr>
            <a:cxnSpLocks/>
          </p:cNvCxnSpPr>
          <p:nvPr/>
        </p:nvCxnSpPr>
        <p:spPr>
          <a:xfrm flipH="1">
            <a:off x="8744891" y="6172075"/>
            <a:ext cx="486195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372D8F4-2598-6AC6-6765-3D4D4B0EB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survfit</a:t>
            </a:r>
            <a:r>
              <a:rPr lang="en-US" b="1" dirty="0"/>
              <a:t>() </a:t>
            </a:r>
            <a:r>
              <a:rPr lang="en-US" dirty="0"/>
              <a:t>function from ‘survival’ package</a:t>
            </a:r>
          </a:p>
          <a:p>
            <a:r>
              <a:rPr lang="en-US" sz="2800" dirty="0"/>
              <a:t>generates Kaplan-Meier estimates for survival over time</a:t>
            </a:r>
          </a:p>
          <a:p>
            <a:r>
              <a:rPr lang="en-US" dirty="0"/>
              <a:t>Basic structure: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survfit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(time, event) ~ variable)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850D9-AAB9-E846-59DB-181E8427ADCB}"/>
              </a:ext>
            </a:extLst>
          </p:cNvPr>
          <p:cNvSpPr txBox="1"/>
          <p:nvPr/>
        </p:nvSpPr>
        <p:spPr>
          <a:xfrm>
            <a:off x="6967617" y="3563034"/>
            <a:ext cx="329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calculates survival curve for entire cohort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B3920A1-E286-FBEF-1A8E-C5FBE33E0714}"/>
              </a:ext>
            </a:extLst>
          </p:cNvPr>
          <p:cNvCxnSpPr>
            <a:cxnSpLocks/>
          </p:cNvCxnSpPr>
          <p:nvPr/>
        </p:nvCxnSpPr>
        <p:spPr>
          <a:xfrm flipH="1">
            <a:off x="5639888" y="3886200"/>
            <a:ext cx="1282406" cy="34388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61A55156-3F15-FFCF-7E24-D69DC3F5891A}"/>
              </a:ext>
            </a:extLst>
          </p:cNvPr>
          <p:cNvSpPr/>
          <p:nvPr/>
        </p:nvSpPr>
        <p:spPr>
          <a:xfrm>
            <a:off x="4988741" y="4144394"/>
            <a:ext cx="605824" cy="51333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F14CDB-C706-0310-2B7E-26DAE1E6B947}"/>
              </a:ext>
            </a:extLst>
          </p:cNvPr>
          <p:cNvGrpSpPr/>
          <p:nvPr/>
        </p:nvGrpSpPr>
        <p:grpSpPr>
          <a:xfrm>
            <a:off x="9630465" y="101161"/>
            <a:ext cx="3142422" cy="652963"/>
            <a:chOff x="88900" y="6101522"/>
            <a:chExt cx="3142422" cy="6529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38B2A9-0F7D-1BAA-662A-F9E52DCFE99B}"/>
                </a:ext>
              </a:extLst>
            </p:cNvPr>
            <p:cNvSpPr txBox="1"/>
            <p:nvPr/>
          </p:nvSpPr>
          <p:spPr>
            <a:xfrm>
              <a:off x="736600" y="6231265"/>
              <a:ext cx="24947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 Code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Section: #3</a:t>
              </a:r>
            </a:p>
          </p:txBody>
        </p:sp>
        <p:pic>
          <p:nvPicPr>
            <p:cNvPr id="9" name="Graphic 8" descr="Programmer male with solid fill">
              <a:extLst>
                <a:ext uri="{FF2B5EF4-FFF2-40B4-BE49-F238E27FC236}">
                  <a16:creationId xmlns:a16="http://schemas.microsoft.com/office/drawing/2014/main" id="{A3EB98CD-9672-D646-E0B7-D06D2957B1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00" y="6101522"/>
              <a:ext cx="6477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05324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0B2D-1404-D43B-A37E-386B9C01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CAC84-4DD6-555C-064F-2061B5079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KM survival curves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12F6F-9C71-7F9E-B7C0-6B046632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199" y="1744741"/>
            <a:ext cx="9913323" cy="11126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E25CC-B286-58F8-4471-20A0228F86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975" r="43454"/>
          <a:stretch/>
        </p:blipFill>
        <p:spPr>
          <a:xfrm>
            <a:off x="2191656" y="2505013"/>
            <a:ext cx="5500916" cy="108923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FDC122-8FAD-5FE1-C6A7-24AFB823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4686"/>
            <a:ext cx="10515600" cy="2432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Estimated survival an be used to calculate </a:t>
            </a:r>
            <a:r>
              <a:rPr lang="en-US" b="1" dirty="0"/>
              <a:t>probability of survival</a:t>
            </a:r>
            <a:r>
              <a:rPr lang="en-US" dirty="0"/>
              <a:t> beyond </a:t>
            </a:r>
            <a:r>
              <a:rPr lang="en-US" b="1" dirty="0"/>
              <a:t>specific</a:t>
            </a:r>
            <a:r>
              <a:rPr lang="en-US" dirty="0"/>
              <a:t> </a:t>
            </a:r>
            <a:r>
              <a:rPr lang="en-US" b="1" dirty="0"/>
              <a:t>times: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23261D-7804-EE88-D5F4-5412FCA1F1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436"/>
          <a:stretch/>
        </p:blipFill>
        <p:spPr>
          <a:xfrm>
            <a:off x="1070426" y="5953124"/>
            <a:ext cx="9448867" cy="904875"/>
          </a:xfrm>
          <a:prstGeom prst="rect">
            <a:avLst/>
          </a:prstGeom>
        </p:spPr>
      </p:pic>
      <p:pic>
        <p:nvPicPr>
          <p:cNvPr id="12" name="Picture 11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4FD467EA-F4BA-DCB1-3024-80CBA2380E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92739">
            <a:off x="10577286" y="-407041"/>
            <a:ext cx="2804403" cy="3828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97DA5C-7171-6B60-2B36-70D0D69087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142"/>
          <a:stretch/>
        </p:blipFill>
        <p:spPr>
          <a:xfrm>
            <a:off x="1070426" y="4678150"/>
            <a:ext cx="9448867" cy="123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117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1EDF9-D446-2826-CA4F-04305CDE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BDD0-CCA3-B313-6F1A-DE6E4565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KM survival curves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026EC0A4-10AD-22E4-1B4C-7BC823E1B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4450" y="1542596"/>
            <a:ext cx="10123099" cy="531540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FA39B1D-677B-B994-D8A3-3E60B38501D8}"/>
              </a:ext>
            </a:extLst>
          </p:cNvPr>
          <p:cNvCxnSpPr>
            <a:cxnSpLocks/>
          </p:cNvCxnSpPr>
          <p:nvPr/>
        </p:nvCxnSpPr>
        <p:spPr>
          <a:xfrm flipV="1">
            <a:off x="3773714" y="5138057"/>
            <a:ext cx="0" cy="42091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3BF7DDE-471A-F33F-FBC4-62BD0653391B}"/>
              </a:ext>
            </a:extLst>
          </p:cNvPr>
          <p:cNvSpPr txBox="1"/>
          <p:nvPr/>
        </p:nvSpPr>
        <p:spPr>
          <a:xfrm>
            <a:off x="3773714" y="53480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2"/>
                </a:solidFill>
              </a:rPr>
              <a:t>Median survival time</a:t>
            </a:r>
            <a:endParaRPr lang="en-US" sz="18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6E75BE-1382-5572-09CB-5FF437DAD1D2}"/>
              </a:ext>
            </a:extLst>
          </p:cNvPr>
          <p:cNvSpPr txBox="1"/>
          <p:nvPr/>
        </p:nvSpPr>
        <p:spPr>
          <a:xfrm>
            <a:off x="8287658" y="2596044"/>
            <a:ext cx="24383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Censored observations are marked with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chemeClr val="accent2"/>
                </a:solidFill>
                <a:latin typeface="Consolas" panose="020B0609020204030204" pitchFamily="49" charset="0"/>
              </a:rPr>
              <a:t>+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D6CF58-DFF6-7913-25CD-B71CF44F4468}"/>
              </a:ext>
            </a:extLst>
          </p:cNvPr>
          <p:cNvCxnSpPr>
            <a:cxnSpLocks/>
          </p:cNvCxnSpPr>
          <p:nvPr/>
        </p:nvCxnSpPr>
        <p:spPr>
          <a:xfrm flipH="1">
            <a:off x="7336971" y="3519374"/>
            <a:ext cx="950687" cy="75496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FD2771E-F35D-5A1B-4316-4EB854C46C32}"/>
              </a:ext>
            </a:extLst>
          </p:cNvPr>
          <p:cNvCxnSpPr>
            <a:cxnSpLocks/>
          </p:cNvCxnSpPr>
          <p:nvPr/>
        </p:nvCxnSpPr>
        <p:spPr>
          <a:xfrm flipH="1">
            <a:off x="8519889" y="3577142"/>
            <a:ext cx="145140" cy="93827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307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487D299-C123-35A9-0681-4EA551E9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Population Differences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9AEC2-25AE-CFDC-0FF3-933085FDF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72662"/>
          <a:stretch/>
        </p:blipFill>
        <p:spPr>
          <a:xfrm>
            <a:off x="838200" y="1643973"/>
            <a:ext cx="9345329" cy="13255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D1C863-7253-6C22-E9D4-F2ACB8D341A4}"/>
              </a:ext>
            </a:extLst>
          </p:cNvPr>
          <p:cNvSpPr txBox="1"/>
          <p:nvPr/>
        </p:nvSpPr>
        <p:spPr>
          <a:xfrm>
            <a:off x="8565187" y="2450043"/>
            <a:ext cx="3006328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Summary tables are now given for each population</a:t>
            </a:r>
            <a:endParaRPr lang="en-US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68855B-7C60-4B35-B789-DF955DE6B85F}"/>
              </a:ext>
            </a:extLst>
          </p:cNvPr>
          <p:cNvCxnSpPr>
            <a:cxnSpLocks/>
          </p:cNvCxnSpPr>
          <p:nvPr/>
        </p:nvCxnSpPr>
        <p:spPr>
          <a:xfrm flipH="1" flipV="1">
            <a:off x="5791200" y="2438400"/>
            <a:ext cx="2627086" cy="2757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737979B3-D046-9C50-A000-03325B6F6A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192" b="26444"/>
          <a:stretch/>
        </p:blipFill>
        <p:spPr>
          <a:xfrm>
            <a:off x="838200" y="3323479"/>
            <a:ext cx="9345329" cy="161777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5DBA46-034F-4D9C-64EF-BDA43DA07928}"/>
              </a:ext>
            </a:extLst>
          </p:cNvPr>
          <p:cNvCxnSpPr>
            <a:cxnSpLocks/>
          </p:cNvCxnSpPr>
          <p:nvPr/>
        </p:nvCxnSpPr>
        <p:spPr>
          <a:xfrm flipH="1">
            <a:off x="5036457" y="3068114"/>
            <a:ext cx="3381829" cy="95234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D982BFA5-797A-03A7-74CF-418438BAE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74" y="5181815"/>
            <a:ext cx="6096851" cy="114316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1388253-D680-E524-BA50-9108DAAB1002}"/>
              </a:ext>
            </a:extLst>
          </p:cNvPr>
          <p:cNvSpPr txBox="1"/>
          <p:nvPr/>
        </p:nvSpPr>
        <p:spPr>
          <a:xfrm>
            <a:off x="696686" y="5295200"/>
            <a:ext cx="18723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Short summary of </a:t>
            </a:r>
            <a:r>
              <a:rPr lang="en-US" sz="2000" b="1" dirty="0">
                <a:solidFill>
                  <a:schemeClr val="accent2"/>
                </a:solidFill>
                <a:latin typeface="Consolas" panose="020B0609020204030204" pitchFamily="49" charset="0"/>
              </a:rPr>
              <a:t>s2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A05AF7-59B1-4097-2B17-059CD5921DF5}"/>
              </a:ext>
            </a:extLst>
          </p:cNvPr>
          <p:cNvSpPr/>
          <p:nvPr/>
        </p:nvSpPr>
        <p:spPr>
          <a:xfrm>
            <a:off x="7286171" y="5546941"/>
            <a:ext cx="1407886" cy="665174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7F115A9-D98F-D755-D316-3924C9192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12308" y="3511872"/>
            <a:ext cx="4808291" cy="360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651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BCF1-C1CF-DBF1-A9DD-FCC4C35F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DF51FD6-4E50-7874-9BD2-005CBB8FD1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24362"/>
          <a:stretch/>
        </p:blipFill>
        <p:spPr>
          <a:xfrm>
            <a:off x="983343" y="1320800"/>
            <a:ext cx="9130727" cy="5537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4B5F34-DEFD-0FC8-4881-1FA703E8D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KM survival curves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132758-9473-B71E-6C8D-9974F87D6F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996" t="42187" r="8725" b="40250"/>
          <a:stretch/>
        </p:blipFill>
        <p:spPr>
          <a:xfrm>
            <a:off x="10041254" y="3798319"/>
            <a:ext cx="1167403" cy="1150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6BF6C97-EEB7-3F33-DA81-ACD4115DF2B1}"/>
              </a:ext>
            </a:extLst>
          </p:cNvPr>
          <p:cNvSpPr txBox="1"/>
          <p:nvPr/>
        </p:nvSpPr>
        <p:spPr>
          <a:xfrm>
            <a:off x="5762171" y="1710302"/>
            <a:ext cx="38608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Are survival curves different?</a:t>
            </a:r>
          </a:p>
          <a:p>
            <a:r>
              <a:rPr lang="en-US" sz="2000" b="1" dirty="0"/>
              <a:t>Log-rank </a:t>
            </a:r>
            <a:r>
              <a:rPr lang="en-US" sz="2000" dirty="0"/>
              <a:t>test: </a:t>
            </a:r>
            <a:r>
              <a:rPr lang="en-US" sz="2000" dirty="0" err="1"/>
              <a:t>survdiff</a:t>
            </a:r>
            <a:r>
              <a:rPr lang="en-US" sz="2000" dirty="0"/>
              <a:t>(</a:t>
            </a:r>
            <a:r>
              <a:rPr lang="en-US" sz="2000" dirty="0" err="1"/>
              <a:t>Surv</a:t>
            </a:r>
            <a:r>
              <a:rPr lang="en-US" sz="2000" dirty="0"/>
              <a:t>(time, status) ~ population, data = </a:t>
            </a:r>
            <a:r>
              <a:rPr lang="en-US" sz="2000" dirty="0" err="1"/>
              <a:t>dat</a:t>
            </a:r>
            <a:r>
              <a:rPr lang="en-US" sz="2000" dirty="0"/>
              <a:t>) </a:t>
            </a:r>
            <a:endParaRPr lang="en-US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6C08EF8-A70C-60D4-9615-BBF4B400B87A}"/>
              </a:ext>
            </a:extLst>
          </p:cNvPr>
          <p:cNvSpPr/>
          <p:nvPr/>
        </p:nvSpPr>
        <p:spPr>
          <a:xfrm>
            <a:off x="1857828" y="3834148"/>
            <a:ext cx="1407886" cy="665174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31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06E53-9AC0-C02B-1170-CF762F9EF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Cox PH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4127A-044C-4810-9116-1138814DB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coxph</a:t>
            </a:r>
            <a:r>
              <a:rPr lang="en-US" b="1" dirty="0"/>
              <a:t>() </a:t>
            </a:r>
            <a:r>
              <a:rPr lang="en-US" dirty="0"/>
              <a:t>function from ‘survival’ package</a:t>
            </a:r>
          </a:p>
          <a:p>
            <a:r>
              <a:rPr lang="en-US" sz="2800" dirty="0"/>
              <a:t>Can fit a model with multiple covariates, estimates hazard</a:t>
            </a:r>
          </a:p>
          <a:p>
            <a:r>
              <a:rPr lang="en-US" dirty="0"/>
              <a:t>Basic structure: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coxph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(time, event) ~ variable)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2D7F74-0A70-75BB-7967-6C04EE6426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359"/>
          <a:stretch/>
        </p:blipFill>
        <p:spPr>
          <a:xfrm>
            <a:off x="838200" y="3429000"/>
            <a:ext cx="9297698" cy="737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A0A14E-4EBE-D567-35B8-E460CC9CEA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617" b="5584"/>
          <a:stretch/>
        </p:blipFill>
        <p:spPr>
          <a:xfrm>
            <a:off x="1767537" y="4001294"/>
            <a:ext cx="8656925" cy="28347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37A4A4-5409-9603-B341-5B515C850554}"/>
              </a:ext>
            </a:extLst>
          </p:cNvPr>
          <p:cNvSpPr txBox="1"/>
          <p:nvPr/>
        </p:nvSpPr>
        <p:spPr>
          <a:xfrm>
            <a:off x="8632734" y="3657865"/>
            <a:ext cx="3006328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exp(</a:t>
            </a:r>
            <a:r>
              <a:rPr lang="en-US" sz="2000" b="1" dirty="0" err="1"/>
              <a:t>coef</a:t>
            </a:r>
            <a:r>
              <a:rPr lang="en-US" sz="2000" b="1" dirty="0"/>
              <a:t>): HR</a:t>
            </a:r>
            <a:r>
              <a:rPr lang="en-US" sz="2000" dirty="0"/>
              <a:t> of group (TX) relative to reference (FL)</a:t>
            </a:r>
          </a:p>
          <a:p>
            <a:endParaRPr lang="en-US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r>
              <a:rPr lang="en-US" sz="2000" dirty="0"/>
              <a:t>HR = 0.842, or 84.2% of the hazard for FL,</a:t>
            </a:r>
          </a:p>
          <a:p>
            <a:r>
              <a:rPr lang="en-US" sz="2000" dirty="0"/>
              <a:t>i.e. 15.8% reduction in hazard (ns!)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71B0866-67B0-5CCE-6C84-107E70AEF391}"/>
              </a:ext>
            </a:extLst>
          </p:cNvPr>
          <p:cNvCxnSpPr>
            <a:cxnSpLocks/>
          </p:cNvCxnSpPr>
          <p:nvPr/>
        </p:nvCxnSpPr>
        <p:spPr>
          <a:xfrm flipH="1">
            <a:off x="5596467" y="4234223"/>
            <a:ext cx="2853266" cy="103004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93A6058-F3FB-B3A3-9C45-DA33295C3A03}"/>
              </a:ext>
            </a:extLst>
          </p:cNvPr>
          <p:cNvSpPr/>
          <p:nvPr/>
        </p:nvSpPr>
        <p:spPr>
          <a:xfrm>
            <a:off x="4390572" y="5264270"/>
            <a:ext cx="1205895" cy="66517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55E939-E57D-7174-DB92-3F03E5AE7373}"/>
              </a:ext>
            </a:extLst>
          </p:cNvPr>
          <p:cNvSpPr/>
          <p:nvPr/>
        </p:nvSpPr>
        <p:spPr>
          <a:xfrm>
            <a:off x="7137400" y="5261206"/>
            <a:ext cx="565996" cy="66517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0882EC-849B-CD08-D9C9-58BC2AEBCED5}"/>
              </a:ext>
            </a:extLst>
          </p:cNvPr>
          <p:cNvCxnSpPr>
            <a:cxnSpLocks/>
          </p:cNvCxnSpPr>
          <p:nvPr/>
        </p:nvCxnSpPr>
        <p:spPr>
          <a:xfrm flipH="1" flipV="1">
            <a:off x="7806267" y="5923550"/>
            <a:ext cx="728133" cy="7544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BD5362-5F2B-A96D-C0F7-329835A09005}"/>
              </a:ext>
            </a:extLst>
          </p:cNvPr>
          <p:cNvGrpSpPr/>
          <p:nvPr/>
        </p:nvGrpSpPr>
        <p:grpSpPr>
          <a:xfrm>
            <a:off x="9630465" y="101161"/>
            <a:ext cx="3142422" cy="652963"/>
            <a:chOff x="88900" y="6101522"/>
            <a:chExt cx="3142422" cy="65296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7356F41-E401-BD36-D6BE-A7676C1EBB60}"/>
                </a:ext>
              </a:extLst>
            </p:cNvPr>
            <p:cNvSpPr txBox="1"/>
            <p:nvPr/>
          </p:nvSpPr>
          <p:spPr>
            <a:xfrm>
              <a:off x="736600" y="6231265"/>
              <a:ext cx="24947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 Code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Section: #4</a:t>
              </a:r>
            </a:p>
          </p:txBody>
        </p:sp>
        <p:pic>
          <p:nvPicPr>
            <p:cNvPr id="14" name="Graphic 13" descr="Programmer male with solid fill">
              <a:extLst>
                <a:ext uri="{FF2B5EF4-FFF2-40B4-BE49-F238E27FC236}">
                  <a16:creationId xmlns:a16="http://schemas.microsoft.com/office/drawing/2014/main" id="{D0F7AC47-C738-3C53-A9F4-B965754ED2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00" y="6101522"/>
              <a:ext cx="6477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7762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290B-34CD-BB9F-3338-B6AD8EAF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1138B7-D11A-ADEB-09C6-9B4C56056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245" y="4170358"/>
            <a:ext cx="6977874" cy="2322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5700B-EF04-FD84-A9CE-732CBE54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Cox PH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38CFB-9111-8AE0-908D-5D59A3BA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coxph</a:t>
            </a:r>
            <a:r>
              <a:rPr lang="en-US" b="1" dirty="0"/>
              <a:t>() </a:t>
            </a:r>
            <a:r>
              <a:rPr lang="en-US" dirty="0"/>
              <a:t>function from ‘survival’ package</a:t>
            </a:r>
          </a:p>
          <a:p>
            <a:r>
              <a:rPr lang="en-US" sz="2800" dirty="0"/>
              <a:t>Can fit a model with multiple covariates, estimates hazard</a:t>
            </a:r>
          </a:p>
          <a:p>
            <a:r>
              <a:rPr lang="en-US" dirty="0"/>
              <a:t>Basic structure: 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coxph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chemeClr val="accent1"/>
                </a:solidFill>
                <a:latin typeface="Consolas" panose="020B0609020204030204" pitchFamily="49" charset="0"/>
              </a:rPr>
              <a:t>Surv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(time, event) ~ variable)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4E5127-677E-0ED7-D544-BACF851D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2359"/>
          <a:stretch/>
        </p:blipFill>
        <p:spPr>
          <a:xfrm>
            <a:off x="838200" y="3429000"/>
            <a:ext cx="9297698" cy="73775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D04868-4779-907A-7954-E0BF56872C76}"/>
              </a:ext>
            </a:extLst>
          </p:cNvPr>
          <p:cNvCxnSpPr>
            <a:cxnSpLocks/>
          </p:cNvCxnSpPr>
          <p:nvPr/>
        </p:nvCxnSpPr>
        <p:spPr>
          <a:xfrm flipH="1">
            <a:off x="4842934" y="5190067"/>
            <a:ext cx="1718732" cy="23030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BA80DE-7A84-1CCE-17A1-F16B3FEDB129}"/>
              </a:ext>
            </a:extLst>
          </p:cNvPr>
          <p:cNvSpPr/>
          <p:nvPr/>
        </p:nvSpPr>
        <p:spPr>
          <a:xfrm>
            <a:off x="1274838" y="5261206"/>
            <a:ext cx="3381829" cy="31832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D3545C-CDDF-42FE-0699-EAD9AF581133}"/>
              </a:ext>
            </a:extLst>
          </p:cNvPr>
          <p:cNvSpPr txBox="1"/>
          <p:nvPr/>
        </p:nvSpPr>
        <p:spPr>
          <a:xfrm>
            <a:off x="6984339" y="4989627"/>
            <a:ext cx="4696506" cy="7078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Concordance: measure of predictive accuracy (0.5 = as good as random)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E4D562-1DA3-5DC2-A7BA-B2A000692BB0}"/>
              </a:ext>
            </a:extLst>
          </p:cNvPr>
          <p:cNvSpPr txBox="1"/>
          <p:nvPr/>
        </p:nvSpPr>
        <p:spPr>
          <a:xfrm>
            <a:off x="6347430" y="5902602"/>
            <a:ext cx="2345928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Global model tests assess model fit 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178E26B6-0B4B-958D-1A45-E1E6B6E547AC}"/>
              </a:ext>
            </a:extLst>
          </p:cNvPr>
          <p:cNvSpPr/>
          <p:nvPr/>
        </p:nvSpPr>
        <p:spPr>
          <a:xfrm>
            <a:off x="5791200" y="5579534"/>
            <a:ext cx="364067" cy="860545"/>
          </a:xfrm>
          <a:prstGeom prst="rightBrace">
            <a:avLst>
              <a:gd name="adj1" fmla="val 8333"/>
              <a:gd name="adj2" fmla="val 75581"/>
            </a:avLst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09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B5F4D-08DD-380A-B6FF-F6AC94C0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4BCA-DFF8-5A64-C14C-61E8F3C1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</a:t>
            </a:r>
            <a:br>
              <a:rPr lang="en-US" dirty="0"/>
            </a:br>
            <a:r>
              <a:rPr lang="en-US" dirty="0"/>
              <a:t>Changing the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8649-0AFD-E325-776F-E641328C9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change the reference to x:</a:t>
            </a:r>
          </a:p>
          <a:p>
            <a:pPr marL="0" indent="0">
              <a:buNone/>
            </a:pPr>
            <a:r>
              <a:rPr lang="en-US" sz="2600" dirty="0"/>
              <a:t>	Turn variable into a factor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600" dirty="0"/>
              <a:t>	Redefine levels and assign reference with </a:t>
            </a:r>
            <a:r>
              <a:rPr lang="en-US" sz="2600" b="1" dirty="0">
                <a:latin typeface="Consolas" panose="020B0609020204030204" pitchFamily="49" charset="0"/>
              </a:rPr>
              <a:t>relevel(…, ref=“x“)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ADB88-A8C8-E571-1519-DE50EDFBF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34" y="4181304"/>
            <a:ext cx="8900639" cy="247720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F216FB0-F8C2-3909-E956-5675ED5531E2}"/>
              </a:ext>
            </a:extLst>
          </p:cNvPr>
          <p:cNvSpPr/>
          <p:nvPr/>
        </p:nvSpPr>
        <p:spPr>
          <a:xfrm>
            <a:off x="1206499" y="2307167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450B6B-038D-6BA6-9067-7B37A6DE70A7}"/>
              </a:ext>
            </a:extLst>
          </p:cNvPr>
          <p:cNvSpPr/>
          <p:nvPr/>
        </p:nvSpPr>
        <p:spPr>
          <a:xfrm>
            <a:off x="1206499" y="2925233"/>
            <a:ext cx="503767" cy="503767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E6F61A-AD76-692E-D818-457E1537EF41}"/>
              </a:ext>
            </a:extLst>
          </p:cNvPr>
          <p:cNvSpPr/>
          <p:nvPr/>
        </p:nvSpPr>
        <p:spPr>
          <a:xfrm>
            <a:off x="6383004" y="3553269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056AC2C-95CA-9723-7E4A-FE82F03A79D5}"/>
              </a:ext>
            </a:extLst>
          </p:cNvPr>
          <p:cNvSpPr/>
          <p:nvPr/>
        </p:nvSpPr>
        <p:spPr>
          <a:xfrm>
            <a:off x="10394103" y="5827691"/>
            <a:ext cx="503767" cy="503767"/>
          </a:xfrm>
          <a:prstGeom prst="ellips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276793-4F10-0576-BA5C-E7EEE4F9DAE1}"/>
              </a:ext>
            </a:extLst>
          </p:cNvPr>
          <p:cNvCxnSpPr>
            <a:cxnSpLocks/>
          </p:cNvCxnSpPr>
          <p:nvPr/>
        </p:nvCxnSpPr>
        <p:spPr>
          <a:xfrm flipH="1">
            <a:off x="5367130" y="4046367"/>
            <a:ext cx="873648" cy="5355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217CCA-0C1B-ACC7-D45F-314619B135DB}"/>
              </a:ext>
            </a:extLst>
          </p:cNvPr>
          <p:cNvCxnSpPr>
            <a:cxnSpLocks/>
          </p:cNvCxnSpPr>
          <p:nvPr/>
        </p:nvCxnSpPr>
        <p:spPr>
          <a:xfrm flipH="1">
            <a:off x="9242433" y="6118779"/>
            <a:ext cx="1028737" cy="28097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5" name="Picture 14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E359CB17-A187-2457-DFA7-9A27C7087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4530" flipH="1">
            <a:off x="7780342" y="2428360"/>
            <a:ext cx="2384643" cy="3255556"/>
          </a:xfrm>
          <a:prstGeom prst="rect">
            <a:avLst/>
          </a:prstGeom>
        </p:spPr>
      </p:pic>
      <p:pic>
        <p:nvPicPr>
          <p:cNvPr id="23" name="Picture 22" descr="A brown cowboy hat with a black background&#10;&#10;AI-generated content may be incorrect.">
            <a:extLst>
              <a:ext uri="{FF2B5EF4-FFF2-40B4-BE49-F238E27FC236}">
                <a16:creationId xmlns:a16="http://schemas.microsoft.com/office/drawing/2014/main" id="{DFFA89EA-C25F-651C-1A8F-2C740BC845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25" b="89847" l="2620" r="96725">
                        <a14:foregroundMark x1="2729" y1="67904" x2="6004" y2="62118"/>
                        <a14:foregroundMark x1="90066" y1="44760" x2="96725" y2="489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141" y="3314253"/>
            <a:ext cx="948702" cy="9487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61AF3419-61EE-7810-DAB8-C19D4ECA5647}"/>
              </a:ext>
            </a:extLst>
          </p:cNvPr>
          <p:cNvSpPr/>
          <p:nvPr/>
        </p:nvSpPr>
        <p:spPr>
          <a:xfrm>
            <a:off x="7956492" y="414641"/>
            <a:ext cx="3836062" cy="1955005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Reference by default:</a:t>
            </a:r>
            <a:b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first group listed for each variable</a:t>
            </a:r>
          </a:p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For categorical variables: </a:t>
            </a:r>
            <a:r>
              <a:rPr lang="en-US" sz="2000" dirty="0">
                <a:solidFill>
                  <a:schemeClr val="bg1"/>
                </a:solidFill>
              </a:rPr>
              <a:t>determined by alphabetical order</a:t>
            </a:r>
          </a:p>
        </p:txBody>
      </p:sp>
    </p:spTree>
    <p:extLst>
      <p:ext uri="{BB962C8B-B14F-4D97-AF65-F5344CB8AC3E}">
        <p14:creationId xmlns:p14="http://schemas.microsoft.com/office/powerpoint/2010/main" val="5797437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18B9-2914-0DED-7C99-B90CD72F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9498-A221-36C4-AEFF-DF7286CC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Cox PH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A393-9126-FFF3-030C-A0755FEB7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Does insecticide residue influence survival?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1777CC-AA0C-3626-4FAC-DD0CE6EF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686"/>
          <a:stretch/>
        </p:blipFill>
        <p:spPr>
          <a:xfrm>
            <a:off x="838200" y="2306471"/>
            <a:ext cx="8258594" cy="1297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9A1B5-4882-AF82-9E23-248213484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91789"/>
            <a:ext cx="4501964" cy="2666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EAA224-824F-4520-8C15-1B976AD33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80" y="4676471"/>
            <a:ext cx="4401164" cy="218152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70A672-EF75-7EEE-2CB6-82B295ED296B}"/>
              </a:ext>
            </a:extLst>
          </p:cNvPr>
          <p:cNvSpPr/>
          <p:nvPr/>
        </p:nvSpPr>
        <p:spPr>
          <a:xfrm>
            <a:off x="939001" y="6218762"/>
            <a:ext cx="4401164" cy="580368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E2FC74-4AF7-20A2-DB4B-E361C335D4D5}"/>
              </a:ext>
            </a:extLst>
          </p:cNvPr>
          <p:cNvSpPr/>
          <p:nvPr/>
        </p:nvSpPr>
        <p:spPr>
          <a:xfrm>
            <a:off x="6637068" y="5770934"/>
            <a:ext cx="2913332" cy="282733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20763B-6AA1-98D5-244F-EAE4DDAB6374}"/>
              </a:ext>
            </a:extLst>
          </p:cNvPr>
          <p:cNvSpPr/>
          <p:nvPr/>
        </p:nvSpPr>
        <p:spPr>
          <a:xfrm>
            <a:off x="6523678" y="6561871"/>
            <a:ext cx="3026721" cy="282733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9F7C3A-B885-118E-5684-C2F9452B56C5}"/>
              </a:ext>
            </a:extLst>
          </p:cNvPr>
          <p:cNvSpPr txBox="1"/>
          <p:nvPr/>
        </p:nvSpPr>
        <p:spPr>
          <a:xfrm>
            <a:off x="330200" y="3702536"/>
            <a:ext cx="640432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Use </a:t>
            </a:r>
            <a:r>
              <a:rPr lang="en-US" sz="2000" b="1" dirty="0" err="1">
                <a:latin typeface="Consolas" panose="020B0609020204030204" pitchFamily="49" charset="0"/>
              </a:rPr>
              <a:t>anova</a:t>
            </a:r>
            <a:r>
              <a:rPr lang="en-US" sz="2000" b="1" dirty="0">
                <a:latin typeface="Consolas" panose="020B0609020204030204" pitchFamily="49" charset="0"/>
              </a:rPr>
              <a:t>() </a:t>
            </a:r>
            <a:r>
              <a:rPr lang="en-US" sz="2000" dirty="0"/>
              <a:t>to assess the </a:t>
            </a:r>
            <a:r>
              <a:rPr lang="en-US" sz="2000" b="1" dirty="0">
                <a:solidFill>
                  <a:schemeClr val="accent2"/>
                </a:solidFill>
              </a:rPr>
              <a:t>contribution of each term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DDEA62-1976-CC75-0763-7DD4CCF58737}"/>
              </a:ext>
            </a:extLst>
          </p:cNvPr>
          <p:cNvSpPr txBox="1"/>
          <p:nvPr/>
        </p:nvSpPr>
        <p:spPr>
          <a:xfrm>
            <a:off x="5849557" y="425224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or to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compare</a:t>
            </a:r>
            <a:r>
              <a:rPr lang="en-US" sz="2000" dirty="0"/>
              <a:t> different cox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models</a:t>
            </a:r>
            <a:r>
              <a:rPr lang="en-US" sz="2000" dirty="0"/>
              <a:t> 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DD6751EA-39F9-FA13-A3A2-C8755BFB762D}"/>
              </a:ext>
            </a:extLst>
          </p:cNvPr>
          <p:cNvSpPr/>
          <p:nvPr/>
        </p:nvSpPr>
        <p:spPr>
          <a:xfrm>
            <a:off x="9561866" y="544025"/>
            <a:ext cx="2395002" cy="2709985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Based on your </a:t>
            </a: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research question 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and </a:t>
            </a: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study system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you may want to keep covariates in your model </a:t>
            </a:r>
            <a:r>
              <a:rPr lang="en-US" sz="2000" b="1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even if </a:t>
            </a:r>
            <a:r>
              <a:rPr lang="en-US" sz="2000" b="1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n.s</a:t>
            </a:r>
            <a:r>
              <a:rPr lang="en-US" sz="20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  <a:endParaRPr lang="en-US" sz="2000" i="1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395068B-A0D7-DA32-7EB3-D6CABC936C4E}"/>
              </a:ext>
            </a:extLst>
          </p:cNvPr>
          <p:cNvSpPr/>
          <p:nvPr/>
        </p:nvSpPr>
        <p:spPr>
          <a:xfrm>
            <a:off x="373128" y="3234161"/>
            <a:ext cx="592667" cy="3248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838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D932-951F-8098-0ACD-6DDCC79D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4388-16EE-71AA-0879-E71EB0321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6052079" cy="1600200"/>
          </a:xfrm>
        </p:spPr>
        <p:txBody>
          <a:bodyPr>
            <a:noAutofit/>
          </a:bodyPr>
          <a:lstStyle/>
          <a:p>
            <a:r>
              <a:rPr lang="en-US" sz="4400" i="1" dirty="0"/>
              <a:t>H. </a:t>
            </a:r>
            <a:r>
              <a:rPr lang="en-US" sz="4400" i="1" dirty="0" err="1"/>
              <a:t>zea</a:t>
            </a:r>
            <a:r>
              <a:rPr lang="en-US" sz="4400" i="1" dirty="0"/>
              <a:t> </a:t>
            </a:r>
            <a:r>
              <a:rPr lang="en-US" sz="4400" dirty="0"/>
              <a:t>survival –</a:t>
            </a:r>
            <a:br>
              <a:rPr lang="en-US" sz="4400" dirty="0"/>
            </a:br>
            <a:r>
              <a:rPr lang="en-US" sz="4400" dirty="0"/>
              <a:t>Cox PH Assumptions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23780DC-9CA5-76CC-988A-CF239D5D30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t="330" b="7"/>
          <a:stretch/>
        </p:blipFill>
        <p:spPr>
          <a:xfrm>
            <a:off x="7721600" y="142083"/>
            <a:ext cx="4210732" cy="6594585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C31A8C4-6006-36C9-F4B9-9918F2BEA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822269" cy="381158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Non-informative censoring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Proportional hazard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Linearity (continuous covariates)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8AED0-2F03-972F-8181-1E8DB46C9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87" y="3439375"/>
            <a:ext cx="5753903" cy="3439005"/>
          </a:xfrm>
          <a:prstGeom prst="rect">
            <a:avLst/>
          </a:prstGeom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E64F09F0-5265-2939-3E94-E0A74811C96C}"/>
              </a:ext>
            </a:extLst>
          </p:cNvPr>
          <p:cNvSpPr/>
          <p:nvPr/>
        </p:nvSpPr>
        <p:spPr>
          <a:xfrm flipH="1">
            <a:off x="6730424" y="457200"/>
            <a:ext cx="761367" cy="6266701"/>
          </a:xfrm>
          <a:prstGeom prst="rightBrace">
            <a:avLst>
              <a:gd name="adj1" fmla="val 25014"/>
              <a:gd name="adj2" fmla="val 66124"/>
            </a:avLst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3B4ADC-1643-EDFF-3C73-F9833BEDBB2F}"/>
              </a:ext>
            </a:extLst>
          </p:cNvPr>
          <p:cNvSpPr/>
          <p:nvPr/>
        </p:nvSpPr>
        <p:spPr>
          <a:xfrm>
            <a:off x="915986" y="5676367"/>
            <a:ext cx="3359681" cy="300572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5B321CAD-AB8C-B3FE-A3A6-60F280EC0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5401" y="1940982"/>
            <a:ext cx="489001" cy="489001"/>
          </a:xfrm>
          <a:prstGeom prst="rect">
            <a:avLst/>
          </a:prstGeom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99A7F904-EFEA-F29F-5306-D7D238C51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13592" y="2445677"/>
            <a:ext cx="489002" cy="489002"/>
          </a:xfrm>
          <a:prstGeom prst="rect">
            <a:avLst/>
          </a:prstGeom>
        </p:spPr>
      </p:pic>
      <p:pic>
        <p:nvPicPr>
          <p:cNvPr id="14" name="Graphic 13" descr="Lightning bolt with solid fill">
            <a:extLst>
              <a:ext uri="{FF2B5EF4-FFF2-40B4-BE49-F238E27FC236}">
                <a16:creationId xmlns:a16="http://schemas.microsoft.com/office/drawing/2014/main" id="{0FAD8938-231F-2E33-AA1B-E95CFF647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401" y="5458353"/>
            <a:ext cx="736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292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1D00-4A7D-1BE4-8147-B4E92999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A329-EF6C-B059-2D5F-F3EAC0CA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</a:t>
            </a:r>
            <a:br>
              <a:rPr lang="en-US" dirty="0"/>
            </a:br>
            <a:r>
              <a:rPr lang="en-US" dirty="0"/>
              <a:t>– Violation of PH assumption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9BFA4-38E1-F512-69BB-816D96338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To resolve:</a:t>
            </a:r>
          </a:p>
          <a:p>
            <a:r>
              <a:rPr lang="en-US" sz="2800" dirty="0"/>
              <a:t>stratification (categorical variables)</a:t>
            </a:r>
          </a:p>
          <a:p>
            <a:r>
              <a:rPr lang="en-US" sz="2800" dirty="0"/>
              <a:t>adding a covariate*time interaction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Content Placeholder 11">
            <a:extLst>
              <a:ext uri="{FF2B5EF4-FFF2-40B4-BE49-F238E27FC236}">
                <a16:creationId xmlns:a16="http://schemas.microsoft.com/office/drawing/2014/main" id="{4A213250-B66B-8304-AF2C-BC8565C11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" b="63291"/>
          <a:stretch/>
        </p:blipFill>
        <p:spPr>
          <a:xfrm>
            <a:off x="8228070" y="1407440"/>
            <a:ext cx="3787398" cy="2165169"/>
          </a:xfrm>
          <a:prstGeom prst="rect">
            <a:avLst/>
          </a:prstGeom>
        </p:spPr>
      </p:pic>
      <p:pic>
        <p:nvPicPr>
          <p:cNvPr id="4" name="Graphic 3" descr="Lightning bolt with solid fill">
            <a:extLst>
              <a:ext uri="{FF2B5EF4-FFF2-40B4-BE49-F238E27FC236}">
                <a16:creationId xmlns:a16="http://schemas.microsoft.com/office/drawing/2014/main" id="{BEE1399E-FC54-12FD-C5E0-E5CB5346F4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01635" y="1220259"/>
            <a:ext cx="736600" cy="73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ED6E1-8948-8D4D-8E30-52EADF48E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365" y="3429000"/>
            <a:ext cx="7182852" cy="428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D2253A-4835-DF64-D923-49D60311EB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5353"/>
          <a:stretch/>
        </p:blipFill>
        <p:spPr>
          <a:xfrm>
            <a:off x="790365" y="5626175"/>
            <a:ext cx="5430008" cy="11015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D5BCD7-1937-1044-6944-0655AFEC8E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9733" b="5304"/>
          <a:stretch/>
        </p:blipFill>
        <p:spPr>
          <a:xfrm>
            <a:off x="790365" y="4418752"/>
            <a:ext cx="4058216" cy="11015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21037B-7AEB-4D8D-7F54-204A20AD84A2}"/>
              </a:ext>
            </a:extLst>
          </p:cNvPr>
          <p:cNvSpPr txBox="1"/>
          <p:nvPr/>
        </p:nvSpPr>
        <p:spPr>
          <a:xfrm>
            <a:off x="790365" y="4018642"/>
            <a:ext cx="291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cox.zph</a:t>
            </a:r>
            <a:r>
              <a:rPr lang="en-US" dirty="0">
                <a:latin typeface="Consolas" panose="020B0609020204030204" pitchFamily="49" charset="0"/>
              </a:rPr>
              <a:t>(cox_m5b)</a:t>
            </a:r>
            <a:endParaRPr lang="en-US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19650BC1-015D-240F-DCC8-5116023DBC91}"/>
              </a:ext>
            </a:extLst>
          </p:cNvPr>
          <p:cNvSpPr/>
          <p:nvPr/>
        </p:nvSpPr>
        <p:spPr>
          <a:xfrm rot="17109088">
            <a:off x="378464" y="4328188"/>
            <a:ext cx="728133" cy="459723"/>
          </a:xfrm>
          <a:prstGeom prst="arc">
            <a:avLst>
              <a:gd name="adj1" fmla="val 10071561"/>
              <a:gd name="adj2" fmla="val 21257597"/>
            </a:avLst>
          </a:prstGeom>
          <a:ln w="38100">
            <a:solidFill>
              <a:schemeClr val="accent4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6A1E056C-14BB-482C-B440-65B05F26B304}"/>
              </a:ext>
            </a:extLst>
          </p:cNvPr>
          <p:cNvSpPr/>
          <p:nvPr/>
        </p:nvSpPr>
        <p:spPr>
          <a:xfrm>
            <a:off x="8484523" y="3775120"/>
            <a:ext cx="3467418" cy="2952630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Use stratification only for confounding variables that are </a:t>
            </a:r>
            <a:r>
              <a:rPr lang="en-US" sz="2000" b="1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not investigated for main effect!</a:t>
            </a:r>
            <a:br>
              <a:rPr lang="en-US" sz="2000" b="1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br>
              <a:rPr lang="en-US" sz="1000" b="1" u="sng" dirty="0"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Stratification allows base hazard </a:t>
            </a:r>
            <a:r>
              <a:rPr lang="en-US" sz="2000" i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</a:t>
            </a:r>
            <a:r>
              <a:rPr lang="en-US" sz="2000" baseline="-250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r>
              <a:rPr lang="en-US" sz="20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to differ between groups</a:t>
            </a:r>
            <a:endParaRPr lang="en-US" sz="2000" i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E37761C-CDC8-F031-195C-E24BE933BD2B}"/>
              </a:ext>
            </a:extLst>
          </p:cNvPr>
          <p:cNvCxnSpPr>
            <a:cxnSpLocks/>
          </p:cNvCxnSpPr>
          <p:nvPr/>
        </p:nvCxnSpPr>
        <p:spPr>
          <a:xfrm flipH="1">
            <a:off x="6512063" y="5071533"/>
            <a:ext cx="1620374" cy="76702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0C85F6C-70EE-EAAD-3CB1-83AD9A551EC8}"/>
              </a:ext>
            </a:extLst>
          </p:cNvPr>
          <p:cNvSpPr txBox="1"/>
          <p:nvPr/>
        </p:nvSpPr>
        <p:spPr>
          <a:xfrm rot="20050806">
            <a:off x="6572108" y="5568029"/>
            <a:ext cx="16999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Contribution of stratified variable not assessed </a:t>
            </a:r>
          </a:p>
        </p:txBody>
      </p:sp>
    </p:spTree>
    <p:extLst>
      <p:ext uri="{BB962C8B-B14F-4D97-AF65-F5344CB8AC3E}">
        <p14:creationId xmlns:p14="http://schemas.microsoft.com/office/powerpoint/2010/main" val="12835762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E56E-D523-7DCF-3A57-5DE06A135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Non-informative censoring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Proportional hazard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Linearity</a:t>
            </a:r>
            <a:br>
              <a:rPr lang="en-US" sz="2800" dirty="0"/>
            </a:br>
            <a:r>
              <a:rPr lang="en-US" sz="2000" dirty="0"/>
              <a:t>of continuous covariate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C62205-E3F1-152C-1595-EE516F13185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11304" y="1825625"/>
            <a:ext cx="2846470" cy="4351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1E85C-7784-63E9-6492-C913EBDF7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676" y="1825625"/>
            <a:ext cx="2846470" cy="435133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9549DED-4A20-004F-ED94-28759B51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 Linearity of Covariates</a:t>
            </a: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074D64D9-30EF-7589-05D7-9EA88C7300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901" y="1825625"/>
            <a:ext cx="489001" cy="489001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F97A97C4-EBBF-2992-8221-626962B94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3601" y="2314626"/>
            <a:ext cx="489001" cy="489001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F1383D36-1E46-AAB9-CC6E-1B668B20B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6415" y="2803627"/>
            <a:ext cx="489001" cy="4890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4D364F-C299-4624-3B3D-81AABE6C1F3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871" r="7431"/>
          <a:stretch/>
        </p:blipFill>
        <p:spPr>
          <a:xfrm>
            <a:off x="-50802" y="3917096"/>
            <a:ext cx="6224211" cy="267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09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2F2C-0F57-32AA-AC56-E5F63D77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21667" cy="1785793"/>
          </a:xfrm>
        </p:spPr>
        <p:txBody>
          <a:bodyPr>
            <a:normAutofit/>
          </a:bodyPr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1263D-956F-FF12-F1FC-889A2250A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0917"/>
            <a:ext cx="3856579" cy="4026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Residue</a:t>
            </a:r>
            <a:r>
              <a:rPr lang="en-US" dirty="0">
                <a:ea typeface="Cambria Math" panose="02040503050406030204" pitchFamily="18" charset="0"/>
              </a:rPr>
              <a:t> effect on FL population: HR ≈ 45</a:t>
            </a:r>
            <a:br>
              <a:rPr lang="en-US" sz="1300" dirty="0"/>
            </a:br>
            <a:r>
              <a:rPr lang="en-US" dirty="0"/>
              <a:t>→ very strong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FED28-5D04-DFC6-CD49-943EDCCEE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79" y="681038"/>
            <a:ext cx="7497221" cy="586821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75ABDA4-41A4-9111-87A4-30E31FE009A0}"/>
              </a:ext>
            </a:extLst>
          </p:cNvPr>
          <p:cNvSpPr/>
          <p:nvPr/>
        </p:nvSpPr>
        <p:spPr>
          <a:xfrm>
            <a:off x="226081" y="2322096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ABBDEE0-7428-A96F-BC0B-F148F24568B5}"/>
              </a:ext>
            </a:extLst>
          </p:cNvPr>
          <p:cNvSpPr/>
          <p:nvPr/>
        </p:nvSpPr>
        <p:spPr>
          <a:xfrm>
            <a:off x="9768358" y="1787028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16AD6E-4ACB-491E-61FB-CCDECB3E418E}"/>
              </a:ext>
            </a:extLst>
          </p:cNvPr>
          <p:cNvCxnSpPr>
            <a:cxnSpLocks/>
          </p:cNvCxnSpPr>
          <p:nvPr/>
        </p:nvCxnSpPr>
        <p:spPr>
          <a:xfrm flipH="1">
            <a:off x="9499600" y="2392131"/>
            <a:ext cx="348999" cy="2918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8CAF5C-D388-D5C4-D43A-EC2440ABFB03}"/>
              </a:ext>
            </a:extLst>
          </p:cNvPr>
          <p:cNvSpPr/>
          <p:nvPr/>
        </p:nvSpPr>
        <p:spPr>
          <a:xfrm>
            <a:off x="8566552" y="2971908"/>
            <a:ext cx="933048" cy="262358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59D0916-CB20-E167-08F6-FBAB684D8FCE}"/>
              </a:ext>
            </a:extLst>
          </p:cNvPr>
          <p:cNvSpPr/>
          <p:nvPr/>
        </p:nvSpPr>
        <p:spPr>
          <a:xfrm>
            <a:off x="10881328" y="2946509"/>
            <a:ext cx="1132871" cy="313157"/>
          </a:xfrm>
          <a:prstGeom prst="round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E4024C1F-E60B-3940-2E1F-C922A8DFE341}"/>
              </a:ext>
            </a:extLst>
          </p:cNvPr>
          <p:cNvSpPr/>
          <p:nvPr/>
        </p:nvSpPr>
        <p:spPr>
          <a:xfrm>
            <a:off x="1135593" y="3527040"/>
            <a:ext cx="2794000" cy="1890713"/>
          </a:xfrm>
          <a:prstGeom prst="foldedCorner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For </a:t>
            </a:r>
            <a:r>
              <a:rPr lang="en-US" b="1" dirty="0"/>
              <a:t>each 1-unit increase in residue</a:t>
            </a:r>
            <a:r>
              <a:rPr lang="en-US" dirty="0"/>
              <a:t>, the hazard of death increases by a factor of ~45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EF0025AF-30FB-4183-3B51-3BD86AC3E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21" y="3429000"/>
            <a:ext cx="5273279" cy="395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9899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A4553-A81A-78EA-C9C4-B1389E08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BDFC-7846-5113-A0F2-F41AE1D6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21667" cy="1785793"/>
          </a:xfrm>
        </p:spPr>
        <p:txBody>
          <a:bodyPr>
            <a:normAutofit/>
          </a:bodyPr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AA679-FCE7-2E6A-989B-4D2C13B54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0917"/>
            <a:ext cx="3856579" cy="40260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Residue</a:t>
            </a:r>
            <a:r>
              <a:rPr lang="en-US" dirty="0">
                <a:ea typeface="Cambria Math" panose="02040503050406030204" pitchFamily="18" charset="0"/>
              </a:rPr>
              <a:t> effect on FL population: HR </a:t>
            </a:r>
            <a:r>
              <a:rPr lang="en-US">
                <a:ea typeface="Cambria Math" panose="02040503050406030204" pitchFamily="18" charset="0"/>
              </a:rPr>
              <a:t>≈ 45.5</a:t>
            </a:r>
            <a:br>
              <a:rPr lang="en-US" sz="1300" dirty="0"/>
            </a:br>
            <a:r>
              <a:rPr lang="en-US" dirty="0"/>
              <a:t>→ very strong effect</a:t>
            </a:r>
          </a:p>
          <a:p>
            <a:pPr marL="0" indent="0">
              <a:buNone/>
            </a:pPr>
            <a:r>
              <a:rPr lang="en-US" b="1" dirty="0"/>
              <a:t>Residue</a:t>
            </a:r>
            <a:r>
              <a:rPr lang="en-US" dirty="0"/>
              <a:t> mod. for </a:t>
            </a:r>
            <a:r>
              <a:rPr lang="en-US" b="1" dirty="0"/>
              <a:t>TX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HR ≈ 0.045</a:t>
            </a:r>
            <a:br>
              <a:rPr lang="en-US" dirty="0"/>
            </a:br>
            <a:r>
              <a:rPr lang="en-US" dirty="0"/>
              <a:t>→ weaker effect in Texas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D0361-C21E-D8E5-1BD1-00C635B69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79" y="681038"/>
            <a:ext cx="7497221" cy="5868219"/>
          </a:xfrm>
          <a:prstGeom prst="rect">
            <a:avLst/>
          </a:prstGeom>
        </p:spPr>
      </p:pic>
      <p:pic>
        <p:nvPicPr>
          <p:cNvPr id="8" name="Picture 7" descr="A close up of a caterpillar&#10;&#10;AI-generated content may be incorrect.">
            <a:extLst>
              <a:ext uri="{FF2B5EF4-FFF2-40B4-BE49-F238E27FC236}">
                <a16:creationId xmlns:a16="http://schemas.microsoft.com/office/drawing/2014/main" id="{B142CE9E-CCBD-A933-122E-A50B4B3DF3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4530" flipH="1">
            <a:off x="9592208" y="-992173"/>
            <a:ext cx="2384643" cy="3255556"/>
          </a:xfrm>
          <a:prstGeom prst="rect">
            <a:avLst/>
          </a:prstGeom>
        </p:spPr>
      </p:pic>
      <p:pic>
        <p:nvPicPr>
          <p:cNvPr id="9" name="Picture 8" descr="A brown cowboy hat with a black background&#10;&#10;AI-generated content may be incorrect.">
            <a:extLst>
              <a:ext uri="{FF2B5EF4-FFF2-40B4-BE49-F238E27FC236}">
                <a16:creationId xmlns:a16="http://schemas.microsoft.com/office/drawing/2014/main" id="{4D35203E-9A93-7585-3D78-A53349B598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825" b="89847" l="2620" r="96725">
                        <a14:foregroundMark x1="2729" y1="67904" x2="6004" y2="62118"/>
                        <a14:foregroundMark x1="90066" y1="44760" x2="96725" y2="489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4007" y="-106280"/>
            <a:ext cx="948702" cy="9487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2696F5E-5DE1-CEAD-CC91-9D3C220BDF3F}"/>
              </a:ext>
            </a:extLst>
          </p:cNvPr>
          <p:cNvSpPr/>
          <p:nvPr/>
        </p:nvSpPr>
        <p:spPr>
          <a:xfrm>
            <a:off x="226081" y="2322096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4DAAE0-5B89-C2FB-34D2-819B85C0C8F1}"/>
              </a:ext>
            </a:extLst>
          </p:cNvPr>
          <p:cNvSpPr/>
          <p:nvPr/>
        </p:nvSpPr>
        <p:spPr>
          <a:xfrm>
            <a:off x="226080" y="3573119"/>
            <a:ext cx="503767" cy="50376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367940-F2F7-3D26-5DA5-6D0B881A84AB}"/>
              </a:ext>
            </a:extLst>
          </p:cNvPr>
          <p:cNvSpPr/>
          <p:nvPr/>
        </p:nvSpPr>
        <p:spPr>
          <a:xfrm>
            <a:off x="9768358" y="1787028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65F4DB-178C-F95D-BE7B-8B9ADDD4DEB2}"/>
              </a:ext>
            </a:extLst>
          </p:cNvPr>
          <p:cNvCxnSpPr>
            <a:cxnSpLocks/>
          </p:cNvCxnSpPr>
          <p:nvPr/>
        </p:nvCxnSpPr>
        <p:spPr>
          <a:xfrm flipH="1">
            <a:off x="9440333" y="2392131"/>
            <a:ext cx="408266" cy="7172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AF8FD5B-C57F-4253-953A-B6A361C1AE18}"/>
              </a:ext>
            </a:extLst>
          </p:cNvPr>
          <p:cNvSpPr/>
          <p:nvPr/>
        </p:nvSpPr>
        <p:spPr>
          <a:xfrm>
            <a:off x="9768357" y="3615147"/>
            <a:ext cx="503767" cy="50376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1D5A717-F0BD-C85A-5031-65C9C85D8823}"/>
              </a:ext>
            </a:extLst>
          </p:cNvPr>
          <p:cNvCxnSpPr>
            <a:cxnSpLocks/>
          </p:cNvCxnSpPr>
          <p:nvPr/>
        </p:nvCxnSpPr>
        <p:spPr>
          <a:xfrm flipH="1" flipV="1">
            <a:off x="9244479" y="3513338"/>
            <a:ext cx="391707" cy="18250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57354F-01AE-5E36-766F-E0495BFA0371}"/>
              </a:ext>
            </a:extLst>
          </p:cNvPr>
          <p:cNvSpPr/>
          <p:nvPr/>
        </p:nvSpPr>
        <p:spPr>
          <a:xfrm>
            <a:off x="8577663" y="3213483"/>
            <a:ext cx="933048" cy="262358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34548C-EA8D-6358-E9FF-F198F65BD31E}"/>
              </a:ext>
            </a:extLst>
          </p:cNvPr>
          <p:cNvSpPr/>
          <p:nvPr/>
        </p:nvSpPr>
        <p:spPr>
          <a:xfrm>
            <a:off x="10892439" y="3188084"/>
            <a:ext cx="1132871" cy="313157"/>
          </a:xfrm>
          <a:prstGeom prst="round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5CB59156-709C-DAE4-AE63-34152EB5D224}"/>
              </a:ext>
            </a:extLst>
          </p:cNvPr>
          <p:cNvSpPr/>
          <p:nvPr/>
        </p:nvSpPr>
        <p:spPr>
          <a:xfrm>
            <a:off x="1108647" y="4707083"/>
            <a:ext cx="3315683" cy="1890713"/>
          </a:xfrm>
          <a:prstGeom prst="foldedCorner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Net effect of residue on  Texas population:</a:t>
            </a:r>
          </a:p>
          <a:p>
            <a:pPr algn="ctr">
              <a:spcBef>
                <a:spcPts val="600"/>
              </a:spcBef>
            </a:pP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β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res(TX)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= β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res(FL) </a:t>
            </a:r>
            <a:r>
              <a:rPr lang="en-US" i="1" dirty="0">
                <a:latin typeface="Cambria Math" panose="02040503050406030204" pitchFamily="18" charset="0"/>
                <a:ea typeface="Cambria Math" panose="02040503050406030204" pitchFamily="18" charset="0"/>
              </a:rPr>
              <a:t>+ β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TX:res</a:t>
            </a:r>
            <a: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i="1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en-US" sz="8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/>
              <a:t>3.8179 + (–3.1056) ≈ 0.7123 </a:t>
            </a:r>
          </a:p>
          <a:p>
            <a:r>
              <a:rPr lang="en-US" b="1" dirty="0">
                <a:sym typeface="Wingdings" panose="05000000000000000000" pitchFamily="2" charset="2"/>
              </a:rPr>
              <a:t> HR: </a:t>
            </a:r>
            <a:r>
              <a:rPr lang="en-US" dirty="0"/>
              <a:t>exp(0.7123) </a:t>
            </a:r>
            <a:r>
              <a:rPr lang="en-US" b="1" dirty="0"/>
              <a:t>≈ 2.04</a:t>
            </a:r>
          </a:p>
        </p:txBody>
      </p:sp>
    </p:spTree>
    <p:extLst>
      <p:ext uri="{BB962C8B-B14F-4D97-AF65-F5344CB8AC3E}">
        <p14:creationId xmlns:p14="http://schemas.microsoft.com/office/powerpoint/2010/main" val="2280270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3DAA-B019-3ADD-6AE1-6ED0B773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E7FD-1F54-184E-E9BD-2A8D8BB37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021667" cy="1785793"/>
          </a:xfrm>
        </p:spPr>
        <p:txBody>
          <a:bodyPr>
            <a:normAutofit/>
          </a:bodyPr>
          <a:lstStyle/>
          <a:p>
            <a:r>
              <a:rPr lang="en-US" i="1" dirty="0"/>
              <a:t>H. </a:t>
            </a:r>
            <a:r>
              <a:rPr lang="en-US" i="1" dirty="0" err="1"/>
              <a:t>zea</a:t>
            </a:r>
            <a:r>
              <a:rPr lang="en-US" i="1" dirty="0"/>
              <a:t> </a:t>
            </a:r>
            <a:r>
              <a:rPr lang="en-US" dirty="0"/>
              <a:t>survival –Interpretation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E06E-1849-15E5-69F7-FB8CFB183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0917"/>
            <a:ext cx="3856579" cy="46224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Residue</a:t>
            </a:r>
            <a:r>
              <a:rPr lang="en-US" dirty="0">
                <a:ea typeface="Cambria Math" panose="02040503050406030204" pitchFamily="18" charset="0"/>
              </a:rPr>
              <a:t> effect on FL population: HR ≈ 45</a:t>
            </a:r>
            <a:br>
              <a:rPr lang="en-US" sz="1300" dirty="0"/>
            </a:br>
            <a:r>
              <a:rPr lang="en-US" dirty="0"/>
              <a:t>→ very strong effect</a:t>
            </a:r>
          </a:p>
          <a:p>
            <a:pPr marL="0" indent="0">
              <a:buNone/>
            </a:pPr>
            <a:r>
              <a:rPr lang="en-US" b="1" dirty="0"/>
              <a:t>Residue</a:t>
            </a:r>
            <a:r>
              <a:rPr lang="en-US" dirty="0"/>
              <a:t> mod. for </a:t>
            </a:r>
            <a:r>
              <a:rPr lang="en-US" b="1" dirty="0"/>
              <a:t>TX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HR ≈ 0.045</a:t>
            </a:r>
            <a:br>
              <a:rPr lang="en-US" dirty="0"/>
            </a:br>
            <a:r>
              <a:rPr lang="en-US" dirty="0"/>
              <a:t>→ weaker effect in Texas</a:t>
            </a:r>
          </a:p>
          <a:p>
            <a:pPr marL="0" indent="0">
              <a:buNone/>
            </a:pPr>
            <a:r>
              <a:rPr lang="en-US" b="1" dirty="0"/>
              <a:t>Model performance</a:t>
            </a:r>
          </a:p>
          <a:p>
            <a:pPr marL="0" indent="0">
              <a:buNone/>
            </a:pPr>
            <a:r>
              <a:rPr lang="en-US" b="1" dirty="0"/>
              <a:t>concordance</a:t>
            </a:r>
            <a:r>
              <a:rPr lang="en-US" dirty="0"/>
              <a:t>: ~0.678</a:t>
            </a:r>
            <a:br>
              <a:rPr lang="en-US" dirty="0"/>
            </a:br>
            <a:r>
              <a:rPr lang="en-US" dirty="0"/>
              <a:t>→ moderate predictive 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8D3964-3BAE-5C42-E99D-F8915ABE4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779" y="681038"/>
            <a:ext cx="7497221" cy="58682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0CC4AE0-DDFC-7511-52A4-7867E8CCB8B6}"/>
              </a:ext>
            </a:extLst>
          </p:cNvPr>
          <p:cNvGrpSpPr/>
          <p:nvPr/>
        </p:nvGrpSpPr>
        <p:grpSpPr>
          <a:xfrm>
            <a:off x="9294007" y="-992173"/>
            <a:ext cx="2682844" cy="3255556"/>
            <a:chOff x="9294007" y="-992173"/>
            <a:chExt cx="2682844" cy="3255556"/>
          </a:xfrm>
        </p:grpSpPr>
        <p:pic>
          <p:nvPicPr>
            <p:cNvPr id="8" name="Picture 7" descr="A close up of a caterpillar&#10;&#10;AI-generated content may be incorrect.">
              <a:extLst>
                <a:ext uri="{FF2B5EF4-FFF2-40B4-BE49-F238E27FC236}">
                  <a16:creationId xmlns:a16="http://schemas.microsoft.com/office/drawing/2014/main" id="{D0934D31-419B-7CE5-F17E-31516E7F0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424530" flipH="1">
              <a:off x="9592208" y="-992173"/>
              <a:ext cx="2384643" cy="3255556"/>
            </a:xfrm>
            <a:prstGeom prst="rect">
              <a:avLst/>
            </a:prstGeom>
          </p:spPr>
        </p:pic>
        <p:pic>
          <p:nvPicPr>
            <p:cNvPr id="9" name="Picture 8" descr="A brown cowboy hat with a black background&#10;&#10;AI-generated content may be incorrect.">
              <a:extLst>
                <a:ext uri="{FF2B5EF4-FFF2-40B4-BE49-F238E27FC236}">
                  <a16:creationId xmlns:a16="http://schemas.microsoft.com/office/drawing/2014/main" id="{BAD1108D-66B0-5E26-AC22-4A03C18C3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825" b="89847" l="2620" r="96725">
                          <a14:foregroundMark x1="2729" y1="67904" x2="6004" y2="62118"/>
                          <a14:foregroundMark x1="90066" y1="44760" x2="96725" y2="4890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94007" y="-106280"/>
              <a:ext cx="948702" cy="94870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60E5C47D-61D6-B68F-75D2-B8F8ED1519CF}"/>
              </a:ext>
            </a:extLst>
          </p:cNvPr>
          <p:cNvSpPr/>
          <p:nvPr/>
        </p:nvSpPr>
        <p:spPr>
          <a:xfrm>
            <a:off x="226081" y="2322096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F9AD5A-44E5-3843-2BEB-E185417CC000}"/>
              </a:ext>
            </a:extLst>
          </p:cNvPr>
          <p:cNvSpPr/>
          <p:nvPr/>
        </p:nvSpPr>
        <p:spPr>
          <a:xfrm>
            <a:off x="226080" y="3573119"/>
            <a:ext cx="503767" cy="50376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8573F1-5EB8-380B-9428-9583C1C57E77}"/>
              </a:ext>
            </a:extLst>
          </p:cNvPr>
          <p:cNvSpPr/>
          <p:nvPr/>
        </p:nvSpPr>
        <p:spPr>
          <a:xfrm>
            <a:off x="226079" y="4670850"/>
            <a:ext cx="503767" cy="50376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B67F78-A2A8-BD42-153F-A5F726F2B8E8}"/>
              </a:ext>
            </a:extLst>
          </p:cNvPr>
          <p:cNvSpPr/>
          <p:nvPr/>
        </p:nvSpPr>
        <p:spPr>
          <a:xfrm>
            <a:off x="9768358" y="1787028"/>
            <a:ext cx="503767" cy="503767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62BAB2-658F-7B38-B206-205B68254463}"/>
              </a:ext>
            </a:extLst>
          </p:cNvPr>
          <p:cNvCxnSpPr>
            <a:cxnSpLocks/>
          </p:cNvCxnSpPr>
          <p:nvPr/>
        </p:nvCxnSpPr>
        <p:spPr>
          <a:xfrm flipH="1">
            <a:off x="9440333" y="2392131"/>
            <a:ext cx="408266" cy="71728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7EEBCB1-C762-140B-25AD-0CD64B8FC493}"/>
              </a:ext>
            </a:extLst>
          </p:cNvPr>
          <p:cNvSpPr/>
          <p:nvPr/>
        </p:nvSpPr>
        <p:spPr>
          <a:xfrm>
            <a:off x="9768357" y="3615147"/>
            <a:ext cx="503767" cy="503767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437A49-7747-1A16-269B-BF6286AB3247}"/>
              </a:ext>
            </a:extLst>
          </p:cNvPr>
          <p:cNvCxnSpPr>
            <a:cxnSpLocks/>
          </p:cNvCxnSpPr>
          <p:nvPr/>
        </p:nvCxnSpPr>
        <p:spPr>
          <a:xfrm flipH="1" flipV="1">
            <a:off x="9244479" y="3513338"/>
            <a:ext cx="391707" cy="182501"/>
          </a:xfrm>
          <a:prstGeom prst="straightConnector1">
            <a:avLst/>
          </a:prstGeom>
          <a:ln w="38100">
            <a:solidFill>
              <a:schemeClr val="accent3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FE25E3A-66E8-0DD8-F201-02B9E1111C88}"/>
              </a:ext>
            </a:extLst>
          </p:cNvPr>
          <p:cNvSpPr/>
          <p:nvPr/>
        </p:nvSpPr>
        <p:spPr>
          <a:xfrm>
            <a:off x="8551358" y="5083600"/>
            <a:ext cx="503767" cy="503767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E967EE-9598-A4E2-2ADD-61797F8BAAC8}"/>
              </a:ext>
            </a:extLst>
          </p:cNvPr>
          <p:cNvCxnSpPr>
            <a:cxnSpLocks/>
          </p:cNvCxnSpPr>
          <p:nvPr/>
        </p:nvCxnSpPr>
        <p:spPr>
          <a:xfrm flipH="1">
            <a:off x="7956021" y="5357500"/>
            <a:ext cx="487368" cy="8976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Right Brace 25">
            <a:extLst>
              <a:ext uri="{FF2B5EF4-FFF2-40B4-BE49-F238E27FC236}">
                <a16:creationId xmlns:a16="http://schemas.microsoft.com/office/drawing/2014/main" id="{DDD91023-8CE6-23D5-0463-33C02C518EF7}"/>
              </a:ext>
            </a:extLst>
          </p:cNvPr>
          <p:cNvSpPr/>
          <p:nvPr/>
        </p:nvSpPr>
        <p:spPr>
          <a:xfrm>
            <a:off x="9372600" y="5587367"/>
            <a:ext cx="263586" cy="779388"/>
          </a:xfrm>
          <a:prstGeom prst="rightBrace">
            <a:avLst>
              <a:gd name="adj1" fmla="val 8333"/>
              <a:gd name="adj2" fmla="val 24336"/>
            </a:avLst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ACA7CB-C491-6F7A-6E8C-28D3ADFB3828}"/>
              </a:ext>
            </a:extLst>
          </p:cNvPr>
          <p:cNvSpPr txBox="1"/>
          <p:nvPr/>
        </p:nvSpPr>
        <p:spPr>
          <a:xfrm>
            <a:off x="9746142" y="5542074"/>
            <a:ext cx="769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</a:rPr>
              <a:t>***</a:t>
            </a:r>
            <a:br>
              <a:rPr lang="en-US" sz="3200" b="1" dirty="0">
                <a:solidFill>
                  <a:schemeClr val="accent2"/>
                </a:solidFill>
              </a:rPr>
            </a:b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04292F-B339-8CE3-98B3-71F86064938C}"/>
              </a:ext>
            </a:extLst>
          </p:cNvPr>
          <p:cNvSpPr txBox="1"/>
          <p:nvPr/>
        </p:nvSpPr>
        <p:spPr>
          <a:xfrm>
            <a:off x="9746142" y="5905571"/>
            <a:ext cx="26701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similar, LRT more robust for smaller sample sizes</a:t>
            </a:r>
          </a:p>
        </p:txBody>
      </p:sp>
    </p:spTree>
    <p:extLst>
      <p:ext uri="{BB962C8B-B14F-4D97-AF65-F5344CB8AC3E}">
        <p14:creationId xmlns:p14="http://schemas.microsoft.com/office/powerpoint/2010/main" val="20941168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F2E1-F9DC-9EF4-D981-397D7746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ADBBE-3984-3456-273D-41635DDC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23279" cy="1600200"/>
          </a:xfrm>
        </p:spPr>
        <p:txBody>
          <a:bodyPr>
            <a:normAutofit/>
          </a:bodyPr>
          <a:lstStyle/>
          <a:p>
            <a:r>
              <a:rPr lang="en-US" sz="4400" i="1" dirty="0"/>
              <a:t>H. </a:t>
            </a:r>
            <a:r>
              <a:rPr lang="en-US" sz="4400" i="1" dirty="0" err="1"/>
              <a:t>zea</a:t>
            </a:r>
            <a:r>
              <a:rPr lang="en-US" sz="4400" i="1" dirty="0"/>
              <a:t> </a:t>
            </a:r>
            <a:r>
              <a:rPr lang="en-US" sz="4400" dirty="0"/>
              <a:t>survival – Adjusted Survival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F9DFB8-E49D-3A23-B6ED-2EAA2412D9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71374" y="254454"/>
            <a:ext cx="7120626" cy="66035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9A040C-56A2-DE37-9D8F-3ECA0C8D12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7" r="3676"/>
          <a:stretch/>
        </p:blipFill>
        <p:spPr>
          <a:xfrm>
            <a:off x="838200" y="3960747"/>
            <a:ext cx="4075339" cy="17145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3D23B-630D-41B5-A10D-0CC8318DEB6E}"/>
              </a:ext>
            </a:extLst>
          </p:cNvPr>
          <p:cNvSpPr txBox="1">
            <a:spLocks/>
          </p:cNvSpPr>
          <p:nvPr/>
        </p:nvSpPr>
        <p:spPr>
          <a:xfrm>
            <a:off x="838200" y="2150917"/>
            <a:ext cx="3856579" cy="4026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Adjusted survival curves </a:t>
            </a:r>
            <a:r>
              <a:rPr lang="en-US" sz="2400" dirty="0"/>
              <a:t>present expected survival curves for </a:t>
            </a:r>
            <a:r>
              <a:rPr lang="en-US" sz="2400" b="1" dirty="0"/>
              <a:t>each sub-populations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14E1E53-B95A-4278-E4EC-510738D0228E}"/>
              </a:ext>
            </a:extLst>
          </p:cNvPr>
          <p:cNvGrpSpPr/>
          <p:nvPr/>
        </p:nvGrpSpPr>
        <p:grpSpPr>
          <a:xfrm flipH="1">
            <a:off x="1657350" y="2984434"/>
            <a:ext cx="1695135" cy="2066925"/>
            <a:chOff x="9294007" y="-992173"/>
            <a:chExt cx="2682844" cy="3255556"/>
          </a:xfrm>
        </p:grpSpPr>
        <p:pic>
          <p:nvPicPr>
            <p:cNvPr id="5" name="Picture 4" descr="A close up of a caterpillar&#10;&#10;AI-generated content may be incorrect.">
              <a:extLst>
                <a:ext uri="{FF2B5EF4-FFF2-40B4-BE49-F238E27FC236}">
                  <a16:creationId xmlns:a16="http://schemas.microsoft.com/office/drawing/2014/main" id="{FA676BCA-CF79-A23F-D1F8-9641EBA39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424530" flipH="1">
              <a:off x="9592208" y="-992173"/>
              <a:ext cx="2384643" cy="3255556"/>
            </a:xfrm>
            <a:prstGeom prst="rect">
              <a:avLst/>
            </a:prstGeom>
          </p:spPr>
        </p:pic>
        <p:pic>
          <p:nvPicPr>
            <p:cNvPr id="6" name="Picture 5" descr="A brown cowboy hat with a black background&#10;&#10;AI-generated content may be incorrect.">
              <a:extLst>
                <a:ext uri="{FF2B5EF4-FFF2-40B4-BE49-F238E27FC236}">
                  <a16:creationId xmlns:a16="http://schemas.microsoft.com/office/drawing/2014/main" id="{259E211E-30A6-65BA-5214-EFA22502A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825" b="89847" l="2620" r="96725">
                          <a14:foregroundMark x1="2729" y1="67904" x2="6004" y2="62118"/>
                          <a14:foregroundMark x1="90066" y1="44760" x2="96725" y2="4890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94007" y="-106280"/>
              <a:ext cx="948702" cy="94870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F37715A-2595-DF7E-EB8D-D095A11EED76}"/>
              </a:ext>
            </a:extLst>
          </p:cNvPr>
          <p:cNvGrpSpPr/>
          <p:nvPr/>
        </p:nvGrpSpPr>
        <p:grpSpPr>
          <a:xfrm>
            <a:off x="88900" y="6101522"/>
            <a:ext cx="3142422" cy="652963"/>
            <a:chOff x="88900" y="6101522"/>
            <a:chExt cx="3142422" cy="65296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E78A4D6-D97F-2505-DF7C-81D1E771BC78}"/>
                </a:ext>
              </a:extLst>
            </p:cNvPr>
            <p:cNvSpPr txBox="1"/>
            <p:nvPr/>
          </p:nvSpPr>
          <p:spPr>
            <a:xfrm>
              <a:off x="736600" y="6231265"/>
              <a:ext cx="249472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 Code</a:t>
              </a:r>
            </a:p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anose="020B0609020204030204" pitchFamily="49" charset="0"/>
                </a:rPr>
                <a:t>Section: #5</a:t>
              </a:r>
            </a:p>
          </p:txBody>
        </p:sp>
        <p:pic>
          <p:nvPicPr>
            <p:cNvPr id="17" name="Graphic 16" descr="Programmer male with solid fill">
              <a:extLst>
                <a:ext uri="{FF2B5EF4-FFF2-40B4-BE49-F238E27FC236}">
                  <a16:creationId xmlns:a16="http://schemas.microsoft.com/office/drawing/2014/main" id="{CFB7008B-6EE1-F480-C8DA-D92BC7A3F1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8900" y="6101522"/>
              <a:ext cx="647700" cy="647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389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F123925-9D8D-4858-A013-FBEA471CD5D7}">
  <we:reference id="4b785c87-866c-4bad-85d8-5d1ae467ac9a" version="3.16.1.0" store="EXCatalog" storeType="EXCatalog"/>
  <we:alternateReferences>
    <we:reference id="WA104381909" version="3.16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2842</TotalTime>
  <Words>2564</Words>
  <Application>Microsoft Office PowerPoint</Application>
  <PresentationFormat>Widescreen</PresentationFormat>
  <Paragraphs>400</Paragraphs>
  <Slides>46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9" baseType="lpstr">
      <vt:lpstr>Aptos</vt:lpstr>
      <vt:lpstr>Aptos Display</vt:lpstr>
      <vt:lpstr>Arial</vt:lpstr>
      <vt:lpstr>Bahnschrift SemiBold</vt:lpstr>
      <vt:lpstr>Bahnschrift SemiBold Condensed</vt:lpstr>
      <vt:lpstr>Bahnschrift SemiBold SemiConden</vt:lpstr>
      <vt:lpstr>Cambria Math</vt:lpstr>
      <vt:lpstr>Consolas</vt:lpstr>
      <vt:lpstr>Courier New</vt:lpstr>
      <vt:lpstr>Symbol</vt:lpstr>
      <vt:lpstr>Wingdings</vt:lpstr>
      <vt:lpstr>Wingdings 3</vt:lpstr>
      <vt:lpstr>Office Theme</vt:lpstr>
      <vt:lpstr>Introduction to Survival Analysis Kaplan-Meier Survival Curves &amp; Cox PH Models</vt:lpstr>
      <vt:lpstr>Today</vt:lpstr>
      <vt:lpstr>What is survival analysis?</vt:lpstr>
      <vt:lpstr>Survival function</vt:lpstr>
      <vt:lpstr>Example: Survival after insecticide exposure</vt:lpstr>
      <vt:lpstr>Example: Survival after insecticide exposure</vt:lpstr>
      <vt:lpstr>What is censoring?</vt:lpstr>
      <vt:lpstr>Assumption of noninformative censoring</vt:lpstr>
      <vt:lpstr>Common methods for survival analysis</vt:lpstr>
      <vt:lpstr>Kaplan-Meier Curves</vt:lpstr>
      <vt:lpstr>Kaplan-Meier Curves</vt:lpstr>
      <vt:lpstr>Kaplan-Meier Curves</vt:lpstr>
      <vt:lpstr>Kaplan-Meier Curves</vt:lpstr>
      <vt:lpstr> Comparing Groups</vt:lpstr>
      <vt:lpstr>Cox Proportional Hazard Model</vt:lpstr>
      <vt:lpstr>Cox Proportional Hazard Model</vt:lpstr>
      <vt:lpstr>Cox Proportional Hazard Model</vt:lpstr>
      <vt:lpstr>Cox Proportional Hazard Model</vt:lpstr>
      <vt:lpstr>Cox Proportional Hazard Model</vt:lpstr>
      <vt:lpstr>Cox Proportional Hazard Model</vt:lpstr>
      <vt:lpstr>Cox PH Model – Output Interpretation</vt:lpstr>
      <vt:lpstr>Cox Proportional Hazard Model Assumptions</vt:lpstr>
      <vt:lpstr>Survival Analysis – Final Considerations</vt:lpstr>
      <vt:lpstr>Worked Example Kaplan-Meier Survival Curves &amp; Cox PH Models</vt:lpstr>
      <vt:lpstr>   Before we get started</vt:lpstr>
      <vt:lpstr>Data Format</vt:lpstr>
      <vt:lpstr>Example: Helicoverpa zea survival</vt:lpstr>
      <vt:lpstr>H. zea survival - Getting started</vt:lpstr>
      <vt:lpstr>H. zea survival - Getting started</vt:lpstr>
      <vt:lpstr>H. zea survival – Survival Object</vt:lpstr>
      <vt:lpstr>H. zea survival – KM survival curves</vt:lpstr>
      <vt:lpstr>H. zea survival – KM survival curves</vt:lpstr>
      <vt:lpstr>H. zea survival – KM survival curves</vt:lpstr>
      <vt:lpstr>H. zea survival – Population Differences</vt:lpstr>
      <vt:lpstr>H. zea survival – KM survival curves</vt:lpstr>
      <vt:lpstr>H. zea survival – Cox PH Model</vt:lpstr>
      <vt:lpstr>H. zea survival – Cox PH Model</vt:lpstr>
      <vt:lpstr>H. zea survival – Changing the Reference</vt:lpstr>
      <vt:lpstr>H. zea survival – Cox PH Model</vt:lpstr>
      <vt:lpstr>H. zea survival – Cox PH Assumptions</vt:lpstr>
      <vt:lpstr>H. zea survival – Violation of PH assumption</vt:lpstr>
      <vt:lpstr>H. zea survival – Linearity of Covariates</vt:lpstr>
      <vt:lpstr>H. zea survival –Interpretation</vt:lpstr>
      <vt:lpstr>H. zea survival –Interpretation</vt:lpstr>
      <vt:lpstr>H. zea survival –Interpretation</vt:lpstr>
      <vt:lpstr>H. zea survival – Adjusted Survival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Bauer, Alexandra</dc:creator>
  <cp:lastModifiedBy>Bauer, Alexandra</cp:lastModifiedBy>
  <cp:revision>6</cp:revision>
  <cp:lastPrinted>2026-07-13T22:25:29Z</cp:lastPrinted>
  <dcterms:created xsi:type="dcterms:W3CDTF">2025-03-31T16:15:35Z</dcterms:created>
  <dcterms:modified xsi:type="dcterms:W3CDTF">2026-07-13T22:31:32Z</dcterms:modified>
</cp:coreProperties>
</file>